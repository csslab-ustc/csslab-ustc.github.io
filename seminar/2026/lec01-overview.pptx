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9" r:id="rId1"/>
  </p:sldMasterIdLst>
  <p:handoutMasterIdLst>
    <p:handoutMasterId r:id="rId16"/>
  </p:handoutMasterIdLst>
  <p:sldIdLst>
    <p:sldId id="256" r:id="rId2"/>
    <p:sldId id="316" r:id="rId3"/>
    <p:sldId id="310" r:id="rId4"/>
    <p:sldId id="306" r:id="rId5"/>
    <p:sldId id="274" r:id="rId6"/>
    <p:sldId id="311" r:id="rId7"/>
    <p:sldId id="308" r:id="rId8"/>
    <p:sldId id="309" r:id="rId9"/>
    <p:sldId id="287" r:id="rId10"/>
    <p:sldId id="313" r:id="rId11"/>
    <p:sldId id="314" r:id="rId12"/>
    <p:sldId id="305" r:id="rId13"/>
    <p:sldId id="315" r:id="rId14"/>
    <p:sldId id="303" r:id="rId15"/>
  </p:sldIdLst>
  <p:sldSz cx="9144000" cy="6858000" type="screen4x3"/>
  <p:notesSz cx="7099300" cy="10234613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>
      <p:cViewPr varScale="1">
        <p:scale>
          <a:sx n="120" d="100"/>
          <a:sy n="120" d="100"/>
        </p:scale>
        <p:origin x="194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6" d="100"/>
          <a:sy n="56" d="100"/>
        </p:scale>
        <p:origin x="-1854" y="-96"/>
      </p:cViewPr>
      <p:guideLst>
        <p:guide orient="horz" pos="3224"/>
        <p:guide pos="2236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A53A3E3E-C903-2343-9461-D17B8D7A7E8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>
              <a:defRPr sz="1300">
                <a:latin typeface="Arial" panose="020B0604020202020204" pitchFamily="34" charset="0"/>
              </a:defRPr>
            </a:lvl1pPr>
          </a:lstStyle>
          <a:p>
            <a:endParaRPr lang="en-US" altLang="zh-CN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5A075025-0D63-E64A-9A81-C2C737BEB449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>
              <a:defRPr sz="1300">
                <a:latin typeface="Arial" panose="020B0604020202020204" pitchFamily="34" charset="0"/>
              </a:defRPr>
            </a:lvl1pPr>
          </a:lstStyle>
          <a:p>
            <a:endParaRPr lang="en-US" altLang="zh-CN"/>
          </a:p>
        </p:txBody>
      </p:sp>
      <p:sp>
        <p:nvSpPr>
          <p:cNvPr id="6148" name="Rectangle 4">
            <a:extLst>
              <a:ext uri="{FF2B5EF4-FFF2-40B4-BE49-F238E27FC236}">
                <a16:creationId xmlns:a16="http://schemas.microsoft.com/office/drawing/2014/main" id="{0B24856D-BF01-F645-A456-EFBA10AF0F29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>
              <a:defRPr sz="1300">
                <a:latin typeface="Arial" panose="020B0604020202020204" pitchFamily="34" charset="0"/>
              </a:defRPr>
            </a:lvl1pPr>
          </a:lstStyle>
          <a:p>
            <a:endParaRPr lang="en-US" altLang="zh-CN"/>
          </a:p>
        </p:txBody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A65AEC21-B882-124D-A8BE-B355C508A895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>
              <a:defRPr sz="1300">
                <a:latin typeface="Arial" panose="020B0604020202020204" pitchFamily="34" charset="0"/>
              </a:defRPr>
            </a:lvl1pPr>
          </a:lstStyle>
          <a:p>
            <a:fld id="{0F68B817-E233-424D-BAD2-8A9E5BFA5B5A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42" name="Group 2">
            <a:extLst>
              <a:ext uri="{FF2B5EF4-FFF2-40B4-BE49-F238E27FC236}">
                <a16:creationId xmlns:a16="http://schemas.microsoft.com/office/drawing/2014/main" id="{D7A70B5D-780A-3942-A354-14A0AA03280D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10243" name="Group 3">
              <a:extLst>
                <a:ext uri="{FF2B5EF4-FFF2-40B4-BE49-F238E27FC236}">
                  <a16:creationId xmlns:a16="http://schemas.microsoft.com/office/drawing/2014/main" id="{AE04AC0A-5074-D34B-ABEC-667006D7944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0244" name="Rectangle 4">
                <a:extLst>
                  <a:ext uri="{FF2B5EF4-FFF2-40B4-BE49-F238E27FC236}">
                    <a16:creationId xmlns:a16="http://schemas.microsoft.com/office/drawing/2014/main" id="{21AC3179-26FF-B745-8D39-9AFD73AA50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245" name="Rectangle 5">
                <a:extLst>
                  <a:ext uri="{FF2B5EF4-FFF2-40B4-BE49-F238E27FC236}">
                    <a16:creationId xmlns:a16="http://schemas.microsoft.com/office/drawing/2014/main" id="{58E99DBA-A43F-FF40-B0E3-28A727890C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0246" name="Group 6">
              <a:extLst>
                <a:ext uri="{FF2B5EF4-FFF2-40B4-BE49-F238E27FC236}">
                  <a16:creationId xmlns:a16="http://schemas.microsoft.com/office/drawing/2014/main" id="{CCDE27EE-3393-8346-8BF4-74C4E08B73C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10247" name="Rectangle 7">
                <a:extLst>
                  <a:ext uri="{FF2B5EF4-FFF2-40B4-BE49-F238E27FC236}">
                    <a16:creationId xmlns:a16="http://schemas.microsoft.com/office/drawing/2014/main" id="{741DB36D-ECCD-1D41-8A90-6CF2598AAA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248" name="Rectangle 8">
                <a:extLst>
                  <a:ext uri="{FF2B5EF4-FFF2-40B4-BE49-F238E27FC236}">
                    <a16:creationId xmlns:a16="http://schemas.microsoft.com/office/drawing/2014/main" id="{5061B37C-02D4-AF4C-A0CE-D405B44D1B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0249" name="Rectangle 9">
              <a:extLst>
                <a:ext uri="{FF2B5EF4-FFF2-40B4-BE49-F238E27FC236}">
                  <a16:creationId xmlns:a16="http://schemas.microsoft.com/office/drawing/2014/main" id="{1B3DFE3B-5D6D-A44A-B9E3-69259F59C9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50" name="Rectangle 10">
              <a:extLst>
                <a:ext uri="{FF2B5EF4-FFF2-40B4-BE49-F238E27FC236}">
                  <a16:creationId xmlns:a16="http://schemas.microsoft.com/office/drawing/2014/main" id="{9CA05350-0FF9-D747-BAAE-BB50FAA3D0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51" name="Rectangle 11">
              <a:extLst>
                <a:ext uri="{FF2B5EF4-FFF2-40B4-BE49-F238E27FC236}">
                  <a16:creationId xmlns:a16="http://schemas.microsoft.com/office/drawing/2014/main" id="{B143F3D0-92FF-0043-AC05-9512E042F3F6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0252" name="Rectangle 12">
            <a:extLst>
              <a:ext uri="{FF2B5EF4-FFF2-40B4-BE49-F238E27FC236}">
                <a16:creationId xmlns:a16="http://schemas.microsoft.com/office/drawing/2014/main" id="{5DDE1152-56F0-8F4C-A54D-AE9681C2CD3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10253" name="Rectangle 13">
            <a:extLst>
              <a:ext uri="{FF2B5EF4-FFF2-40B4-BE49-F238E27FC236}">
                <a16:creationId xmlns:a16="http://schemas.microsoft.com/office/drawing/2014/main" id="{077846F5-0355-604E-BF2D-53D9338AB5C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0254" name="Rectangle 14">
            <a:extLst>
              <a:ext uri="{FF2B5EF4-FFF2-40B4-BE49-F238E27FC236}">
                <a16:creationId xmlns:a16="http://schemas.microsoft.com/office/drawing/2014/main" id="{3D949DCF-BEB4-AA44-933E-4FB988602C1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10255" name="Rectangle 15">
            <a:extLst>
              <a:ext uri="{FF2B5EF4-FFF2-40B4-BE49-F238E27FC236}">
                <a16:creationId xmlns:a16="http://schemas.microsoft.com/office/drawing/2014/main" id="{148357A1-77F5-7845-8A16-F1F359F61F7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10256" name="Rectangle 16">
            <a:extLst>
              <a:ext uri="{FF2B5EF4-FFF2-40B4-BE49-F238E27FC236}">
                <a16:creationId xmlns:a16="http://schemas.microsoft.com/office/drawing/2014/main" id="{7FC1685A-667E-6349-8E15-B4AFF57A818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7D05AF8F-CC8B-CE4D-8E4E-0946430EB779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52B7C8-BBF8-F242-9071-54EFF1DA6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3B226BC-4235-504C-B04E-EB632D9A2E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0AB89B6-1309-DA45-A8B1-15977E30D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7F0CB5B-ED1B-FF4A-9559-8E0BEFD75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28B81DB-A4DC-974E-928F-146737968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98540E9-F464-B742-865C-DD7702B9F3C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51591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AF8CC2-D402-1B45-A2AB-E88EEF11B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383A153-D86D-624E-B3AA-1E074BA0F8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95C5AD2-3D50-CB48-B76F-AE872390C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521331C-BB0B-F946-9654-07363E804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55BEDF7-C82E-E346-9057-B4972ADA3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CEE9F18-42C2-EB42-B7EE-309F088CD39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305766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B0E62D-E804-AE45-B733-B7DBB3BD2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A7F36D-ED5D-2841-AE41-355861E52B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723D1C8-D01D-1C42-8834-4D3407EE30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6A35BE8-5D1C-4E45-AB28-761A39DB5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9EE7540-65E8-7F4C-8631-ABC6ED4BA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A607BFA-02B1-A54C-B28E-0082865A9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09B74E7-ACA5-654A-9ECF-C52E8998D71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42531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B1D599-1B8C-3F4F-98E5-681C1BC6A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B1A4448-905E-FE42-80F8-32F61296B4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FF1AE3F-7EF1-BB46-B31B-1EABA9AC54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CBAA89E-E853-8E4E-A44E-A1C8BF3EA3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B1898FA-7F0A-854F-B853-23F6604BF4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E36E9D0-F9FF-AB4F-B14A-E6FE62948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6429CEF-F84E-424C-80C2-DA56A6E3E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D71C219-C091-DA44-9BF3-936033036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4F84CD3-FD1F-084D-A180-5EC116F0F37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574241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97E0EC-E941-F945-9593-967549D6F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F7AAF1F-F224-BF46-9DEE-58E9218BE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3AACB6C-941A-2D40-B060-E69B2E5F1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E3843BE-6D5E-E647-8097-6652B7FB5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E7A1442-71AA-764F-B8C4-0319898C734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223942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7885FCA-B84B-0E46-A161-8D847820F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F03D4AF-D447-6A4E-A281-A5B3B2D65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F66B650-564B-4149-A48E-4D797D26F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48C2CF8-264E-C64D-85CB-0AAFA0C6A09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743496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76F4AF-D209-2540-AD79-815CE6E58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7116F02-B30C-7C42-B97C-FE62D8CEFA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17D51D3-32A7-6249-8F5F-923FE6D9D8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574FF6C-08F2-9342-906E-71B3AD86A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61C97FC-4AF8-DA4C-88A6-204C70D3F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3652109-10B2-314F-A0A5-DCD1E3524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9143EC1-E0FF-124D-8FBE-BA113ADBFDD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713887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317619-1248-1241-813F-DF58E7661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F66F2E0-A193-EE4E-B5B1-8E9D1B4F1D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925CAE9-B1EB-AC4F-AA70-8117B244DC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80E8E1-1380-E946-820D-CAA7AC72D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F6864C6-C42F-574D-B738-F4FE9B9FF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E230050-AB78-A446-825B-691D771DA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B968C4-449C-B342-92B9-D6688E0FA90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57324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52D8FD-2E35-8C45-8FAE-9D56B5839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C577BE3-983C-C14C-B5B5-D18FB718B0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2B1B293-A32D-C642-B1AE-AA53A3928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CA65018-A984-E946-ADE8-67AFBC794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5A81C39-165E-5348-8B50-00915A14A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AD7B04E-1747-6E4A-9BF6-94029E512EF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619113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892CDD7-CC2C-9744-A5EE-B3543CB520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CFD4D69-F43C-A441-B3CE-BBF93A83F1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7E04BCC-6041-0141-9018-3057D8BE4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5AA3F46-7ADF-A445-97A0-EA3267C42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9626F4-A82C-4A47-BD26-13483CE1D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DAA6308-3F37-DE4F-ACEB-C2CFB64370F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968479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A3FE088A-9B35-E94E-9004-A497788DD95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zh-CN" altLang="zh-CN" sz="2400"/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F19A9EF7-5D8E-1940-82E4-0AF32DF7176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zh-CN" altLang="zh-CN" sz="2400"/>
          </a:p>
        </p:txBody>
      </p:sp>
      <p:sp>
        <p:nvSpPr>
          <p:cNvPr id="9220" name="Rectangle 4">
            <a:extLst>
              <a:ext uri="{FF2B5EF4-FFF2-40B4-BE49-F238E27FC236}">
                <a16:creationId xmlns:a16="http://schemas.microsoft.com/office/drawing/2014/main" id="{265435FC-D425-924D-AAEC-0C59893CA93A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zh-CN" altLang="zh-CN" sz="2400"/>
          </a:p>
        </p:txBody>
      </p:sp>
      <p:sp>
        <p:nvSpPr>
          <p:cNvPr id="9221" name="Rectangle 5">
            <a:extLst>
              <a:ext uri="{FF2B5EF4-FFF2-40B4-BE49-F238E27FC236}">
                <a16:creationId xmlns:a16="http://schemas.microsoft.com/office/drawing/2014/main" id="{E3ECA28D-21DA-4147-8CAD-2B99FA074A0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zh-CN" altLang="zh-CN" sz="2400"/>
          </a:p>
        </p:txBody>
      </p:sp>
      <p:sp>
        <p:nvSpPr>
          <p:cNvPr id="9222" name="Rectangle 6">
            <a:extLst>
              <a:ext uri="{FF2B5EF4-FFF2-40B4-BE49-F238E27FC236}">
                <a16:creationId xmlns:a16="http://schemas.microsoft.com/office/drawing/2014/main" id="{228BCA76-CBD4-5C4C-918B-E69732DE704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zh-CN" altLang="zh-CN" sz="2400"/>
          </a:p>
        </p:txBody>
      </p:sp>
      <p:sp>
        <p:nvSpPr>
          <p:cNvPr id="9223" name="Rectangle 7">
            <a:extLst>
              <a:ext uri="{FF2B5EF4-FFF2-40B4-BE49-F238E27FC236}">
                <a16:creationId xmlns:a16="http://schemas.microsoft.com/office/drawing/2014/main" id="{6896F0AD-C6B4-0C4B-B706-90448343D104}"/>
              </a:ext>
            </a:extLst>
          </p:cNvPr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zh-CN" altLang="zh-CN" sz="2400"/>
          </a:p>
        </p:txBody>
      </p:sp>
      <p:sp>
        <p:nvSpPr>
          <p:cNvPr id="9224" name="Rectangle 8">
            <a:extLst>
              <a:ext uri="{FF2B5EF4-FFF2-40B4-BE49-F238E27FC236}">
                <a16:creationId xmlns:a16="http://schemas.microsoft.com/office/drawing/2014/main" id="{BFA94453-B156-C34A-A7D8-7A8FA96C4C4F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zh-CN" altLang="zh-CN" sz="2400"/>
          </a:p>
        </p:txBody>
      </p:sp>
      <p:sp>
        <p:nvSpPr>
          <p:cNvPr id="9225" name="Rectangle 9">
            <a:extLst>
              <a:ext uri="{FF2B5EF4-FFF2-40B4-BE49-F238E27FC236}">
                <a16:creationId xmlns:a16="http://schemas.microsoft.com/office/drawing/2014/main" id="{1A890F74-5B87-D243-8A40-CFD0C683F9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9226" name="Rectangle 10">
            <a:extLst>
              <a:ext uri="{FF2B5EF4-FFF2-40B4-BE49-F238E27FC236}">
                <a16:creationId xmlns:a16="http://schemas.microsoft.com/office/drawing/2014/main" id="{854E1838-A9C3-7E40-AC2B-35CA6013AD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9227" name="Rectangle 11">
            <a:extLst>
              <a:ext uri="{FF2B5EF4-FFF2-40B4-BE49-F238E27FC236}">
                <a16:creationId xmlns:a16="http://schemas.microsoft.com/office/drawing/2014/main" id="{C21097CC-0036-B042-A363-F39FB75C85F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zh-CN"/>
          </a:p>
        </p:txBody>
      </p:sp>
      <p:sp>
        <p:nvSpPr>
          <p:cNvPr id="9228" name="Rectangle 12">
            <a:extLst>
              <a:ext uri="{FF2B5EF4-FFF2-40B4-BE49-F238E27FC236}">
                <a16:creationId xmlns:a16="http://schemas.microsoft.com/office/drawing/2014/main" id="{8EB7EA01-3009-A048-AAFB-55FF753DDA3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zh-CN"/>
          </a:p>
        </p:txBody>
      </p:sp>
      <p:sp>
        <p:nvSpPr>
          <p:cNvPr id="9229" name="Rectangle 13">
            <a:extLst>
              <a:ext uri="{FF2B5EF4-FFF2-40B4-BE49-F238E27FC236}">
                <a16:creationId xmlns:a16="http://schemas.microsoft.com/office/drawing/2014/main" id="{9C8B4E4F-22EC-854D-B584-5277BA0BBD4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63F8D3C3-71BC-3E40-8C75-F9FC782F4C80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l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csslab-ustc.github.io/seminar/2026/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0509E4D0-42AE-E245-AFBB-4F660EE6EAE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Advanced</a:t>
            </a:r>
            <a:r>
              <a:rPr lang="zh-CN" altLang="en-US" dirty="0"/>
              <a:t> </a:t>
            </a:r>
            <a:r>
              <a:rPr lang="en-US" altLang="zh-CN" dirty="0"/>
              <a:t>Compiler</a:t>
            </a:r>
            <a:r>
              <a:rPr lang="zh-CN" altLang="en-US" dirty="0"/>
              <a:t> </a:t>
            </a:r>
            <a:r>
              <a:rPr lang="en-US" altLang="zh-CN"/>
              <a:t>Design:</a:t>
            </a:r>
            <a:br>
              <a:rPr lang="en-US" altLang="zh-CN"/>
            </a:br>
            <a:r>
              <a:rPr lang="en-US" altLang="zh-CN"/>
              <a:t>Overview</a:t>
            </a:r>
            <a:endParaRPr lang="en-US" altLang="zh-CN" dirty="0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9BBEE831-F42A-B041-9434-84E906EAD7A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838200" y="3886200"/>
            <a:ext cx="7772400" cy="1752600"/>
          </a:xfrm>
        </p:spPr>
        <p:txBody>
          <a:bodyPr/>
          <a:lstStyle/>
          <a:p>
            <a:r>
              <a:rPr lang="en-US" altLang="zh-CN" sz="3600" dirty="0"/>
              <a:t>The</a:t>
            </a:r>
            <a:r>
              <a:rPr lang="zh-CN" altLang="en-US" sz="3600" dirty="0"/>
              <a:t> </a:t>
            </a:r>
            <a:r>
              <a:rPr lang="en-US" altLang="zh-CN" sz="3600" dirty="0"/>
              <a:t>Euclid</a:t>
            </a:r>
            <a:r>
              <a:rPr lang="zh-CN" altLang="en-US" sz="3600" dirty="0"/>
              <a:t> </a:t>
            </a:r>
            <a:r>
              <a:rPr lang="en-US" altLang="zh-CN" sz="3600" dirty="0"/>
              <a:t>Seminar</a:t>
            </a:r>
          </a:p>
          <a:p>
            <a:r>
              <a:rPr lang="en-US" altLang="zh-CN" sz="2800" dirty="0" err="1"/>
              <a:t>Baojian</a:t>
            </a:r>
            <a:r>
              <a:rPr lang="en-US" altLang="zh-CN" sz="2800" dirty="0"/>
              <a:t> Hua</a:t>
            </a:r>
          </a:p>
          <a:p>
            <a:r>
              <a:rPr lang="en-US" altLang="zh-CN" sz="2400" dirty="0" err="1"/>
              <a:t>bjhua@ustc.edu.cn</a:t>
            </a:r>
            <a:endParaRPr lang="en-US" altLang="zh-CN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AD6C73-A01E-D856-8D55-02CA6EB95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>
            <a:extLst>
              <a:ext uri="{FF2B5EF4-FFF2-40B4-BE49-F238E27FC236}">
                <a16:creationId xmlns:a16="http://schemas.microsoft.com/office/drawing/2014/main" id="{2E9799FE-5AC2-1EB8-B773-2801EB06BF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 </a:t>
            </a:r>
          </a:p>
        </p:txBody>
      </p:sp>
      <p:sp>
        <p:nvSpPr>
          <p:cNvPr id="83971" name="Rectangle 3">
            <a:extLst>
              <a:ext uri="{FF2B5EF4-FFF2-40B4-BE49-F238E27FC236}">
                <a16:creationId xmlns:a16="http://schemas.microsoft.com/office/drawing/2014/main" id="{A570673C-02DC-C546-DF52-5837D77311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zh-CN" dirty="0"/>
              <a:t> </a:t>
            </a:r>
          </a:p>
        </p:txBody>
      </p:sp>
      <p:sp>
        <p:nvSpPr>
          <p:cNvPr id="83972" name="Rectangle 4">
            <a:extLst>
              <a:ext uri="{FF2B5EF4-FFF2-40B4-BE49-F238E27FC236}">
                <a16:creationId xmlns:a16="http://schemas.microsoft.com/office/drawing/2014/main" id="{7AE1F26F-74FC-BCE9-62B7-D00A98623C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2971800"/>
            <a:ext cx="410240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3600" i="1" dirty="0">
                <a:solidFill>
                  <a:srgbClr val="0432FF"/>
                </a:solidFill>
              </a:rPr>
              <a:t>What</a:t>
            </a:r>
            <a:r>
              <a:rPr lang="zh-CN" altLang="en-US" sz="3600" i="1" dirty="0">
                <a:solidFill>
                  <a:srgbClr val="0432FF"/>
                </a:solidFill>
              </a:rPr>
              <a:t> </a:t>
            </a:r>
            <a:r>
              <a:rPr lang="en-US" altLang="zh-CN" sz="3600" i="1" dirty="0">
                <a:solidFill>
                  <a:srgbClr val="0432FF"/>
                </a:solidFill>
              </a:rPr>
              <a:t>is</a:t>
            </a:r>
            <a:r>
              <a:rPr lang="zh-CN" altLang="en-US" sz="3600" i="1" dirty="0">
                <a:solidFill>
                  <a:srgbClr val="0432FF"/>
                </a:solidFill>
              </a:rPr>
              <a:t> </a:t>
            </a:r>
            <a:r>
              <a:rPr lang="en-US" altLang="zh-CN" sz="3600" i="1" dirty="0">
                <a:solidFill>
                  <a:srgbClr val="0432FF"/>
                </a:solidFill>
              </a:rPr>
              <a:t>this</a:t>
            </a:r>
            <a:r>
              <a:rPr lang="zh-CN" altLang="en-US" sz="3600" i="1" dirty="0">
                <a:solidFill>
                  <a:srgbClr val="0432FF"/>
                </a:solidFill>
              </a:rPr>
              <a:t> </a:t>
            </a:r>
            <a:r>
              <a:rPr lang="en-US" altLang="zh-CN" sz="3600" i="1" dirty="0">
                <a:solidFill>
                  <a:srgbClr val="0432FF"/>
                </a:solidFill>
              </a:rPr>
              <a:t>about?</a:t>
            </a:r>
          </a:p>
        </p:txBody>
      </p:sp>
    </p:spTree>
    <p:extLst>
      <p:ext uri="{BB962C8B-B14F-4D97-AF65-F5344CB8AC3E}">
        <p14:creationId xmlns:p14="http://schemas.microsoft.com/office/powerpoint/2010/main" val="9038284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>
            <a:extLst>
              <a:ext uri="{FF2B5EF4-FFF2-40B4-BE49-F238E27FC236}">
                <a16:creationId xmlns:a16="http://schemas.microsoft.com/office/drawing/2014/main" id="{B3D05ADA-3431-0E4F-9FCD-DCC14AF7A9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5Ws</a:t>
            </a:r>
          </a:p>
        </p:txBody>
      </p:sp>
      <p:sp>
        <p:nvSpPr>
          <p:cNvPr id="103427" name="Rectangle 3">
            <a:extLst>
              <a:ext uri="{FF2B5EF4-FFF2-40B4-BE49-F238E27FC236}">
                <a16:creationId xmlns:a16="http://schemas.microsoft.com/office/drawing/2014/main" id="{18C0B0E1-1CB3-8340-A719-5F4237B4A7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What?</a:t>
            </a:r>
          </a:p>
          <a:p>
            <a:r>
              <a:rPr lang="en-US" altLang="zh-CN" dirty="0"/>
              <a:t>Why?</a:t>
            </a:r>
          </a:p>
          <a:p>
            <a:r>
              <a:rPr lang="en-US" altLang="zh-CN" dirty="0"/>
              <a:t>When?</a:t>
            </a:r>
          </a:p>
          <a:p>
            <a:r>
              <a:rPr lang="en-US" altLang="zh-CN" dirty="0"/>
              <a:t>Who?</a:t>
            </a:r>
          </a:p>
          <a:p>
            <a:r>
              <a:rPr lang="en-US" altLang="zh-CN" dirty="0" err="1"/>
              <a:t>hoW</a:t>
            </a:r>
            <a:r>
              <a:rPr lang="en-US" altLang="zh-CN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6389921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>
            <a:extLst>
              <a:ext uri="{FF2B5EF4-FFF2-40B4-BE49-F238E27FC236}">
                <a16:creationId xmlns:a16="http://schemas.microsoft.com/office/drawing/2014/main" id="{B3D05ADA-3431-0E4F-9FCD-DCC14AF7A9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What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this</a:t>
            </a:r>
            <a:r>
              <a:rPr lang="zh-CN" altLang="en-US" dirty="0"/>
              <a:t> </a:t>
            </a:r>
            <a:r>
              <a:rPr lang="en-US" altLang="zh-CN" dirty="0"/>
              <a:t>Euclid</a:t>
            </a:r>
            <a:r>
              <a:rPr lang="zh-CN" altLang="en-US" dirty="0"/>
              <a:t> </a:t>
            </a:r>
            <a:r>
              <a:rPr lang="en-US" altLang="zh-CN" dirty="0"/>
              <a:t>seminar?</a:t>
            </a:r>
          </a:p>
        </p:txBody>
      </p:sp>
      <p:sp>
        <p:nvSpPr>
          <p:cNvPr id="103427" name="Rectangle 3">
            <a:extLst>
              <a:ext uri="{FF2B5EF4-FFF2-40B4-BE49-F238E27FC236}">
                <a16:creationId xmlns:a16="http://schemas.microsoft.com/office/drawing/2014/main" id="{18C0B0E1-1CB3-8340-A719-5F4237B4A7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Euclid</a:t>
            </a:r>
            <a:r>
              <a:rPr lang="zh-CN" altLang="en-US" dirty="0"/>
              <a:t> </a:t>
            </a:r>
            <a:r>
              <a:rPr lang="en-US" altLang="zh-CN" dirty="0"/>
              <a:t>summer</a:t>
            </a:r>
            <a:r>
              <a:rPr lang="zh-CN" altLang="en-US" dirty="0"/>
              <a:t> </a:t>
            </a:r>
            <a:r>
              <a:rPr lang="en-US" altLang="zh-CN" dirty="0"/>
              <a:t>school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an</a:t>
            </a:r>
            <a:r>
              <a:rPr lang="zh-CN" altLang="en-US" dirty="0"/>
              <a:t> </a:t>
            </a:r>
            <a:r>
              <a:rPr lang="en-US" altLang="zh-CN" dirty="0"/>
              <a:t>annual</a:t>
            </a:r>
            <a:r>
              <a:rPr lang="zh-CN" altLang="en-US" dirty="0"/>
              <a:t> </a:t>
            </a:r>
            <a:r>
              <a:rPr lang="en-US" altLang="zh-CN" dirty="0"/>
              <a:t>meeting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CSS</a:t>
            </a:r>
            <a:r>
              <a:rPr lang="zh-CN" altLang="en-US" dirty="0"/>
              <a:t> </a:t>
            </a:r>
            <a:r>
              <a:rPr lang="en-US" altLang="zh-CN" dirty="0"/>
              <a:t>group</a:t>
            </a:r>
          </a:p>
          <a:p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learn</a:t>
            </a:r>
            <a:r>
              <a:rPr lang="zh-CN" altLang="en-US" dirty="0"/>
              <a:t> </a:t>
            </a:r>
            <a:r>
              <a:rPr lang="en-US" altLang="zh-CN" dirty="0"/>
              <a:t>something</a:t>
            </a:r>
            <a:r>
              <a:rPr lang="zh-CN" altLang="en-US" dirty="0"/>
              <a:t> </a:t>
            </a:r>
            <a:r>
              <a:rPr lang="en-US" altLang="zh-CN" dirty="0"/>
              <a:t>new</a:t>
            </a:r>
            <a:r>
              <a:rPr lang="zh-CN" altLang="en-US" dirty="0"/>
              <a:t> </a:t>
            </a:r>
            <a:r>
              <a:rPr lang="en-US" altLang="zh-CN" dirty="0">
                <a:solidFill>
                  <a:srgbClr val="0432FF"/>
                </a:solidFill>
              </a:rPr>
              <a:t>systematically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motivate</a:t>
            </a:r>
            <a:r>
              <a:rPr lang="zh-CN" altLang="en-US" dirty="0"/>
              <a:t> </a:t>
            </a:r>
            <a:r>
              <a:rPr lang="en-US" altLang="zh-CN" dirty="0"/>
              <a:t>novel</a:t>
            </a:r>
            <a:r>
              <a:rPr lang="zh-CN" altLang="en-US" dirty="0"/>
              <a:t> </a:t>
            </a:r>
            <a:r>
              <a:rPr lang="en-US" altLang="zh-CN" dirty="0"/>
              <a:t>ideas</a:t>
            </a:r>
          </a:p>
          <a:p>
            <a:r>
              <a:rPr lang="en-US" altLang="zh-CN" dirty="0"/>
              <a:t>Topics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recent</a:t>
            </a:r>
            <a:r>
              <a:rPr lang="zh-CN" altLang="en-US" dirty="0"/>
              <a:t> </a:t>
            </a:r>
            <a:r>
              <a:rPr lang="en-US" altLang="zh-CN" dirty="0"/>
              <a:t>several</a:t>
            </a:r>
            <a:r>
              <a:rPr lang="zh-CN" altLang="en-US" dirty="0"/>
              <a:t> </a:t>
            </a:r>
            <a:r>
              <a:rPr lang="en-US" altLang="zh-CN" dirty="0"/>
              <a:t>years:</a:t>
            </a:r>
          </a:p>
        </p:txBody>
      </p:sp>
      <p:pic>
        <p:nvPicPr>
          <p:cNvPr id="3" name="图片 2" descr="图形用户界面, 文本, 应用程序&#10;&#10;AI 生成的内容可能不正确。">
            <a:extLst>
              <a:ext uri="{FF2B5EF4-FFF2-40B4-BE49-F238E27FC236}">
                <a16:creationId xmlns:a16="http://schemas.microsoft.com/office/drawing/2014/main" id="{1BCE5633-847E-C4E1-C9B5-1F858440A3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600" y="4696624"/>
            <a:ext cx="3200400" cy="2033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14082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>
            <a:extLst>
              <a:ext uri="{FF2B5EF4-FFF2-40B4-BE49-F238E27FC236}">
                <a16:creationId xmlns:a16="http://schemas.microsoft.com/office/drawing/2014/main" id="{E076F366-D47A-A049-A442-D3C0CB2096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Why</a:t>
            </a:r>
            <a:r>
              <a:rPr lang="zh-CN" altLang="en-US" dirty="0"/>
              <a:t> </a:t>
            </a:r>
            <a:r>
              <a:rPr lang="en-US" altLang="zh-CN" dirty="0"/>
              <a:t>this</a:t>
            </a:r>
            <a:r>
              <a:rPr lang="zh-CN" altLang="en-US" dirty="0"/>
              <a:t> </a:t>
            </a:r>
            <a:r>
              <a:rPr lang="en-US" altLang="zh-CN" dirty="0"/>
              <a:t>seminar?</a:t>
            </a:r>
          </a:p>
        </p:txBody>
      </p:sp>
      <p:sp>
        <p:nvSpPr>
          <p:cNvPr id="70659" name="Rectangle 3">
            <a:extLst>
              <a:ext uri="{FF2B5EF4-FFF2-40B4-BE49-F238E27FC236}">
                <a16:creationId xmlns:a16="http://schemas.microsoft.com/office/drawing/2014/main" id="{FE38B1ED-8B58-8E4F-A06B-65CD32D353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dirty="0"/>
              <a:t>Always</a:t>
            </a:r>
            <a:r>
              <a:rPr lang="zh-CN" altLang="en-US" dirty="0"/>
              <a:t> </a:t>
            </a:r>
            <a:r>
              <a:rPr lang="en-US" altLang="zh-CN" dirty="0"/>
              <a:t>be</a:t>
            </a:r>
            <a:r>
              <a:rPr lang="zh-CN" altLang="en-US" dirty="0"/>
              <a:t> </a:t>
            </a:r>
            <a:r>
              <a:rPr lang="en-US" altLang="zh-CN" dirty="0"/>
              <a:t>innovative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illuminating</a:t>
            </a:r>
          </a:p>
          <a:p>
            <a:pPr>
              <a:lnSpc>
                <a:spcPct val="90000"/>
              </a:lnSpc>
            </a:pPr>
            <a:r>
              <a:rPr lang="en-US" altLang="zh-CN" dirty="0"/>
              <a:t>Build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growth-oriented</a:t>
            </a:r>
            <a:r>
              <a:rPr lang="zh-CN" altLang="en-US" dirty="0"/>
              <a:t> </a:t>
            </a:r>
            <a:r>
              <a:rPr lang="en-US" altLang="zh-CN" dirty="0"/>
              <a:t>team</a:t>
            </a:r>
          </a:p>
          <a:p>
            <a:pPr>
              <a:lnSpc>
                <a:spcPct val="90000"/>
              </a:lnSpc>
            </a:pPr>
            <a:endParaRPr lang="en-US" altLang="zh-C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>
            <a:extLst>
              <a:ext uri="{FF2B5EF4-FFF2-40B4-BE49-F238E27FC236}">
                <a16:creationId xmlns:a16="http://schemas.microsoft.com/office/drawing/2014/main" id="{E076F366-D47A-A049-A442-D3C0CB2096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When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organize</a:t>
            </a:r>
            <a:r>
              <a:rPr lang="zh-CN" altLang="en-US" dirty="0"/>
              <a:t> </a:t>
            </a:r>
            <a:r>
              <a:rPr lang="en-US" altLang="zh-CN" dirty="0"/>
              <a:t>this</a:t>
            </a:r>
            <a:r>
              <a:rPr lang="zh-CN" altLang="en-US" dirty="0"/>
              <a:t> </a:t>
            </a:r>
            <a:r>
              <a:rPr lang="en-US" altLang="zh-CN" dirty="0"/>
              <a:t>seminar?</a:t>
            </a:r>
          </a:p>
        </p:txBody>
      </p:sp>
      <p:sp>
        <p:nvSpPr>
          <p:cNvPr id="70659" name="Rectangle 3">
            <a:extLst>
              <a:ext uri="{FF2B5EF4-FFF2-40B4-BE49-F238E27FC236}">
                <a16:creationId xmlns:a16="http://schemas.microsoft.com/office/drawing/2014/main" id="{FE38B1ED-8B58-8E4F-A06B-65CD32D353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each</a:t>
            </a:r>
            <a:r>
              <a:rPr lang="zh-CN" altLang="en-US" dirty="0"/>
              <a:t> </a:t>
            </a:r>
            <a:r>
              <a:rPr lang="en-US" altLang="zh-CN" dirty="0"/>
              <a:t>summer</a:t>
            </a:r>
          </a:p>
          <a:p>
            <a:pPr>
              <a:lnSpc>
                <a:spcPct val="90000"/>
              </a:lnSpc>
            </a:pPr>
            <a:r>
              <a:rPr lang="en-US" altLang="zh-CN" dirty="0"/>
              <a:t>May</a:t>
            </a:r>
            <a:r>
              <a:rPr lang="zh-CN" altLang="en-US" dirty="0"/>
              <a:t> </a:t>
            </a:r>
            <a:r>
              <a:rPr lang="en-US" altLang="zh-CN" dirty="0"/>
              <a:t>continue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next</a:t>
            </a:r>
            <a:r>
              <a:rPr lang="zh-CN" altLang="en-US" dirty="0"/>
              <a:t> </a:t>
            </a:r>
            <a:r>
              <a:rPr lang="en-US" altLang="zh-CN" dirty="0" err="1"/>
              <a:t>semister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9111561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>
            <a:extLst>
              <a:ext uri="{FF2B5EF4-FFF2-40B4-BE49-F238E27FC236}">
                <a16:creationId xmlns:a16="http://schemas.microsoft.com/office/drawing/2014/main" id="{C2515557-1500-0D49-8A86-DE896A433F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Who</a:t>
            </a:r>
            <a:r>
              <a:rPr lang="zh-CN" altLang="en-US" dirty="0"/>
              <a:t> </a:t>
            </a:r>
            <a:r>
              <a:rPr lang="en-US" altLang="zh-CN" dirty="0"/>
              <a:t>attends</a:t>
            </a:r>
            <a:r>
              <a:rPr lang="zh-CN" altLang="en-US" dirty="0"/>
              <a:t> </a:t>
            </a:r>
            <a:r>
              <a:rPr lang="en-US" altLang="zh-CN" dirty="0"/>
              <a:t>this</a:t>
            </a:r>
            <a:r>
              <a:rPr lang="zh-CN" altLang="en-US" dirty="0"/>
              <a:t> </a:t>
            </a:r>
            <a:r>
              <a:rPr lang="en-US" altLang="zh-CN" dirty="0"/>
              <a:t>seminar?</a:t>
            </a:r>
          </a:p>
        </p:txBody>
      </p:sp>
      <p:sp>
        <p:nvSpPr>
          <p:cNvPr id="105475" name="Rectangle 3">
            <a:extLst>
              <a:ext uri="{FF2B5EF4-FFF2-40B4-BE49-F238E27FC236}">
                <a16:creationId xmlns:a16="http://schemas.microsoft.com/office/drawing/2014/main" id="{7FCA5A8C-22BF-344F-B6EB-C0039EC27D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Group</a:t>
            </a:r>
            <a:r>
              <a:rPr lang="zh-CN" altLang="en-US" dirty="0"/>
              <a:t> </a:t>
            </a:r>
            <a:r>
              <a:rPr lang="en-US" altLang="zh-CN" dirty="0"/>
              <a:t>members</a:t>
            </a:r>
          </a:p>
          <a:p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students</a:t>
            </a:r>
            <a:r>
              <a:rPr lang="zh-CN" altLang="en-US" dirty="0"/>
              <a:t> </a:t>
            </a:r>
            <a:r>
              <a:rPr lang="en-US" altLang="zh-CN" dirty="0"/>
              <a:t>organize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seminar</a:t>
            </a:r>
          </a:p>
          <a:p>
            <a:pPr lvl="1"/>
            <a:r>
              <a:rPr lang="en-US" altLang="zh-CN" dirty="0"/>
              <a:t>You</a:t>
            </a:r>
            <a:r>
              <a:rPr lang="zh-CN" altLang="en-US" dirty="0"/>
              <a:t> </a:t>
            </a:r>
            <a:r>
              <a:rPr lang="en-US" altLang="zh-CN" dirty="0"/>
              <a:t>are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Prof.!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>
            <a:extLst>
              <a:ext uri="{FF2B5EF4-FFF2-40B4-BE49-F238E27FC236}">
                <a16:creationId xmlns:a16="http://schemas.microsoft.com/office/drawing/2014/main" id="{5A8C102A-9748-F147-8F37-9BDAD8BE6E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How?</a:t>
            </a:r>
          </a:p>
        </p:txBody>
      </p:sp>
      <p:sp>
        <p:nvSpPr>
          <p:cNvPr id="108547" name="Rectangle 3">
            <a:extLst>
              <a:ext uri="{FF2B5EF4-FFF2-40B4-BE49-F238E27FC236}">
                <a16:creationId xmlns:a16="http://schemas.microsoft.com/office/drawing/2014/main" id="{6AE8DBDA-DA32-4347-BDB9-6444B21B67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Seek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balance</a:t>
            </a:r>
            <a:r>
              <a:rPr lang="zh-CN" altLang="en-US" dirty="0"/>
              <a:t> </a:t>
            </a:r>
            <a:r>
              <a:rPr lang="en-US" altLang="zh-CN" dirty="0"/>
              <a:t>between</a:t>
            </a:r>
            <a:r>
              <a:rPr lang="zh-CN" altLang="en-US" dirty="0"/>
              <a:t> </a:t>
            </a:r>
            <a:r>
              <a:rPr lang="en-US" altLang="zh-CN" dirty="0"/>
              <a:t>theory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practice</a:t>
            </a:r>
          </a:p>
          <a:p>
            <a:pPr lvl="1"/>
            <a:r>
              <a:rPr lang="en-US" altLang="zh-CN" dirty="0"/>
              <a:t>bias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practice</a:t>
            </a:r>
            <a:r>
              <a:rPr lang="zh-CN" altLang="en-US" dirty="0"/>
              <a:t> </a:t>
            </a:r>
            <a:r>
              <a:rPr lang="en-US" altLang="zh-CN" dirty="0"/>
              <a:t>if</a:t>
            </a:r>
            <a:r>
              <a:rPr lang="zh-CN" altLang="en-US" dirty="0"/>
              <a:t> </a:t>
            </a:r>
            <a:r>
              <a:rPr lang="en-US" altLang="zh-CN" dirty="0"/>
              <a:t>conflict</a:t>
            </a:r>
          </a:p>
          <a:p>
            <a:r>
              <a:rPr lang="en-US" altLang="zh-CN" dirty="0"/>
              <a:t>Read</a:t>
            </a:r>
            <a:r>
              <a:rPr lang="zh-CN" altLang="en-US" dirty="0"/>
              <a:t> </a:t>
            </a:r>
            <a:r>
              <a:rPr lang="en-US" altLang="zh-CN" dirty="0"/>
              <a:t>text,</a:t>
            </a:r>
            <a:r>
              <a:rPr lang="zh-CN" altLang="en-US" dirty="0"/>
              <a:t> </a:t>
            </a:r>
            <a:r>
              <a:rPr lang="en-US" altLang="zh-CN" dirty="0"/>
              <a:t>write</a:t>
            </a:r>
            <a:r>
              <a:rPr lang="zh-CN" altLang="en-US" dirty="0"/>
              <a:t> </a:t>
            </a:r>
            <a:r>
              <a:rPr lang="en-US" altLang="zh-CN" dirty="0"/>
              <a:t>code,</a:t>
            </a:r>
            <a:r>
              <a:rPr lang="zh-CN" altLang="en-US" dirty="0"/>
              <a:t> </a:t>
            </a:r>
            <a:r>
              <a:rPr lang="en-US" altLang="zh-CN" dirty="0"/>
              <a:t>discuss,</a:t>
            </a:r>
            <a:r>
              <a:rPr lang="zh-CN" altLang="en-US" dirty="0"/>
              <a:t> </a:t>
            </a:r>
            <a:r>
              <a:rPr lang="en-US" altLang="zh-CN" dirty="0"/>
              <a:t>brain</a:t>
            </a:r>
            <a:r>
              <a:rPr lang="zh-CN" altLang="en-US" dirty="0"/>
              <a:t> </a:t>
            </a:r>
            <a:r>
              <a:rPr lang="en-US" altLang="zh-CN" dirty="0"/>
              <a:t>storming,</a:t>
            </a:r>
            <a:r>
              <a:rPr lang="zh-CN" altLang="en-US" dirty="0"/>
              <a:t> </a:t>
            </a:r>
            <a:r>
              <a:rPr lang="en-US" altLang="zh-CN" dirty="0"/>
              <a:t>…</a:t>
            </a:r>
          </a:p>
          <a:p>
            <a:r>
              <a:rPr lang="en-US" altLang="zh-CN" dirty="0"/>
              <a:t>So,</a:t>
            </a:r>
            <a:r>
              <a:rPr lang="zh-CN" altLang="en-US" dirty="0"/>
              <a:t> </a:t>
            </a:r>
            <a:r>
              <a:rPr lang="en-US" altLang="zh-CN" dirty="0"/>
              <a:t>self-motivation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essential</a:t>
            </a:r>
          </a:p>
          <a:p>
            <a:r>
              <a:rPr lang="en-US" altLang="zh-CN" dirty="0"/>
              <a:t>Do</a:t>
            </a:r>
            <a:r>
              <a:rPr lang="zh-CN" altLang="en-US" dirty="0"/>
              <a:t> </a:t>
            </a:r>
            <a:r>
              <a:rPr lang="en-US" altLang="zh-CN" dirty="0"/>
              <a:t>NOT</a:t>
            </a:r>
            <a:r>
              <a:rPr lang="zh-CN" altLang="en-US" dirty="0"/>
              <a:t> </a:t>
            </a:r>
            <a:r>
              <a:rPr lang="en-US" altLang="zh-CN" dirty="0"/>
              <a:t>use</a:t>
            </a:r>
            <a:r>
              <a:rPr lang="zh-CN" altLang="en-US" dirty="0"/>
              <a:t> </a:t>
            </a:r>
            <a:r>
              <a:rPr lang="en-US" altLang="zh-CN" dirty="0"/>
              <a:t>AI</a:t>
            </a:r>
            <a:r>
              <a:rPr lang="zh-CN" altLang="en-US" dirty="0"/>
              <a:t> </a:t>
            </a: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this</a:t>
            </a:r>
            <a:r>
              <a:rPr lang="zh-CN" altLang="en-US" dirty="0"/>
              <a:t> </a:t>
            </a:r>
            <a:r>
              <a:rPr lang="en-US" altLang="zh-CN" dirty="0"/>
              <a:t>seminar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>
            <a:extLst>
              <a:ext uri="{FF2B5EF4-FFF2-40B4-BE49-F238E27FC236}">
                <a16:creationId xmlns:a16="http://schemas.microsoft.com/office/drawing/2014/main" id="{9126F26F-E174-6049-866D-0613BD34F5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 </a:t>
            </a:r>
          </a:p>
        </p:txBody>
      </p:sp>
      <p:sp>
        <p:nvSpPr>
          <p:cNvPr id="83971" name="Rectangle 3">
            <a:extLst>
              <a:ext uri="{FF2B5EF4-FFF2-40B4-BE49-F238E27FC236}">
                <a16:creationId xmlns:a16="http://schemas.microsoft.com/office/drawing/2014/main" id="{A78CC973-B653-AA48-8F64-C800ED1E88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zh-CN"/>
              <a:t> </a:t>
            </a:r>
          </a:p>
        </p:txBody>
      </p:sp>
      <p:sp>
        <p:nvSpPr>
          <p:cNvPr id="83972" name="Rectangle 4">
            <a:extLst>
              <a:ext uri="{FF2B5EF4-FFF2-40B4-BE49-F238E27FC236}">
                <a16:creationId xmlns:a16="http://schemas.microsoft.com/office/drawing/2014/main" id="{C915CF52-C3A9-164F-8E0E-3BD55F9131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2971800"/>
            <a:ext cx="466788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3600" i="1" dirty="0">
                <a:solidFill>
                  <a:srgbClr val="0432FF"/>
                </a:solidFill>
              </a:rPr>
              <a:t>What</a:t>
            </a:r>
            <a:r>
              <a:rPr lang="zh-CN" altLang="en-US" sz="3600" i="1" dirty="0">
                <a:solidFill>
                  <a:srgbClr val="0432FF"/>
                </a:solidFill>
              </a:rPr>
              <a:t> </a:t>
            </a:r>
            <a:r>
              <a:rPr lang="en-US" altLang="zh-CN" sz="3600" i="1" dirty="0">
                <a:solidFill>
                  <a:srgbClr val="0432FF"/>
                </a:solidFill>
              </a:rPr>
              <a:t>about</a:t>
            </a:r>
            <a:r>
              <a:rPr lang="zh-CN" altLang="en-US" sz="3600" i="1" dirty="0">
                <a:solidFill>
                  <a:srgbClr val="0432FF"/>
                </a:solidFill>
              </a:rPr>
              <a:t> </a:t>
            </a:r>
            <a:r>
              <a:rPr lang="en-US" altLang="zh-CN" sz="3600" i="1" dirty="0">
                <a:solidFill>
                  <a:srgbClr val="0432FF"/>
                </a:solidFill>
              </a:rPr>
              <a:t>this</a:t>
            </a:r>
            <a:r>
              <a:rPr lang="zh-CN" altLang="en-US" sz="3600" i="1" dirty="0">
                <a:solidFill>
                  <a:srgbClr val="0432FF"/>
                </a:solidFill>
              </a:rPr>
              <a:t> </a:t>
            </a:r>
            <a:r>
              <a:rPr lang="en-US" altLang="zh-CN" sz="3600" i="1" dirty="0">
                <a:solidFill>
                  <a:srgbClr val="0432FF"/>
                </a:solidFill>
              </a:rPr>
              <a:t>year?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>
            <a:extLst>
              <a:ext uri="{FF2B5EF4-FFF2-40B4-BE49-F238E27FC236}">
                <a16:creationId xmlns:a16="http://schemas.microsoft.com/office/drawing/2014/main" id="{0A5A60BF-10C8-9D43-8EF6-A81549643A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Topic</a:t>
            </a:r>
          </a:p>
        </p:txBody>
      </p:sp>
      <p:sp>
        <p:nvSpPr>
          <p:cNvPr id="92163" name="Rectangle 3">
            <a:extLst>
              <a:ext uri="{FF2B5EF4-FFF2-40B4-BE49-F238E27FC236}">
                <a16:creationId xmlns:a16="http://schemas.microsoft.com/office/drawing/2014/main" id="{5AA507DA-1851-2647-B0D8-1528A061BA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Advanced</a:t>
            </a:r>
            <a:r>
              <a:rPr lang="zh-CN" altLang="en-US" dirty="0"/>
              <a:t> </a:t>
            </a:r>
            <a:r>
              <a:rPr lang="en-US" altLang="zh-CN" dirty="0"/>
              <a:t>compiler</a:t>
            </a:r>
            <a:r>
              <a:rPr lang="zh-CN" altLang="en-US" dirty="0"/>
              <a:t> </a:t>
            </a:r>
            <a:r>
              <a:rPr lang="en-US" altLang="zh-CN" dirty="0"/>
              <a:t>design</a:t>
            </a:r>
          </a:p>
          <a:p>
            <a:pPr lvl="1"/>
            <a:r>
              <a:rPr lang="en-US" altLang="zh-CN" dirty="0"/>
              <a:t>We</a:t>
            </a:r>
            <a:r>
              <a:rPr lang="zh-CN" altLang="en-US" dirty="0"/>
              <a:t> </a:t>
            </a:r>
            <a:r>
              <a:rPr lang="en-US" altLang="zh-CN" dirty="0"/>
              <a:t>start</a:t>
            </a:r>
            <a:r>
              <a:rPr lang="zh-CN" altLang="en-US" dirty="0"/>
              <a:t> </a:t>
            </a:r>
            <a:r>
              <a:rPr lang="en-US" altLang="zh-CN" dirty="0"/>
              <a:t>with</a:t>
            </a:r>
            <a:r>
              <a:rPr lang="zh-CN" altLang="en-US" dirty="0"/>
              <a:t> </a:t>
            </a:r>
            <a:r>
              <a:rPr lang="en-US" altLang="zh-CN" dirty="0"/>
              <a:t>traditional</a:t>
            </a:r>
            <a:r>
              <a:rPr lang="zh-CN" altLang="en-US" dirty="0"/>
              <a:t> </a:t>
            </a:r>
            <a:r>
              <a:rPr lang="en-US" altLang="zh-CN" dirty="0"/>
              <a:t>compiler,</a:t>
            </a:r>
            <a:r>
              <a:rPr lang="zh-CN" altLang="en-US" dirty="0"/>
              <a:t> </a:t>
            </a:r>
            <a:r>
              <a:rPr lang="en-US" altLang="zh-CN" dirty="0"/>
              <a:t>then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advanced</a:t>
            </a:r>
            <a:r>
              <a:rPr lang="zh-CN" altLang="en-US" dirty="0"/>
              <a:t> </a:t>
            </a:r>
            <a:r>
              <a:rPr lang="en-US" altLang="zh-CN" dirty="0"/>
              <a:t>topics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compiler</a:t>
            </a:r>
            <a:r>
              <a:rPr lang="zh-CN" altLang="en-US" dirty="0"/>
              <a:t> </a:t>
            </a:r>
            <a:r>
              <a:rPr lang="en-US" altLang="zh-CN" dirty="0"/>
              <a:t>designs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recent</a:t>
            </a:r>
            <a:r>
              <a:rPr lang="zh-CN" altLang="en-US" dirty="0"/>
              <a:t> </a:t>
            </a:r>
            <a:r>
              <a:rPr lang="en-US" altLang="zh-CN" dirty="0"/>
              <a:t>research</a:t>
            </a:r>
            <a:r>
              <a:rPr lang="zh-CN" altLang="en-US" dirty="0"/>
              <a:t> </a:t>
            </a:r>
            <a:r>
              <a:rPr lang="en-US" altLang="zh-CN" dirty="0"/>
              <a:t>progress</a:t>
            </a:r>
          </a:p>
          <a:p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systematically</a:t>
            </a:r>
            <a:r>
              <a:rPr lang="zh-CN" altLang="en-US" dirty="0"/>
              <a:t> </a:t>
            </a:r>
            <a:r>
              <a:rPr lang="en-US" altLang="zh-CN" dirty="0"/>
              <a:t>investigate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core</a:t>
            </a:r>
            <a:r>
              <a:rPr lang="zh-CN" altLang="en-US" dirty="0"/>
              <a:t> </a:t>
            </a:r>
            <a:r>
              <a:rPr lang="en-US" altLang="zh-CN" dirty="0"/>
              <a:t>ideas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compiler</a:t>
            </a:r>
            <a:r>
              <a:rPr lang="zh-CN" altLang="en-US" dirty="0"/>
              <a:t> </a:t>
            </a:r>
            <a:r>
              <a:rPr lang="en-US" altLang="zh-CN" dirty="0"/>
              <a:t>designs</a:t>
            </a:r>
          </a:p>
        </p:txBody>
      </p:sp>
    </p:spTree>
    <p:extLst>
      <p:ext uri="{BB962C8B-B14F-4D97-AF65-F5344CB8AC3E}">
        <p14:creationId xmlns:p14="http://schemas.microsoft.com/office/powerpoint/2010/main" val="4024048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>
            <a:extLst>
              <a:ext uri="{FF2B5EF4-FFF2-40B4-BE49-F238E27FC236}">
                <a16:creationId xmlns:a16="http://schemas.microsoft.com/office/drawing/2014/main" id="{0A5A60BF-10C8-9D43-8EF6-A81549643A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Resources</a:t>
            </a:r>
          </a:p>
        </p:txBody>
      </p:sp>
      <p:sp>
        <p:nvSpPr>
          <p:cNvPr id="92163" name="Rectangle 3">
            <a:extLst>
              <a:ext uri="{FF2B5EF4-FFF2-40B4-BE49-F238E27FC236}">
                <a16:creationId xmlns:a16="http://schemas.microsoft.com/office/drawing/2014/main" id="{5AA507DA-1851-2647-B0D8-1528A061BA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Seminar</a:t>
            </a:r>
            <a:r>
              <a:rPr lang="zh-CN" altLang="en-US" dirty="0"/>
              <a:t> </a:t>
            </a:r>
            <a:r>
              <a:rPr lang="en-US" altLang="zh-CN" dirty="0"/>
              <a:t>page:</a:t>
            </a:r>
          </a:p>
          <a:p>
            <a:pPr marL="0" indent="0">
              <a:buNone/>
            </a:pPr>
            <a:r>
              <a:rPr lang="en-US" altLang="zh-CN" sz="2400" dirty="0">
                <a:hlinkClick r:id="rId2"/>
              </a:rPr>
              <a:t>https://csslab-ustc.github.io/seminar/2026/</a:t>
            </a:r>
            <a:endParaRPr lang="en-US" altLang="zh-CN" sz="2400" dirty="0"/>
          </a:p>
          <a:p>
            <a:pPr marL="0" indent="0">
              <a:buNone/>
            </a:pPr>
            <a:endParaRPr lang="en-US" altLang="zh-CN" sz="2400" dirty="0"/>
          </a:p>
          <a:p>
            <a:pPr lvl="0">
              <a:buClr>
                <a:srgbClr val="3333CC"/>
              </a:buClr>
            </a:pPr>
            <a:r>
              <a:rPr lang="en-US" altLang="zh-CN" dirty="0">
                <a:solidFill>
                  <a:srgbClr val="000000"/>
                </a:solidFill>
              </a:rPr>
              <a:t>Schedule</a:t>
            </a:r>
            <a:r>
              <a:rPr lang="zh-CN" altLang="en-US" dirty="0">
                <a:solidFill>
                  <a:srgbClr val="000000"/>
                </a:solidFill>
              </a:rPr>
              <a:t> </a:t>
            </a:r>
            <a:r>
              <a:rPr lang="en-US" altLang="zh-CN" dirty="0">
                <a:solidFill>
                  <a:srgbClr val="000000"/>
                </a:solidFill>
              </a:rPr>
              <a:t>and</a:t>
            </a:r>
            <a:r>
              <a:rPr lang="zh-CN" altLang="en-US" dirty="0">
                <a:solidFill>
                  <a:srgbClr val="000000"/>
                </a:solidFill>
              </a:rPr>
              <a:t> </a:t>
            </a:r>
            <a:r>
              <a:rPr lang="en-US" altLang="zh-CN" dirty="0">
                <a:solidFill>
                  <a:srgbClr val="000000"/>
                </a:solidFill>
              </a:rPr>
              <a:t>resources</a:t>
            </a:r>
            <a:endParaRPr lang="en-US" altLang="zh-CN" sz="2400" dirty="0"/>
          </a:p>
          <a:p>
            <a:pPr marL="0" indent="0">
              <a:buNone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8843019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>
            <a:extLst>
              <a:ext uri="{FF2B5EF4-FFF2-40B4-BE49-F238E27FC236}">
                <a16:creationId xmlns:a16="http://schemas.microsoft.com/office/drawing/2014/main" id="{42EBAEF3-449D-DB46-BDC5-0F2E792633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Textbooks &amp; Reference</a:t>
            </a:r>
          </a:p>
        </p:txBody>
      </p:sp>
      <p:sp>
        <p:nvSpPr>
          <p:cNvPr id="102403" name="Rectangle 3">
            <a:extLst>
              <a:ext uri="{FF2B5EF4-FFF2-40B4-BE49-F238E27FC236}">
                <a16:creationId xmlns:a16="http://schemas.microsoft.com/office/drawing/2014/main" id="{4E6B8DC8-686F-3D48-960E-A0FD6399D3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2017713"/>
            <a:ext cx="4075112" cy="4114800"/>
          </a:xfrm>
        </p:spPr>
        <p:txBody>
          <a:bodyPr/>
          <a:lstStyle/>
          <a:p>
            <a:r>
              <a:rPr lang="en-US" altLang="zh-CN" dirty="0"/>
              <a:t>Key</a:t>
            </a:r>
            <a:r>
              <a:rPr lang="zh-CN" altLang="en-US" dirty="0"/>
              <a:t> </a:t>
            </a:r>
            <a:r>
              <a:rPr lang="en-US" altLang="zh-CN" dirty="0"/>
              <a:t>textbooks:</a:t>
            </a:r>
          </a:p>
          <a:p>
            <a:pPr lvl="1"/>
            <a:r>
              <a:rPr lang="en-US" altLang="zh-CN" dirty="0"/>
              <a:t>Modern</a:t>
            </a:r>
            <a:r>
              <a:rPr lang="zh-CN" altLang="en-US" dirty="0"/>
              <a:t> </a:t>
            </a:r>
            <a:r>
              <a:rPr lang="en-US" altLang="zh-CN" dirty="0"/>
              <a:t>compiler</a:t>
            </a:r>
            <a:r>
              <a:rPr lang="zh-CN" altLang="en-US" dirty="0"/>
              <a:t> </a:t>
            </a:r>
            <a:r>
              <a:rPr lang="en-US" altLang="zh-CN" dirty="0"/>
              <a:t>implementation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Java</a:t>
            </a:r>
          </a:p>
          <a:p>
            <a:pPr lvl="1"/>
            <a:r>
              <a:rPr lang="en-US" altLang="zh-CN" dirty="0"/>
              <a:t>Advanced</a:t>
            </a:r>
            <a:r>
              <a:rPr lang="zh-CN" altLang="en-US" dirty="0"/>
              <a:t> </a:t>
            </a:r>
            <a:r>
              <a:rPr lang="en-US" altLang="zh-CN" dirty="0"/>
              <a:t>Compiler</a:t>
            </a:r>
            <a:r>
              <a:rPr lang="zh-CN" altLang="en-US" dirty="0"/>
              <a:t> </a:t>
            </a:r>
            <a:r>
              <a:rPr lang="en-US" altLang="zh-CN" dirty="0"/>
              <a:t>Design</a:t>
            </a:r>
          </a:p>
          <a:p>
            <a:endParaRPr lang="en-US" altLang="zh-CN" i="1" dirty="0"/>
          </a:p>
          <a:p>
            <a:r>
              <a:rPr lang="en-US" altLang="zh-CN" dirty="0"/>
              <a:t>Other</a:t>
            </a:r>
            <a:r>
              <a:rPr lang="zh-CN" altLang="en-US" dirty="0"/>
              <a:t> </a:t>
            </a:r>
            <a:r>
              <a:rPr lang="en-US" altLang="zh-CN" dirty="0"/>
              <a:t>references</a:t>
            </a:r>
            <a:r>
              <a:rPr lang="zh-CN" altLang="en-US" dirty="0"/>
              <a:t> </a:t>
            </a:r>
            <a:r>
              <a:rPr lang="en-US" altLang="zh-CN" dirty="0"/>
              <a:t>on</a:t>
            </a:r>
            <a:r>
              <a:rPr lang="zh-CN" altLang="en-US" dirty="0"/>
              <a:t> </a:t>
            </a:r>
            <a:r>
              <a:rPr lang="en-US" altLang="zh-CN" dirty="0"/>
              <a:t>website</a:t>
            </a:r>
          </a:p>
          <a:p>
            <a:pPr marL="0" indent="0">
              <a:buNone/>
            </a:pPr>
            <a:endParaRPr lang="en-US" altLang="zh-CN" dirty="0"/>
          </a:p>
          <a:p>
            <a:pPr>
              <a:buFont typeface="Wingdings" pitchFamily="2" charset="2"/>
              <a:buNone/>
            </a:pPr>
            <a:endParaRPr lang="en-US" altLang="zh-CN" dirty="0"/>
          </a:p>
        </p:txBody>
      </p:sp>
      <p:pic>
        <p:nvPicPr>
          <p:cNvPr id="2" name="图片 1" descr="Modern Compiler Implementation in Java">
            <a:extLst>
              <a:ext uri="{FF2B5EF4-FFF2-40B4-BE49-F238E27FC236}">
                <a16:creationId xmlns:a16="http://schemas.microsoft.com/office/drawing/2014/main" id="{955FBF0A-748A-7335-C38C-E9EBEF337A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2462" y="1219200"/>
            <a:ext cx="1981200" cy="2598717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DA220E1B-759A-6E91-C2D8-C1689C8C28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4616" y="3886200"/>
            <a:ext cx="2173184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06000299-7DAD-6742-BAB5-7AB2D780AB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Programming</a:t>
            </a:r>
            <a:r>
              <a:rPr lang="zh-CN" altLang="en-US" dirty="0"/>
              <a:t> </a:t>
            </a:r>
            <a:r>
              <a:rPr lang="en-US" altLang="zh-CN" dirty="0"/>
              <a:t>practice</a:t>
            </a: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78BA9AF9-453B-2A4E-BC9F-7A33CD04B8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Required:</a:t>
            </a:r>
            <a:r>
              <a:rPr lang="zh-CN" altLang="en-US" dirty="0"/>
              <a:t> </a:t>
            </a:r>
            <a:r>
              <a:rPr lang="en-US" altLang="zh-CN" dirty="0">
                <a:solidFill>
                  <a:srgbClr val="0000FF"/>
                </a:solidFill>
              </a:rPr>
              <a:t>build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  <a:r>
              <a:rPr lang="en-US" altLang="zh-CN" dirty="0">
                <a:solidFill>
                  <a:srgbClr val="0000FF"/>
                </a:solidFill>
              </a:rPr>
              <a:t>the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  <a:r>
              <a:rPr lang="en-US" altLang="zh-CN" dirty="0">
                <a:solidFill>
                  <a:srgbClr val="0000FF"/>
                </a:solidFill>
              </a:rPr>
              <a:t>Tiger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  <a:r>
              <a:rPr lang="en-US" altLang="zh-CN" dirty="0">
                <a:solidFill>
                  <a:srgbClr val="0000FF"/>
                </a:solidFill>
              </a:rPr>
              <a:t>compiler</a:t>
            </a:r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83023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>
            <a:extLst>
              <a:ext uri="{FF2B5EF4-FFF2-40B4-BE49-F238E27FC236}">
                <a16:creationId xmlns:a16="http://schemas.microsoft.com/office/drawing/2014/main" id="{E093C3C5-239C-9043-9F58-737DAA205D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Summary</a:t>
            </a:r>
          </a:p>
        </p:txBody>
      </p:sp>
      <p:sp>
        <p:nvSpPr>
          <p:cNvPr id="100355" name="Rectangle 3">
            <a:extLst>
              <a:ext uri="{FF2B5EF4-FFF2-40B4-BE49-F238E27FC236}">
                <a16:creationId xmlns:a16="http://schemas.microsoft.com/office/drawing/2014/main" id="{D7D785B2-94A1-C74E-AF7E-48DFC6F337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Happy</a:t>
            </a:r>
            <a:r>
              <a:rPr lang="zh-CN" altLang="en-US" dirty="0"/>
              <a:t> </a:t>
            </a:r>
            <a:r>
              <a:rPr lang="en-US" altLang="zh-CN"/>
              <a:t>hacking!</a:t>
            </a:r>
            <a:endParaRPr lang="en-US" altLang="zh-C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Blends</Template>
  <TotalTime>1682</TotalTime>
  <Words>238</Words>
  <Application>Microsoft Macintosh PowerPoint</Application>
  <PresentationFormat>全屏显示(4:3)</PresentationFormat>
  <Paragraphs>55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8" baseType="lpstr">
      <vt:lpstr>Arial</vt:lpstr>
      <vt:lpstr>Tahoma</vt:lpstr>
      <vt:lpstr>Wingdings</vt:lpstr>
      <vt:lpstr>Blends</vt:lpstr>
      <vt:lpstr>Advanced Compiler Design: Overview</vt:lpstr>
      <vt:lpstr> </vt:lpstr>
      <vt:lpstr>5Ws</vt:lpstr>
      <vt:lpstr>What is this Euclid seminar?</vt:lpstr>
      <vt:lpstr>Why this seminar?</vt:lpstr>
      <vt:lpstr>When to organize this seminar?</vt:lpstr>
      <vt:lpstr>Who attends this seminar?</vt:lpstr>
      <vt:lpstr>How?</vt:lpstr>
      <vt:lpstr> </vt:lpstr>
      <vt:lpstr>Topic</vt:lpstr>
      <vt:lpstr>Resources</vt:lpstr>
      <vt:lpstr>Textbooks &amp; Reference</vt:lpstr>
      <vt:lpstr>Programming practice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Overview</dc:title>
  <dc:creator>Baojian Hua</dc:creator>
  <cp:lastModifiedBy>hbj</cp:lastModifiedBy>
  <cp:revision>1803</cp:revision>
  <cp:lastPrinted>1601-01-01T00:00:00Z</cp:lastPrinted>
  <dcterms:created xsi:type="dcterms:W3CDTF">1601-01-01T00:00:00Z</dcterms:created>
  <dcterms:modified xsi:type="dcterms:W3CDTF">2026-07-13T05:27:22Z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
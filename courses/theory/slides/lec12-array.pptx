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27"/>
  </p:handoutMasterIdLst>
  <p:sldIdLst>
    <p:sldId id="256" r:id="rId2"/>
    <p:sldId id="363" r:id="rId3"/>
    <p:sldId id="375" r:id="rId4"/>
    <p:sldId id="321" r:id="rId5"/>
    <p:sldId id="455" r:id="rId6"/>
    <p:sldId id="323" r:id="rId7"/>
    <p:sldId id="442" r:id="rId8"/>
    <p:sldId id="430" r:id="rId9"/>
    <p:sldId id="443" r:id="rId10"/>
    <p:sldId id="431" r:id="rId11"/>
    <p:sldId id="439" r:id="rId12"/>
    <p:sldId id="444" r:id="rId13"/>
    <p:sldId id="445" r:id="rId14"/>
    <p:sldId id="446" r:id="rId15"/>
    <p:sldId id="447" r:id="rId16"/>
    <p:sldId id="448" r:id="rId17"/>
    <p:sldId id="452" r:id="rId18"/>
    <p:sldId id="436" r:id="rId19"/>
    <p:sldId id="449" r:id="rId20"/>
    <p:sldId id="450" r:id="rId21"/>
    <p:sldId id="451" r:id="rId22"/>
    <p:sldId id="441" r:id="rId23"/>
    <p:sldId id="453" r:id="rId24"/>
    <p:sldId id="454" r:id="rId25"/>
    <p:sldId id="424" r:id="rId26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96"/>
    <p:restoredTop sz="94676"/>
  </p:normalViewPr>
  <p:slideViewPr>
    <p:cSldViewPr>
      <p:cViewPr varScale="1">
        <p:scale>
          <a:sx n="97" d="100"/>
          <a:sy n="97" d="100"/>
        </p:scale>
        <p:origin x="10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Arrays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satisfiable?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4567170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Satisfiable?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=0.5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r>
                            <a:rPr lang="zh-CN" altLang="en-US" dirty="0"/>
                            <a:t>   </a:t>
                          </a:r>
                          <a:r>
                            <a:rPr lang="en-US" altLang="zh-CN" dirty="0"/>
                            <a:t>  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/>
                            <a:t>Q)</a:t>
                          </a:r>
                        </a:p>
                        <a:p>
                          <a:r>
                            <a:rPr lang="en-US" altLang="zh-CN" dirty="0"/>
                            <a:t>UNSAT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 err="1"/>
                            <a:t>Z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]!=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4567170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Satisfiable?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175862" r="-130851" b="-78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66667" r="-130851" b="-6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7033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00000" r="-130851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8667" t="-200000" r="-146000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568966" r="-130851" b="-3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646667" r="-130851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772414" r="-130851" b="-18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8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Satisfiability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(SMT)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8986919-D5F5-084E-BBD2-C0A60A5A373E}"/>
              </a:ext>
            </a:extLst>
          </p:cNvPr>
          <p:cNvGrpSpPr/>
          <p:nvPr/>
        </p:nvGrpSpPr>
        <p:grpSpPr>
          <a:xfrm>
            <a:off x="255453" y="2466516"/>
            <a:ext cx="1924967" cy="1924967"/>
            <a:chOff x="1452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F58262D-F21C-3048-B817-DF0CDBF3E9AA}"/>
                </a:ext>
              </a:extLst>
            </p:cNvPr>
            <p:cNvSpPr/>
            <p:nvPr/>
          </p:nvSpPr>
          <p:spPr>
            <a:xfrm>
              <a:off x="1452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椭圆 4">
              <a:extLst>
                <a:ext uri="{FF2B5EF4-FFF2-40B4-BE49-F238E27FC236}">
                  <a16:creationId xmlns:a16="http://schemas.microsoft.com/office/drawing/2014/main" id="{B9C6E068-C7EC-C740-848C-35B46D0A2460}"/>
                </a:ext>
              </a:extLst>
            </p:cNvPr>
            <p:cNvSpPr txBox="1"/>
            <p:nvPr/>
          </p:nvSpPr>
          <p:spPr>
            <a:xfrm>
              <a:off x="283357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>
                  <a:solidFill>
                    <a:schemeClr val="tx1"/>
                  </a:solidFill>
                </a:rPr>
                <a:t>SAT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92E68A-CFDB-BD40-8428-9DC5075115B1}"/>
              </a:ext>
            </a:extLst>
          </p:cNvPr>
          <p:cNvGrpSpPr/>
          <p:nvPr/>
        </p:nvGrpSpPr>
        <p:grpSpPr>
          <a:xfrm>
            <a:off x="2336728" y="2870759"/>
            <a:ext cx="1116481" cy="1116481"/>
            <a:chOff x="2082727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8" name="加号 17">
              <a:extLst>
                <a:ext uri="{FF2B5EF4-FFF2-40B4-BE49-F238E27FC236}">
                  <a16:creationId xmlns:a16="http://schemas.microsoft.com/office/drawing/2014/main" id="{F6D270F0-5E66-5649-8C83-651840A7B236}"/>
                </a:ext>
              </a:extLst>
            </p:cNvPr>
            <p:cNvSpPr/>
            <p:nvPr/>
          </p:nvSpPr>
          <p:spPr>
            <a:xfrm>
              <a:off x="2082727" y="2520239"/>
              <a:ext cx="1116481" cy="1116481"/>
            </a:xfrm>
            <a:prstGeom prst="mathPlus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加号 6">
              <a:extLst>
                <a:ext uri="{FF2B5EF4-FFF2-40B4-BE49-F238E27FC236}">
                  <a16:creationId xmlns:a16="http://schemas.microsoft.com/office/drawing/2014/main" id="{5C2DFC29-8636-2D43-8220-FD6C5F0A8FE6}"/>
                </a:ext>
              </a:extLst>
            </p:cNvPr>
            <p:cNvSpPr txBox="1"/>
            <p:nvPr/>
          </p:nvSpPr>
          <p:spPr>
            <a:xfrm>
              <a:off x="2230717" y="2947181"/>
              <a:ext cx="820501" cy="262597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5375029-C810-F547-9705-33E16DA8990A}"/>
              </a:ext>
            </a:extLst>
          </p:cNvPr>
          <p:cNvGrpSpPr/>
          <p:nvPr/>
        </p:nvGrpSpPr>
        <p:grpSpPr>
          <a:xfrm>
            <a:off x="3609517" y="2466516"/>
            <a:ext cx="1924967" cy="1924967"/>
            <a:chOff x="3355516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158FAC-2CA7-BA4C-A35A-FAB8CF3504D6}"/>
                </a:ext>
              </a:extLst>
            </p:cNvPr>
            <p:cNvSpPr/>
            <p:nvPr/>
          </p:nvSpPr>
          <p:spPr>
            <a:xfrm>
              <a:off x="3355516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2340759"/>
                <a:satOff val="-2919"/>
                <a:lumOff val="686"/>
                <a:alphaOff val="0"/>
              </a:schemeClr>
            </a:fillRef>
            <a:effectRef idx="2">
              <a:schemeClr val="accent2">
                <a:hueOff val="2340759"/>
                <a:satOff val="-2919"/>
                <a:lumOff val="68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椭圆 8">
              <a:extLst>
                <a:ext uri="{FF2B5EF4-FFF2-40B4-BE49-F238E27FC236}">
                  <a16:creationId xmlns:a16="http://schemas.microsoft.com/office/drawing/2014/main" id="{C4E38546-0802-6141-94F8-3DD25727EDF0}"/>
                </a:ext>
              </a:extLst>
            </p:cNvPr>
            <p:cNvSpPr txBox="1"/>
            <p:nvPr/>
          </p:nvSpPr>
          <p:spPr>
            <a:xfrm>
              <a:off x="3637421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</a:rPr>
                <a:t>Theory</a:t>
              </a:r>
            </a:p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</a:rPr>
                <a:t>Solvers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7B8DEBF-35A5-3A41-A993-E0753EDA3235}"/>
              </a:ext>
            </a:extLst>
          </p:cNvPr>
          <p:cNvGrpSpPr/>
          <p:nvPr/>
        </p:nvGrpSpPr>
        <p:grpSpPr>
          <a:xfrm>
            <a:off x="5690792" y="2870759"/>
            <a:ext cx="1116481" cy="1116481"/>
            <a:chOff x="5436791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4" name="等于 13">
              <a:extLst>
                <a:ext uri="{FF2B5EF4-FFF2-40B4-BE49-F238E27FC236}">
                  <a16:creationId xmlns:a16="http://schemas.microsoft.com/office/drawing/2014/main" id="{E28E4ECC-0E6E-184A-BD1F-C9EE32296AE3}"/>
                </a:ext>
              </a:extLst>
            </p:cNvPr>
            <p:cNvSpPr/>
            <p:nvPr/>
          </p:nvSpPr>
          <p:spPr>
            <a:xfrm>
              <a:off x="5436791" y="2520239"/>
              <a:ext cx="1116481" cy="1116481"/>
            </a:xfrm>
            <a:prstGeom prst="mathEqual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等于 10">
              <a:extLst>
                <a:ext uri="{FF2B5EF4-FFF2-40B4-BE49-F238E27FC236}">
                  <a16:creationId xmlns:a16="http://schemas.microsoft.com/office/drawing/2014/main" id="{A0385D88-A7D1-8446-88AE-BAD5DD7A396C}"/>
                </a:ext>
              </a:extLst>
            </p:cNvPr>
            <p:cNvSpPr txBox="1"/>
            <p:nvPr/>
          </p:nvSpPr>
          <p:spPr>
            <a:xfrm>
              <a:off x="5584781" y="2750234"/>
              <a:ext cx="820501" cy="656491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700" kern="120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04B990-A264-2F47-AA14-AB77F0E7E9BF}"/>
              </a:ext>
            </a:extLst>
          </p:cNvPr>
          <p:cNvGrpSpPr/>
          <p:nvPr/>
        </p:nvGrpSpPr>
        <p:grpSpPr>
          <a:xfrm>
            <a:off x="6963580" y="2466516"/>
            <a:ext cx="1924967" cy="1924967"/>
            <a:chOff x="6709579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A3184D0-7708-2743-9B2E-606F6CAAE1D5}"/>
                </a:ext>
              </a:extLst>
            </p:cNvPr>
            <p:cNvSpPr/>
            <p:nvPr/>
          </p:nvSpPr>
          <p:spPr>
            <a:xfrm>
              <a:off x="6709579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384DAC0-F0DA-184C-8557-5413A0F6716B}"/>
                </a:ext>
              </a:extLst>
            </p:cNvPr>
            <p:cNvSpPr txBox="1"/>
            <p:nvPr/>
          </p:nvSpPr>
          <p:spPr>
            <a:xfrm>
              <a:off x="6991484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>
                  <a:solidFill>
                    <a:schemeClr val="tx1"/>
                  </a:solidFill>
                </a:rPr>
                <a:t>SMT</a:t>
              </a: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811247D-5EDD-9841-8855-4B2DCB5A65AD}"/>
              </a:ext>
            </a:extLst>
          </p:cNvPr>
          <p:cNvSpPr txBox="1">
            <a:spLocks/>
          </p:cNvSpPr>
          <p:nvPr/>
        </p:nvSpPr>
        <p:spPr>
          <a:xfrm>
            <a:off x="3407397" y="4625775"/>
            <a:ext cx="2986088" cy="200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Equality + UF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Arithmetic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Bit-vectors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…</a:t>
            </a:r>
            <a:endParaRPr lang="en-US" sz="3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02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We want to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reason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about the properties about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 arrays (ubiquitous):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void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swap(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[]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j){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A[j];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A[j]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temp;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We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think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the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arrays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are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functional: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A’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store(A,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x);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side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effect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is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explicit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this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program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is: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A’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store(store(A,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A[j]),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])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and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we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want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to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prove: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A’[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]==A[j]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∧</m:t>
                    </m:r>
                  </m:oMath>
                </a14:m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A’[j]==A[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615" b="-18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91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7713"/>
            <a:ext cx="81168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Functional programming matters: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A’, A’’;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A’ = store(A,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A[j]);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A’’ = store(A’, j, 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A’’;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some languages, this is called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vectors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Always easy to reason about functional programs.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50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Arrays: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E[E]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store(E,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E=E | …</a:t>
                </a:r>
                <a:r>
                  <a:rPr kumimoji="1" lang="zh-CN" altLang="en-US" sz="2400" dirty="0"/>
                  <a:t>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dirty="0"/>
                      <m:t>|</m:t>
                    </m:r>
                    <m:r>
                      <m:rPr>
                        <m:nor/>
                      </m:rPr>
                      <a:rPr kumimoji="1" lang="zh-CN" altLang="en-US" sz="240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7071B79-EF3A-324E-8AF1-A5F5B1669C77}"/>
              </a:ext>
            </a:extLst>
          </p:cNvPr>
          <p:cNvSpPr txBox="1"/>
          <p:nvPr/>
        </p:nvSpPr>
        <p:spPr>
          <a:xfrm>
            <a:off x="5029200" y="334026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8C4754F-8080-1847-B15E-338CE9C5FE2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209800" y="2466524"/>
            <a:ext cx="2819400" cy="1058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E457D90-69F2-3D40-A940-186003987434}"/>
                  </a:ext>
                </a:extLst>
              </p:cNvPr>
              <p:cNvSpPr txBox="1"/>
              <p:nvPr/>
            </p:nvSpPr>
            <p:spPr>
              <a:xfrm>
                <a:off x="1182688" y="4114800"/>
                <a:ext cx="636111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dirty="0"/>
                  <a:t>Examples:</a:t>
                </a:r>
              </a:p>
              <a:p>
                <a:pPr algn="ctr"/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=j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ea typeface="Cambria Math" panose="02040503050406030204" pitchFamily="18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∧ 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]!=A[j]</a:t>
                </a:r>
                <a:endParaRPr kumimoji="1" lang="en-US" altLang="zh-CN" sz="2000" dirty="0"/>
              </a:p>
              <a:p>
                <a:r>
                  <a:rPr kumimoji="1" lang="en-US" altLang="zh-CN" sz="2000" dirty="0"/>
                  <a:t>UNSAT!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E457D90-69F2-3D40-A940-186003987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688" y="4114800"/>
                <a:ext cx="6361112" cy="1015663"/>
              </a:xfrm>
              <a:prstGeom prst="rect">
                <a:avLst/>
              </a:prstGeom>
              <a:blipFill>
                <a:blip r:embed="rId3"/>
                <a:stretch>
                  <a:fillRect l="-797" t="-3750"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53049FD7-A55A-234F-8B84-3D38C4EE12B1}"/>
              </a:ext>
            </a:extLst>
          </p:cNvPr>
          <p:cNvSpPr txBox="1"/>
          <p:nvPr/>
        </p:nvSpPr>
        <p:spPr>
          <a:xfrm>
            <a:off x="1182688" y="5181600"/>
            <a:ext cx="6361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Examples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Z3:</a:t>
            </a:r>
          </a:p>
          <a:p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Array('A',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IntSort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IntSort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b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 =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j')</a:t>
            </a:r>
            <a:b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==j, 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]!=A[j])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302857-6032-354E-AF4F-6507A8B63484}"/>
              </a:ext>
            </a:extLst>
          </p:cNvPr>
          <p:cNvSpPr txBox="1"/>
          <p:nvPr/>
        </p:nvSpPr>
        <p:spPr>
          <a:xfrm>
            <a:off x="5017168" y="2966425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(select)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57426C0-29E7-5B4D-8F81-3447D450E25C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048000" y="2466524"/>
            <a:ext cx="1969168" cy="68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A70316-FF87-AB4B-B2A3-8D21F65FA46C}"/>
              </a:ext>
            </a:extLst>
          </p:cNvPr>
          <p:cNvSpPr txBox="1"/>
          <p:nvPr/>
        </p:nvSpPr>
        <p:spPr>
          <a:xfrm>
            <a:off x="5017168" y="2550330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(update)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6DC63DA-DE11-014D-9C16-90C177C3CC0A}"/>
              </a:ext>
            </a:extLst>
          </p:cNvPr>
          <p:cNvCxnSpPr>
            <a:cxnSpLocks/>
          </p:cNvCxnSpPr>
          <p:nvPr/>
        </p:nvCxnSpPr>
        <p:spPr>
          <a:xfrm flipH="1" flipV="1">
            <a:off x="3962400" y="2381545"/>
            <a:ext cx="1106489" cy="414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16" grpId="0"/>
      <p:bldP spid="10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again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A[j];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A[j]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Z3’s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representation: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Array(‘A’,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IntSort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IntSort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j’)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Store(Store(A,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A[j]),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want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prove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solving):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solve(Not(And(A1[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]==A[j],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A1[j]==A[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])))</a:t>
            </a:r>
          </a:p>
        </p:txBody>
      </p:sp>
    </p:spTree>
    <p:extLst>
      <p:ext uri="{BB962C8B-B14F-4D97-AF65-F5344CB8AC3E}">
        <p14:creationId xmlns:p14="http://schemas.microsoft.com/office/powerpoint/2010/main" val="349699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rules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arrays</a:t>
            </a: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D7144774-875C-B340-8A37-885142561D64}"/>
              </a:ext>
            </a:extLst>
          </p:cNvPr>
          <p:cNvCxnSpPr>
            <a:cxnSpLocks/>
          </p:cNvCxnSpPr>
          <p:nvPr/>
        </p:nvCxnSpPr>
        <p:spPr>
          <a:xfrm>
            <a:off x="1752600" y="24318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ACF172-4395-6C48-9D20-E131EBF4809C}"/>
                  </a:ext>
                </a:extLst>
              </p:cNvPr>
              <p:cNvSpPr txBox="1"/>
              <p:nvPr/>
            </p:nvSpPr>
            <p:spPr>
              <a:xfrm>
                <a:off x="3429000" y="260246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7ACF172-4395-6C48-9D20-E131EBF48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602468"/>
                <a:ext cx="1828800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5918B1-FA13-9B46-87B1-CE18A905A371}"/>
                  </a:ext>
                </a:extLst>
              </p:cNvPr>
              <p:cNvSpPr txBox="1"/>
              <p:nvPr/>
            </p:nvSpPr>
            <p:spPr>
              <a:xfrm>
                <a:off x="6597817" y="22331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𝐼𝑛𝑑𝑒𝑥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85918B1-FA13-9B46-87B1-CE18A905A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817" y="22331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CE71E8-5397-824F-97D3-3BF900DADCA0}"/>
                  </a:ext>
                </a:extLst>
              </p:cNvPr>
              <p:cNvSpPr txBox="1"/>
              <p:nvPr/>
            </p:nvSpPr>
            <p:spPr>
              <a:xfrm>
                <a:off x="2037139" y="19050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CE71E8-5397-824F-97D3-3BF900DAD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39" y="1905000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8809EDF-7F6C-5E49-9E88-413F24395A4A}"/>
                  </a:ext>
                </a:extLst>
              </p:cNvPr>
              <p:cNvSpPr txBox="1"/>
              <p:nvPr/>
            </p:nvSpPr>
            <p:spPr>
              <a:xfrm>
                <a:off x="5177589" y="19050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8809EDF-7F6C-5E49-9E88-413F24395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589" y="1905000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69AA69D8-3991-0341-B92E-F80A3A179F54}"/>
              </a:ext>
            </a:extLst>
          </p:cNvPr>
          <p:cNvCxnSpPr>
            <a:cxnSpLocks/>
          </p:cNvCxnSpPr>
          <p:nvPr/>
        </p:nvCxnSpPr>
        <p:spPr>
          <a:xfrm>
            <a:off x="1828800" y="3641883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D697D91-8941-974C-B9BB-ED8771BE46CF}"/>
                  </a:ext>
                </a:extLst>
              </p:cNvPr>
              <p:cNvSpPr txBox="1"/>
              <p:nvPr/>
            </p:nvSpPr>
            <p:spPr>
              <a:xfrm>
                <a:off x="3505200" y="3812540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𝑆𝑡𝑜𝑟𝑒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D697D91-8941-974C-B9BB-ED8771BE4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812540"/>
                <a:ext cx="2819400" cy="369332"/>
              </a:xfrm>
              <a:prstGeom prst="rect">
                <a:avLst/>
              </a:prstGeom>
              <a:blipFill>
                <a:blip r:embed="rId6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E0251DA-B06C-3A47-AF2F-312B820D6BEA}"/>
                  </a:ext>
                </a:extLst>
              </p:cNvPr>
              <p:cNvSpPr txBox="1"/>
              <p:nvPr/>
            </p:nvSpPr>
            <p:spPr>
              <a:xfrm>
                <a:off x="6674017" y="344320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𝑅𝐴𝑊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E0251DA-B06C-3A47-AF2F-312B820D6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17" y="3443208"/>
                <a:ext cx="1828800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7816D75-B528-A84E-ADBA-1E088B8F9A65}"/>
                  </a:ext>
                </a:extLst>
              </p:cNvPr>
              <p:cNvSpPr txBox="1"/>
              <p:nvPr/>
            </p:nvSpPr>
            <p:spPr>
              <a:xfrm>
                <a:off x="3784976" y="32004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7816D75-B528-A84E-ADBA-1E088B8F9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76" y="3200400"/>
                <a:ext cx="1828800" cy="369332"/>
              </a:xfrm>
              <a:prstGeom prst="rect">
                <a:avLst/>
              </a:prstGeom>
              <a:blipFill>
                <a:blip r:embed="rId8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1C5D220-EC76-B44F-8222-C0D871E674EE}"/>
              </a:ext>
            </a:extLst>
          </p:cNvPr>
          <p:cNvCxnSpPr>
            <a:cxnSpLocks/>
          </p:cNvCxnSpPr>
          <p:nvPr/>
        </p:nvCxnSpPr>
        <p:spPr>
          <a:xfrm>
            <a:off x="1828800" y="49464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AAD7DD9-DBBB-B747-B727-F215ACC5F6C6}"/>
                  </a:ext>
                </a:extLst>
              </p:cNvPr>
              <p:cNvSpPr txBox="1"/>
              <p:nvPr/>
            </p:nvSpPr>
            <p:spPr>
              <a:xfrm>
                <a:off x="3505200" y="5117068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𝑆𝑡𝑜𝑟𝑒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AAD7DD9-DBBB-B747-B727-F215ACC5F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5117068"/>
                <a:ext cx="281940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25DC0DE-7E0A-554E-8D0A-0B5C0200E5BE}"/>
                  </a:ext>
                </a:extLst>
              </p:cNvPr>
              <p:cNvSpPr txBox="1"/>
              <p:nvPr/>
            </p:nvSpPr>
            <p:spPr>
              <a:xfrm>
                <a:off x="6674017" y="47477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𝑅𝐴𝑊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25DC0DE-7E0A-554E-8D0A-0B5C0200E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17" y="4747736"/>
                <a:ext cx="1828800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2A4F1D-FFC7-0C43-AD42-D2DCD4D3DE4E}"/>
                  </a:ext>
                </a:extLst>
              </p:cNvPr>
              <p:cNvSpPr txBox="1"/>
              <p:nvPr/>
            </p:nvSpPr>
            <p:spPr>
              <a:xfrm>
                <a:off x="3784976" y="450492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2A4F1D-FFC7-0C43-AD42-D2DCD4D3D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76" y="4504928"/>
                <a:ext cx="1828800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0362C9A-F9E5-5947-AB6F-9F730FCAE09A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1828800" y="6227802"/>
            <a:ext cx="4845217" cy="140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0EE84B6-A12C-364E-8E67-DD7AEE905935}"/>
                  </a:ext>
                </a:extLst>
              </p:cNvPr>
              <p:cNvSpPr txBox="1"/>
              <p:nvPr/>
            </p:nvSpPr>
            <p:spPr>
              <a:xfrm>
                <a:off x="3505200" y="6412468"/>
                <a:ext cx="2819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0EE84B6-A12C-364E-8E67-DD7AEE905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6412468"/>
                <a:ext cx="28194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65081-0578-FA46-AA99-3714A9C8FF75}"/>
                  </a:ext>
                </a:extLst>
              </p:cNvPr>
              <p:cNvSpPr txBox="1"/>
              <p:nvPr/>
            </p:nvSpPr>
            <p:spPr>
              <a:xfrm>
                <a:off x="6674017" y="60431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𝐸𝑥𝑡𝑒𝑛𝑠𝑖𝑜𝑛𝑎𝑙𝑖𝑡𝑦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965081-0578-FA46-AA99-3714A9C8F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17" y="6043136"/>
                <a:ext cx="1828800" cy="369332"/>
              </a:xfrm>
              <a:prstGeom prst="rect">
                <a:avLst/>
              </a:prstGeom>
              <a:blipFill>
                <a:blip r:embed="rId13"/>
                <a:stretch>
                  <a:fillRect l="-690" r="-413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F33865E-C9DD-6849-8FD3-446797DC6063}"/>
                  </a:ext>
                </a:extLst>
              </p:cNvPr>
              <p:cNvSpPr txBox="1"/>
              <p:nvPr/>
            </p:nvSpPr>
            <p:spPr>
              <a:xfrm>
                <a:off x="3784976" y="5800328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F33865E-C9DD-6849-8FD3-446797DC6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976" y="5800328"/>
                <a:ext cx="1828800" cy="369332"/>
              </a:xfrm>
              <a:prstGeom prst="rect">
                <a:avLst/>
              </a:prstGeom>
              <a:blipFill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26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Decision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procedure:</a:t>
            </a:r>
          </a:p>
          <a:p>
            <a:pPr marL="0" indent="0" algn="ctr">
              <a:buNone/>
            </a:pPr>
            <a:r>
              <a:rPr kumimoji="1" lang="en-US" altLang="zh-CN" i="1" dirty="0"/>
              <a:t>Array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Elimination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46279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design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decision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A3822-D0CB-4D41-9B78-FC66279D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eliminate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array.</a:t>
            </a:r>
          </a:p>
          <a:p>
            <a:pPr lvl="1"/>
            <a:r>
              <a:rPr kumimoji="1" lang="en-US" altLang="zh-CN" dirty="0"/>
              <a:t>think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functions</a:t>
            </a:r>
          </a:p>
          <a:p>
            <a:r>
              <a:rPr kumimoji="1" lang="en-US" altLang="zh-CN" dirty="0"/>
              <a:t>Transform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</a:t>
            </a:r>
          </a:p>
          <a:p>
            <a:pPr marL="0" indent="0">
              <a:buNone/>
            </a:pPr>
            <a:r>
              <a:rPr kumimoji="1" lang="zh-CN" altLang="en-US" dirty="0"/>
              <a:t>   </a:t>
            </a:r>
            <a:r>
              <a:rPr kumimoji="1" lang="en-US" altLang="zh-CN" dirty="0"/>
              <a:t>operations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function</a:t>
            </a:r>
          </a:p>
          <a:p>
            <a:pPr marL="0" indent="0">
              <a:buNone/>
            </a:pPr>
            <a:r>
              <a:rPr kumimoji="1" lang="zh-CN" altLang="en-US" dirty="0"/>
              <a:t>   </a:t>
            </a:r>
            <a:r>
              <a:rPr kumimoji="1" lang="en-US" altLang="zh-CN" dirty="0"/>
              <a:t>operations</a:t>
            </a:r>
          </a:p>
          <a:p>
            <a:pPr lvl="1"/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decisions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</a:p>
          <a:p>
            <a:pPr marL="457200" lvl="1" indent="0">
              <a:buNone/>
            </a:pPr>
            <a:r>
              <a:rPr kumimoji="1" lang="zh-CN" altLang="en-US" dirty="0"/>
              <a:t>   </a:t>
            </a:r>
            <a:r>
              <a:rPr kumimoji="1" lang="en-US" altLang="zh-CN" dirty="0"/>
              <a:t>target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05BFBC-3EE3-9142-A1A8-FFCA9A76E1E3}"/>
              </a:ext>
            </a:extLst>
          </p:cNvPr>
          <p:cNvSpPr/>
          <p:nvPr/>
        </p:nvSpPr>
        <p:spPr>
          <a:xfrm>
            <a:off x="5867400" y="3352800"/>
            <a:ext cx="12954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with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array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1F8A4A4-3E8D-6845-A700-CC6926B1B2E4}"/>
              </a:ext>
            </a:extLst>
          </p:cNvPr>
          <p:cNvSpPr/>
          <p:nvPr/>
        </p:nvSpPr>
        <p:spPr>
          <a:xfrm>
            <a:off x="7620000" y="3372853"/>
            <a:ext cx="1143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w.o</a:t>
            </a:r>
            <a:r>
              <a:rPr kumimoji="1" lang="en-US" altLang="zh-CN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array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4DF58E1-D628-3343-9149-F9306A907CBC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7162800" y="4305300"/>
            <a:ext cx="457200" cy="2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978A745-9CB1-AB49-A581-70A1A803D68E}"/>
              </a:ext>
            </a:extLst>
          </p:cNvPr>
          <p:cNvSpPr txBox="1"/>
          <p:nvPr/>
        </p:nvSpPr>
        <p:spPr>
          <a:xfrm>
            <a:off x="7162800" y="3810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5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select: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introduce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function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symbol</a:t>
                </a:r>
                <a:r>
                  <a:rPr kumimoji="1" lang="zh-CN" altLang="en-US" dirty="0"/>
                  <a:t> 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kumimoji="1" lang="en-US" altLang="zh-CN" baseline="-25000" dirty="0"/>
              </a:p>
              <a:p>
                <a:pPr marL="0" indent="0">
                  <a:buNone/>
                </a:pP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index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becomes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function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43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1" lang="zh-CN" altLang="en-US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∧</m:t>
                    </m:r>
                    <m:r>
                      <m:rPr>
                        <m:sty m:val="p"/>
                      </m:rP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becomes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 ∧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)≠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baseline="-25000" dirty="0"/>
              </a:p>
              <a:p>
                <a:pPr marL="0" indent="0">
                  <a:buNone/>
                </a:pP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transformed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EUF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theory!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35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update: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kumimoji="1" lang="en-US" altLang="zh-CN" i="1" dirty="0">
                    <a:solidFill>
                      <a:srgbClr val="0432FF"/>
                    </a:solidFill>
                    <a:latin typeface="Cambria Math" panose="02040503050406030204" pitchFamily="18" charset="0"/>
                  </a:rPr>
                  <a:t>x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introduce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symbol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along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with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two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constraints: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b="0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Notice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transformed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further!</a:t>
                </a:r>
              </a:p>
              <a:p>
                <a:pPr marL="0" indent="0">
                  <a:buNone/>
                </a:pPr>
                <a:r>
                  <a:rPr kumimoji="1" lang="en-US" altLang="zh-CN" dirty="0"/>
                  <a:t>Also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equivalent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kumimoji="1"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13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91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update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becomes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kumimoji="1" lang="en-US" altLang="zh-CN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zh-CN" i="1">
                                      <a:solidFill>
                                        <a:srgbClr val="0432FF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p>
                            <m:sSupPr>
                              <m:ctrlP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kumimoji="1" lang="en-US" altLang="zh-CN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7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344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</p:spPr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becomes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kumimoji="1"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zh-CN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[0]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Generally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speaking,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arithmetic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with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multiplication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undecidable</a:t>
                </a:r>
                <a:r>
                  <a:rPr kumimoji="1" lang="en-US" altLang="zh-CN" dirty="0"/>
                  <a:t>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2688" y="2017713"/>
                <a:ext cx="7772400" cy="4114800"/>
              </a:xfrm>
              <a:blipFill>
                <a:blip r:embed="rId2"/>
                <a:stretch>
                  <a:fillRect l="-1794" t="-1846" b="-8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444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Arrays: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restricted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I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  <a:r>
                  <a:rPr kumimoji="1" lang="zh-CN" altLang="en-US" sz="2400" dirty="0"/>
                  <a:t>*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I+I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x[I]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store(x,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I,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E)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…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E=E | …</a:t>
                </a:r>
                <a:r>
                  <a:rPr kumimoji="1" lang="zh-CN" altLang="en-US" sz="2400" dirty="0"/>
                  <a:t>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dirty="0"/>
                      <m:t>|</m:t>
                    </m:r>
                    <m:r>
                      <m:rPr>
                        <m:nor/>
                      </m:rPr>
                      <a:rPr kumimoji="1" lang="zh-CN" altLang="en-US" sz="240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7071B79-EF3A-324E-8AF1-A5F5B1669C77}"/>
              </a:ext>
            </a:extLst>
          </p:cNvPr>
          <p:cNvSpPr txBox="1"/>
          <p:nvPr/>
        </p:nvSpPr>
        <p:spPr>
          <a:xfrm>
            <a:off x="5029200" y="374546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arrays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atomic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8C4754F-8080-1847-B15E-338CE9C5FE2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667000" y="2919662"/>
            <a:ext cx="2362200" cy="101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E457D90-69F2-3D40-A940-186003987434}"/>
                  </a:ext>
                </a:extLst>
              </p:cNvPr>
              <p:cNvSpPr txBox="1"/>
              <p:nvPr/>
            </p:nvSpPr>
            <p:spPr>
              <a:xfrm>
                <a:off x="1182688" y="4543961"/>
                <a:ext cx="636111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dirty="0"/>
                  <a:t>Examples:</a:t>
                </a:r>
              </a:p>
              <a:p>
                <a:pPr algn="ctr"/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=j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]!=a[j]</a:t>
                </a:r>
                <a:endParaRPr kumimoji="1" lang="en-US" altLang="zh-CN" sz="2000" dirty="0"/>
              </a:p>
              <a:p>
                <a:r>
                  <a:rPr kumimoji="1" lang="en-US" altLang="zh-CN" sz="2000" dirty="0"/>
                  <a:t>But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not:</a:t>
                </a:r>
              </a:p>
              <a:p>
                <a:pPr algn="ctr"/>
                <a:r>
                  <a:rPr kumimoji="1" lang="en-US" altLang="zh-CN" sz="200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=j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*</a:t>
                </a:r>
                <a:r>
                  <a:rPr kumimoji="1" lang="en-US" altLang="zh-CN" sz="2000" b="1" dirty="0" err="1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]!=a[j</a:t>
                </a:r>
                <a:r>
                  <a:rPr kumimoji="1" lang="zh-CN" altLang="en-US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*</a:t>
                </a:r>
                <a:r>
                  <a:rPr kumimoji="1" lang="en-US" altLang="zh-CN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j]</a:t>
                </a:r>
                <a:endParaRPr kumimoji="1" lang="en-US" altLang="zh-CN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E457D90-69F2-3D40-A940-186003987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688" y="4543961"/>
                <a:ext cx="6361112" cy="1323439"/>
              </a:xfrm>
              <a:prstGeom prst="rect">
                <a:avLst/>
              </a:prstGeom>
              <a:blipFill>
                <a:blip r:embed="rId3"/>
                <a:stretch>
                  <a:fillRect l="-797" t="-1905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6D302857-6032-354E-AF4F-6507A8B63484}"/>
              </a:ext>
            </a:extLst>
          </p:cNvPr>
          <p:cNvSpPr txBox="1"/>
          <p:nvPr/>
        </p:nvSpPr>
        <p:spPr>
          <a:xfrm>
            <a:off x="5017168" y="336446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index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I,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D57426C0-29E7-5B4D-8F81-3447D450E25C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3048000" y="2864567"/>
            <a:ext cx="1969168" cy="684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A70316-FF87-AB4B-B2A3-8D21F65FA46C}"/>
              </a:ext>
            </a:extLst>
          </p:cNvPr>
          <p:cNvSpPr txBox="1"/>
          <p:nvPr/>
        </p:nvSpPr>
        <p:spPr>
          <a:xfrm>
            <a:off x="5017168" y="298346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index</a:t>
            </a:r>
            <a:r>
              <a:rPr kumimoji="1" lang="zh-CN" altLang="en-US" dirty="0"/>
              <a:t> </a:t>
            </a:r>
            <a:r>
              <a:rPr kumimoji="1" lang="en-US" altLang="zh-CN" dirty="0"/>
              <a:t>I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restricted</a:t>
            </a:r>
            <a:endParaRPr kumimoji="1" lang="zh-CN" altLang="en-US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6DC63DA-DE11-014D-9C16-90C177C3CC0A}"/>
              </a:ext>
            </a:extLst>
          </p:cNvPr>
          <p:cNvCxnSpPr>
            <a:cxnSpLocks/>
          </p:cNvCxnSpPr>
          <p:nvPr/>
        </p:nvCxnSpPr>
        <p:spPr>
          <a:xfrm flipH="1" flipV="1">
            <a:off x="1447800" y="2438400"/>
            <a:ext cx="3621090" cy="79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3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10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DD8C3-5793-4947-B593-D0AF2CF5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property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CF2059-08E8-2145-B4EF-91DE8E8496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must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form:</a:t>
                </a:r>
              </a:p>
              <a:p>
                <a:pPr marL="0" indent="0" algn="ctr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∀𝑗</a:t>
                </a:r>
                <a14:m>
                  <m:oMath xmlns:m="http://schemas.openxmlformats.org/officeDocument/2006/math">
                    <m:r>
                      <a:rPr kumimoji="1" lang="en-US" altLang="zh-CN" b="0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where: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G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G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G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G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G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</a:t>
                </a:r>
              </a:p>
              <a:p>
                <a:pPr marL="0" indent="0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A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::=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I=I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I!=I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|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T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called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property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fragment.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CF2059-08E8-2145-B4EF-91DE8E849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495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90F30-0074-664D-90C2-A962EA59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16791B-F536-4D4D-BBF1-0011DE701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Given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proposition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array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property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form,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endPara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convert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it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into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 equivalent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EUF formulae.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endParaRPr kumimoji="1" lang="en-US" altLang="zh-CN" sz="20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Input: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any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proposition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Output: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EUF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proposition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EUF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arrayReduction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(P){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P1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eliminate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all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array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write: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store(A,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P2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replace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∃</m:t>
                    </m:r>
                  </m:oMath>
                </a14:m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x.P1(x)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with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P1(y);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//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is</a:t>
                </a:r>
                <a:r>
                  <a:rPr kumimoji="1" lang="zh-CN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fresh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P3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replace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∀x.P2(x)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with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P2(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)/\.../\P2(k);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P4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=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eliminate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array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read in P3: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A[</a:t>
                </a:r>
                <a:r>
                  <a:rPr kumimoji="1" lang="en-US" altLang="zh-CN" sz="2000" b="1" dirty="0" err="1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];</a:t>
                </a:r>
              </a:p>
              <a:p>
                <a:pPr marL="0" indent="0">
                  <a:buNone/>
                </a:pP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return</a:t>
                </a:r>
                <a:r>
                  <a:rPr kumimoji="1" lang="zh-CN" altLang="en-US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P4;</a:t>
                </a:r>
              </a:p>
              <a:p>
                <a:pPr marL="0" indent="0">
                  <a:buNone/>
                </a:pPr>
                <a:r>
                  <a:rPr kumimoji="1" lang="en-US" altLang="zh-CN" sz="2000" b="1" dirty="0">
                    <a:solidFill>
                      <a:srgbClr val="0432FF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  <a:endParaRPr kumimoji="1" lang="zh-CN" altLang="en-US" sz="2000" b="1" dirty="0">
                  <a:solidFill>
                    <a:srgbClr val="0432FF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16791B-F536-4D4D-BBF1-0011DE701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53" t="-615" b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817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r>
                  <a:rPr kumimoji="1" lang="en-US" altLang="zh-CN" dirty="0"/>
                  <a:t>Step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#1: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eliminating</a:t>
                </a:r>
                <a:r>
                  <a:rPr kumimoji="1" lang="zh-CN" altLang="en-US"/>
                  <a:t> </a:t>
                </a:r>
                <a:r>
                  <a:rPr kumimoji="1" lang="en-US" altLang="zh-CN"/>
                  <a:t>array </a:t>
                </a:r>
                <a:r>
                  <a:rPr kumimoji="1" lang="en-US" altLang="zh-CN" dirty="0"/>
                  <a:t>store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above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check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UNSAT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r="-1142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144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r>
                  <a:rPr kumimoji="1" lang="en-US" altLang="zh-CN" dirty="0"/>
                  <a:t>Step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#3: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elimination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(only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index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 err="1">
                    <a:solidFill>
                      <a:srgbClr val="0432FF"/>
                    </a:solidFill>
                  </a:rPr>
                  <a:t>i</a:t>
                </a:r>
                <a:r>
                  <a:rPr kumimoji="1" lang="en-US" altLang="zh-CN" dirty="0"/>
                  <a:t>)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r>
                  <a:rPr kumimoji="1" lang="en-US" altLang="zh-CN" dirty="0"/>
                  <a:t>Simplify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174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formulae: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𝑠𝑡𝑜𝑟𝑒</m:t>
                      </m:r>
                      <m:d>
                        <m:dPr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CN" alt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zh-CN" i="1" dirty="0">
                  <a:solidFill>
                    <a:srgbClr val="0432FF"/>
                  </a:solidFill>
                  <a:latin typeface="Cambria Math" panose="02040503050406030204" pitchFamily="18" charset="0"/>
                </a:endParaRPr>
              </a:p>
              <a:p>
                <a:r>
                  <a:rPr kumimoji="1" lang="en-US" altLang="zh-CN" dirty="0"/>
                  <a:t>Step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#4: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array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read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elimination</a:t>
                </a:r>
                <a:endParaRPr kumimoji="1"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p>
                          <m:sSupPr>
                            <m:ctrlP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1" lang="en-US" altLang="zh-CN" i="1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:r>
                  <a:rPr kumimoji="1" lang="en-US" altLang="zh-CN" dirty="0"/>
                  <a:t>It’s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easy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check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 above formulae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UNSAT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thus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original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proposition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valid.</a:t>
                </a:r>
                <a:endParaRPr kumimoji="1" lang="en-US" altLang="zh-CN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839BFC-81AA-4F4B-B843-B86EB17C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3171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lang="en-US" altLang="zh-CN" i="1" dirty="0"/>
              <a:t>Theory</a:t>
            </a:r>
            <a:r>
              <a:rPr lang="zh-CN" altLang="en-US" i="1" dirty="0"/>
              <a:t> </a:t>
            </a:r>
            <a:r>
              <a:rPr lang="en-US" altLang="zh-CN" i="1" dirty="0"/>
              <a:t>of</a:t>
            </a:r>
            <a:r>
              <a:rPr lang="zh-CN" altLang="en-US" i="1" dirty="0"/>
              <a:t> </a:t>
            </a:r>
            <a:r>
              <a:rPr lang="en-US" altLang="zh-CN" i="1" dirty="0"/>
              <a:t>Hash</a:t>
            </a:r>
            <a:r>
              <a:rPr lang="zh-CN" altLang="en-US" i="1" dirty="0"/>
              <a:t> </a:t>
            </a:r>
            <a:r>
              <a:rPr lang="en-US" altLang="zh-CN" i="1" dirty="0"/>
              <a:t>Tables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33144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90F30-0074-664D-90C2-A962EA59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similar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6791B-F536-4D4D-BBF1-0011DE70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read(A,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store(A,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Hash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lookup(H,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v);</a:t>
            </a:r>
          </a:p>
          <a:p>
            <a:pPr marL="0" indent="0">
              <a:buNone/>
            </a:pPr>
            <a:endParaRPr kumimoji="1" lang="en-US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suggests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design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theory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hash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tables,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much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arrays.</a:t>
            </a:r>
          </a:p>
        </p:txBody>
      </p:sp>
    </p:spTree>
    <p:extLst>
      <p:ext uri="{BB962C8B-B14F-4D97-AF65-F5344CB8AC3E}">
        <p14:creationId xmlns:p14="http://schemas.microsoft.com/office/powerpoint/2010/main" val="2190278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key difference is the “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 type: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swap(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HashTable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j){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lookup(hash,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update(hash,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lookup(hash,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update(hash,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temp),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think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hash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functional: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a’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a’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update(update(a,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lookup(a,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j),j,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lookup(a,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want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prove: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lookup(a’,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)==lookup(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a,j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/\ lookup(a’, j)==lookup(a, 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7843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widely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develop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arrays</a:t>
            </a:r>
          </a:p>
          <a:p>
            <a:pPr lvl="1"/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EUF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interface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</a:p>
          <a:p>
            <a:pPr lvl="1"/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generalized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/>
              <a:t>table,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19522</TotalTime>
  <Words>1578</Words>
  <Application>Microsoft Macintosh PowerPoint</Application>
  <PresentationFormat>全屏显示(4:3)</PresentationFormat>
  <Paragraphs>251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Cambria Math</vt:lpstr>
      <vt:lpstr>Courier New</vt:lpstr>
      <vt:lpstr>Symbol</vt:lpstr>
      <vt:lpstr>Tahoma</vt:lpstr>
      <vt:lpstr>Wingdings</vt:lpstr>
      <vt:lpstr>Blends</vt:lpstr>
      <vt:lpstr>Arrays</vt:lpstr>
      <vt:lpstr>Motivation: theory</vt:lpstr>
      <vt:lpstr>Satisfiability modulo theory (SMT)</vt:lpstr>
      <vt:lpstr>Motivation</vt:lpstr>
      <vt:lpstr>Motivation</vt:lpstr>
      <vt:lpstr>Arrays: the syntax</vt:lpstr>
      <vt:lpstr>Example again</vt:lpstr>
      <vt:lpstr>Inference rules for arrays</vt:lpstr>
      <vt:lpstr> </vt:lpstr>
      <vt:lpstr>How to design a decision procedure for arrays?</vt:lpstr>
      <vt:lpstr>Array select</vt:lpstr>
      <vt:lpstr>Array select example</vt:lpstr>
      <vt:lpstr>Array update</vt:lpstr>
      <vt:lpstr>Array update example</vt:lpstr>
      <vt:lpstr>Problems</vt:lpstr>
      <vt:lpstr>Arrays: the restricted syntax</vt:lpstr>
      <vt:lpstr>Array property</vt:lpstr>
      <vt:lpstr>Array reduction algorithm</vt:lpstr>
      <vt:lpstr>Array reduction example</vt:lpstr>
      <vt:lpstr>Array reduction example</vt:lpstr>
      <vt:lpstr>Array reduction example</vt:lpstr>
      <vt:lpstr> </vt:lpstr>
      <vt:lpstr>The interfaces are similar</vt:lpstr>
      <vt:lpstr>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4545</cp:revision>
  <cp:lastPrinted>1601-01-01T00:00:00Z</cp:lastPrinted>
  <dcterms:created xsi:type="dcterms:W3CDTF">1601-01-01T00:00:00Z</dcterms:created>
  <dcterms:modified xsi:type="dcterms:W3CDTF">2025-11-12T08:24:50Z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
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handoutMasterIdLst>
    <p:handoutMasterId r:id="rId82"/>
  </p:handoutMasterIdLst>
  <p:sldIdLst>
    <p:sldId id="256" r:id="rId2"/>
    <p:sldId id="455" r:id="rId3"/>
    <p:sldId id="473" r:id="rId4"/>
    <p:sldId id="474" r:id="rId5"/>
    <p:sldId id="456" r:id="rId6"/>
    <p:sldId id="490" r:id="rId7"/>
    <p:sldId id="485" r:id="rId8"/>
    <p:sldId id="457" r:id="rId9"/>
    <p:sldId id="476" r:id="rId10"/>
    <p:sldId id="477" r:id="rId11"/>
    <p:sldId id="478" r:id="rId12"/>
    <p:sldId id="479" r:id="rId13"/>
    <p:sldId id="480" r:id="rId14"/>
    <p:sldId id="481" r:id="rId15"/>
    <p:sldId id="482" r:id="rId16"/>
    <p:sldId id="483" r:id="rId17"/>
    <p:sldId id="484" r:id="rId18"/>
    <p:sldId id="494" r:id="rId19"/>
    <p:sldId id="495" r:id="rId20"/>
    <p:sldId id="496" r:id="rId21"/>
    <p:sldId id="497" r:id="rId22"/>
    <p:sldId id="498" r:id="rId23"/>
    <p:sldId id="534" r:id="rId24"/>
    <p:sldId id="535" r:id="rId25"/>
    <p:sldId id="537" r:id="rId26"/>
    <p:sldId id="539" r:id="rId27"/>
    <p:sldId id="540" r:id="rId28"/>
    <p:sldId id="541" r:id="rId29"/>
    <p:sldId id="542" r:id="rId30"/>
    <p:sldId id="543" r:id="rId31"/>
    <p:sldId id="544" r:id="rId32"/>
    <p:sldId id="499" r:id="rId33"/>
    <p:sldId id="500" r:id="rId34"/>
    <p:sldId id="501" r:id="rId35"/>
    <p:sldId id="502" r:id="rId36"/>
    <p:sldId id="503" r:id="rId37"/>
    <p:sldId id="504" r:id="rId38"/>
    <p:sldId id="505" r:id="rId39"/>
    <p:sldId id="506" r:id="rId40"/>
    <p:sldId id="507" r:id="rId41"/>
    <p:sldId id="510" r:id="rId42"/>
    <p:sldId id="508" r:id="rId43"/>
    <p:sldId id="509" r:id="rId44"/>
    <p:sldId id="512" r:id="rId45"/>
    <p:sldId id="511" r:id="rId46"/>
    <p:sldId id="486" r:id="rId47"/>
    <p:sldId id="487" r:id="rId48"/>
    <p:sldId id="475" r:id="rId49"/>
    <p:sldId id="458" r:id="rId50"/>
    <p:sldId id="488" r:id="rId51"/>
    <p:sldId id="489" r:id="rId52"/>
    <p:sldId id="459" r:id="rId53"/>
    <p:sldId id="491" r:id="rId54"/>
    <p:sldId id="460" r:id="rId55"/>
    <p:sldId id="461" r:id="rId56"/>
    <p:sldId id="492" r:id="rId57"/>
    <p:sldId id="493" r:id="rId58"/>
    <p:sldId id="463" r:id="rId59"/>
    <p:sldId id="513" r:id="rId60"/>
    <p:sldId id="514" r:id="rId61"/>
    <p:sldId id="515" r:id="rId62"/>
    <p:sldId id="516" r:id="rId63"/>
    <p:sldId id="517" r:id="rId64"/>
    <p:sldId id="518" r:id="rId65"/>
    <p:sldId id="519" r:id="rId66"/>
    <p:sldId id="520" r:id="rId67"/>
    <p:sldId id="521" r:id="rId68"/>
    <p:sldId id="522" r:id="rId69"/>
    <p:sldId id="523" r:id="rId70"/>
    <p:sldId id="524" r:id="rId71"/>
    <p:sldId id="525" r:id="rId72"/>
    <p:sldId id="526" r:id="rId73"/>
    <p:sldId id="527" r:id="rId74"/>
    <p:sldId id="528" r:id="rId75"/>
    <p:sldId id="529" r:id="rId76"/>
    <p:sldId id="530" r:id="rId77"/>
    <p:sldId id="531" r:id="rId78"/>
    <p:sldId id="532" r:id="rId79"/>
    <p:sldId id="533" r:id="rId80"/>
    <p:sldId id="424" r:id="rId81"/>
  </p:sldIdLst>
  <p:sldSz cx="9144000" cy="6858000" type="screen4x3"/>
  <p:notesSz cx="7099300" cy="10234613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24">
          <p15:clr>
            <a:srgbClr val="A4A3A4"/>
          </p15:clr>
        </p15:guide>
        <p15:guide id="2" pos="2236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432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107"/>
    <p:restoredTop sz="94744"/>
  </p:normalViewPr>
  <p:slideViewPr>
    <p:cSldViewPr>
      <p:cViewPr varScale="1">
        <p:scale>
          <a:sx n="119" d="100"/>
          <a:sy n="119" d="100"/>
        </p:scale>
        <p:origin x="2080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56" d="100"/>
          <a:sy n="56" d="100"/>
        </p:scale>
        <p:origin x="-1854" y="-96"/>
      </p:cViewPr>
      <p:guideLst>
        <p:guide orient="horz" pos="3224"/>
        <p:guide pos="2236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viewProps" Target="viewProps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61" Type="http://schemas.openxmlformats.org/officeDocument/2006/relationships/slide" Target="slides/slide60.xml"/><Relationship Id="rId82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46255887-7C20-5F40-88F5-DC07E009366A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defTabSz="990600" eaLnBrk="1" hangingPunct="1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B442A776-FF54-8D4A-8F1A-B5440D7A3E8E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021138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algn="r" defTabSz="990600" eaLnBrk="1" hangingPunct="1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148" name="Rectangle 4">
            <a:extLst>
              <a:ext uri="{FF2B5EF4-FFF2-40B4-BE49-F238E27FC236}">
                <a16:creationId xmlns:a16="http://schemas.microsoft.com/office/drawing/2014/main" id="{DC290E11-1746-2A4C-A43A-EB9011E0C54E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72185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defTabSz="990600" eaLnBrk="1" hangingPunct="1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149" name="Rectangle 5">
            <a:extLst>
              <a:ext uri="{FF2B5EF4-FFF2-40B4-BE49-F238E27FC236}">
                <a16:creationId xmlns:a16="http://schemas.microsoft.com/office/drawing/2014/main" id="{02245770-81F5-604C-B1AE-5A9406AD2B2A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21138" y="972185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algn="r" defTabSz="990600" eaLnBrk="1" hangingPunct="1">
              <a:defRPr sz="13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59DFDCF0-3A25-1B44-957E-06E14821E89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>
            <a:extLst>
              <a:ext uri="{FF2B5EF4-FFF2-40B4-BE49-F238E27FC236}">
                <a16:creationId xmlns:a16="http://schemas.microsoft.com/office/drawing/2014/main" id="{B63668DE-41B2-B840-8464-61D50D8F9AEF}"/>
              </a:ext>
            </a:extLst>
          </p:cNvPr>
          <p:cNvGrpSpPr>
            <a:grpSpLocks/>
          </p:cNvGrpSpPr>
          <p:nvPr/>
        </p:nvGrpSpPr>
        <p:grpSpPr bwMode="auto">
          <a:xfrm>
            <a:off x="0" y="2438400"/>
            <a:ext cx="9009063" cy="1052513"/>
            <a:chOff x="0" y="1536"/>
            <a:chExt cx="5675" cy="663"/>
          </a:xfrm>
        </p:grpSpPr>
        <p:grpSp>
          <p:nvGrpSpPr>
            <p:cNvPr id="5" name="Group 3">
              <a:extLst>
                <a:ext uri="{FF2B5EF4-FFF2-40B4-BE49-F238E27FC236}">
                  <a16:creationId xmlns:a16="http://schemas.microsoft.com/office/drawing/2014/main" id="{4DD8CABA-2308-F347-8A69-17F991D1D11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3" y="1604"/>
              <a:ext cx="448" cy="299"/>
              <a:chOff x="720" y="336"/>
              <a:chExt cx="624" cy="432"/>
            </a:xfrm>
          </p:grpSpPr>
          <p:sp>
            <p:nvSpPr>
              <p:cNvPr id="12" name="Rectangle 4">
                <a:extLst>
                  <a:ext uri="{FF2B5EF4-FFF2-40B4-BE49-F238E27FC236}">
                    <a16:creationId xmlns:a16="http://schemas.microsoft.com/office/drawing/2014/main" id="{BC90C53F-106A-594B-816F-FBBE09ED0CE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en-US"/>
              </a:p>
            </p:txBody>
          </p:sp>
          <p:sp>
            <p:nvSpPr>
              <p:cNvPr id="13" name="Rectangle 5">
                <a:extLst>
                  <a:ext uri="{FF2B5EF4-FFF2-40B4-BE49-F238E27FC236}">
                    <a16:creationId xmlns:a16="http://schemas.microsoft.com/office/drawing/2014/main" id="{13A923C9-0DAE-5044-82AD-0E432BFFD01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en-US"/>
              </a:p>
            </p:txBody>
          </p:sp>
        </p:grpSp>
        <p:grpSp>
          <p:nvGrpSpPr>
            <p:cNvPr id="6" name="Group 6">
              <a:extLst>
                <a:ext uri="{FF2B5EF4-FFF2-40B4-BE49-F238E27FC236}">
                  <a16:creationId xmlns:a16="http://schemas.microsoft.com/office/drawing/2014/main" id="{5FA28DE7-4EBE-E242-BE11-88C84DA4CA5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1" y="1870"/>
              <a:ext cx="465" cy="299"/>
              <a:chOff x="912" y="2640"/>
              <a:chExt cx="672" cy="432"/>
            </a:xfrm>
          </p:grpSpPr>
          <p:sp>
            <p:nvSpPr>
              <p:cNvPr id="10" name="Rectangle 7">
                <a:extLst>
                  <a:ext uri="{FF2B5EF4-FFF2-40B4-BE49-F238E27FC236}">
                    <a16:creationId xmlns:a16="http://schemas.microsoft.com/office/drawing/2014/main" id="{55B07155-43D3-3342-B259-7727441EBEF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en-US"/>
              </a:p>
            </p:txBody>
          </p:sp>
          <p:sp>
            <p:nvSpPr>
              <p:cNvPr id="11" name="Rectangle 8">
                <a:extLst>
                  <a:ext uri="{FF2B5EF4-FFF2-40B4-BE49-F238E27FC236}">
                    <a16:creationId xmlns:a16="http://schemas.microsoft.com/office/drawing/2014/main" id="{5043667A-50D5-BD4A-899F-BACBE537B6E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49" y="2640"/>
                <a:ext cx="335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en-US"/>
              </a:p>
            </p:txBody>
          </p:sp>
        </p:grpSp>
        <p:sp>
          <p:nvSpPr>
            <p:cNvPr id="7" name="Rectangle 9">
              <a:extLst>
                <a:ext uri="{FF2B5EF4-FFF2-40B4-BE49-F238E27FC236}">
                  <a16:creationId xmlns:a16="http://schemas.microsoft.com/office/drawing/2014/main" id="{026AC772-E99A-4F46-A0AF-BDC88C893B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8" name="Rectangle 10">
              <a:extLst>
                <a:ext uri="{FF2B5EF4-FFF2-40B4-BE49-F238E27FC236}">
                  <a16:creationId xmlns:a16="http://schemas.microsoft.com/office/drawing/2014/main" id="{95ED622E-E2EB-AE47-84DA-22CE8CA457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9" name="Rectangle 11">
              <a:extLst>
                <a:ext uri="{FF2B5EF4-FFF2-40B4-BE49-F238E27FC236}">
                  <a16:creationId xmlns:a16="http://schemas.microsoft.com/office/drawing/2014/main" id="{51262C24-48BF-CD4C-937E-331BF8501E8E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/>
            </a:p>
          </p:txBody>
        </p:sp>
      </p:grpSp>
      <p:sp>
        <p:nvSpPr>
          <p:cNvPr id="10252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990600" y="1676400"/>
            <a:ext cx="7772400" cy="1462088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10253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14" name="Rectangle 14">
            <a:extLst>
              <a:ext uri="{FF2B5EF4-FFF2-40B4-BE49-F238E27FC236}">
                <a16:creationId xmlns:a16="http://schemas.microsoft.com/office/drawing/2014/main" id="{43F62A85-0DF1-9F4C-B6E2-275D2310556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990600" y="6248400"/>
            <a:ext cx="1905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5" name="Rectangle 15">
            <a:extLst>
              <a:ext uri="{FF2B5EF4-FFF2-40B4-BE49-F238E27FC236}">
                <a16:creationId xmlns:a16="http://schemas.microsoft.com/office/drawing/2014/main" id="{25E5B91A-4C02-F247-8E23-8E414AB52CE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429000" y="6248400"/>
            <a:ext cx="28956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6" name="Rectangle 16">
            <a:extLst>
              <a:ext uri="{FF2B5EF4-FFF2-40B4-BE49-F238E27FC236}">
                <a16:creationId xmlns:a16="http://schemas.microsoft.com/office/drawing/2014/main" id="{4893DA04-B417-5246-8AE0-91F0B65648C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6858000" y="6248400"/>
            <a:ext cx="1905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fld id="{6A8B626B-81AA-F040-92F0-D02736E321A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404112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74AC7456-85F6-DD40-81C0-4C8BD0E9F22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7BAB3D1D-BE10-304F-BEFE-012D6E790D5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50A960C3-CA72-8540-A7D0-1A6E75F0E4F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BF748D9-7FA6-E441-821E-F3F88EC4F9C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098319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B4C5B8B4-B421-6040-879F-D3D697BB72D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F7543519-18B0-7740-8051-46BAC5573B3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DD3F58C5-102C-E640-8D6D-6542CFC35A5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B2B18E6-536B-3E49-87F7-F67360CCFAB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198601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1826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1450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467775B8-8071-4E41-AB03-00486E0A228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A56D8A38-D3FC-AD48-8316-038FB054F04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>
            <a:extLst>
              <a:ext uri="{FF2B5EF4-FFF2-40B4-BE49-F238E27FC236}">
                <a16:creationId xmlns:a16="http://schemas.microsoft.com/office/drawing/2014/main" id="{FCB84722-1E49-9E4D-836F-D732E94C27F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49FD8DE-E3EB-EA4E-8EE7-F04FE4665C2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897571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11">
            <a:extLst>
              <a:ext uri="{FF2B5EF4-FFF2-40B4-BE49-F238E27FC236}">
                <a16:creationId xmlns:a16="http://schemas.microsoft.com/office/drawing/2014/main" id="{CFB82EF0-DDD0-6B4A-867E-3E6388D616D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12">
            <a:extLst>
              <a:ext uri="{FF2B5EF4-FFF2-40B4-BE49-F238E27FC236}">
                <a16:creationId xmlns:a16="http://schemas.microsoft.com/office/drawing/2014/main" id="{7BFB65D6-F186-3C48-B54B-497EC9B3843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13">
            <a:extLst>
              <a:ext uri="{FF2B5EF4-FFF2-40B4-BE49-F238E27FC236}">
                <a16:creationId xmlns:a16="http://schemas.microsoft.com/office/drawing/2014/main" id="{E2702551-92CD-8D4E-9A9F-51CB64BE93F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0FCA741-66C6-D343-8412-89FF6A0F853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74899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11">
            <a:extLst>
              <a:ext uri="{FF2B5EF4-FFF2-40B4-BE49-F238E27FC236}">
                <a16:creationId xmlns:a16="http://schemas.microsoft.com/office/drawing/2014/main" id="{87F0065C-425F-FA4C-B6C4-FD2068F544F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12">
            <a:extLst>
              <a:ext uri="{FF2B5EF4-FFF2-40B4-BE49-F238E27FC236}">
                <a16:creationId xmlns:a16="http://schemas.microsoft.com/office/drawing/2014/main" id="{D7C70384-6A7F-504B-9F2A-1F5CFAAD2DF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3">
            <a:extLst>
              <a:ext uri="{FF2B5EF4-FFF2-40B4-BE49-F238E27FC236}">
                <a16:creationId xmlns:a16="http://schemas.microsoft.com/office/drawing/2014/main" id="{5C95F566-FAE0-7049-8CC7-F3FD4197326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2318140-2A5D-0E44-BF65-E264B2E441B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496101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1">
            <a:extLst>
              <a:ext uri="{FF2B5EF4-FFF2-40B4-BE49-F238E27FC236}">
                <a16:creationId xmlns:a16="http://schemas.microsoft.com/office/drawing/2014/main" id="{5F7FBCE8-7588-F049-A140-AC6ECEEBA42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12">
            <a:extLst>
              <a:ext uri="{FF2B5EF4-FFF2-40B4-BE49-F238E27FC236}">
                <a16:creationId xmlns:a16="http://schemas.microsoft.com/office/drawing/2014/main" id="{9EDEB25C-C69B-AF49-92C5-20DDF64A0CF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13">
            <a:extLst>
              <a:ext uri="{FF2B5EF4-FFF2-40B4-BE49-F238E27FC236}">
                <a16:creationId xmlns:a16="http://schemas.microsoft.com/office/drawing/2014/main" id="{D7ADDEEE-A7A1-C54E-B356-0D31023DC8F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48883DD-3DDB-6A4B-AF53-C06217DC1C4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508114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D951196D-4FBC-5244-AE77-A0DCBCE7B10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06B8D535-A7F6-6245-AF7C-3991555EBB3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>
            <a:extLst>
              <a:ext uri="{FF2B5EF4-FFF2-40B4-BE49-F238E27FC236}">
                <a16:creationId xmlns:a16="http://schemas.microsoft.com/office/drawing/2014/main" id="{900E33DC-CFB4-6940-9A06-5E573918424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B099AE6-659C-DD4F-AB55-9243AB08769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313468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9641F442-FF5A-3E4F-B7E3-4F3B309167B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D4BF4FC7-F279-814B-BE9E-21CEA875BCC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>
            <a:extLst>
              <a:ext uri="{FF2B5EF4-FFF2-40B4-BE49-F238E27FC236}">
                <a16:creationId xmlns:a16="http://schemas.microsoft.com/office/drawing/2014/main" id="{8FDFF4A7-138E-6343-9081-AB08C744418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1EB066F-829B-004C-A374-751C5611884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653619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5D26FD10-20F2-BE4B-A198-B567EEE34FA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F95028F1-A44A-2647-AF6B-29B32995202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CDE85904-D501-6C46-A2AD-9CA56C67E9E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BB6E24A-3567-904B-B86C-E4AE21B6ED3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066558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004050" y="214313"/>
            <a:ext cx="1951038" cy="59182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150938" y="214313"/>
            <a:ext cx="5700712" cy="59182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8C5833C8-4BDB-0F44-8B0D-35498B25425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089FF3E9-C35F-4E4B-8AF3-3BAD855509B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2E5996E1-CC22-3945-A3BF-28E3C78E727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7BB2DC2-6B55-5E4C-8395-621F8054D64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59457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AD8F330B-6D69-3B48-94AA-84D980473E79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417513" y="10985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zh-CN" altLang="zh-CN" sz="2400"/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20019EAC-5FB6-7F49-82BE-B9C6E565D19E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800100" y="10985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zh-CN" altLang="zh-CN" sz="2400"/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2A7743FD-0EAE-AE43-B059-5C59C205ED23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541338" y="15208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zh-CN" altLang="zh-CN" sz="2400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89C3DD9A-EB2E-6F4B-B2C1-287B25CFF38E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911225" y="15208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zh-CN" altLang="zh-CN" sz="2400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42536DE4-E734-8D4C-93F9-1098F8D02B90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127000" y="14478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zh-CN" altLang="zh-CN" sz="2400"/>
          </a:p>
        </p:txBody>
      </p:sp>
      <p:sp>
        <p:nvSpPr>
          <p:cNvPr id="1031" name="Rectangle 7">
            <a:extLst>
              <a:ext uri="{FF2B5EF4-FFF2-40B4-BE49-F238E27FC236}">
                <a16:creationId xmlns:a16="http://schemas.microsoft.com/office/drawing/2014/main" id="{6D863680-FD48-694E-A03B-D9033B0DA834}"/>
              </a:ext>
            </a:extLst>
          </p:cNvPr>
          <p:cNvSpPr>
            <a:spLocks noChangeArrowheads="1"/>
          </p:cNvSpPr>
          <p:nvPr/>
        </p:nvSpPr>
        <p:spPr bwMode="gray">
          <a:xfrm>
            <a:off x="762000" y="99060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zh-CN" altLang="zh-CN" sz="2400"/>
          </a:p>
        </p:txBody>
      </p:sp>
      <p:sp>
        <p:nvSpPr>
          <p:cNvPr id="1032" name="Rectangle 8">
            <a:extLst>
              <a:ext uri="{FF2B5EF4-FFF2-40B4-BE49-F238E27FC236}">
                <a16:creationId xmlns:a16="http://schemas.microsoft.com/office/drawing/2014/main" id="{F170802E-96C7-5A40-9A9A-95EE098C8380}"/>
              </a:ext>
            </a:extLst>
          </p:cNvPr>
          <p:cNvSpPr>
            <a:spLocks noChangeArrowheads="1"/>
          </p:cNvSpPr>
          <p:nvPr/>
        </p:nvSpPr>
        <p:spPr bwMode="gray">
          <a:xfrm>
            <a:off x="442913" y="1781175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zh-CN" altLang="zh-CN" sz="2400"/>
          </a:p>
        </p:txBody>
      </p:sp>
      <p:sp>
        <p:nvSpPr>
          <p:cNvPr id="1033" name="Rectangle 9">
            <a:extLst>
              <a:ext uri="{FF2B5EF4-FFF2-40B4-BE49-F238E27FC236}">
                <a16:creationId xmlns:a16="http://schemas.microsoft.com/office/drawing/2014/main" id="{8B107CC5-4F23-7840-9D8C-A91D6DEA2FE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150938" y="214313"/>
            <a:ext cx="7793037" cy="1462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34" name="Rectangle 10">
            <a:extLst>
              <a:ext uri="{FF2B5EF4-FFF2-40B4-BE49-F238E27FC236}">
                <a16:creationId xmlns:a16="http://schemas.microsoft.com/office/drawing/2014/main" id="{FE065584-58F1-DF49-988D-E4179129D9E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182688" y="2017713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9227" name="Rectangle 11">
            <a:extLst>
              <a:ext uri="{FF2B5EF4-FFF2-40B4-BE49-F238E27FC236}">
                <a16:creationId xmlns:a16="http://schemas.microsoft.com/office/drawing/2014/main" id="{BEFFB746-8CD7-AA4A-B6F9-332BF0161723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162050" y="6243638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4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228" name="Rectangle 12">
            <a:extLst>
              <a:ext uri="{FF2B5EF4-FFF2-40B4-BE49-F238E27FC236}">
                <a16:creationId xmlns:a16="http://schemas.microsoft.com/office/drawing/2014/main" id="{986FEBD8-864A-0B4D-B3B2-0C180D3B82E5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657600" y="6243638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4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229" name="Rectangle 13">
            <a:extLst>
              <a:ext uri="{FF2B5EF4-FFF2-40B4-BE49-F238E27FC236}">
                <a16:creationId xmlns:a16="http://schemas.microsoft.com/office/drawing/2014/main" id="{9EC76A7F-43CA-B94D-8105-DC195EBDA500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42150" y="6243638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400"/>
            </a:lvl1pPr>
          </a:lstStyle>
          <a:p>
            <a:pPr>
              <a:defRPr/>
            </a:pPr>
            <a:fld id="{6CB83518-65C2-094A-AFB7-B5D18B682B4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8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itchFamily="2" charset="2"/>
        <a:buChar char="n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itchFamily="2" charset="2"/>
        <a:buChar char="n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9" Type="http://schemas.openxmlformats.org/officeDocument/2006/relationships/image" Target="../media/image1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hyperlink" Target="https://clang.llvm.org/" TargetMode="External"/><Relationship Id="rId2" Type="http://schemas.openxmlformats.org/officeDocument/2006/relationships/hyperlink" Target="https://klee-se.org/" TargetMode="Externa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0.png"/><Relationship Id="rId7" Type="http://schemas.openxmlformats.org/officeDocument/2006/relationships/image" Target="../media/image60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7" Type="http://schemas.openxmlformats.org/officeDocument/2006/relationships/image" Target="../media/image140.png"/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0.png"/><Relationship Id="rId5" Type="http://schemas.openxmlformats.org/officeDocument/2006/relationships/image" Target="../media/image120.png"/><Relationship Id="rId4" Type="http://schemas.openxmlformats.org/officeDocument/2006/relationships/image" Target="../media/image110.png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7" Type="http://schemas.openxmlformats.org/officeDocument/2006/relationships/image" Target="../media/image600.png"/><Relationship Id="rId2" Type="http://schemas.openxmlformats.org/officeDocument/2006/relationships/image" Target="../media/image2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0.png"/><Relationship Id="rId5" Type="http://schemas.openxmlformats.org/officeDocument/2006/relationships/image" Target="../media/image50.png"/><Relationship Id="rId4" Type="http://schemas.openxmlformats.org/officeDocument/2006/relationships/image" Target="../media/image150.png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image" Target="../media/image17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0.png"/></Relationships>
</file>

<file path=ppt/slides/_rels/slide7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0.png"/><Relationship Id="rId3" Type="http://schemas.openxmlformats.org/officeDocument/2006/relationships/image" Target="../media/image181.png"/><Relationship Id="rId7" Type="http://schemas.openxmlformats.org/officeDocument/2006/relationships/image" Target="../media/image190.png"/><Relationship Id="rId2" Type="http://schemas.openxmlformats.org/officeDocument/2006/relationships/image" Target="../media/image17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1.png"/><Relationship Id="rId5" Type="http://schemas.openxmlformats.org/officeDocument/2006/relationships/image" Target="../media/image180.png"/><Relationship Id="rId4" Type="http://schemas.openxmlformats.org/officeDocument/2006/relationships/image" Target="../media/image191.png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2.png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javapathfinder" TargetMode="External"/><Relationship Id="rId2" Type="http://schemas.openxmlformats.org/officeDocument/2006/relationships/hyperlink" Target="http://pathcrawler-online.com:8080/doWelcome" TargetMode="External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Rectangle 2">
            <a:extLst>
              <a:ext uri="{FF2B5EF4-FFF2-40B4-BE49-F238E27FC236}">
                <a16:creationId xmlns:a16="http://schemas.microsoft.com/office/drawing/2014/main" id="{E8841FBB-64FC-1C4F-8167-C680F3EB3355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altLang="zh-CN" dirty="0"/>
              <a:t>Symbolic</a:t>
            </a:r>
            <a:r>
              <a:rPr lang="zh-CN" altLang="en-US" dirty="0"/>
              <a:t> </a:t>
            </a:r>
            <a:r>
              <a:rPr lang="en-US" altLang="zh-CN" dirty="0"/>
              <a:t>execution</a:t>
            </a:r>
          </a:p>
        </p:txBody>
      </p:sp>
      <p:sp>
        <p:nvSpPr>
          <p:cNvPr id="14338" name="Rectangle 3">
            <a:extLst>
              <a:ext uri="{FF2B5EF4-FFF2-40B4-BE49-F238E27FC236}">
                <a16:creationId xmlns:a16="http://schemas.microsoft.com/office/drawing/2014/main" id="{86FDA178-BD90-9A42-AB11-13E8D0C97665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r>
              <a:rPr lang="en-US" altLang="zh-CN" sz="3600" dirty="0"/>
              <a:t>Formal Methods Foundation</a:t>
            </a:r>
          </a:p>
          <a:p>
            <a:pPr eaLnBrk="1" hangingPunct="1"/>
            <a:r>
              <a:rPr lang="en-US" altLang="zh-CN" sz="2800" dirty="0" err="1"/>
              <a:t>Baojian</a:t>
            </a:r>
            <a:r>
              <a:rPr lang="en-US" altLang="zh-CN" sz="2800" dirty="0"/>
              <a:t> Hua</a:t>
            </a:r>
          </a:p>
          <a:p>
            <a:pPr eaLnBrk="1" hangingPunct="1"/>
            <a:r>
              <a:rPr lang="en-US" altLang="zh-CN" sz="2400" dirty="0" err="1"/>
              <a:t>bjhua@ustc.edu.cn</a:t>
            </a:r>
            <a:endParaRPr lang="en-US" altLang="zh-CN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AE3A8E4-6958-404F-9A7A-4D41ABD018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Spectrum</a:t>
            </a:r>
            <a:r>
              <a:rPr kumimoji="1" lang="zh-CN" altLang="en-US" dirty="0"/>
              <a:t> </a:t>
            </a:r>
            <a:r>
              <a:rPr kumimoji="1" lang="en-US" altLang="zh-CN" dirty="0"/>
              <a:t>of</a:t>
            </a:r>
            <a:r>
              <a:rPr kumimoji="1" lang="zh-CN" altLang="en-US" dirty="0"/>
              <a:t> </a:t>
            </a:r>
            <a:r>
              <a:rPr kumimoji="1" lang="en-US" altLang="zh-CN" dirty="0"/>
              <a:t>program</a:t>
            </a:r>
            <a:r>
              <a:rPr kumimoji="1" lang="zh-CN" altLang="en-US" dirty="0"/>
              <a:t> </a:t>
            </a:r>
            <a:r>
              <a:rPr kumimoji="1" lang="en-US" altLang="zh-CN" dirty="0"/>
              <a:t>validation</a:t>
            </a:r>
            <a:r>
              <a:rPr kumimoji="1" lang="zh-CN" altLang="en-US" dirty="0"/>
              <a:t> </a:t>
            </a:r>
            <a:r>
              <a:rPr kumimoji="1" lang="en-US" altLang="zh-CN" dirty="0"/>
              <a:t>methods</a:t>
            </a:r>
            <a:endParaRPr kumimoji="1" lang="zh-CN" altLang="en-US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43290D53-744C-F049-BD12-36467E0FCD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350" y="2178650"/>
            <a:ext cx="8401050" cy="4603150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A52E6188-1647-5145-85E6-FAA20DE63886}"/>
              </a:ext>
            </a:extLst>
          </p:cNvPr>
          <p:cNvSpPr txBox="1"/>
          <p:nvPr/>
        </p:nvSpPr>
        <p:spPr>
          <a:xfrm>
            <a:off x="5047456" y="4480225"/>
            <a:ext cx="21153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Today’s</a:t>
            </a:r>
            <a:r>
              <a:rPr kumimoji="1" lang="zh-CN" altLang="en-US" dirty="0"/>
              <a:t> </a:t>
            </a:r>
            <a:r>
              <a:rPr kumimoji="1" lang="en-US" altLang="zh-CN" dirty="0"/>
              <a:t>topic</a:t>
            </a:r>
            <a:endParaRPr kumimoji="1" lang="zh-CN" altLang="en-US" dirty="0"/>
          </a:p>
        </p:txBody>
      </p:sp>
      <p:cxnSp>
        <p:nvCxnSpPr>
          <p:cNvPr id="10" name="直线箭头连接符 9">
            <a:extLst>
              <a:ext uri="{FF2B5EF4-FFF2-40B4-BE49-F238E27FC236}">
                <a16:creationId xmlns:a16="http://schemas.microsoft.com/office/drawing/2014/main" id="{62BED9D8-E1E3-2A45-B513-C33272D6531D}"/>
              </a:ext>
            </a:extLst>
          </p:cNvPr>
          <p:cNvCxnSpPr/>
          <p:nvPr/>
        </p:nvCxnSpPr>
        <p:spPr>
          <a:xfrm flipH="1" flipV="1">
            <a:off x="4495800" y="4267200"/>
            <a:ext cx="762000" cy="2130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937186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83B1A98-5D2E-F84C-8A75-A8FC62CA10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Why</a:t>
            </a:r>
            <a:r>
              <a:rPr kumimoji="1" lang="zh-CN" altLang="en-US" dirty="0"/>
              <a:t> </a:t>
            </a:r>
            <a:r>
              <a:rPr kumimoji="1" lang="en-US" altLang="zh-CN" dirty="0"/>
              <a:t>program</a:t>
            </a:r>
            <a:r>
              <a:rPr kumimoji="1" lang="zh-CN" altLang="en-US" dirty="0"/>
              <a:t> </a:t>
            </a:r>
            <a:r>
              <a:rPr kumimoji="1" lang="en-US" altLang="zh-CN" dirty="0"/>
              <a:t>testing</a:t>
            </a:r>
            <a:r>
              <a:rPr kumimoji="1" lang="zh-CN" altLang="en-US" dirty="0"/>
              <a:t> </a:t>
            </a:r>
            <a:r>
              <a:rPr kumimoji="1" lang="en-US" altLang="zh-CN" dirty="0"/>
              <a:t>may</a:t>
            </a:r>
            <a:r>
              <a:rPr kumimoji="1" lang="zh-CN" altLang="en-US" dirty="0"/>
              <a:t> </a:t>
            </a:r>
            <a:r>
              <a:rPr kumimoji="1" lang="en-US" altLang="zh-CN" dirty="0"/>
              <a:t>not</a:t>
            </a:r>
            <a:r>
              <a:rPr kumimoji="1" lang="zh-CN" altLang="en-US" dirty="0"/>
              <a:t> </a:t>
            </a:r>
            <a:r>
              <a:rPr kumimoji="1" lang="en-US" altLang="zh-CN" dirty="0"/>
              <a:t>work?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EA67DCE-2389-6343-AFC1-54E1B9454D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82688" y="2017713"/>
            <a:ext cx="7772400" cy="4114800"/>
          </a:xfrm>
        </p:spPr>
        <p:txBody>
          <a:bodyPr/>
          <a:lstStyle/>
          <a:p>
            <a:pPr marL="0" indent="0">
              <a:buNone/>
            </a:pP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//</a:t>
            </a:r>
            <a:r>
              <a: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Does</a:t>
            </a:r>
            <a:r>
              <a: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the</a:t>
            </a:r>
            <a:r>
              <a: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following</a:t>
            </a:r>
            <a:r>
              <a: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program</a:t>
            </a:r>
            <a:r>
              <a: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throw</a:t>
            </a:r>
            <a:r>
              <a: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</a:p>
          <a:p>
            <a:pPr marL="0" indent="0">
              <a:buNone/>
            </a:pP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//</a:t>
            </a:r>
            <a:r>
              <a: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“</a:t>
            </a:r>
            <a:r>
              <a:rPr kumimoji="1" lang="en-US" altLang="zh-CN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DivideByZero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”</a:t>
            </a:r>
            <a:r>
              <a: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exception?</a:t>
            </a:r>
          </a:p>
          <a:p>
            <a:pPr marL="0" indent="0">
              <a:buNone/>
            </a:pP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//</a:t>
            </a:r>
            <a:r>
              <a: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Suppose</a:t>
            </a:r>
            <a:r>
              <a: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we</a:t>
            </a:r>
            <a:r>
              <a: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use</a:t>
            </a:r>
            <a:r>
              <a: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black</a:t>
            </a:r>
            <a:r>
              <a: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box</a:t>
            </a:r>
            <a:r>
              <a: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testing/fuzzing</a:t>
            </a:r>
            <a:r>
              <a: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endParaRPr kumimoji="1" lang="en-US" altLang="zh-CN" sz="2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// strategy (to</a:t>
            </a:r>
            <a:r>
              <a: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generate</a:t>
            </a:r>
            <a:r>
              <a: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random</a:t>
            </a:r>
            <a:r>
              <a: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inputs):</a:t>
            </a:r>
          </a:p>
          <a:p>
            <a:pPr marL="0" indent="0">
              <a:buNone/>
            </a:pPr>
            <a:r>
              <a:rPr kumimoji="1" lang="en-US" altLang="zh-CN" sz="2000" b="1" dirty="0" err="1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foo(</a:t>
            </a:r>
            <a:r>
              <a:rPr kumimoji="1" lang="en-US" altLang="zh-CN" sz="2000" b="1" dirty="0" err="1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x,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 err="1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y){</a:t>
            </a:r>
          </a:p>
          <a:p>
            <a:pPr marL="0" indent="0">
              <a:buNone/>
            </a:pP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if(x==32467289)</a:t>
            </a:r>
          </a:p>
          <a:p>
            <a:pPr marL="0" indent="0">
              <a:buNone/>
            </a:pP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x/y;</a:t>
            </a:r>
          </a:p>
          <a:p>
            <a:pPr marL="0" indent="0">
              <a:buNone/>
            </a:pP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else</a:t>
            </a:r>
          </a:p>
          <a:p>
            <a:pPr marL="0" indent="0">
              <a:buNone/>
            </a:pP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0;</a:t>
            </a:r>
          </a:p>
          <a:p>
            <a:pPr marL="0" indent="0">
              <a:buNone/>
            </a:pP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>
              <a:buNone/>
            </a:pPr>
            <a:endParaRPr kumimoji="1" lang="en-US" altLang="zh-CN" sz="2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DC276C27-217A-784A-91AA-F5BEFD31597B}"/>
                  </a:ext>
                </a:extLst>
              </p:cNvPr>
              <p:cNvSpPr txBox="1"/>
              <p:nvPr/>
            </p:nvSpPr>
            <p:spPr>
              <a:xfrm>
                <a:off x="4876800" y="3783734"/>
                <a:ext cx="1828800" cy="61093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kumimoji="1"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kumimoji="1" lang="en-US" altLang="zh-CN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sup>
                              <m:r>
                                <a:rPr kumimoji="1" lang="en-US" altLang="zh-CN" b="0" i="1" smtClean="0">
                                  <a:latin typeface="Cambria Math" panose="02040503050406030204" pitchFamily="18" charset="0"/>
                                </a:rPr>
                                <m:t>32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kumimoji="1" lang="zh-CN" altLang="en-US" dirty="0"/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DC276C27-217A-784A-91AA-F5BEFD3159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76800" y="3783734"/>
                <a:ext cx="1828800" cy="610936"/>
              </a:xfrm>
              <a:prstGeom prst="rect">
                <a:avLst/>
              </a:prstGeom>
              <a:blipFill>
                <a:blip r:embed="rId2"/>
                <a:stretch>
                  <a:fillRect b="-408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直线箭头连接符 5">
            <a:extLst>
              <a:ext uri="{FF2B5EF4-FFF2-40B4-BE49-F238E27FC236}">
                <a16:creationId xmlns:a16="http://schemas.microsoft.com/office/drawing/2014/main" id="{64D2139B-F209-1343-938B-13F60F7A9E28}"/>
              </a:ext>
            </a:extLst>
          </p:cNvPr>
          <p:cNvCxnSpPr/>
          <p:nvPr/>
        </p:nvCxnSpPr>
        <p:spPr>
          <a:xfrm flipH="1" flipV="1">
            <a:off x="3810000" y="4008087"/>
            <a:ext cx="1600200" cy="762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C6BF906E-11AD-654A-87CC-89AE5F8E7A00}"/>
                  </a:ext>
                </a:extLst>
              </p:cNvPr>
              <p:cNvSpPr txBox="1"/>
              <p:nvPr/>
            </p:nvSpPr>
            <p:spPr>
              <a:xfrm>
                <a:off x="3886200" y="4698134"/>
                <a:ext cx="1295400" cy="4834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dirty="0"/>
                  <a:t>1-</a:t>
                </a:r>
                <a:r>
                  <a:rPr kumimoji="1" lang="zh-CN" altLang="en-US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sSupPr>
                            <m:ctrlPr>
                              <a:rPr kumimoji="1"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kumimoji="1" lang="en-US" altLang="zh-CN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kumimoji="1" lang="en-US" altLang="zh-CN" b="0" i="1" smtClean="0">
                                <a:latin typeface="Cambria Math" panose="02040503050406030204" pitchFamily="18" charset="0"/>
                              </a:rPr>
                              <m:t>32</m:t>
                            </m:r>
                          </m:sup>
                        </m:sSup>
                      </m:den>
                    </m:f>
                  </m:oMath>
                </a14:m>
                <a:endParaRPr kumimoji="1" lang="zh-CN" altLang="en-US" dirty="0"/>
              </a:p>
            </p:txBody>
          </p:sp>
        </mc:Choice>
        <mc:Fallback xmlns="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C6BF906E-11AD-654A-87CC-89AE5F8E7A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86200" y="4698134"/>
                <a:ext cx="1295400" cy="483466"/>
              </a:xfrm>
              <a:prstGeom prst="rect">
                <a:avLst/>
              </a:prstGeom>
              <a:blipFill>
                <a:blip r:embed="rId3"/>
                <a:stretch>
                  <a:fillRect l="-3883" b="-256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直线箭头连接符 7">
            <a:extLst>
              <a:ext uri="{FF2B5EF4-FFF2-40B4-BE49-F238E27FC236}">
                <a16:creationId xmlns:a16="http://schemas.microsoft.com/office/drawing/2014/main" id="{256CED9B-4113-BE41-9C59-AABCC4FDEDA7}"/>
              </a:ext>
            </a:extLst>
          </p:cNvPr>
          <p:cNvCxnSpPr/>
          <p:nvPr/>
        </p:nvCxnSpPr>
        <p:spPr>
          <a:xfrm flipH="1" flipV="1">
            <a:off x="2286000" y="4846287"/>
            <a:ext cx="1600200" cy="762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D24B84CC-D0F5-E345-A805-510B27CFEE89}"/>
                  </a:ext>
                </a:extLst>
              </p:cNvPr>
              <p:cNvSpPr txBox="1"/>
              <p:nvPr/>
            </p:nvSpPr>
            <p:spPr>
              <a:xfrm>
                <a:off x="4343400" y="4315798"/>
                <a:ext cx="1828800" cy="61093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kumimoji="1"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kumimoji="1" lang="en-US" altLang="zh-CN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sup>
                              <m:r>
                                <a:rPr kumimoji="1" lang="en-US" altLang="zh-CN" b="0" i="1" smtClean="0">
                                  <a:latin typeface="Cambria Math" panose="02040503050406030204" pitchFamily="18" charset="0"/>
                                </a:rPr>
                                <m:t>64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kumimoji="1" lang="zh-CN" altLang="en-US" dirty="0"/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D24B84CC-D0F5-E345-A805-510B27CFEE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43400" y="4315798"/>
                <a:ext cx="1828800" cy="610936"/>
              </a:xfrm>
              <a:prstGeom prst="rect">
                <a:avLst/>
              </a:prstGeom>
              <a:blipFill>
                <a:blip r:embed="rId4"/>
                <a:stretch>
                  <a:fillRect b="-204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直线箭头连接符 9">
            <a:extLst>
              <a:ext uri="{FF2B5EF4-FFF2-40B4-BE49-F238E27FC236}">
                <a16:creationId xmlns:a16="http://schemas.microsoft.com/office/drawing/2014/main" id="{81A0B0DC-5FE4-2D41-86CD-46526487AA2F}"/>
              </a:ext>
            </a:extLst>
          </p:cNvPr>
          <p:cNvCxnSpPr>
            <a:cxnSpLocks/>
          </p:cNvCxnSpPr>
          <p:nvPr/>
        </p:nvCxnSpPr>
        <p:spPr>
          <a:xfrm flipH="1" flipV="1">
            <a:off x="3581400" y="4463951"/>
            <a:ext cx="1371600" cy="15798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56742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9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83B1A98-5D2E-F84C-8A75-A8FC62CA10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Does</a:t>
            </a:r>
            <a:r>
              <a:rPr kumimoji="1" lang="zh-CN" altLang="en-US" dirty="0"/>
              <a:t> </a:t>
            </a:r>
            <a:r>
              <a:rPr kumimoji="1" lang="en-US" altLang="zh-CN" dirty="0"/>
              <a:t>white</a:t>
            </a:r>
            <a:r>
              <a:rPr kumimoji="1" lang="zh-CN" altLang="en-US" dirty="0"/>
              <a:t> </a:t>
            </a:r>
            <a:r>
              <a:rPr kumimoji="1" lang="en-US" altLang="zh-CN" dirty="0"/>
              <a:t>box</a:t>
            </a:r>
            <a:r>
              <a:rPr kumimoji="1" lang="zh-CN" altLang="en-US" dirty="0"/>
              <a:t> </a:t>
            </a:r>
            <a:r>
              <a:rPr kumimoji="1" lang="en-US" altLang="zh-CN" dirty="0"/>
              <a:t>strategy</a:t>
            </a:r>
            <a:r>
              <a:rPr kumimoji="1" lang="zh-CN" altLang="en-US" dirty="0"/>
              <a:t> </a:t>
            </a:r>
            <a:r>
              <a:rPr kumimoji="1" lang="en-US" altLang="zh-CN" dirty="0"/>
              <a:t>work?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EA67DCE-2389-6343-AFC1-54E1B9454D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//</a:t>
            </a:r>
            <a:r>
              <a: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White</a:t>
            </a:r>
            <a:r>
              <a: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box</a:t>
            </a:r>
            <a:r>
              <a: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testing/fuzzing</a:t>
            </a:r>
            <a:r>
              <a: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may</a:t>
            </a:r>
            <a:r>
              <a: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also</a:t>
            </a:r>
            <a:r>
              <a: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be</a:t>
            </a:r>
            <a:r>
              <a: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hard:</a:t>
            </a:r>
          </a:p>
          <a:p>
            <a:pPr marL="0" indent="0">
              <a:buNone/>
            </a:pP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 foo(</a:t>
            </a:r>
            <a:r>
              <a:rPr kumimoji="1" lang="en-US" altLang="zh-CN" sz="2000" b="1" dirty="0" err="1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a, </a:t>
            </a:r>
            <a:r>
              <a:rPr kumimoji="1" lang="en-US" altLang="zh-CN" sz="2000" b="1" dirty="0" err="1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b){</a:t>
            </a:r>
          </a:p>
          <a:p>
            <a:pPr marL="0" indent="0">
              <a:buNone/>
            </a:pP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kumimoji="1" lang="en-US" altLang="zh-CN" sz="2000" b="1" dirty="0" err="1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x = 1, y = 0;</a:t>
            </a:r>
          </a:p>
          <a:p>
            <a:pPr marL="0" indent="0">
              <a:buNone/>
            </a:pP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if(a != 0){</a:t>
            </a:r>
          </a:p>
          <a:p>
            <a:pPr marL="0" indent="0">
              <a:buNone/>
            </a:pP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y = 3+x;</a:t>
            </a:r>
          </a:p>
          <a:p>
            <a:pPr marL="0" indent="0">
              <a:buNone/>
            </a:pP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if(b == 0)</a:t>
            </a:r>
          </a:p>
          <a:p>
            <a:pPr marL="0" indent="0">
              <a:buNone/>
            </a:pP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 = 2*(</a:t>
            </a:r>
            <a:r>
              <a:rPr kumimoji="1" lang="en-US" altLang="zh-CN" sz="2000" b="1" dirty="0" err="1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a+b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marL="0" indent="0">
              <a:buNone/>
            </a:pP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>
              <a:buNone/>
            </a:pP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assert(x-y != 0);</a:t>
            </a:r>
          </a:p>
          <a:p>
            <a:pPr marL="0" indent="0">
              <a:buNone/>
            </a:pP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>
              <a:buNone/>
            </a:pPr>
            <a:endParaRPr kumimoji="1" lang="en-US" altLang="zh-CN" sz="2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C6BF906E-11AD-654A-87CC-89AE5F8E7A00}"/>
              </a:ext>
            </a:extLst>
          </p:cNvPr>
          <p:cNvSpPr txBox="1"/>
          <p:nvPr/>
        </p:nvSpPr>
        <p:spPr>
          <a:xfrm>
            <a:off x="6019799" y="4992469"/>
            <a:ext cx="254317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Can</a:t>
            </a:r>
            <a:r>
              <a:rPr kumimoji="1" lang="zh-CN" altLang="en-US" dirty="0"/>
              <a:t> </a:t>
            </a:r>
            <a:r>
              <a:rPr kumimoji="1" lang="en-US" altLang="zh-CN" dirty="0"/>
              <a:t>we</a:t>
            </a:r>
            <a:r>
              <a:rPr kumimoji="1" lang="zh-CN" altLang="en-US" dirty="0"/>
              <a:t> </a:t>
            </a:r>
            <a:r>
              <a:rPr kumimoji="1" lang="en-US" altLang="zh-CN" dirty="0"/>
              <a:t>construct</a:t>
            </a:r>
            <a:r>
              <a:rPr kumimoji="1" lang="zh-CN" altLang="en-US" dirty="0"/>
              <a:t> </a:t>
            </a:r>
            <a:r>
              <a:rPr kumimoji="1" lang="en-US" altLang="zh-CN" dirty="0"/>
              <a:t>the</a:t>
            </a:r>
            <a:r>
              <a:rPr kumimoji="1" lang="zh-CN" altLang="en-US" dirty="0"/>
              <a:t> </a:t>
            </a:r>
            <a:r>
              <a:rPr kumimoji="1" lang="en-US" altLang="zh-CN" dirty="0"/>
              <a:t>values</a:t>
            </a:r>
            <a:r>
              <a:rPr kumimoji="1" lang="zh-CN" altLang="en-US" dirty="0"/>
              <a:t> </a:t>
            </a:r>
            <a:r>
              <a:rPr kumimoji="1" lang="en-US" altLang="zh-CN" dirty="0"/>
              <a:t>for</a:t>
            </a:r>
            <a:r>
              <a:rPr kumimoji="1" lang="zh-CN" altLang="en-US" dirty="0"/>
              <a:t> </a:t>
            </a:r>
            <a:r>
              <a:rPr kumimoji="1" lang="en-US" altLang="zh-CN" dirty="0"/>
              <a:t>input</a:t>
            </a:r>
            <a:r>
              <a:rPr kumimoji="1" lang="zh-CN" altLang="en-US" dirty="0"/>
              <a:t> </a:t>
            </a:r>
            <a:r>
              <a:rPr kumimoji="1" lang="en-US" altLang="zh-CN" dirty="0"/>
              <a:t>x</a:t>
            </a:r>
            <a:r>
              <a:rPr kumimoji="1" lang="zh-CN" altLang="en-US" dirty="0"/>
              <a:t> </a:t>
            </a:r>
            <a:r>
              <a:rPr kumimoji="1" lang="en-US" altLang="zh-CN" dirty="0"/>
              <a:t>and</a:t>
            </a:r>
            <a:r>
              <a:rPr kumimoji="1" lang="zh-CN" altLang="en-US" dirty="0"/>
              <a:t> </a:t>
            </a:r>
            <a:r>
              <a:rPr kumimoji="1" lang="en-US" altLang="zh-CN" dirty="0"/>
              <a:t>y,</a:t>
            </a:r>
            <a:r>
              <a:rPr kumimoji="1" lang="zh-CN" altLang="en-US" dirty="0"/>
              <a:t> </a:t>
            </a:r>
            <a:r>
              <a:rPr kumimoji="1" lang="en-US" altLang="zh-CN" dirty="0"/>
              <a:t>to</a:t>
            </a:r>
            <a:r>
              <a:rPr kumimoji="1" lang="zh-CN" altLang="en-US" dirty="0"/>
              <a:t> </a:t>
            </a:r>
            <a:r>
              <a:rPr kumimoji="1" lang="en-US" altLang="zh-CN" dirty="0"/>
              <a:t>trigger</a:t>
            </a:r>
            <a:r>
              <a:rPr kumimoji="1" lang="zh-CN" altLang="en-US" dirty="0"/>
              <a:t> </a:t>
            </a:r>
            <a:r>
              <a:rPr kumimoji="1" lang="en-US" altLang="zh-CN" dirty="0"/>
              <a:t>this</a:t>
            </a:r>
            <a:r>
              <a:rPr kumimoji="1" lang="zh-CN" altLang="en-US" dirty="0"/>
              <a:t> </a:t>
            </a:r>
            <a:r>
              <a:rPr kumimoji="1" lang="en-US" altLang="zh-CN" dirty="0"/>
              <a:t>assertion?</a:t>
            </a:r>
            <a:endParaRPr kumimoji="1" lang="zh-CN" altLang="en-US" dirty="0"/>
          </a:p>
        </p:txBody>
      </p:sp>
      <p:cxnSp>
        <p:nvCxnSpPr>
          <p:cNvPr id="8" name="直线箭头连接符 7">
            <a:extLst>
              <a:ext uri="{FF2B5EF4-FFF2-40B4-BE49-F238E27FC236}">
                <a16:creationId xmlns:a16="http://schemas.microsoft.com/office/drawing/2014/main" id="{256CED9B-4113-BE41-9C59-AABCC4FDEDA7}"/>
              </a:ext>
            </a:extLst>
          </p:cNvPr>
          <p:cNvCxnSpPr/>
          <p:nvPr/>
        </p:nvCxnSpPr>
        <p:spPr>
          <a:xfrm flipH="1" flipV="1">
            <a:off x="4419600" y="5140622"/>
            <a:ext cx="1600200" cy="762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本框 5">
            <a:extLst>
              <a:ext uri="{FF2B5EF4-FFF2-40B4-BE49-F238E27FC236}">
                <a16:creationId xmlns:a16="http://schemas.microsoft.com/office/drawing/2014/main" id="{BF6843BB-0061-5F4C-A948-C561DF73B06B}"/>
              </a:ext>
            </a:extLst>
          </p:cNvPr>
          <p:cNvSpPr txBox="1"/>
          <p:nvPr/>
        </p:nvSpPr>
        <p:spPr>
          <a:xfrm>
            <a:off x="4953000" y="2378838"/>
            <a:ext cx="2133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Input:</a:t>
            </a:r>
            <a:r>
              <a:rPr kumimoji="1" lang="zh-CN" altLang="en-US" dirty="0"/>
              <a:t> </a:t>
            </a:r>
            <a:r>
              <a:rPr kumimoji="1" lang="en-US" altLang="zh-CN" dirty="0">
                <a:solidFill>
                  <a:srgbClr val="0432FF"/>
                </a:solidFill>
              </a:rPr>
              <a:t>a=0,</a:t>
            </a:r>
            <a:r>
              <a:rPr kumimoji="1" lang="zh-CN" altLang="en-US" dirty="0">
                <a:solidFill>
                  <a:srgbClr val="0432FF"/>
                </a:solidFill>
              </a:rPr>
              <a:t> </a:t>
            </a:r>
            <a:r>
              <a:rPr kumimoji="1" lang="en-US" altLang="zh-CN" dirty="0">
                <a:solidFill>
                  <a:srgbClr val="0432FF"/>
                </a:solidFill>
              </a:rPr>
              <a:t>b=0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3764727E-62F9-AB4D-A122-3747FB4ADE59}"/>
              </a:ext>
            </a:extLst>
          </p:cNvPr>
          <p:cNvSpPr txBox="1"/>
          <p:nvPr/>
        </p:nvSpPr>
        <p:spPr>
          <a:xfrm>
            <a:off x="7209422" y="2378838"/>
            <a:ext cx="1714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Get:</a:t>
            </a:r>
            <a:r>
              <a:rPr kumimoji="1" lang="zh-CN" altLang="en-US" dirty="0"/>
              <a:t> </a:t>
            </a:r>
            <a:r>
              <a:rPr kumimoji="1" lang="en-US" altLang="zh-CN" dirty="0">
                <a:solidFill>
                  <a:srgbClr val="0432FF"/>
                </a:solidFill>
              </a:rPr>
              <a:t>x=1,</a:t>
            </a:r>
            <a:r>
              <a:rPr kumimoji="1" lang="zh-CN" altLang="en-US" dirty="0">
                <a:solidFill>
                  <a:srgbClr val="0432FF"/>
                </a:solidFill>
              </a:rPr>
              <a:t> </a:t>
            </a:r>
            <a:r>
              <a:rPr kumimoji="1" lang="en-US" altLang="zh-CN" dirty="0">
                <a:solidFill>
                  <a:srgbClr val="0432FF"/>
                </a:solidFill>
              </a:rPr>
              <a:t>y=0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84725BF2-776D-BF42-B7E6-0E0149BE2255}"/>
              </a:ext>
            </a:extLst>
          </p:cNvPr>
          <p:cNvSpPr txBox="1"/>
          <p:nvPr/>
        </p:nvSpPr>
        <p:spPr>
          <a:xfrm>
            <a:off x="4953000" y="2804827"/>
            <a:ext cx="2133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Input:</a:t>
            </a:r>
            <a:r>
              <a:rPr kumimoji="1" lang="zh-CN" altLang="en-US" dirty="0"/>
              <a:t> </a:t>
            </a:r>
            <a:r>
              <a:rPr kumimoji="1" lang="en-US" altLang="zh-CN" dirty="0">
                <a:solidFill>
                  <a:srgbClr val="0432FF"/>
                </a:solidFill>
              </a:rPr>
              <a:t>a=1,</a:t>
            </a:r>
            <a:r>
              <a:rPr kumimoji="1" lang="zh-CN" altLang="en-US" dirty="0">
                <a:solidFill>
                  <a:srgbClr val="0432FF"/>
                </a:solidFill>
              </a:rPr>
              <a:t> </a:t>
            </a:r>
            <a:r>
              <a:rPr kumimoji="1" lang="en-US" altLang="zh-CN" dirty="0">
                <a:solidFill>
                  <a:srgbClr val="0432FF"/>
                </a:solidFill>
              </a:rPr>
              <a:t>b=0</a:t>
            </a:r>
          </a:p>
        </p:txBody>
      </p:sp>
      <p:sp>
        <p:nvSpPr>
          <p:cNvPr id="14" name="任意形状 13">
            <a:extLst>
              <a:ext uri="{FF2B5EF4-FFF2-40B4-BE49-F238E27FC236}">
                <a16:creationId xmlns:a16="http://schemas.microsoft.com/office/drawing/2014/main" id="{EAFEA66D-901F-3446-BE34-1D109831FFCE}"/>
              </a:ext>
            </a:extLst>
          </p:cNvPr>
          <p:cNvSpPr/>
          <p:nvPr/>
        </p:nvSpPr>
        <p:spPr>
          <a:xfrm>
            <a:off x="1282683" y="2466474"/>
            <a:ext cx="1869591" cy="3236494"/>
          </a:xfrm>
          <a:custGeom>
            <a:avLst/>
            <a:gdLst>
              <a:gd name="connsiteX0" fmla="*/ 1869591 w 1869591"/>
              <a:gd name="connsiteY0" fmla="*/ 0 h 3236494"/>
              <a:gd name="connsiteX1" fmla="*/ 606275 w 1869591"/>
              <a:gd name="connsiteY1" fmla="*/ 553452 h 3236494"/>
              <a:gd name="connsiteX2" fmla="*/ 449864 w 1869591"/>
              <a:gd name="connsiteY2" fmla="*/ 1022684 h 3236494"/>
              <a:gd name="connsiteX3" fmla="*/ 4696 w 1869591"/>
              <a:gd name="connsiteY3" fmla="*/ 2021305 h 3236494"/>
              <a:gd name="connsiteX4" fmla="*/ 762685 w 1869591"/>
              <a:gd name="connsiteY4" fmla="*/ 3236494 h 3236494"/>
              <a:gd name="connsiteX5" fmla="*/ 762685 w 1869591"/>
              <a:gd name="connsiteY5" fmla="*/ 3236494 h 32364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869591" h="3236494">
                <a:moveTo>
                  <a:pt x="1869591" y="0"/>
                </a:moveTo>
                <a:cubicBezTo>
                  <a:pt x="1356243" y="191502"/>
                  <a:pt x="842896" y="383005"/>
                  <a:pt x="606275" y="553452"/>
                </a:cubicBezTo>
                <a:cubicBezTo>
                  <a:pt x="369654" y="723899"/>
                  <a:pt x="550127" y="778042"/>
                  <a:pt x="449864" y="1022684"/>
                </a:cubicBezTo>
                <a:cubicBezTo>
                  <a:pt x="349601" y="1267326"/>
                  <a:pt x="-47441" y="1652337"/>
                  <a:pt x="4696" y="2021305"/>
                </a:cubicBezTo>
                <a:cubicBezTo>
                  <a:pt x="56833" y="2390273"/>
                  <a:pt x="762685" y="3236494"/>
                  <a:pt x="762685" y="3236494"/>
                </a:cubicBezTo>
                <a:lnTo>
                  <a:pt x="762685" y="3236494"/>
                </a:lnTo>
              </a:path>
            </a:pathLst>
          </a:custGeom>
          <a:noFill/>
          <a:ln>
            <a:tailEnd type="triangle" w="lg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5" name="任意形状 14">
            <a:extLst>
              <a:ext uri="{FF2B5EF4-FFF2-40B4-BE49-F238E27FC236}">
                <a16:creationId xmlns:a16="http://schemas.microsoft.com/office/drawing/2014/main" id="{047382E1-48E5-5143-91C3-784B3263B218}"/>
              </a:ext>
            </a:extLst>
          </p:cNvPr>
          <p:cNvSpPr/>
          <p:nvPr/>
        </p:nvSpPr>
        <p:spPr>
          <a:xfrm>
            <a:off x="2546549" y="2538663"/>
            <a:ext cx="810262" cy="3128211"/>
          </a:xfrm>
          <a:custGeom>
            <a:avLst/>
            <a:gdLst>
              <a:gd name="connsiteX0" fmla="*/ 810262 w 810262"/>
              <a:gd name="connsiteY0" fmla="*/ 0 h 3128211"/>
              <a:gd name="connsiteX1" fmla="*/ 16177 w 810262"/>
              <a:gd name="connsiteY1" fmla="*/ 709863 h 3128211"/>
              <a:gd name="connsiteX2" fmla="*/ 292904 w 810262"/>
              <a:gd name="connsiteY2" fmla="*/ 1540042 h 3128211"/>
              <a:gd name="connsiteX3" fmla="*/ 497440 w 810262"/>
              <a:gd name="connsiteY3" fmla="*/ 1925053 h 3128211"/>
              <a:gd name="connsiteX4" fmla="*/ 172588 w 810262"/>
              <a:gd name="connsiteY4" fmla="*/ 3128211 h 3128211"/>
              <a:gd name="connsiteX5" fmla="*/ 172588 w 810262"/>
              <a:gd name="connsiteY5" fmla="*/ 3128211 h 31282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10262" h="3128211">
                <a:moveTo>
                  <a:pt x="810262" y="0"/>
                </a:moveTo>
                <a:cubicBezTo>
                  <a:pt x="456332" y="226594"/>
                  <a:pt x="102403" y="453189"/>
                  <a:pt x="16177" y="709863"/>
                </a:cubicBezTo>
                <a:cubicBezTo>
                  <a:pt x="-70049" y="966537"/>
                  <a:pt x="212694" y="1337510"/>
                  <a:pt x="292904" y="1540042"/>
                </a:cubicBezTo>
                <a:cubicBezTo>
                  <a:pt x="373114" y="1742574"/>
                  <a:pt x="517493" y="1660358"/>
                  <a:pt x="497440" y="1925053"/>
                </a:cubicBezTo>
                <a:cubicBezTo>
                  <a:pt x="477387" y="2189748"/>
                  <a:pt x="172588" y="3128211"/>
                  <a:pt x="172588" y="3128211"/>
                </a:cubicBezTo>
                <a:lnTo>
                  <a:pt x="172588" y="3128211"/>
                </a:lnTo>
              </a:path>
            </a:pathLst>
          </a:custGeom>
          <a:noFill/>
          <a:ln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AA32AB7F-387E-0142-B992-6B34A6C76057}"/>
              </a:ext>
            </a:extLst>
          </p:cNvPr>
          <p:cNvSpPr txBox="1"/>
          <p:nvPr/>
        </p:nvSpPr>
        <p:spPr>
          <a:xfrm>
            <a:off x="7200900" y="2831068"/>
            <a:ext cx="1714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Get:</a:t>
            </a:r>
            <a:r>
              <a:rPr kumimoji="1" lang="zh-CN" altLang="en-US" dirty="0"/>
              <a:t> </a:t>
            </a:r>
            <a:r>
              <a:rPr kumimoji="1" lang="en-US" altLang="zh-CN" dirty="0">
                <a:solidFill>
                  <a:srgbClr val="0432FF"/>
                </a:solidFill>
              </a:rPr>
              <a:t>x=2,</a:t>
            </a:r>
            <a:r>
              <a:rPr kumimoji="1" lang="zh-CN" altLang="en-US" dirty="0">
                <a:solidFill>
                  <a:srgbClr val="0432FF"/>
                </a:solidFill>
              </a:rPr>
              <a:t> </a:t>
            </a:r>
            <a:r>
              <a:rPr kumimoji="1" lang="en-US" altLang="zh-CN" dirty="0">
                <a:solidFill>
                  <a:srgbClr val="0432FF"/>
                </a:solidFill>
              </a:rPr>
              <a:t>y=4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0C91055F-0ADA-8D46-9A77-0912653D3D3F}"/>
              </a:ext>
            </a:extLst>
          </p:cNvPr>
          <p:cNvSpPr txBox="1"/>
          <p:nvPr/>
        </p:nvSpPr>
        <p:spPr>
          <a:xfrm>
            <a:off x="4953000" y="3212068"/>
            <a:ext cx="2133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Input:</a:t>
            </a:r>
            <a:r>
              <a:rPr kumimoji="1" lang="zh-CN" altLang="en-US" dirty="0"/>
              <a:t> </a:t>
            </a:r>
            <a:r>
              <a:rPr kumimoji="1" lang="en-US" altLang="zh-CN" dirty="0">
                <a:solidFill>
                  <a:srgbClr val="0432FF"/>
                </a:solidFill>
              </a:rPr>
              <a:t>a=1,</a:t>
            </a:r>
            <a:r>
              <a:rPr kumimoji="1" lang="zh-CN" altLang="en-US" dirty="0">
                <a:solidFill>
                  <a:srgbClr val="0432FF"/>
                </a:solidFill>
              </a:rPr>
              <a:t> </a:t>
            </a:r>
            <a:r>
              <a:rPr kumimoji="1" lang="en-US" altLang="zh-CN" dirty="0">
                <a:solidFill>
                  <a:srgbClr val="0432FF"/>
                </a:solidFill>
              </a:rPr>
              <a:t>b=1</a:t>
            </a:r>
          </a:p>
        </p:txBody>
      </p:sp>
      <p:sp>
        <p:nvSpPr>
          <p:cNvPr id="18" name="任意形状 17">
            <a:extLst>
              <a:ext uri="{FF2B5EF4-FFF2-40B4-BE49-F238E27FC236}">
                <a16:creationId xmlns:a16="http://schemas.microsoft.com/office/drawing/2014/main" id="{5C74F724-5931-6E45-B0F5-ABC6A2F1FB0C}"/>
              </a:ext>
            </a:extLst>
          </p:cNvPr>
          <p:cNvSpPr/>
          <p:nvPr/>
        </p:nvSpPr>
        <p:spPr>
          <a:xfrm>
            <a:off x="2010216" y="2526632"/>
            <a:ext cx="1226279" cy="3143421"/>
          </a:xfrm>
          <a:custGeom>
            <a:avLst/>
            <a:gdLst>
              <a:gd name="connsiteX0" fmla="*/ 1226279 w 1226279"/>
              <a:gd name="connsiteY0" fmla="*/ 0 h 3143421"/>
              <a:gd name="connsiteX1" fmla="*/ 191563 w 1226279"/>
              <a:gd name="connsiteY1" fmla="*/ 745957 h 3143421"/>
              <a:gd name="connsiteX2" fmla="*/ 107342 w 1226279"/>
              <a:gd name="connsiteY2" fmla="*/ 1203157 h 3143421"/>
              <a:gd name="connsiteX3" fmla="*/ 47184 w 1226279"/>
              <a:gd name="connsiteY3" fmla="*/ 1540042 h 3143421"/>
              <a:gd name="connsiteX4" fmla="*/ 23121 w 1226279"/>
              <a:gd name="connsiteY4" fmla="*/ 2382252 h 3143421"/>
              <a:gd name="connsiteX5" fmla="*/ 396100 w 1226279"/>
              <a:gd name="connsiteY5" fmla="*/ 3080084 h 3143421"/>
              <a:gd name="connsiteX6" fmla="*/ 396100 w 1226279"/>
              <a:gd name="connsiteY6" fmla="*/ 3068052 h 31434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26279" h="3143421">
                <a:moveTo>
                  <a:pt x="1226279" y="0"/>
                </a:moveTo>
                <a:cubicBezTo>
                  <a:pt x="802165" y="272715"/>
                  <a:pt x="378052" y="545431"/>
                  <a:pt x="191563" y="745957"/>
                </a:cubicBezTo>
                <a:cubicBezTo>
                  <a:pt x="5073" y="946483"/>
                  <a:pt x="131405" y="1070810"/>
                  <a:pt x="107342" y="1203157"/>
                </a:cubicBezTo>
                <a:cubicBezTo>
                  <a:pt x="83279" y="1335504"/>
                  <a:pt x="61221" y="1343526"/>
                  <a:pt x="47184" y="1540042"/>
                </a:cubicBezTo>
                <a:cubicBezTo>
                  <a:pt x="33147" y="1736558"/>
                  <a:pt x="-35032" y="2125578"/>
                  <a:pt x="23121" y="2382252"/>
                </a:cubicBezTo>
                <a:cubicBezTo>
                  <a:pt x="81274" y="2638926"/>
                  <a:pt x="333937" y="2965784"/>
                  <a:pt x="396100" y="3080084"/>
                </a:cubicBezTo>
                <a:cubicBezTo>
                  <a:pt x="458263" y="3194384"/>
                  <a:pt x="427181" y="3131218"/>
                  <a:pt x="396100" y="3068052"/>
                </a:cubicBezTo>
              </a:path>
            </a:pathLst>
          </a:custGeom>
          <a:noFill/>
          <a:ln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D5912D6F-E76F-F347-8CA8-7156BF2F101B}"/>
              </a:ext>
            </a:extLst>
          </p:cNvPr>
          <p:cNvSpPr txBox="1"/>
          <p:nvPr/>
        </p:nvSpPr>
        <p:spPr>
          <a:xfrm>
            <a:off x="7200900" y="3212068"/>
            <a:ext cx="1714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Get:</a:t>
            </a:r>
            <a:r>
              <a:rPr kumimoji="1" lang="zh-CN" altLang="en-US" dirty="0"/>
              <a:t> </a:t>
            </a:r>
            <a:r>
              <a:rPr kumimoji="1" lang="en-US" altLang="zh-CN" dirty="0">
                <a:solidFill>
                  <a:srgbClr val="0432FF"/>
                </a:solidFill>
              </a:rPr>
              <a:t>x=1,</a:t>
            </a:r>
            <a:r>
              <a:rPr kumimoji="1" lang="zh-CN" altLang="en-US" dirty="0">
                <a:solidFill>
                  <a:srgbClr val="0432FF"/>
                </a:solidFill>
              </a:rPr>
              <a:t> </a:t>
            </a:r>
            <a:r>
              <a:rPr kumimoji="1" lang="en-US" altLang="zh-CN" dirty="0">
                <a:solidFill>
                  <a:srgbClr val="0432FF"/>
                </a:solidFill>
              </a:rPr>
              <a:t>y=4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A46377D8-B5D6-7244-B82F-55F910EADD35}"/>
              </a:ext>
            </a:extLst>
          </p:cNvPr>
          <p:cNvSpPr txBox="1"/>
          <p:nvPr/>
        </p:nvSpPr>
        <p:spPr>
          <a:xfrm>
            <a:off x="4952999" y="3639906"/>
            <a:ext cx="2133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…</a:t>
            </a:r>
            <a:endParaRPr kumimoji="1" lang="en-US" altLang="zh-CN" dirty="0">
              <a:solidFill>
                <a:srgbClr val="0432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561588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6" grpId="0"/>
      <p:bldP spid="11" grpId="0"/>
      <p:bldP spid="12" grpId="0"/>
      <p:bldP spid="14" grpId="0" animBg="1"/>
      <p:bldP spid="15" grpId="0" animBg="1"/>
      <p:bldP spid="16" grpId="0"/>
      <p:bldP spid="17" grpId="0"/>
      <p:bldP spid="18" grpId="0" animBg="1"/>
      <p:bldP spid="19" grpId="0"/>
      <p:bldP spid="20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AE3A8E4-6958-404F-9A7A-4D41ABD018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Program</a:t>
            </a:r>
            <a:r>
              <a:rPr kumimoji="1" lang="zh-CN" altLang="en-US" dirty="0"/>
              <a:t> </a:t>
            </a:r>
            <a:r>
              <a:rPr kumimoji="1" lang="en-US" altLang="zh-CN" dirty="0"/>
              <a:t>testing</a:t>
            </a:r>
            <a:r>
              <a:rPr kumimoji="1" lang="zh-CN" altLang="en-US" dirty="0"/>
              <a:t> </a:t>
            </a:r>
            <a:r>
              <a:rPr kumimoji="1" lang="en-US" altLang="zh-CN" dirty="0"/>
              <a:t>in</a:t>
            </a:r>
            <a:r>
              <a:rPr kumimoji="1" lang="zh-CN" altLang="en-US" dirty="0"/>
              <a:t> </a:t>
            </a:r>
            <a:r>
              <a:rPr kumimoji="1" lang="en-US" altLang="zh-CN" dirty="0"/>
              <a:t>general</a:t>
            </a:r>
            <a:endParaRPr kumimoji="1"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104B7145-D3F7-A04C-9127-070AD5ED4C0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2590800"/>
            <a:ext cx="3848100" cy="2882900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601EE6EB-871F-4D4C-8DDC-CB94BA4971D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8200" y="2460625"/>
            <a:ext cx="4191000" cy="3143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19980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83B1A98-5D2E-F84C-8A75-A8FC62CA10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0938" y="214313"/>
            <a:ext cx="7793037" cy="1462087"/>
          </a:xfrm>
        </p:spPr>
        <p:txBody>
          <a:bodyPr/>
          <a:lstStyle/>
          <a:p>
            <a:r>
              <a:rPr kumimoji="1" lang="en-US" altLang="zh-CN" dirty="0"/>
              <a:t>Automatic</a:t>
            </a:r>
            <a:r>
              <a:rPr kumimoji="1" lang="zh-CN" altLang="en-US" dirty="0"/>
              <a:t> </a:t>
            </a:r>
            <a:r>
              <a:rPr kumimoji="1" lang="en-US" altLang="zh-CN" dirty="0"/>
              <a:t>test</a:t>
            </a:r>
            <a:r>
              <a:rPr kumimoji="1" lang="zh-CN" altLang="en-US" dirty="0"/>
              <a:t> </a:t>
            </a:r>
            <a:r>
              <a:rPr kumimoji="1" lang="en-US" altLang="zh-CN" dirty="0"/>
              <a:t>generation</a:t>
            </a:r>
            <a:endParaRPr kumimoji="1" lang="zh-CN" altLang="en-US" dirty="0"/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60589D1D-F8BA-FC47-B2F5-834DB208ED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Key</a:t>
            </a:r>
            <a:r>
              <a:rPr lang="zh-CN" altLang="en-US" dirty="0"/>
              <a:t> </a:t>
            </a:r>
            <a:r>
              <a:rPr lang="en-US" altLang="zh-CN" dirty="0"/>
              <a:t>question:</a:t>
            </a:r>
            <a:r>
              <a:rPr lang="zh-CN" altLang="en-US" dirty="0"/>
              <a:t> </a:t>
            </a:r>
            <a:r>
              <a:rPr lang="en-US" altLang="zh-CN" dirty="0"/>
              <a:t>for</a:t>
            </a:r>
            <a:r>
              <a:rPr lang="zh-CN" altLang="en-US" dirty="0"/>
              <a:t> </a:t>
            </a:r>
            <a:r>
              <a:rPr lang="en-US" altLang="zh-CN" dirty="0"/>
              <a:t>a</a:t>
            </a:r>
            <a:r>
              <a:rPr lang="zh-CN" altLang="en-US" dirty="0"/>
              <a:t> </a:t>
            </a:r>
            <a:r>
              <a:rPr lang="en-US" altLang="zh-CN" dirty="0"/>
              <a:t>given</a:t>
            </a:r>
            <a:r>
              <a:rPr lang="zh-CN" altLang="en-US" dirty="0"/>
              <a:t> </a:t>
            </a:r>
            <a:r>
              <a:rPr lang="en-US" altLang="zh-CN" dirty="0"/>
              <a:t>program,</a:t>
            </a:r>
            <a:r>
              <a:rPr lang="zh-CN" altLang="en-US" dirty="0"/>
              <a:t> </a:t>
            </a:r>
            <a:r>
              <a:rPr lang="en-US" altLang="zh-CN" dirty="0"/>
              <a:t>can</a:t>
            </a:r>
            <a:r>
              <a:rPr lang="zh-CN" altLang="en-US" dirty="0"/>
              <a:t> </a:t>
            </a:r>
            <a:r>
              <a:rPr lang="en-US" altLang="zh-CN" dirty="0"/>
              <a:t>we</a:t>
            </a:r>
            <a:r>
              <a:rPr lang="zh-CN" altLang="en-US" dirty="0"/>
              <a:t> </a:t>
            </a:r>
            <a:r>
              <a:rPr lang="en-US" altLang="zh-CN" dirty="0"/>
              <a:t>craft</a:t>
            </a:r>
            <a:r>
              <a:rPr lang="zh-CN" altLang="en-US" dirty="0"/>
              <a:t> </a:t>
            </a:r>
            <a:r>
              <a:rPr lang="en-US" altLang="zh-CN" dirty="0"/>
              <a:t>a</a:t>
            </a:r>
            <a:r>
              <a:rPr lang="zh-CN" altLang="en-US" dirty="0"/>
              <a:t> </a:t>
            </a:r>
            <a:r>
              <a:rPr lang="en-US" altLang="zh-CN" dirty="0"/>
              <a:t>tool</a:t>
            </a:r>
            <a:r>
              <a:rPr lang="zh-CN" altLang="en-US" dirty="0"/>
              <a:t> </a:t>
            </a:r>
            <a:r>
              <a:rPr lang="en-US" altLang="zh-CN" dirty="0"/>
              <a:t>to</a:t>
            </a:r>
            <a:r>
              <a:rPr lang="zh-CN" altLang="en-US" dirty="0"/>
              <a:t> </a:t>
            </a:r>
            <a:r>
              <a:rPr lang="en-US" altLang="zh-CN" dirty="0"/>
              <a:t>generate</a:t>
            </a:r>
            <a:r>
              <a:rPr lang="zh-CN" altLang="en-US" dirty="0"/>
              <a:t> </a:t>
            </a:r>
            <a:r>
              <a:rPr lang="en-US" altLang="zh-CN" dirty="0"/>
              <a:t>test</a:t>
            </a:r>
            <a:r>
              <a:rPr lang="zh-CN" altLang="en-US" dirty="0"/>
              <a:t> </a:t>
            </a:r>
            <a:r>
              <a:rPr lang="en-US" altLang="zh-CN" dirty="0"/>
              <a:t>cases</a:t>
            </a:r>
            <a:r>
              <a:rPr lang="zh-CN" altLang="en-US" dirty="0"/>
              <a:t> </a:t>
            </a:r>
            <a:r>
              <a:rPr lang="en-US" altLang="zh-CN" dirty="0"/>
              <a:t>automatically?</a:t>
            </a:r>
          </a:p>
          <a:p>
            <a:pPr lvl="1"/>
            <a:r>
              <a:rPr lang="en-US" altLang="zh-CN" dirty="0"/>
              <a:t>and</a:t>
            </a:r>
            <a:r>
              <a:rPr lang="zh-CN" altLang="en-US" dirty="0"/>
              <a:t> </a:t>
            </a:r>
            <a:r>
              <a:rPr lang="en-US" altLang="zh-CN" dirty="0"/>
              <a:t>effectively?</a:t>
            </a:r>
          </a:p>
          <a:p>
            <a:pPr lvl="1"/>
            <a:r>
              <a:rPr lang="en-US" altLang="zh-CN" dirty="0"/>
              <a:t>also</a:t>
            </a:r>
            <a:r>
              <a:rPr lang="zh-CN" altLang="en-US" dirty="0"/>
              <a:t> </a:t>
            </a:r>
            <a:r>
              <a:rPr lang="en-US" altLang="zh-CN" dirty="0"/>
              <a:t>to</a:t>
            </a:r>
            <a:r>
              <a:rPr lang="zh-CN" altLang="en-US" dirty="0"/>
              <a:t> </a:t>
            </a:r>
            <a:r>
              <a:rPr lang="en-US" altLang="zh-CN" dirty="0"/>
              <a:t>satisfy</a:t>
            </a:r>
            <a:r>
              <a:rPr lang="zh-CN" altLang="en-US" dirty="0"/>
              <a:t> </a:t>
            </a:r>
            <a:r>
              <a:rPr lang="en-US" altLang="zh-CN" dirty="0"/>
              <a:t>certain</a:t>
            </a:r>
            <a:r>
              <a:rPr lang="zh-CN" altLang="en-US" dirty="0"/>
              <a:t> </a:t>
            </a:r>
            <a:r>
              <a:rPr lang="en-US" altLang="zh-CN" dirty="0"/>
              <a:t>properties</a:t>
            </a:r>
          </a:p>
          <a:p>
            <a:r>
              <a:rPr lang="en-US" altLang="zh-CN" dirty="0"/>
              <a:t>In</a:t>
            </a:r>
            <a:r>
              <a:rPr lang="zh-CN" altLang="en-US" dirty="0"/>
              <a:t> </a:t>
            </a:r>
            <a:r>
              <a:rPr lang="en-US" altLang="zh-CN" dirty="0"/>
              <a:t>this</a:t>
            </a:r>
            <a:r>
              <a:rPr lang="zh-CN" altLang="en-US" dirty="0"/>
              <a:t> </a:t>
            </a:r>
            <a:r>
              <a:rPr lang="en-US" altLang="zh-CN" dirty="0"/>
              <a:t>lecture,</a:t>
            </a:r>
            <a:r>
              <a:rPr lang="zh-CN" altLang="en-US" dirty="0"/>
              <a:t> </a:t>
            </a:r>
            <a:r>
              <a:rPr lang="en-US" altLang="zh-CN" dirty="0"/>
              <a:t>we</a:t>
            </a:r>
            <a:r>
              <a:rPr lang="zh-CN" altLang="en-US" dirty="0"/>
              <a:t> </a:t>
            </a:r>
            <a:r>
              <a:rPr lang="en-US" altLang="zh-CN" dirty="0"/>
              <a:t>discuss</a:t>
            </a:r>
            <a:r>
              <a:rPr lang="zh-CN" altLang="en-US" dirty="0"/>
              <a:t> </a:t>
            </a:r>
            <a:r>
              <a:rPr lang="en-US" altLang="zh-CN" dirty="0"/>
              <a:t>a technique</a:t>
            </a:r>
            <a:r>
              <a:rPr lang="zh-CN" altLang="en-US" dirty="0"/>
              <a:t> </a:t>
            </a:r>
            <a:r>
              <a:rPr lang="en-US" altLang="zh-CN" dirty="0"/>
              <a:t>called</a:t>
            </a:r>
            <a:r>
              <a:rPr lang="zh-CN" altLang="en-US" dirty="0"/>
              <a:t> </a:t>
            </a:r>
            <a:r>
              <a:rPr lang="en-US" altLang="zh-CN" dirty="0">
                <a:solidFill>
                  <a:srgbClr val="0432FF"/>
                </a:solidFill>
              </a:rPr>
              <a:t>symbolic</a:t>
            </a:r>
            <a:r>
              <a:rPr lang="zh-CN" altLang="en-US" dirty="0">
                <a:solidFill>
                  <a:srgbClr val="0432FF"/>
                </a:solidFill>
              </a:rPr>
              <a:t> </a:t>
            </a:r>
            <a:r>
              <a:rPr lang="en-US" altLang="zh-CN" dirty="0">
                <a:solidFill>
                  <a:srgbClr val="0432FF"/>
                </a:solidFill>
              </a:rPr>
              <a:t>execution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6878074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B2F974A-C3E5-564C-85A5-2F90494588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 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A6508BC-8322-B943-9711-A9D5A8E372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kumimoji="1" lang="en-US" altLang="zh-CN" dirty="0"/>
          </a:p>
          <a:p>
            <a:pPr marL="0" indent="0">
              <a:buNone/>
            </a:pPr>
            <a:endParaRPr kumimoji="1" lang="en-US" altLang="zh-CN" dirty="0"/>
          </a:p>
          <a:p>
            <a:pPr marL="0" indent="0" algn="ctr">
              <a:buNone/>
            </a:pPr>
            <a:r>
              <a:rPr kumimoji="1" lang="en-US" altLang="zh-CN" i="1" dirty="0"/>
              <a:t>Symbolic</a:t>
            </a:r>
            <a:r>
              <a:rPr kumimoji="1" lang="zh-CN" altLang="en-US" i="1" dirty="0"/>
              <a:t> </a:t>
            </a:r>
            <a:r>
              <a:rPr kumimoji="1" lang="en-US" altLang="zh-CN" i="1" dirty="0"/>
              <a:t>Execution</a:t>
            </a:r>
            <a:endParaRPr kumimoji="1" lang="zh-CN" altLang="en-US" i="1" dirty="0"/>
          </a:p>
        </p:txBody>
      </p:sp>
    </p:spTree>
    <p:extLst>
      <p:ext uri="{BB962C8B-B14F-4D97-AF65-F5344CB8AC3E}">
        <p14:creationId xmlns:p14="http://schemas.microsoft.com/office/powerpoint/2010/main" val="16762757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AE3A8E4-6958-404F-9A7A-4D41ABD018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Brief</a:t>
            </a:r>
            <a:r>
              <a:rPr kumimoji="1" lang="zh-CN" altLang="en-US" dirty="0"/>
              <a:t> </a:t>
            </a:r>
            <a:r>
              <a:rPr kumimoji="1" lang="en-US" altLang="zh-CN" dirty="0"/>
              <a:t>History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BEA3992-C8F2-2844-808F-3ED1AC5B8C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2800" dirty="0"/>
              <a:t>1976:</a:t>
            </a:r>
            <a:r>
              <a:rPr lang="zh-CN" altLang="en-US" sz="2800" dirty="0"/>
              <a:t> </a:t>
            </a:r>
            <a:r>
              <a:rPr lang="en-US" altLang="zh-CN" sz="2800" dirty="0"/>
              <a:t>A system to generate test data and symbolically execute programs (Lori Clarke) </a:t>
            </a:r>
          </a:p>
          <a:p>
            <a:r>
              <a:rPr lang="en-US" altLang="zh-CN" sz="2800" dirty="0"/>
              <a:t>1976: Symbolic execution and program testing (James King)</a:t>
            </a:r>
          </a:p>
          <a:p>
            <a:r>
              <a:rPr lang="en-US" altLang="zh-CN" sz="2800" dirty="0"/>
              <a:t>2005-present: practical symbolic execution</a:t>
            </a:r>
          </a:p>
          <a:p>
            <a:pPr lvl="1"/>
            <a:r>
              <a:rPr lang="en-US" altLang="zh-CN" sz="2400" dirty="0"/>
              <a:t>Using </a:t>
            </a:r>
            <a:r>
              <a:rPr lang="en-US" altLang="zh-CN" sz="2400" dirty="0">
                <a:solidFill>
                  <a:srgbClr val="0432FF"/>
                </a:solidFill>
              </a:rPr>
              <a:t>SMT</a:t>
            </a:r>
            <a:r>
              <a:rPr lang="en-US" altLang="zh-CN" sz="2400" dirty="0"/>
              <a:t> solvers</a:t>
            </a:r>
          </a:p>
          <a:p>
            <a:pPr lvl="1"/>
            <a:r>
              <a:rPr lang="en-US" altLang="zh-CN" sz="2400" dirty="0"/>
              <a:t>Heuristics to control exponential explosion</a:t>
            </a:r>
          </a:p>
          <a:p>
            <a:pPr lvl="1"/>
            <a:r>
              <a:rPr lang="en-US" altLang="zh-CN" sz="2400" dirty="0"/>
              <a:t>Heap modeling and reasoning about pointers</a:t>
            </a:r>
          </a:p>
          <a:p>
            <a:pPr lvl="1"/>
            <a:r>
              <a:rPr lang="en-US" altLang="zh-CN" sz="2400" dirty="0"/>
              <a:t>Environment modeling</a:t>
            </a:r>
          </a:p>
          <a:p>
            <a:pPr lvl="1"/>
            <a:r>
              <a:rPr lang="en-US" altLang="zh-CN" sz="2400" dirty="0"/>
              <a:t>Dealing with solver limitation</a:t>
            </a:r>
            <a:endParaRPr kumimoji="1"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22298265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83B1A98-5D2E-F84C-8A75-A8FC62CA10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Symbolic</a:t>
            </a:r>
            <a:r>
              <a:rPr kumimoji="1" lang="zh-CN" altLang="en-US" dirty="0"/>
              <a:t> </a:t>
            </a:r>
            <a:r>
              <a:rPr kumimoji="1" lang="en-US" altLang="zh-CN" dirty="0"/>
              <a:t>execution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EA67DCE-2389-6343-AFC1-54E1B9454D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//</a:t>
            </a:r>
            <a:r>
              <a: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Step</a:t>
            </a:r>
            <a:r>
              <a: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#1:</a:t>
            </a:r>
            <a:r>
              <a: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construct</a:t>
            </a:r>
            <a:r>
              <a: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”symbolic”</a:t>
            </a:r>
            <a:r>
              <a: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values</a:t>
            </a:r>
            <a:r>
              <a: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endParaRPr kumimoji="1" lang="en-US" altLang="zh-CN" sz="2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//</a:t>
            </a:r>
            <a:r>
              <a: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function</a:t>
            </a:r>
            <a:r>
              <a: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inputs:</a:t>
            </a:r>
          </a:p>
          <a:p>
            <a:pPr marL="0" indent="0">
              <a:buNone/>
            </a:pPr>
            <a:r>
              <a:rPr kumimoji="1" lang="en-US" altLang="zh-CN" sz="2000" b="1" dirty="0" err="1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foo(</a:t>
            </a:r>
            <a:r>
              <a:rPr kumimoji="1" lang="en-US" altLang="zh-CN" sz="2000" b="1" dirty="0" err="1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x,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 err="1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y){</a:t>
            </a:r>
          </a:p>
          <a:p>
            <a:pPr marL="0" indent="0">
              <a:buNone/>
            </a:pP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kumimoji="1" lang="en-US" altLang="zh-CN" sz="2000" b="1" dirty="0" err="1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z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 err="1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x+y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buNone/>
            </a:pP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if(x==32467289)</a:t>
            </a:r>
          </a:p>
          <a:p>
            <a:pPr marL="0" indent="0">
              <a:buNone/>
            </a:pP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x/y;</a:t>
            </a:r>
          </a:p>
          <a:p>
            <a:pPr marL="0" indent="0">
              <a:buNone/>
            </a:pP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else</a:t>
            </a:r>
          </a:p>
          <a:p>
            <a:pPr marL="0" indent="0">
              <a:buNone/>
            </a:pP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0;</a:t>
            </a:r>
          </a:p>
          <a:p>
            <a:pPr marL="0" indent="0">
              <a:buNone/>
            </a:pP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>
              <a:buNone/>
            </a:pPr>
            <a:endParaRPr kumimoji="1" lang="en-US" altLang="zh-CN" sz="2000" b="1" dirty="0">
              <a:solidFill>
                <a:srgbClr val="0432FF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kumimoji="1" lang="en-US" altLang="zh-CN" sz="2000" b="1" dirty="0">
              <a:solidFill>
                <a:srgbClr val="0432FF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kumimoji="1" lang="en-US" altLang="zh-CN" sz="2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B4966FAB-BFE4-F74B-8081-12BE398477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55314047"/>
              </p:ext>
            </p:extLst>
          </p:nvPr>
        </p:nvGraphicFramePr>
        <p:xfrm>
          <a:off x="6096000" y="2438400"/>
          <a:ext cx="2514600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5400">
                  <a:extLst>
                    <a:ext uri="{9D8B030D-6E8A-4147-A177-3AD203B41FA5}">
                      <a16:colId xmlns:a16="http://schemas.microsoft.com/office/drawing/2014/main" val="978326069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120923574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Variable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value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09143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x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x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086531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y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y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269589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781843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83B1A98-5D2E-F84C-8A75-A8FC62CA10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Symbolic</a:t>
            </a:r>
            <a:r>
              <a:rPr kumimoji="1" lang="zh-CN" altLang="en-US" dirty="0"/>
              <a:t> </a:t>
            </a:r>
            <a:r>
              <a:rPr kumimoji="1" lang="en-US" altLang="zh-CN" dirty="0"/>
              <a:t>execution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EA67DCE-2389-6343-AFC1-54E1B9454D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//</a:t>
            </a:r>
            <a:r>
              <a: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Step</a:t>
            </a:r>
            <a:r>
              <a: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#2:</a:t>
            </a:r>
            <a:r>
              <a: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executing</a:t>
            </a:r>
            <a:r>
              <a: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the</a:t>
            </a:r>
            <a:r>
              <a: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program</a:t>
            </a:r>
            <a:r>
              <a: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with</a:t>
            </a:r>
            <a:r>
              <a: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the</a:t>
            </a:r>
          </a:p>
          <a:p>
            <a:pPr marL="0" indent="0">
              <a:buNone/>
            </a:pP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//</a:t>
            </a:r>
            <a:r>
              <a: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symbolic</a:t>
            </a:r>
            <a:r>
              <a: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inputs,</a:t>
            </a:r>
            <a:r>
              <a: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maintaining</a:t>
            </a:r>
            <a:r>
              <a: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the</a:t>
            </a:r>
            <a:r>
              <a: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symbolic</a:t>
            </a:r>
            <a:r>
              <a: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endParaRPr kumimoji="1" lang="en-US" altLang="zh-CN" sz="2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//</a:t>
            </a:r>
            <a:r>
              <a: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program</a:t>
            </a:r>
            <a:r>
              <a: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state:</a:t>
            </a:r>
          </a:p>
          <a:p>
            <a:pPr marL="0" indent="0">
              <a:buNone/>
            </a:pPr>
            <a:r>
              <a:rPr kumimoji="1" lang="en-US" altLang="zh-CN" sz="2000" b="1" dirty="0" err="1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foo(</a:t>
            </a:r>
            <a:r>
              <a:rPr kumimoji="1" lang="en-US" altLang="zh-CN" sz="2000" b="1" dirty="0" err="1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x,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 err="1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y){</a:t>
            </a:r>
          </a:p>
          <a:p>
            <a:pPr marL="0" indent="0">
              <a:buNone/>
            </a:pP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kumimoji="1" lang="en-US" altLang="zh-CN" sz="2000" b="1" dirty="0" err="1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z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 err="1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x+y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buNone/>
            </a:pP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if(x==32467289)</a:t>
            </a:r>
          </a:p>
          <a:p>
            <a:pPr marL="0" indent="0">
              <a:buNone/>
            </a:pP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x/y;</a:t>
            </a:r>
          </a:p>
          <a:p>
            <a:pPr marL="0" indent="0">
              <a:buNone/>
            </a:pP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else</a:t>
            </a:r>
          </a:p>
          <a:p>
            <a:pPr marL="0" indent="0">
              <a:buNone/>
            </a:pP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0;</a:t>
            </a:r>
          </a:p>
          <a:p>
            <a:pPr marL="0" indent="0">
              <a:buNone/>
            </a:pP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B4966FAB-BFE4-F74B-8081-12BE398477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96453575"/>
              </p:ext>
            </p:extLst>
          </p:nvPr>
        </p:nvGraphicFramePr>
        <p:xfrm>
          <a:off x="6096000" y="2849880"/>
          <a:ext cx="251460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5400">
                  <a:extLst>
                    <a:ext uri="{9D8B030D-6E8A-4147-A177-3AD203B41FA5}">
                      <a16:colId xmlns:a16="http://schemas.microsoft.com/office/drawing/2014/main" val="978326069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120923574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Variable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value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09143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x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x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086531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y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y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269589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z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err="1"/>
                        <a:t>x+y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2728102"/>
                  </a:ext>
                </a:extLst>
              </a:tr>
            </a:tbl>
          </a:graphicData>
        </a:graphic>
      </p:graphicFrame>
      <p:cxnSp>
        <p:nvCxnSpPr>
          <p:cNvPr id="7" name="直线箭头连接符 6">
            <a:extLst>
              <a:ext uri="{FF2B5EF4-FFF2-40B4-BE49-F238E27FC236}">
                <a16:creationId xmlns:a16="http://schemas.microsoft.com/office/drawing/2014/main" id="{A0D89E38-D829-4D4D-BEEA-9C50C33F0C91}"/>
              </a:ext>
            </a:extLst>
          </p:cNvPr>
          <p:cNvCxnSpPr>
            <a:cxnSpLocks/>
          </p:cNvCxnSpPr>
          <p:nvPr/>
        </p:nvCxnSpPr>
        <p:spPr>
          <a:xfrm flipV="1">
            <a:off x="7291386" y="4333240"/>
            <a:ext cx="328614" cy="6592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15E2DE09-0191-9D4F-A913-729487719B95}"/>
              </a:ext>
            </a:extLst>
          </p:cNvPr>
          <p:cNvSpPr txBox="1"/>
          <p:nvPr/>
        </p:nvSpPr>
        <p:spPr>
          <a:xfrm>
            <a:off x="6019799" y="4992469"/>
            <a:ext cx="25431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Values</a:t>
            </a:r>
            <a:r>
              <a:rPr kumimoji="1" lang="zh-CN" altLang="en-US" dirty="0"/>
              <a:t> </a:t>
            </a:r>
            <a:r>
              <a:rPr kumimoji="1" lang="en-US" altLang="zh-CN" dirty="0"/>
              <a:t>are</a:t>
            </a:r>
            <a:r>
              <a:rPr kumimoji="1" lang="zh-CN" altLang="en-US" dirty="0"/>
              <a:t> </a:t>
            </a:r>
            <a:r>
              <a:rPr kumimoji="1" lang="en-US" altLang="zh-CN" dirty="0"/>
              <a:t>symbolic expressions.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714087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83B1A98-5D2E-F84C-8A75-A8FC62CA10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Symbolic</a:t>
            </a:r>
            <a:r>
              <a:rPr kumimoji="1" lang="zh-CN" altLang="en-US" dirty="0"/>
              <a:t> </a:t>
            </a:r>
            <a:r>
              <a:rPr kumimoji="1" lang="en-US" altLang="zh-CN" dirty="0"/>
              <a:t>execution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EA67DCE-2389-6343-AFC1-54E1B9454D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//</a:t>
            </a:r>
            <a:r>
              <a: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branch,</a:t>
            </a:r>
            <a:r>
              <a: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we</a:t>
            </a:r>
            <a:r>
              <a: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add</a:t>
            </a:r>
            <a:r>
              <a: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“path</a:t>
            </a:r>
            <a:r>
              <a: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condition”</a:t>
            </a:r>
            <a:r>
              <a: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to</a:t>
            </a:r>
            <a:r>
              <a: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the</a:t>
            </a:r>
            <a:r>
              <a: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endParaRPr kumimoji="1" lang="en-US" altLang="zh-CN" sz="2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//</a:t>
            </a:r>
            <a:r>
              <a: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corresponding</a:t>
            </a:r>
            <a:r>
              <a: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branch:</a:t>
            </a:r>
          </a:p>
          <a:p>
            <a:pPr marL="0" indent="0">
              <a:buNone/>
            </a:pPr>
            <a:r>
              <a:rPr kumimoji="1" lang="en-US" altLang="zh-CN" sz="2000" b="1" dirty="0" err="1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foo(</a:t>
            </a:r>
            <a:r>
              <a:rPr kumimoji="1" lang="en-US" altLang="zh-CN" sz="2000" b="1" dirty="0" err="1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x,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 err="1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y){</a:t>
            </a:r>
          </a:p>
          <a:p>
            <a:pPr marL="0" indent="0">
              <a:buNone/>
            </a:pP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kumimoji="1" lang="en-US" altLang="zh-CN" sz="2000" b="1" dirty="0" err="1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z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 err="1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x+y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buNone/>
            </a:pP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if(x==32467289)</a:t>
            </a:r>
          </a:p>
          <a:p>
            <a:pPr marL="0" indent="0">
              <a:buNone/>
            </a:pP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x/y;</a:t>
            </a:r>
          </a:p>
          <a:p>
            <a:pPr marL="0" indent="0">
              <a:buNone/>
            </a:pP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else</a:t>
            </a:r>
          </a:p>
          <a:p>
            <a:pPr marL="0" indent="0">
              <a:buNone/>
            </a:pP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0;</a:t>
            </a:r>
          </a:p>
          <a:p>
            <a:pPr marL="0" indent="0">
              <a:buNone/>
            </a:pP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>
              <a:buNone/>
            </a:pPr>
            <a:endParaRPr kumimoji="1" lang="en-US" altLang="zh-CN" sz="2000" b="1" dirty="0">
              <a:solidFill>
                <a:srgbClr val="0432FF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kumimoji="1" lang="en-US" altLang="zh-CN" sz="2000" b="1" dirty="0">
              <a:solidFill>
                <a:srgbClr val="0432FF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kumimoji="1" lang="en-US" altLang="zh-CN" sz="2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B4966FAB-BFE4-F74B-8081-12BE398477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20862098"/>
              </p:ext>
            </p:extLst>
          </p:nvPr>
        </p:nvGraphicFramePr>
        <p:xfrm>
          <a:off x="6096000" y="2849880"/>
          <a:ext cx="251460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5400">
                  <a:extLst>
                    <a:ext uri="{9D8B030D-6E8A-4147-A177-3AD203B41FA5}">
                      <a16:colId xmlns:a16="http://schemas.microsoft.com/office/drawing/2014/main" val="978326069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120923574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Variable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value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09143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x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x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086531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y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y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269589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z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err="1"/>
                        <a:t>x+y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2728102"/>
                  </a:ext>
                </a:extLst>
              </a:tr>
            </a:tbl>
          </a:graphicData>
        </a:graphic>
      </p:graphicFrame>
      <p:sp>
        <p:nvSpPr>
          <p:cNvPr id="4" name="文本框 3">
            <a:extLst>
              <a:ext uri="{FF2B5EF4-FFF2-40B4-BE49-F238E27FC236}">
                <a16:creationId xmlns:a16="http://schemas.microsoft.com/office/drawing/2014/main" id="{16CC8A92-33CB-1441-ACDE-CAE708E66302}"/>
              </a:ext>
            </a:extLst>
          </p:cNvPr>
          <p:cNvSpPr txBox="1"/>
          <p:nvPr/>
        </p:nvSpPr>
        <p:spPr>
          <a:xfrm>
            <a:off x="3886200" y="3465513"/>
            <a:ext cx="2514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>
                <a:solidFill>
                  <a:srgbClr val="FF0000"/>
                </a:solidFill>
              </a:rPr>
              <a:t>x</a:t>
            </a:r>
            <a:r>
              <a:rPr kumimoji="1" lang="zh-CN" altLang="en-US" dirty="0">
                <a:solidFill>
                  <a:srgbClr val="FF0000"/>
                </a:solidFill>
              </a:rPr>
              <a:t> </a:t>
            </a:r>
            <a:r>
              <a:rPr kumimoji="1" lang="en-US" altLang="zh-CN" dirty="0">
                <a:solidFill>
                  <a:srgbClr val="FF0000"/>
                </a:solidFill>
              </a:rPr>
              <a:t>==</a:t>
            </a:r>
            <a:r>
              <a:rPr kumimoji="1" lang="zh-CN" altLang="en-US" dirty="0">
                <a:solidFill>
                  <a:srgbClr val="FF0000"/>
                </a:solidFill>
              </a:rPr>
              <a:t> </a:t>
            </a:r>
            <a:r>
              <a:rPr kumimoji="1" lang="en-US" altLang="zh-CN" dirty="0">
                <a:solidFill>
                  <a:srgbClr val="FF0000"/>
                </a:solidFill>
              </a:rPr>
              <a:t>32467289</a:t>
            </a:r>
            <a:endParaRPr kumimoji="1" lang="zh-CN" altLang="en-US" dirty="0">
              <a:solidFill>
                <a:srgbClr val="FF0000"/>
              </a:solidFill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53962435-670A-9246-8F8F-9CB704043B35}"/>
              </a:ext>
            </a:extLst>
          </p:cNvPr>
          <p:cNvSpPr txBox="1"/>
          <p:nvPr/>
        </p:nvSpPr>
        <p:spPr>
          <a:xfrm>
            <a:off x="2378033" y="4188190"/>
            <a:ext cx="2514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>
                <a:solidFill>
                  <a:srgbClr val="FF0000"/>
                </a:solidFill>
              </a:rPr>
              <a:t>x</a:t>
            </a:r>
            <a:r>
              <a:rPr kumimoji="1" lang="zh-CN" altLang="en-US" dirty="0">
                <a:solidFill>
                  <a:srgbClr val="FF0000"/>
                </a:solidFill>
              </a:rPr>
              <a:t> </a:t>
            </a:r>
            <a:r>
              <a:rPr kumimoji="1" lang="en-US" altLang="zh-CN" dirty="0">
                <a:solidFill>
                  <a:srgbClr val="FF0000"/>
                </a:solidFill>
              </a:rPr>
              <a:t>!=</a:t>
            </a:r>
            <a:r>
              <a:rPr kumimoji="1" lang="zh-CN" altLang="en-US" dirty="0">
                <a:solidFill>
                  <a:srgbClr val="FF0000"/>
                </a:solidFill>
              </a:rPr>
              <a:t> </a:t>
            </a:r>
            <a:r>
              <a:rPr kumimoji="1" lang="en-US" altLang="zh-CN" dirty="0">
                <a:solidFill>
                  <a:srgbClr val="FF0000"/>
                </a:solidFill>
              </a:rPr>
              <a:t>32467289</a:t>
            </a:r>
            <a:endParaRPr kumimoji="1" lang="zh-CN" altLang="en-US" dirty="0">
              <a:solidFill>
                <a:srgbClr val="FF0000"/>
              </a:solidFill>
            </a:endParaRPr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4702C8FA-F8FA-F444-BA6B-BDE112AFD3F1}"/>
              </a:ext>
            </a:extLst>
          </p:cNvPr>
          <p:cNvSpPr/>
          <p:nvPr/>
        </p:nvSpPr>
        <p:spPr>
          <a:xfrm>
            <a:off x="5047456" y="4557522"/>
            <a:ext cx="515144" cy="47167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</a:rPr>
              <a:t>if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43540515-0931-6E4D-87FE-971D0ED01997}"/>
              </a:ext>
            </a:extLst>
          </p:cNvPr>
          <p:cNvSpPr/>
          <p:nvPr/>
        </p:nvSpPr>
        <p:spPr>
          <a:xfrm>
            <a:off x="4038600" y="5533644"/>
            <a:ext cx="809917" cy="47167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</a:rPr>
              <a:t>x/y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670EC692-9AD1-8D42-BB84-06850F4BCD90}"/>
              </a:ext>
            </a:extLst>
          </p:cNvPr>
          <p:cNvSpPr/>
          <p:nvPr/>
        </p:nvSpPr>
        <p:spPr>
          <a:xfrm>
            <a:off x="5885656" y="5533644"/>
            <a:ext cx="743744" cy="47167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</a:rPr>
              <a:t>0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  <p:cxnSp>
        <p:nvCxnSpPr>
          <p:cNvPr id="11" name="直线箭头连接符 10">
            <a:extLst>
              <a:ext uri="{FF2B5EF4-FFF2-40B4-BE49-F238E27FC236}">
                <a16:creationId xmlns:a16="http://schemas.microsoft.com/office/drawing/2014/main" id="{C787FA67-125E-CB40-A90A-212309E1EBC2}"/>
              </a:ext>
            </a:extLst>
          </p:cNvPr>
          <p:cNvCxnSpPr>
            <a:cxnSpLocks/>
            <a:endCxn id="8" idx="7"/>
          </p:cNvCxnSpPr>
          <p:nvPr/>
        </p:nvCxnSpPr>
        <p:spPr>
          <a:xfrm flipH="1">
            <a:off x="4729907" y="4997037"/>
            <a:ext cx="413594" cy="60568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线箭头连接符 12">
            <a:extLst>
              <a:ext uri="{FF2B5EF4-FFF2-40B4-BE49-F238E27FC236}">
                <a16:creationId xmlns:a16="http://schemas.microsoft.com/office/drawing/2014/main" id="{BDDF3804-50E1-6A47-81B6-917D66AB53A6}"/>
              </a:ext>
            </a:extLst>
          </p:cNvPr>
          <p:cNvCxnSpPr>
            <a:cxnSpLocks/>
            <a:stCxn id="7" idx="5"/>
            <a:endCxn id="9" idx="1"/>
          </p:cNvCxnSpPr>
          <p:nvPr/>
        </p:nvCxnSpPr>
        <p:spPr>
          <a:xfrm>
            <a:off x="5487159" y="4960124"/>
            <a:ext cx="507416" cy="64259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文本框 17">
            <a:extLst>
              <a:ext uri="{FF2B5EF4-FFF2-40B4-BE49-F238E27FC236}">
                <a16:creationId xmlns:a16="http://schemas.microsoft.com/office/drawing/2014/main" id="{2228E79C-56AB-624B-976A-73916E626B48}"/>
              </a:ext>
            </a:extLst>
          </p:cNvPr>
          <p:cNvSpPr txBox="1"/>
          <p:nvPr/>
        </p:nvSpPr>
        <p:spPr>
          <a:xfrm>
            <a:off x="3581400" y="5089187"/>
            <a:ext cx="2514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>
                <a:solidFill>
                  <a:srgbClr val="FF0000"/>
                </a:solidFill>
              </a:rPr>
              <a:t>x</a:t>
            </a:r>
            <a:r>
              <a:rPr kumimoji="1" lang="zh-CN" altLang="en-US" dirty="0">
                <a:solidFill>
                  <a:srgbClr val="FF0000"/>
                </a:solidFill>
              </a:rPr>
              <a:t> </a:t>
            </a:r>
            <a:r>
              <a:rPr kumimoji="1" lang="en-US" altLang="zh-CN" dirty="0">
                <a:solidFill>
                  <a:srgbClr val="FF0000"/>
                </a:solidFill>
              </a:rPr>
              <a:t>==</a:t>
            </a:r>
            <a:r>
              <a:rPr kumimoji="1" lang="zh-CN" altLang="en-US" dirty="0">
                <a:solidFill>
                  <a:srgbClr val="FF0000"/>
                </a:solidFill>
              </a:rPr>
              <a:t> </a:t>
            </a:r>
            <a:r>
              <a:rPr kumimoji="1" lang="en-US" altLang="zh-CN" dirty="0">
                <a:solidFill>
                  <a:srgbClr val="FF0000"/>
                </a:solidFill>
              </a:rPr>
              <a:t>32467289</a:t>
            </a:r>
            <a:endParaRPr kumimoji="1" lang="zh-CN" altLang="en-US" dirty="0">
              <a:solidFill>
                <a:srgbClr val="FF0000"/>
              </a:solidFill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9068B14A-1066-8441-BA2E-E52C34050E02}"/>
              </a:ext>
            </a:extLst>
          </p:cNvPr>
          <p:cNvSpPr txBox="1"/>
          <p:nvPr/>
        </p:nvSpPr>
        <p:spPr>
          <a:xfrm>
            <a:off x="5715000" y="5037121"/>
            <a:ext cx="2514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>
                <a:solidFill>
                  <a:srgbClr val="FF0000"/>
                </a:solidFill>
              </a:rPr>
              <a:t>x</a:t>
            </a:r>
            <a:r>
              <a:rPr kumimoji="1" lang="zh-CN" altLang="en-US" dirty="0">
                <a:solidFill>
                  <a:srgbClr val="FF0000"/>
                </a:solidFill>
              </a:rPr>
              <a:t> </a:t>
            </a:r>
            <a:r>
              <a:rPr kumimoji="1" lang="en-US" altLang="zh-CN" dirty="0">
                <a:solidFill>
                  <a:srgbClr val="FF0000"/>
                </a:solidFill>
              </a:rPr>
              <a:t>!=</a:t>
            </a:r>
            <a:r>
              <a:rPr kumimoji="1" lang="zh-CN" altLang="en-US" dirty="0">
                <a:solidFill>
                  <a:srgbClr val="FF0000"/>
                </a:solidFill>
              </a:rPr>
              <a:t> </a:t>
            </a:r>
            <a:r>
              <a:rPr kumimoji="1" lang="en-US" altLang="zh-CN" dirty="0">
                <a:solidFill>
                  <a:srgbClr val="FF0000"/>
                </a:solidFill>
              </a:rPr>
              <a:t>32467289</a:t>
            </a:r>
            <a:endParaRPr kumimoji="1" lang="zh-CN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514621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  <p:bldP spid="7" grpId="0" animBg="1"/>
      <p:bldP spid="8" grpId="0" animBg="1"/>
      <p:bldP spid="9" grpId="0" animBg="1"/>
      <p:bldP spid="18" grpId="0"/>
      <p:bldP spid="19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83B1A98-5D2E-F84C-8A75-A8FC62CA10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Symbolic</a:t>
            </a:r>
            <a:r>
              <a:rPr kumimoji="1" lang="zh-CN" altLang="en-US" dirty="0"/>
              <a:t> </a:t>
            </a:r>
            <a:r>
              <a:rPr kumimoji="1" lang="en-US" altLang="zh-CN" dirty="0"/>
              <a:t>execution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EA67DCE-2389-6343-AFC1-54E1B9454D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//</a:t>
            </a:r>
            <a:r>
              <a: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To</a:t>
            </a:r>
            <a:r>
              <a: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check</a:t>
            </a:r>
            <a:r>
              <a: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the</a:t>
            </a:r>
            <a:r>
              <a: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desired</a:t>
            </a:r>
            <a:r>
              <a: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property,</a:t>
            </a:r>
            <a:r>
              <a: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we</a:t>
            </a:r>
            <a:r>
              <a: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add</a:t>
            </a:r>
            <a:r>
              <a: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endParaRPr kumimoji="1" lang="en-US" altLang="zh-CN" sz="2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//</a:t>
            </a:r>
            <a:r>
              <a: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corresponding</a:t>
            </a:r>
            <a:r>
              <a: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constraints:</a:t>
            </a:r>
          </a:p>
          <a:p>
            <a:pPr marL="0" indent="0">
              <a:buNone/>
            </a:pPr>
            <a:r>
              <a:rPr kumimoji="1" lang="en-US" altLang="zh-CN" sz="2000" b="1" dirty="0" err="1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foo(</a:t>
            </a:r>
            <a:r>
              <a:rPr kumimoji="1" lang="en-US" altLang="zh-CN" sz="2000" b="1" dirty="0" err="1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x,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 err="1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y){</a:t>
            </a:r>
          </a:p>
          <a:p>
            <a:pPr marL="0" indent="0">
              <a:buNone/>
            </a:pP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kumimoji="1" lang="en-US" altLang="zh-CN" sz="2000" b="1" dirty="0" err="1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z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 err="1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x+y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buNone/>
            </a:pP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if(x==32467289)</a:t>
            </a:r>
          </a:p>
          <a:p>
            <a:pPr marL="0" indent="0">
              <a:buNone/>
            </a:pP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x/y;</a:t>
            </a:r>
          </a:p>
          <a:p>
            <a:pPr marL="0" indent="0">
              <a:buNone/>
            </a:pP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else</a:t>
            </a:r>
          </a:p>
          <a:p>
            <a:pPr marL="0" indent="0">
              <a:buNone/>
            </a:pP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0;</a:t>
            </a:r>
          </a:p>
          <a:p>
            <a:pPr marL="0" indent="0">
              <a:buNone/>
            </a:pP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>
              <a:buNone/>
            </a:pPr>
            <a:endParaRPr kumimoji="1" lang="en-US" altLang="zh-CN" sz="2000" b="1" dirty="0">
              <a:solidFill>
                <a:srgbClr val="0432FF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kumimoji="1" lang="en-US" altLang="zh-CN" sz="2000" b="1" dirty="0">
              <a:solidFill>
                <a:srgbClr val="0432FF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kumimoji="1" lang="en-US" altLang="zh-CN" sz="2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B4966FAB-BFE4-F74B-8081-12BE398477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57975863"/>
              </p:ext>
            </p:extLst>
          </p:nvPr>
        </p:nvGraphicFramePr>
        <p:xfrm>
          <a:off x="6096000" y="2849880"/>
          <a:ext cx="251460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5400">
                  <a:extLst>
                    <a:ext uri="{9D8B030D-6E8A-4147-A177-3AD203B41FA5}">
                      <a16:colId xmlns:a16="http://schemas.microsoft.com/office/drawing/2014/main" val="978326069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120923574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Variable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value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09143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x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x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086531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y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y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269589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z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err="1"/>
                        <a:t>x+y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2728102"/>
                  </a:ext>
                </a:extLst>
              </a:tr>
            </a:tbl>
          </a:graphicData>
        </a:graphic>
      </p:graphicFrame>
      <p:sp>
        <p:nvSpPr>
          <p:cNvPr id="4" name="文本框 3">
            <a:extLst>
              <a:ext uri="{FF2B5EF4-FFF2-40B4-BE49-F238E27FC236}">
                <a16:creationId xmlns:a16="http://schemas.microsoft.com/office/drawing/2014/main" id="{16CC8A92-33CB-1441-ACDE-CAE708E66302}"/>
              </a:ext>
            </a:extLst>
          </p:cNvPr>
          <p:cNvSpPr txBox="1"/>
          <p:nvPr/>
        </p:nvSpPr>
        <p:spPr>
          <a:xfrm>
            <a:off x="3886200" y="3465513"/>
            <a:ext cx="2514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>
                <a:solidFill>
                  <a:srgbClr val="FF0000"/>
                </a:solidFill>
              </a:rPr>
              <a:t>x</a:t>
            </a:r>
            <a:r>
              <a:rPr kumimoji="1" lang="zh-CN" altLang="en-US" dirty="0">
                <a:solidFill>
                  <a:srgbClr val="FF0000"/>
                </a:solidFill>
              </a:rPr>
              <a:t> </a:t>
            </a:r>
            <a:r>
              <a:rPr kumimoji="1" lang="en-US" altLang="zh-CN" dirty="0">
                <a:solidFill>
                  <a:srgbClr val="FF0000"/>
                </a:solidFill>
              </a:rPr>
              <a:t>==</a:t>
            </a:r>
            <a:r>
              <a:rPr kumimoji="1" lang="zh-CN" altLang="en-US" dirty="0">
                <a:solidFill>
                  <a:srgbClr val="FF0000"/>
                </a:solidFill>
              </a:rPr>
              <a:t> </a:t>
            </a:r>
            <a:r>
              <a:rPr kumimoji="1" lang="en-US" altLang="zh-CN" dirty="0">
                <a:solidFill>
                  <a:srgbClr val="FF0000"/>
                </a:solidFill>
              </a:rPr>
              <a:t>32467289</a:t>
            </a:r>
            <a:endParaRPr kumimoji="1" lang="zh-CN" altLang="en-US" dirty="0">
              <a:solidFill>
                <a:srgbClr val="FF0000"/>
              </a:solidFill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53962435-670A-9246-8F8F-9CB704043B35}"/>
              </a:ext>
            </a:extLst>
          </p:cNvPr>
          <p:cNvSpPr txBox="1"/>
          <p:nvPr/>
        </p:nvSpPr>
        <p:spPr>
          <a:xfrm>
            <a:off x="2378033" y="4188190"/>
            <a:ext cx="2514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>
                <a:solidFill>
                  <a:srgbClr val="FF0000"/>
                </a:solidFill>
              </a:rPr>
              <a:t>x</a:t>
            </a:r>
            <a:r>
              <a:rPr kumimoji="1" lang="zh-CN" altLang="en-US" dirty="0">
                <a:solidFill>
                  <a:srgbClr val="FF0000"/>
                </a:solidFill>
              </a:rPr>
              <a:t> </a:t>
            </a:r>
            <a:r>
              <a:rPr kumimoji="1" lang="en-US" altLang="zh-CN" dirty="0">
                <a:solidFill>
                  <a:srgbClr val="FF0000"/>
                </a:solidFill>
              </a:rPr>
              <a:t>!=</a:t>
            </a:r>
            <a:r>
              <a:rPr kumimoji="1" lang="zh-CN" altLang="en-US" dirty="0">
                <a:solidFill>
                  <a:srgbClr val="FF0000"/>
                </a:solidFill>
              </a:rPr>
              <a:t> </a:t>
            </a:r>
            <a:r>
              <a:rPr kumimoji="1" lang="en-US" altLang="zh-CN" dirty="0">
                <a:solidFill>
                  <a:srgbClr val="FF0000"/>
                </a:solidFill>
              </a:rPr>
              <a:t>32467289</a:t>
            </a:r>
            <a:endParaRPr kumimoji="1" lang="zh-CN" altLang="en-US" dirty="0">
              <a:solidFill>
                <a:srgbClr val="FF0000"/>
              </a:solidFill>
            </a:endParaRPr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4702C8FA-F8FA-F444-BA6B-BDE112AFD3F1}"/>
              </a:ext>
            </a:extLst>
          </p:cNvPr>
          <p:cNvSpPr/>
          <p:nvPr/>
        </p:nvSpPr>
        <p:spPr>
          <a:xfrm>
            <a:off x="5047456" y="4557522"/>
            <a:ext cx="515144" cy="47167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</a:rPr>
              <a:t>if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43540515-0931-6E4D-87FE-971D0ED01997}"/>
              </a:ext>
            </a:extLst>
          </p:cNvPr>
          <p:cNvSpPr/>
          <p:nvPr/>
        </p:nvSpPr>
        <p:spPr>
          <a:xfrm>
            <a:off x="4038600" y="5533644"/>
            <a:ext cx="809917" cy="47167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</a:rPr>
              <a:t>x/y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670EC692-9AD1-8D42-BB84-06850F4BCD90}"/>
              </a:ext>
            </a:extLst>
          </p:cNvPr>
          <p:cNvSpPr/>
          <p:nvPr/>
        </p:nvSpPr>
        <p:spPr>
          <a:xfrm>
            <a:off x="5885656" y="5533644"/>
            <a:ext cx="743744" cy="47167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</a:rPr>
              <a:t>0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  <p:cxnSp>
        <p:nvCxnSpPr>
          <p:cNvPr id="11" name="直线箭头连接符 10">
            <a:extLst>
              <a:ext uri="{FF2B5EF4-FFF2-40B4-BE49-F238E27FC236}">
                <a16:creationId xmlns:a16="http://schemas.microsoft.com/office/drawing/2014/main" id="{C787FA67-125E-CB40-A90A-212309E1EBC2}"/>
              </a:ext>
            </a:extLst>
          </p:cNvPr>
          <p:cNvCxnSpPr>
            <a:cxnSpLocks/>
            <a:endCxn id="8" idx="7"/>
          </p:cNvCxnSpPr>
          <p:nvPr/>
        </p:nvCxnSpPr>
        <p:spPr>
          <a:xfrm flipH="1">
            <a:off x="4729907" y="4997037"/>
            <a:ext cx="413594" cy="60568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线箭头连接符 12">
            <a:extLst>
              <a:ext uri="{FF2B5EF4-FFF2-40B4-BE49-F238E27FC236}">
                <a16:creationId xmlns:a16="http://schemas.microsoft.com/office/drawing/2014/main" id="{BDDF3804-50E1-6A47-81B6-917D66AB53A6}"/>
              </a:ext>
            </a:extLst>
          </p:cNvPr>
          <p:cNvCxnSpPr>
            <a:cxnSpLocks/>
            <a:stCxn id="7" idx="5"/>
            <a:endCxn id="9" idx="1"/>
          </p:cNvCxnSpPr>
          <p:nvPr/>
        </p:nvCxnSpPr>
        <p:spPr>
          <a:xfrm>
            <a:off x="5487159" y="4960124"/>
            <a:ext cx="507416" cy="64259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文本框 17">
            <a:extLst>
              <a:ext uri="{FF2B5EF4-FFF2-40B4-BE49-F238E27FC236}">
                <a16:creationId xmlns:a16="http://schemas.microsoft.com/office/drawing/2014/main" id="{2228E79C-56AB-624B-976A-73916E626B48}"/>
              </a:ext>
            </a:extLst>
          </p:cNvPr>
          <p:cNvSpPr txBox="1"/>
          <p:nvPr/>
        </p:nvSpPr>
        <p:spPr>
          <a:xfrm>
            <a:off x="3581400" y="5089187"/>
            <a:ext cx="2514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>
                <a:solidFill>
                  <a:srgbClr val="FF0000"/>
                </a:solidFill>
              </a:rPr>
              <a:t>x</a:t>
            </a:r>
            <a:r>
              <a:rPr kumimoji="1" lang="zh-CN" altLang="en-US" dirty="0">
                <a:solidFill>
                  <a:srgbClr val="FF0000"/>
                </a:solidFill>
              </a:rPr>
              <a:t> </a:t>
            </a:r>
            <a:r>
              <a:rPr kumimoji="1" lang="en-US" altLang="zh-CN" dirty="0">
                <a:solidFill>
                  <a:srgbClr val="FF0000"/>
                </a:solidFill>
              </a:rPr>
              <a:t>==</a:t>
            </a:r>
            <a:r>
              <a:rPr kumimoji="1" lang="zh-CN" altLang="en-US" dirty="0">
                <a:solidFill>
                  <a:srgbClr val="FF0000"/>
                </a:solidFill>
              </a:rPr>
              <a:t> </a:t>
            </a:r>
            <a:r>
              <a:rPr kumimoji="1" lang="en-US" altLang="zh-CN" dirty="0">
                <a:solidFill>
                  <a:srgbClr val="FF0000"/>
                </a:solidFill>
              </a:rPr>
              <a:t>32467289</a:t>
            </a:r>
            <a:endParaRPr kumimoji="1" lang="zh-CN" altLang="en-US" dirty="0">
              <a:solidFill>
                <a:srgbClr val="FF0000"/>
              </a:solidFill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9068B14A-1066-8441-BA2E-E52C34050E02}"/>
              </a:ext>
            </a:extLst>
          </p:cNvPr>
          <p:cNvSpPr txBox="1"/>
          <p:nvPr/>
        </p:nvSpPr>
        <p:spPr>
          <a:xfrm>
            <a:off x="5715000" y="5037121"/>
            <a:ext cx="2514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>
                <a:solidFill>
                  <a:srgbClr val="FF0000"/>
                </a:solidFill>
              </a:rPr>
              <a:t>x</a:t>
            </a:r>
            <a:r>
              <a:rPr kumimoji="1" lang="zh-CN" altLang="en-US" dirty="0">
                <a:solidFill>
                  <a:srgbClr val="FF0000"/>
                </a:solidFill>
              </a:rPr>
              <a:t> </a:t>
            </a:r>
            <a:r>
              <a:rPr kumimoji="1" lang="en-US" altLang="zh-CN" dirty="0">
                <a:solidFill>
                  <a:srgbClr val="FF0000"/>
                </a:solidFill>
              </a:rPr>
              <a:t>!=</a:t>
            </a:r>
            <a:r>
              <a:rPr kumimoji="1" lang="zh-CN" altLang="en-US" dirty="0">
                <a:solidFill>
                  <a:srgbClr val="FF0000"/>
                </a:solidFill>
              </a:rPr>
              <a:t> </a:t>
            </a:r>
            <a:r>
              <a:rPr kumimoji="1" lang="en-US" altLang="zh-CN" dirty="0">
                <a:solidFill>
                  <a:srgbClr val="FF0000"/>
                </a:solidFill>
              </a:rPr>
              <a:t>32467289</a:t>
            </a:r>
            <a:endParaRPr kumimoji="1" lang="zh-CN" altLang="en-US" dirty="0">
              <a:solidFill>
                <a:srgbClr val="FF0000"/>
              </a:solidFill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882A3B29-562C-B442-B920-715D123070BC}"/>
              </a:ext>
            </a:extLst>
          </p:cNvPr>
          <p:cNvSpPr txBox="1"/>
          <p:nvPr/>
        </p:nvSpPr>
        <p:spPr>
          <a:xfrm>
            <a:off x="3563560" y="3846877"/>
            <a:ext cx="2514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>
                <a:solidFill>
                  <a:srgbClr val="FF0000"/>
                </a:solidFill>
              </a:rPr>
              <a:t>y==0</a:t>
            </a:r>
            <a:endParaRPr kumimoji="1" lang="zh-CN" altLang="en-US" dirty="0">
              <a:solidFill>
                <a:srgbClr val="FF0000"/>
              </a:solidFill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0F4A69B8-8E61-6842-95BC-E8F86FA5D007}"/>
              </a:ext>
            </a:extLst>
          </p:cNvPr>
          <p:cNvSpPr txBox="1"/>
          <p:nvPr/>
        </p:nvSpPr>
        <p:spPr>
          <a:xfrm>
            <a:off x="4008312" y="5999705"/>
            <a:ext cx="2514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>
                <a:solidFill>
                  <a:srgbClr val="FF0000"/>
                </a:solidFill>
              </a:rPr>
              <a:t>y==0</a:t>
            </a:r>
            <a:endParaRPr kumimoji="1" lang="zh-CN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924228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83B1A98-5D2E-F84C-8A75-A8FC62CA10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Symbolic</a:t>
            </a:r>
            <a:r>
              <a:rPr kumimoji="1" lang="zh-CN" altLang="en-US" dirty="0"/>
              <a:t> </a:t>
            </a:r>
            <a:r>
              <a:rPr kumimoji="1" lang="en-US" altLang="zh-CN" dirty="0"/>
              <a:t>execution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EA67DCE-2389-6343-AFC1-54E1B9454D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//</a:t>
            </a:r>
            <a:r>
              <a: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Step</a:t>
            </a:r>
            <a:r>
              <a: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#3:</a:t>
            </a:r>
            <a:r>
              <a: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with</a:t>
            </a:r>
            <a:r>
              <a: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the</a:t>
            </a:r>
            <a:r>
              <a: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path</a:t>
            </a:r>
            <a:r>
              <a: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conditions</a:t>
            </a:r>
            <a:r>
              <a: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and</a:t>
            </a:r>
            <a:r>
              <a: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endParaRPr kumimoji="1" lang="en-US" altLang="zh-CN" sz="2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//</a:t>
            </a:r>
            <a:r>
              <a: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properties,</a:t>
            </a:r>
            <a:r>
              <a: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we</a:t>
            </a:r>
            <a:r>
              <a: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can</a:t>
            </a:r>
            <a:r>
              <a: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generate</a:t>
            </a:r>
            <a:r>
              <a: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constraints:</a:t>
            </a:r>
          </a:p>
          <a:p>
            <a:pPr marL="0" indent="0">
              <a:buNone/>
            </a:pPr>
            <a:r>
              <a:rPr kumimoji="1" lang="en-US" altLang="zh-CN" sz="2000" b="1" dirty="0" err="1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foo(</a:t>
            </a:r>
            <a:r>
              <a:rPr kumimoji="1" lang="en-US" altLang="zh-CN" sz="2000" b="1" dirty="0" err="1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x,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 err="1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y){</a:t>
            </a:r>
          </a:p>
          <a:p>
            <a:pPr marL="0" indent="0">
              <a:buNone/>
            </a:pP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kumimoji="1" lang="en-US" altLang="zh-CN" sz="2000" b="1" dirty="0" err="1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z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 err="1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x+y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buNone/>
            </a:pP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if(x==32467289)</a:t>
            </a:r>
          </a:p>
          <a:p>
            <a:pPr marL="0" indent="0">
              <a:buNone/>
            </a:pP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x/y;</a:t>
            </a:r>
          </a:p>
          <a:p>
            <a:pPr marL="0" indent="0">
              <a:buNone/>
            </a:pP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else</a:t>
            </a:r>
          </a:p>
          <a:p>
            <a:pPr marL="0" indent="0">
              <a:buNone/>
            </a:pP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0;</a:t>
            </a:r>
          </a:p>
          <a:p>
            <a:pPr marL="0" indent="0">
              <a:buNone/>
            </a:pP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>
              <a:buNone/>
            </a:pPr>
            <a:endParaRPr kumimoji="1" lang="en-US" altLang="zh-CN" sz="2000" b="1" dirty="0">
              <a:solidFill>
                <a:srgbClr val="0432FF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kumimoji="1" lang="en-US" altLang="zh-CN" sz="2000" b="1" dirty="0">
              <a:solidFill>
                <a:srgbClr val="0432FF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kumimoji="1" lang="en-US" altLang="zh-CN" sz="2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B4966FAB-BFE4-F74B-8081-12BE398477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37182488"/>
              </p:ext>
            </p:extLst>
          </p:nvPr>
        </p:nvGraphicFramePr>
        <p:xfrm>
          <a:off x="6096000" y="2849880"/>
          <a:ext cx="251460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5400">
                  <a:extLst>
                    <a:ext uri="{9D8B030D-6E8A-4147-A177-3AD203B41FA5}">
                      <a16:colId xmlns:a16="http://schemas.microsoft.com/office/drawing/2014/main" val="978326069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120923574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Variable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value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09143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x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x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086531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y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y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269589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z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err="1"/>
                        <a:t>x+y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2728102"/>
                  </a:ext>
                </a:extLst>
              </a:tr>
            </a:tbl>
          </a:graphicData>
        </a:graphic>
      </p:graphicFrame>
      <p:sp>
        <p:nvSpPr>
          <p:cNvPr id="4" name="文本框 3">
            <a:extLst>
              <a:ext uri="{FF2B5EF4-FFF2-40B4-BE49-F238E27FC236}">
                <a16:creationId xmlns:a16="http://schemas.microsoft.com/office/drawing/2014/main" id="{16CC8A92-33CB-1441-ACDE-CAE708E66302}"/>
              </a:ext>
            </a:extLst>
          </p:cNvPr>
          <p:cNvSpPr txBox="1"/>
          <p:nvPr/>
        </p:nvSpPr>
        <p:spPr>
          <a:xfrm>
            <a:off x="3886200" y="3465513"/>
            <a:ext cx="2514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>
                <a:solidFill>
                  <a:srgbClr val="FF0000"/>
                </a:solidFill>
              </a:rPr>
              <a:t>x</a:t>
            </a:r>
            <a:r>
              <a:rPr kumimoji="1" lang="zh-CN" altLang="en-US" dirty="0">
                <a:solidFill>
                  <a:srgbClr val="FF0000"/>
                </a:solidFill>
              </a:rPr>
              <a:t> </a:t>
            </a:r>
            <a:r>
              <a:rPr kumimoji="1" lang="en-US" altLang="zh-CN" dirty="0">
                <a:solidFill>
                  <a:srgbClr val="FF0000"/>
                </a:solidFill>
              </a:rPr>
              <a:t>==</a:t>
            </a:r>
            <a:r>
              <a:rPr kumimoji="1" lang="zh-CN" altLang="en-US" dirty="0">
                <a:solidFill>
                  <a:srgbClr val="FF0000"/>
                </a:solidFill>
              </a:rPr>
              <a:t> </a:t>
            </a:r>
            <a:r>
              <a:rPr kumimoji="1" lang="en-US" altLang="zh-CN" dirty="0">
                <a:solidFill>
                  <a:srgbClr val="FF0000"/>
                </a:solidFill>
              </a:rPr>
              <a:t>32467289</a:t>
            </a:r>
            <a:endParaRPr kumimoji="1" lang="zh-CN" altLang="en-US" dirty="0">
              <a:solidFill>
                <a:srgbClr val="FF0000"/>
              </a:solidFill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53962435-670A-9246-8F8F-9CB704043B35}"/>
              </a:ext>
            </a:extLst>
          </p:cNvPr>
          <p:cNvSpPr txBox="1"/>
          <p:nvPr/>
        </p:nvSpPr>
        <p:spPr>
          <a:xfrm>
            <a:off x="2378033" y="4188190"/>
            <a:ext cx="2514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>
                <a:solidFill>
                  <a:srgbClr val="FF0000"/>
                </a:solidFill>
              </a:rPr>
              <a:t>x</a:t>
            </a:r>
            <a:r>
              <a:rPr kumimoji="1" lang="zh-CN" altLang="en-US" dirty="0">
                <a:solidFill>
                  <a:srgbClr val="FF0000"/>
                </a:solidFill>
              </a:rPr>
              <a:t> </a:t>
            </a:r>
            <a:r>
              <a:rPr kumimoji="1" lang="en-US" altLang="zh-CN" dirty="0">
                <a:solidFill>
                  <a:srgbClr val="FF0000"/>
                </a:solidFill>
              </a:rPr>
              <a:t>!=</a:t>
            </a:r>
            <a:r>
              <a:rPr kumimoji="1" lang="zh-CN" altLang="en-US" dirty="0">
                <a:solidFill>
                  <a:srgbClr val="FF0000"/>
                </a:solidFill>
              </a:rPr>
              <a:t> </a:t>
            </a:r>
            <a:r>
              <a:rPr kumimoji="1" lang="en-US" altLang="zh-CN" dirty="0">
                <a:solidFill>
                  <a:srgbClr val="FF0000"/>
                </a:solidFill>
              </a:rPr>
              <a:t>32467289</a:t>
            </a:r>
            <a:endParaRPr kumimoji="1" lang="zh-CN" altLang="en-US" dirty="0">
              <a:solidFill>
                <a:srgbClr val="FF0000"/>
              </a:solidFill>
            </a:endParaRPr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4702C8FA-F8FA-F444-BA6B-BDE112AFD3F1}"/>
              </a:ext>
            </a:extLst>
          </p:cNvPr>
          <p:cNvSpPr/>
          <p:nvPr/>
        </p:nvSpPr>
        <p:spPr>
          <a:xfrm>
            <a:off x="6513019" y="4665485"/>
            <a:ext cx="515144" cy="47167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</a:rPr>
              <a:t>if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43540515-0931-6E4D-87FE-971D0ED01997}"/>
              </a:ext>
            </a:extLst>
          </p:cNvPr>
          <p:cNvSpPr/>
          <p:nvPr/>
        </p:nvSpPr>
        <p:spPr>
          <a:xfrm>
            <a:off x="5504163" y="5641607"/>
            <a:ext cx="809917" cy="47167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</a:rPr>
              <a:t>x/y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670EC692-9AD1-8D42-BB84-06850F4BCD90}"/>
              </a:ext>
            </a:extLst>
          </p:cNvPr>
          <p:cNvSpPr/>
          <p:nvPr/>
        </p:nvSpPr>
        <p:spPr>
          <a:xfrm>
            <a:off x="7351219" y="5641607"/>
            <a:ext cx="743744" cy="47167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</a:rPr>
              <a:t>0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  <p:cxnSp>
        <p:nvCxnSpPr>
          <p:cNvPr id="11" name="直线箭头连接符 10">
            <a:extLst>
              <a:ext uri="{FF2B5EF4-FFF2-40B4-BE49-F238E27FC236}">
                <a16:creationId xmlns:a16="http://schemas.microsoft.com/office/drawing/2014/main" id="{C787FA67-125E-CB40-A90A-212309E1EBC2}"/>
              </a:ext>
            </a:extLst>
          </p:cNvPr>
          <p:cNvCxnSpPr>
            <a:cxnSpLocks/>
            <a:endCxn id="8" idx="7"/>
          </p:cNvCxnSpPr>
          <p:nvPr/>
        </p:nvCxnSpPr>
        <p:spPr>
          <a:xfrm flipH="1">
            <a:off x="6195470" y="5105000"/>
            <a:ext cx="413594" cy="60568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线箭头连接符 12">
            <a:extLst>
              <a:ext uri="{FF2B5EF4-FFF2-40B4-BE49-F238E27FC236}">
                <a16:creationId xmlns:a16="http://schemas.microsoft.com/office/drawing/2014/main" id="{BDDF3804-50E1-6A47-81B6-917D66AB53A6}"/>
              </a:ext>
            </a:extLst>
          </p:cNvPr>
          <p:cNvCxnSpPr>
            <a:cxnSpLocks/>
            <a:stCxn id="7" idx="5"/>
            <a:endCxn id="9" idx="1"/>
          </p:cNvCxnSpPr>
          <p:nvPr/>
        </p:nvCxnSpPr>
        <p:spPr>
          <a:xfrm>
            <a:off x="6952722" y="5068087"/>
            <a:ext cx="507416" cy="64259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文本框 17">
            <a:extLst>
              <a:ext uri="{FF2B5EF4-FFF2-40B4-BE49-F238E27FC236}">
                <a16:creationId xmlns:a16="http://schemas.microsoft.com/office/drawing/2014/main" id="{2228E79C-56AB-624B-976A-73916E626B48}"/>
              </a:ext>
            </a:extLst>
          </p:cNvPr>
          <p:cNvSpPr txBox="1"/>
          <p:nvPr/>
        </p:nvSpPr>
        <p:spPr>
          <a:xfrm>
            <a:off x="5046963" y="5197150"/>
            <a:ext cx="2514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>
                <a:solidFill>
                  <a:srgbClr val="FF0000"/>
                </a:solidFill>
              </a:rPr>
              <a:t>x==32467289</a:t>
            </a:r>
            <a:endParaRPr kumimoji="1" lang="zh-CN" altLang="en-US" dirty="0">
              <a:solidFill>
                <a:srgbClr val="FF0000"/>
              </a:solidFill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9068B14A-1066-8441-BA2E-E52C34050E02}"/>
              </a:ext>
            </a:extLst>
          </p:cNvPr>
          <p:cNvSpPr txBox="1"/>
          <p:nvPr/>
        </p:nvSpPr>
        <p:spPr>
          <a:xfrm>
            <a:off x="7180563" y="5145084"/>
            <a:ext cx="18872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>
                <a:solidFill>
                  <a:srgbClr val="FF0000"/>
                </a:solidFill>
              </a:rPr>
              <a:t>x</a:t>
            </a:r>
            <a:r>
              <a:rPr kumimoji="1" lang="zh-CN" altLang="en-US" dirty="0">
                <a:solidFill>
                  <a:srgbClr val="FF0000"/>
                </a:solidFill>
              </a:rPr>
              <a:t> </a:t>
            </a:r>
            <a:r>
              <a:rPr kumimoji="1" lang="en-US" altLang="zh-CN" dirty="0">
                <a:solidFill>
                  <a:srgbClr val="FF0000"/>
                </a:solidFill>
              </a:rPr>
              <a:t>!=</a:t>
            </a:r>
            <a:r>
              <a:rPr kumimoji="1" lang="zh-CN" altLang="en-US" dirty="0">
                <a:solidFill>
                  <a:srgbClr val="FF0000"/>
                </a:solidFill>
              </a:rPr>
              <a:t> </a:t>
            </a:r>
            <a:r>
              <a:rPr kumimoji="1" lang="en-US" altLang="zh-CN" dirty="0">
                <a:solidFill>
                  <a:srgbClr val="FF0000"/>
                </a:solidFill>
              </a:rPr>
              <a:t>32467289</a:t>
            </a:r>
            <a:endParaRPr kumimoji="1" lang="zh-CN" altLang="en-US" dirty="0">
              <a:solidFill>
                <a:srgbClr val="FF0000"/>
              </a:solidFill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882A3B29-562C-B442-B920-715D123070BC}"/>
              </a:ext>
            </a:extLst>
          </p:cNvPr>
          <p:cNvSpPr txBox="1"/>
          <p:nvPr/>
        </p:nvSpPr>
        <p:spPr>
          <a:xfrm>
            <a:off x="3563560" y="3846877"/>
            <a:ext cx="2514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>
                <a:solidFill>
                  <a:srgbClr val="FF0000"/>
                </a:solidFill>
              </a:rPr>
              <a:t>y==0</a:t>
            </a:r>
            <a:endParaRPr kumimoji="1" lang="zh-CN" altLang="en-US" dirty="0">
              <a:solidFill>
                <a:srgbClr val="FF0000"/>
              </a:solidFill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0F4A69B8-8E61-6842-95BC-E8F86FA5D007}"/>
              </a:ext>
            </a:extLst>
          </p:cNvPr>
          <p:cNvSpPr txBox="1"/>
          <p:nvPr/>
        </p:nvSpPr>
        <p:spPr>
          <a:xfrm>
            <a:off x="5473875" y="6107668"/>
            <a:ext cx="2514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>
                <a:solidFill>
                  <a:srgbClr val="FF0000"/>
                </a:solidFill>
              </a:rPr>
              <a:t>y==0</a:t>
            </a:r>
            <a:endParaRPr kumimoji="1" lang="zh-CN" altLang="en-US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E22C4A97-FB1B-1D4F-8C71-5874BAAAB5D2}"/>
                  </a:ext>
                </a:extLst>
              </p:cNvPr>
              <p:cNvSpPr txBox="1"/>
              <p:nvPr/>
            </p:nvSpPr>
            <p:spPr>
              <a:xfrm>
                <a:off x="236246" y="5257800"/>
                <a:ext cx="344462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dirty="0">
                    <a:solidFill>
                      <a:srgbClr val="FF0000"/>
                    </a:solidFill>
                  </a:rPr>
                  <a:t>x==32467289</a:t>
                </a:r>
                <a:r>
                  <a:rPr kumimoji="1" lang="zh-CN" altLang="en-US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kumimoji="1" lang="zh-CN" altLang="en-US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∧</m:t>
                    </m:r>
                  </m:oMath>
                </a14:m>
                <a:r>
                  <a:rPr kumimoji="1" lang="zh-CN" altLang="en-US" dirty="0">
                    <a:solidFill>
                      <a:srgbClr val="FF0000"/>
                    </a:solidFill>
                  </a:rPr>
                  <a:t> </a:t>
                </a:r>
                <a:r>
                  <a:rPr kumimoji="1" lang="en-US" altLang="zh-CN" dirty="0">
                    <a:solidFill>
                      <a:srgbClr val="FF0000"/>
                    </a:solidFill>
                  </a:rPr>
                  <a:t>y==0</a:t>
                </a:r>
                <a:endParaRPr kumimoji="1" lang="zh-CN" alt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E22C4A97-FB1B-1D4F-8C71-5874BAAAB5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6246" y="5257800"/>
                <a:ext cx="3444624" cy="369332"/>
              </a:xfrm>
              <a:prstGeom prst="rect">
                <a:avLst/>
              </a:prstGeom>
              <a:blipFill>
                <a:blip r:embed="rId2"/>
                <a:stretch>
                  <a:fillRect l="-1471" t="-10000" b="-23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文本框 16">
            <a:extLst>
              <a:ext uri="{FF2B5EF4-FFF2-40B4-BE49-F238E27FC236}">
                <a16:creationId xmlns:a16="http://schemas.microsoft.com/office/drawing/2014/main" id="{A19E8DA6-B806-2940-A1D3-FB8E0B93CB5B}"/>
              </a:ext>
            </a:extLst>
          </p:cNvPr>
          <p:cNvSpPr txBox="1"/>
          <p:nvPr/>
        </p:nvSpPr>
        <p:spPr>
          <a:xfrm>
            <a:off x="184631" y="5638800"/>
            <a:ext cx="486233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Essentially,</a:t>
            </a:r>
            <a:r>
              <a:rPr kumimoji="1" lang="zh-CN" altLang="en-US" dirty="0"/>
              <a:t> </a:t>
            </a:r>
            <a:r>
              <a:rPr kumimoji="1" lang="en-US" altLang="zh-CN" dirty="0"/>
              <a:t>we</a:t>
            </a:r>
            <a:r>
              <a:rPr kumimoji="1" lang="zh-CN" altLang="en-US" dirty="0"/>
              <a:t> </a:t>
            </a:r>
            <a:r>
              <a:rPr kumimoji="1" lang="en-US" altLang="zh-CN" dirty="0"/>
              <a:t>are</a:t>
            </a:r>
            <a:r>
              <a:rPr kumimoji="1" lang="zh-CN" altLang="en-US" dirty="0"/>
              <a:t> </a:t>
            </a:r>
            <a:r>
              <a:rPr kumimoji="1" lang="en-US" altLang="zh-CN" dirty="0"/>
              <a:t>asking:</a:t>
            </a:r>
            <a:r>
              <a:rPr kumimoji="1" lang="zh-CN" altLang="en-US" dirty="0"/>
              <a:t> </a:t>
            </a:r>
            <a:r>
              <a:rPr kumimoji="1" lang="en-US" altLang="zh-CN" dirty="0"/>
              <a:t>is</a:t>
            </a:r>
            <a:r>
              <a:rPr kumimoji="1" lang="zh-CN" altLang="en-US" dirty="0"/>
              <a:t> </a:t>
            </a:r>
            <a:r>
              <a:rPr kumimoji="1" lang="en-US" altLang="zh-CN" dirty="0"/>
              <a:t>the</a:t>
            </a:r>
            <a:r>
              <a:rPr kumimoji="1" lang="zh-CN" altLang="en-US" dirty="0"/>
              <a:t> </a:t>
            </a:r>
            <a:r>
              <a:rPr kumimoji="1" lang="en-US" altLang="zh-CN" dirty="0"/>
              <a:t>above</a:t>
            </a:r>
            <a:r>
              <a:rPr kumimoji="1" lang="zh-CN" altLang="en-US" dirty="0"/>
              <a:t> </a:t>
            </a:r>
            <a:r>
              <a:rPr kumimoji="1" lang="en-US" altLang="zh-CN" dirty="0"/>
              <a:t>logic formulae</a:t>
            </a:r>
            <a:r>
              <a:rPr kumimoji="1" lang="zh-CN" altLang="en-US" dirty="0"/>
              <a:t> </a:t>
            </a:r>
            <a:r>
              <a:rPr kumimoji="1" lang="en-US" altLang="zh-CN" dirty="0">
                <a:solidFill>
                  <a:srgbClr val="0432FF"/>
                </a:solidFill>
              </a:rPr>
              <a:t>satisfiable (SAT)</a:t>
            </a:r>
            <a:r>
              <a:rPr kumimoji="1" lang="en-US" altLang="zh-CN" dirty="0"/>
              <a:t>?</a:t>
            </a:r>
            <a:r>
              <a:rPr kumimoji="1" lang="zh-CN" altLang="en-US" dirty="0"/>
              <a:t> </a:t>
            </a:r>
            <a:r>
              <a:rPr kumimoji="1" lang="en-US" altLang="zh-CN" dirty="0"/>
              <a:t>If</a:t>
            </a:r>
            <a:r>
              <a:rPr kumimoji="1" lang="zh-CN" altLang="en-US" dirty="0"/>
              <a:t> </a:t>
            </a:r>
            <a:r>
              <a:rPr kumimoji="1" lang="en-US" altLang="zh-CN" dirty="0"/>
              <a:t>so,</a:t>
            </a:r>
            <a:r>
              <a:rPr kumimoji="1" lang="zh-CN" altLang="en-US" dirty="0"/>
              <a:t> </a:t>
            </a:r>
            <a:r>
              <a:rPr kumimoji="1" lang="en-US" altLang="zh-CN" dirty="0"/>
              <a:t>this</a:t>
            </a:r>
            <a:r>
              <a:rPr kumimoji="1" lang="zh-CN" altLang="en-US" dirty="0"/>
              <a:t> </a:t>
            </a:r>
            <a:r>
              <a:rPr kumimoji="1" lang="en-US" altLang="zh-CN" dirty="0"/>
              <a:t>means</a:t>
            </a:r>
            <a:r>
              <a:rPr kumimoji="1" lang="zh-CN" altLang="en-US" dirty="0"/>
              <a:t> </a:t>
            </a:r>
            <a:r>
              <a:rPr kumimoji="1" lang="en-US" altLang="zh-CN" dirty="0"/>
              <a:t>that</a:t>
            </a:r>
            <a:r>
              <a:rPr kumimoji="1" lang="zh-CN" altLang="en-US" dirty="0"/>
              <a:t> </a:t>
            </a:r>
            <a:r>
              <a:rPr kumimoji="1" lang="en-US" altLang="zh-CN" dirty="0"/>
              <a:t>there</a:t>
            </a:r>
            <a:r>
              <a:rPr kumimoji="1" lang="zh-CN" altLang="en-US" dirty="0"/>
              <a:t> </a:t>
            </a:r>
            <a:r>
              <a:rPr kumimoji="1" lang="en-US" altLang="zh-CN" dirty="0"/>
              <a:t>is</a:t>
            </a:r>
            <a:r>
              <a:rPr kumimoji="1" lang="zh-CN" altLang="en-US" dirty="0"/>
              <a:t> </a:t>
            </a:r>
            <a:r>
              <a:rPr kumimoji="1" lang="en-US" altLang="zh-CN" dirty="0"/>
              <a:t>a</a:t>
            </a:r>
            <a:r>
              <a:rPr kumimoji="1" lang="zh-CN" altLang="en-US" dirty="0"/>
              <a:t> </a:t>
            </a:r>
            <a:r>
              <a:rPr kumimoji="1" lang="en-US" altLang="zh-CN" dirty="0"/>
              <a:t>feasible</a:t>
            </a:r>
            <a:r>
              <a:rPr kumimoji="1" lang="zh-CN" altLang="en-US" dirty="0"/>
              <a:t> </a:t>
            </a:r>
            <a:r>
              <a:rPr kumimoji="1" lang="en-US" altLang="zh-CN" dirty="0"/>
              <a:t>path</a:t>
            </a:r>
            <a:r>
              <a:rPr kumimoji="1" lang="zh-CN" altLang="en-US" dirty="0"/>
              <a:t> </a:t>
            </a:r>
            <a:r>
              <a:rPr kumimoji="1" lang="en-US" altLang="zh-CN" dirty="0"/>
              <a:t>that</a:t>
            </a:r>
            <a:r>
              <a:rPr kumimoji="1" lang="zh-CN" altLang="en-US" dirty="0"/>
              <a:t> </a:t>
            </a:r>
            <a:r>
              <a:rPr kumimoji="1" lang="en-US" altLang="zh-CN" dirty="0"/>
              <a:t>triggers</a:t>
            </a:r>
            <a:r>
              <a:rPr kumimoji="1" lang="zh-CN" altLang="en-US" dirty="0"/>
              <a:t> </a:t>
            </a:r>
            <a:r>
              <a:rPr kumimoji="1" lang="en-US" altLang="zh-CN" dirty="0"/>
              <a:t>the obligation!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38453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83B1A98-5D2E-F84C-8A75-A8FC62CA10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Symbolic</a:t>
            </a:r>
            <a:r>
              <a:rPr kumimoji="1" lang="zh-CN" altLang="en-US" dirty="0"/>
              <a:t> </a:t>
            </a:r>
            <a:r>
              <a:rPr kumimoji="1" lang="en-US" altLang="zh-CN" dirty="0"/>
              <a:t>execution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EA67DCE-2389-6343-AFC1-54E1B9454D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//</a:t>
            </a:r>
            <a:r>
              <a: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Step</a:t>
            </a:r>
            <a:r>
              <a: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#4:</a:t>
            </a:r>
            <a:r>
              <a: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feed</a:t>
            </a:r>
            <a:r>
              <a: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the</a:t>
            </a:r>
            <a:r>
              <a: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generated</a:t>
            </a:r>
            <a:r>
              <a: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constraints</a:t>
            </a:r>
            <a:r>
              <a: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to</a:t>
            </a:r>
          </a:p>
          <a:p>
            <a:pPr marL="0" indent="0">
              <a:buNone/>
            </a:pP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//</a:t>
            </a:r>
            <a:r>
              <a: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some</a:t>
            </a:r>
            <a:r>
              <a: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solvers</a:t>
            </a:r>
            <a:r>
              <a: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(e.g.,</a:t>
            </a:r>
            <a:r>
              <a: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Z3),</a:t>
            </a:r>
            <a:r>
              <a: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to</a:t>
            </a:r>
            <a:r>
              <a: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check</a:t>
            </a:r>
            <a:r>
              <a: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SAT:</a:t>
            </a:r>
          </a:p>
          <a:p>
            <a:pPr marL="0" indent="0">
              <a:buNone/>
            </a:pPr>
            <a:r>
              <a:rPr kumimoji="1" lang="en-US" altLang="zh-CN" sz="2000" b="1" dirty="0" err="1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foo(</a:t>
            </a:r>
            <a:r>
              <a:rPr kumimoji="1" lang="en-US" altLang="zh-CN" sz="2000" b="1" dirty="0" err="1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x,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 err="1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y){</a:t>
            </a:r>
          </a:p>
          <a:p>
            <a:pPr marL="0" indent="0">
              <a:buNone/>
            </a:pP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kumimoji="1" lang="en-US" altLang="zh-CN" sz="2000" b="1" dirty="0" err="1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z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 err="1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x+y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buNone/>
            </a:pP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if(x==32467289)</a:t>
            </a:r>
          </a:p>
          <a:p>
            <a:pPr marL="0" indent="0">
              <a:buNone/>
            </a:pP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x/y;</a:t>
            </a:r>
          </a:p>
          <a:p>
            <a:pPr marL="0" indent="0">
              <a:buNone/>
            </a:pP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else</a:t>
            </a:r>
          </a:p>
          <a:p>
            <a:pPr marL="0" indent="0">
              <a:buNone/>
            </a:pP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0;</a:t>
            </a:r>
          </a:p>
          <a:p>
            <a:pPr marL="0" indent="0">
              <a:buNone/>
            </a:pP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>
              <a:buNone/>
            </a:pPr>
            <a:endParaRPr kumimoji="1" lang="en-US" altLang="zh-CN" sz="2000" b="1" dirty="0">
              <a:solidFill>
                <a:srgbClr val="0432FF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kumimoji="1" lang="en-US" altLang="zh-CN" sz="2000" b="1" dirty="0">
              <a:solidFill>
                <a:srgbClr val="0432FF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kumimoji="1" lang="en-US" altLang="zh-CN" sz="2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B4966FAB-BFE4-F74B-8081-12BE398477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4552862"/>
              </p:ext>
            </p:extLst>
          </p:nvPr>
        </p:nvGraphicFramePr>
        <p:xfrm>
          <a:off x="6096000" y="2849880"/>
          <a:ext cx="251460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5400">
                  <a:extLst>
                    <a:ext uri="{9D8B030D-6E8A-4147-A177-3AD203B41FA5}">
                      <a16:colId xmlns:a16="http://schemas.microsoft.com/office/drawing/2014/main" val="978326069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120923574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Variable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value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09143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x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x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086531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y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y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269589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z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err="1"/>
                        <a:t>x+y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2728102"/>
                  </a:ext>
                </a:extLst>
              </a:tr>
            </a:tbl>
          </a:graphicData>
        </a:graphic>
      </p:graphicFrame>
      <p:sp>
        <p:nvSpPr>
          <p:cNvPr id="4" name="文本框 3">
            <a:extLst>
              <a:ext uri="{FF2B5EF4-FFF2-40B4-BE49-F238E27FC236}">
                <a16:creationId xmlns:a16="http://schemas.microsoft.com/office/drawing/2014/main" id="{16CC8A92-33CB-1441-ACDE-CAE708E66302}"/>
              </a:ext>
            </a:extLst>
          </p:cNvPr>
          <p:cNvSpPr txBox="1"/>
          <p:nvPr/>
        </p:nvSpPr>
        <p:spPr>
          <a:xfrm>
            <a:off x="3886200" y="3465513"/>
            <a:ext cx="2514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>
                <a:solidFill>
                  <a:srgbClr val="FF0000"/>
                </a:solidFill>
              </a:rPr>
              <a:t>x</a:t>
            </a:r>
            <a:r>
              <a:rPr kumimoji="1" lang="zh-CN" altLang="en-US" dirty="0">
                <a:solidFill>
                  <a:srgbClr val="FF0000"/>
                </a:solidFill>
              </a:rPr>
              <a:t> </a:t>
            </a:r>
            <a:r>
              <a:rPr kumimoji="1" lang="en-US" altLang="zh-CN" dirty="0">
                <a:solidFill>
                  <a:srgbClr val="FF0000"/>
                </a:solidFill>
              </a:rPr>
              <a:t>==</a:t>
            </a:r>
            <a:r>
              <a:rPr kumimoji="1" lang="zh-CN" altLang="en-US" dirty="0">
                <a:solidFill>
                  <a:srgbClr val="FF0000"/>
                </a:solidFill>
              </a:rPr>
              <a:t> </a:t>
            </a:r>
            <a:r>
              <a:rPr kumimoji="1" lang="en-US" altLang="zh-CN" dirty="0">
                <a:solidFill>
                  <a:srgbClr val="FF0000"/>
                </a:solidFill>
              </a:rPr>
              <a:t>32467289</a:t>
            </a:r>
            <a:endParaRPr kumimoji="1" lang="zh-CN" altLang="en-US" dirty="0">
              <a:solidFill>
                <a:srgbClr val="FF0000"/>
              </a:solidFill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53962435-670A-9246-8F8F-9CB704043B35}"/>
              </a:ext>
            </a:extLst>
          </p:cNvPr>
          <p:cNvSpPr txBox="1"/>
          <p:nvPr/>
        </p:nvSpPr>
        <p:spPr>
          <a:xfrm>
            <a:off x="2378033" y="4188190"/>
            <a:ext cx="2514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>
                <a:solidFill>
                  <a:srgbClr val="FF0000"/>
                </a:solidFill>
              </a:rPr>
              <a:t>x</a:t>
            </a:r>
            <a:r>
              <a:rPr kumimoji="1" lang="zh-CN" altLang="en-US" dirty="0">
                <a:solidFill>
                  <a:srgbClr val="FF0000"/>
                </a:solidFill>
              </a:rPr>
              <a:t> </a:t>
            </a:r>
            <a:r>
              <a:rPr kumimoji="1" lang="en-US" altLang="zh-CN" dirty="0">
                <a:solidFill>
                  <a:srgbClr val="FF0000"/>
                </a:solidFill>
              </a:rPr>
              <a:t>!=</a:t>
            </a:r>
            <a:r>
              <a:rPr kumimoji="1" lang="zh-CN" altLang="en-US" dirty="0">
                <a:solidFill>
                  <a:srgbClr val="FF0000"/>
                </a:solidFill>
              </a:rPr>
              <a:t> </a:t>
            </a:r>
            <a:r>
              <a:rPr kumimoji="1" lang="en-US" altLang="zh-CN" dirty="0">
                <a:solidFill>
                  <a:srgbClr val="FF0000"/>
                </a:solidFill>
              </a:rPr>
              <a:t>32467289</a:t>
            </a:r>
            <a:endParaRPr kumimoji="1" lang="zh-CN" altLang="en-US" dirty="0">
              <a:solidFill>
                <a:srgbClr val="FF0000"/>
              </a:solidFill>
            </a:endParaRPr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4702C8FA-F8FA-F444-BA6B-BDE112AFD3F1}"/>
              </a:ext>
            </a:extLst>
          </p:cNvPr>
          <p:cNvSpPr/>
          <p:nvPr/>
        </p:nvSpPr>
        <p:spPr>
          <a:xfrm>
            <a:off x="5047456" y="4557522"/>
            <a:ext cx="515144" cy="47167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</a:rPr>
              <a:t>if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43540515-0931-6E4D-87FE-971D0ED01997}"/>
              </a:ext>
            </a:extLst>
          </p:cNvPr>
          <p:cNvSpPr/>
          <p:nvPr/>
        </p:nvSpPr>
        <p:spPr>
          <a:xfrm>
            <a:off x="4038600" y="5533644"/>
            <a:ext cx="809917" cy="47167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</a:rPr>
              <a:t>x/y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670EC692-9AD1-8D42-BB84-06850F4BCD90}"/>
              </a:ext>
            </a:extLst>
          </p:cNvPr>
          <p:cNvSpPr/>
          <p:nvPr/>
        </p:nvSpPr>
        <p:spPr>
          <a:xfrm>
            <a:off x="5885656" y="5533644"/>
            <a:ext cx="743744" cy="47167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</a:rPr>
              <a:t>0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  <p:cxnSp>
        <p:nvCxnSpPr>
          <p:cNvPr id="11" name="直线箭头连接符 10">
            <a:extLst>
              <a:ext uri="{FF2B5EF4-FFF2-40B4-BE49-F238E27FC236}">
                <a16:creationId xmlns:a16="http://schemas.microsoft.com/office/drawing/2014/main" id="{C787FA67-125E-CB40-A90A-212309E1EBC2}"/>
              </a:ext>
            </a:extLst>
          </p:cNvPr>
          <p:cNvCxnSpPr>
            <a:cxnSpLocks/>
            <a:endCxn id="8" idx="7"/>
          </p:cNvCxnSpPr>
          <p:nvPr/>
        </p:nvCxnSpPr>
        <p:spPr>
          <a:xfrm flipH="1">
            <a:off x="4729907" y="4997037"/>
            <a:ext cx="413594" cy="60568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线箭头连接符 12">
            <a:extLst>
              <a:ext uri="{FF2B5EF4-FFF2-40B4-BE49-F238E27FC236}">
                <a16:creationId xmlns:a16="http://schemas.microsoft.com/office/drawing/2014/main" id="{BDDF3804-50E1-6A47-81B6-917D66AB53A6}"/>
              </a:ext>
            </a:extLst>
          </p:cNvPr>
          <p:cNvCxnSpPr>
            <a:cxnSpLocks/>
            <a:stCxn id="7" idx="5"/>
            <a:endCxn id="9" idx="1"/>
          </p:cNvCxnSpPr>
          <p:nvPr/>
        </p:nvCxnSpPr>
        <p:spPr>
          <a:xfrm>
            <a:off x="5487159" y="4960124"/>
            <a:ext cx="507416" cy="64259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文本框 17">
            <a:extLst>
              <a:ext uri="{FF2B5EF4-FFF2-40B4-BE49-F238E27FC236}">
                <a16:creationId xmlns:a16="http://schemas.microsoft.com/office/drawing/2014/main" id="{2228E79C-56AB-624B-976A-73916E626B48}"/>
              </a:ext>
            </a:extLst>
          </p:cNvPr>
          <p:cNvSpPr txBox="1"/>
          <p:nvPr/>
        </p:nvSpPr>
        <p:spPr>
          <a:xfrm>
            <a:off x="3581400" y="5089187"/>
            <a:ext cx="2514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>
                <a:solidFill>
                  <a:srgbClr val="FF0000"/>
                </a:solidFill>
              </a:rPr>
              <a:t>x</a:t>
            </a:r>
            <a:r>
              <a:rPr kumimoji="1" lang="zh-CN" altLang="en-US" dirty="0">
                <a:solidFill>
                  <a:srgbClr val="FF0000"/>
                </a:solidFill>
              </a:rPr>
              <a:t> </a:t>
            </a:r>
            <a:r>
              <a:rPr kumimoji="1" lang="en-US" altLang="zh-CN" dirty="0">
                <a:solidFill>
                  <a:srgbClr val="FF0000"/>
                </a:solidFill>
              </a:rPr>
              <a:t>==</a:t>
            </a:r>
            <a:r>
              <a:rPr kumimoji="1" lang="zh-CN" altLang="en-US" dirty="0">
                <a:solidFill>
                  <a:srgbClr val="FF0000"/>
                </a:solidFill>
              </a:rPr>
              <a:t> </a:t>
            </a:r>
            <a:r>
              <a:rPr kumimoji="1" lang="en-US" altLang="zh-CN" dirty="0">
                <a:solidFill>
                  <a:srgbClr val="FF0000"/>
                </a:solidFill>
              </a:rPr>
              <a:t>32467289</a:t>
            </a:r>
            <a:endParaRPr kumimoji="1" lang="zh-CN" altLang="en-US" dirty="0">
              <a:solidFill>
                <a:srgbClr val="FF0000"/>
              </a:solidFill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9068B14A-1066-8441-BA2E-E52C34050E02}"/>
              </a:ext>
            </a:extLst>
          </p:cNvPr>
          <p:cNvSpPr txBox="1"/>
          <p:nvPr/>
        </p:nvSpPr>
        <p:spPr>
          <a:xfrm>
            <a:off x="5715000" y="5037121"/>
            <a:ext cx="2514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>
                <a:solidFill>
                  <a:srgbClr val="FF0000"/>
                </a:solidFill>
              </a:rPr>
              <a:t>x</a:t>
            </a:r>
            <a:r>
              <a:rPr kumimoji="1" lang="zh-CN" altLang="en-US" dirty="0">
                <a:solidFill>
                  <a:srgbClr val="FF0000"/>
                </a:solidFill>
              </a:rPr>
              <a:t> </a:t>
            </a:r>
            <a:r>
              <a:rPr kumimoji="1" lang="en-US" altLang="zh-CN" dirty="0">
                <a:solidFill>
                  <a:srgbClr val="FF0000"/>
                </a:solidFill>
              </a:rPr>
              <a:t>!=</a:t>
            </a:r>
            <a:r>
              <a:rPr kumimoji="1" lang="zh-CN" altLang="en-US" dirty="0">
                <a:solidFill>
                  <a:srgbClr val="FF0000"/>
                </a:solidFill>
              </a:rPr>
              <a:t> </a:t>
            </a:r>
            <a:r>
              <a:rPr kumimoji="1" lang="en-US" altLang="zh-CN" dirty="0">
                <a:solidFill>
                  <a:srgbClr val="FF0000"/>
                </a:solidFill>
              </a:rPr>
              <a:t>32467289</a:t>
            </a:r>
            <a:endParaRPr kumimoji="1" lang="zh-CN" altLang="en-US" dirty="0">
              <a:solidFill>
                <a:srgbClr val="FF0000"/>
              </a:solidFill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882A3B29-562C-B442-B920-715D123070BC}"/>
              </a:ext>
            </a:extLst>
          </p:cNvPr>
          <p:cNvSpPr txBox="1"/>
          <p:nvPr/>
        </p:nvSpPr>
        <p:spPr>
          <a:xfrm>
            <a:off x="3563560" y="3846877"/>
            <a:ext cx="2514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>
                <a:solidFill>
                  <a:srgbClr val="FF0000"/>
                </a:solidFill>
              </a:rPr>
              <a:t>y==0</a:t>
            </a:r>
            <a:endParaRPr kumimoji="1" lang="zh-CN" altLang="en-US" dirty="0">
              <a:solidFill>
                <a:srgbClr val="FF0000"/>
              </a:solidFill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0F4A69B8-8E61-6842-95BC-E8F86FA5D007}"/>
              </a:ext>
            </a:extLst>
          </p:cNvPr>
          <p:cNvSpPr txBox="1"/>
          <p:nvPr/>
        </p:nvSpPr>
        <p:spPr>
          <a:xfrm>
            <a:off x="4008312" y="5999705"/>
            <a:ext cx="2514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>
                <a:solidFill>
                  <a:srgbClr val="FF0000"/>
                </a:solidFill>
              </a:rPr>
              <a:t>y==0</a:t>
            </a:r>
            <a:endParaRPr kumimoji="1" lang="zh-CN" altLang="en-US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E22C4A97-FB1B-1D4F-8C71-5874BAAAB5D2}"/>
                  </a:ext>
                </a:extLst>
              </p:cNvPr>
              <p:cNvSpPr txBox="1"/>
              <p:nvPr/>
            </p:nvSpPr>
            <p:spPr>
              <a:xfrm>
                <a:off x="238286" y="5348978"/>
                <a:ext cx="344462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dirty="0">
                    <a:solidFill>
                      <a:srgbClr val="FF0000"/>
                    </a:solidFill>
                  </a:rPr>
                  <a:t>x</a:t>
                </a:r>
                <a:r>
                  <a:rPr kumimoji="1" lang="zh-CN" altLang="en-US" dirty="0">
                    <a:solidFill>
                      <a:srgbClr val="FF0000"/>
                    </a:solidFill>
                  </a:rPr>
                  <a:t> </a:t>
                </a:r>
                <a:r>
                  <a:rPr kumimoji="1" lang="en-US" altLang="zh-CN" dirty="0">
                    <a:solidFill>
                      <a:srgbClr val="FF0000"/>
                    </a:solidFill>
                  </a:rPr>
                  <a:t>==</a:t>
                </a:r>
                <a:r>
                  <a:rPr kumimoji="1" lang="zh-CN" altLang="en-US" dirty="0">
                    <a:solidFill>
                      <a:srgbClr val="FF0000"/>
                    </a:solidFill>
                  </a:rPr>
                  <a:t> </a:t>
                </a:r>
                <a:r>
                  <a:rPr kumimoji="1" lang="en-US" altLang="zh-CN" dirty="0">
                    <a:solidFill>
                      <a:srgbClr val="FF0000"/>
                    </a:solidFill>
                  </a:rPr>
                  <a:t>32467289</a:t>
                </a:r>
                <a:r>
                  <a:rPr kumimoji="1" lang="zh-CN" altLang="en-US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kumimoji="1" lang="zh-CN" altLang="en-US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∧ </m:t>
                    </m:r>
                  </m:oMath>
                </a14:m>
                <a:r>
                  <a:rPr kumimoji="1" lang="zh-CN" altLang="en-US" dirty="0">
                    <a:solidFill>
                      <a:srgbClr val="FF0000"/>
                    </a:solidFill>
                  </a:rPr>
                  <a:t> </a:t>
                </a:r>
                <a:r>
                  <a:rPr kumimoji="1" lang="en-US" altLang="zh-CN" dirty="0">
                    <a:solidFill>
                      <a:srgbClr val="FF0000"/>
                    </a:solidFill>
                  </a:rPr>
                  <a:t>y==0</a:t>
                </a:r>
                <a:endParaRPr kumimoji="1" lang="zh-CN" alt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E22C4A97-FB1B-1D4F-8C71-5874BAAAB5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8286" y="5348978"/>
                <a:ext cx="3444624" cy="369332"/>
              </a:xfrm>
              <a:prstGeom prst="rect">
                <a:avLst/>
              </a:prstGeom>
              <a:blipFill>
                <a:blip r:embed="rId2"/>
                <a:stretch>
                  <a:fillRect l="-1471" t="-3333" b="-23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文本框 16">
            <a:extLst>
              <a:ext uri="{FF2B5EF4-FFF2-40B4-BE49-F238E27FC236}">
                <a16:creationId xmlns:a16="http://schemas.microsoft.com/office/drawing/2014/main" id="{6001439B-9137-9245-89FA-074EA12577DF}"/>
              </a:ext>
            </a:extLst>
          </p:cNvPr>
          <p:cNvSpPr txBox="1"/>
          <p:nvPr/>
        </p:nvSpPr>
        <p:spPr>
          <a:xfrm>
            <a:off x="228600" y="5879068"/>
            <a:ext cx="34446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The</a:t>
            </a:r>
            <a:r>
              <a:rPr kumimoji="1" lang="zh-CN" altLang="en-US" dirty="0"/>
              <a:t> </a:t>
            </a:r>
            <a:r>
              <a:rPr kumimoji="1" lang="en-US" altLang="zh-CN" dirty="0"/>
              <a:t>model:</a:t>
            </a:r>
          </a:p>
          <a:p>
            <a:r>
              <a:rPr kumimoji="1" lang="en-US" altLang="zh-CN" dirty="0">
                <a:solidFill>
                  <a:srgbClr val="FF0000"/>
                </a:solidFill>
              </a:rPr>
              <a:t>[x</a:t>
            </a:r>
            <a:r>
              <a:rPr kumimoji="1" lang="zh-CN" altLang="en-US" dirty="0">
                <a:solidFill>
                  <a:srgbClr val="FF0000"/>
                </a:solidFill>
              </a:rPr>
              <a:t> </a:t>
            </a:r>
            <a:r>
              <a:rPr kumimoji="1" lang="en-US" altLang="zh-CN" dirty="0">
                <a:solidFill>
                  <a:srgbClr val="FF0000"/>
                </a:solidFill>
              </a:rPr>
              <a:t>==</a:t>
            </a:r>
            <a:r>
              <a:rPr kumimoji="1" lang="zh-CN" altLang="en-US" dirty="0">
                <a:solidFill>
                  <a:srgbClr val="FF0000"/>
                </a:solidFill>
              </a:rPr>
              <a:t> </a:t>
            </a:r>
            <a:r>
              <a:rPr kumimoji="1" lang="en-US" altLang="zh-CN" dirty="0">
                <a:solidFill>
                  <a:srgbClr val="FF0000"/>
                </a:solidFill>
              </a:rPr>
              <a:t>32467289,</a:t>
            </a:r>
            <a:r>
              <a:rPr kumimoji="1" lang="zh-CN" altLang="en-US" dirty="0">
                <a:solidFill>
                  <a:srgbClr val="FF0000"/>
                </a:solidFill>
              </a:rPr>
              <a:t> </a:t>
            </a:r>
            <a:r>
              <a:rPr kumimoji="1" lang="en-US" altLang="zh-CN" dirty="0">
                <a:solidFill>
                  <a:srgbClr val="FF0000"/>
                </a:solidFill>
              </a:rPr>
              <a:t>y==0]</a:t>
            </a:r>
            <a:endParaRPr kumimoji="1" lang="zh-CN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326318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83B1A98-5D2E-F84C-8A75-A8FC62CA10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Symbolic</a:t>
            </a:r>
            <a:r>
              <a:rPr kumimoji="1" lang="zh-CN" altLang="en-US" dirty="0"/>
              <a:t> </a:t>
            </a:r>
            <a:r>
              <a:rPr kumimoji="1" lang="en-US" altLang="zh-CN" dirty="0"/>
              <a:t>execution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EA67DCE-2389-6343-AFC1-54E1B9454D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//</a:t>
            </a:r>
            <a:r>
              <a: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Step</a:t>
            </a:r>
            <a:r>
              <a: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#5:</a:t>
            </a:r>
            <a:r>
              <a: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use</a:t>
            </a:r>
            <a:r>
              <a: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the</a:t>
            </a:r>
            <a:r>
              <a: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model</a:t>
            </a:r>
            <a:r>
              <a: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from</a:t>
            </a:r>
            <a:r>
              <a: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the</a:t>
            </a:r>
            <a:r>
              <a: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solver,</a:t>
            </a:r>
            <a:r>
              <a: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as</a:t>
            </a:r>
            <a:r>
              <a: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the</a:t>
            </a:r>
          </a:p>
          <a:p>
            <a:pPr marL="0" indent="0">
              <a:buNone/>
            </a:pP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//</a:t>
            </a:r>
            <a:r>
              <a: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concrete</a:t>
            </a:r>
            <a:r>
              <a: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inputs</a:t>
            </a:r>
            <a:r>
              <a: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(to</a:t>
            </a:r>
            <a:r>
              <a: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trigger</a:t>
            </a:r>
            <a:r>
              <a: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the</a:t>
            </a:r>
            <a:r>
              <a: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bug):</a:t>
            </a:r>
          </a:p>
          <a:p>
            <a:pPr marL="0" indent="0">
              <a:buNone/>
            </a:pPr>
            <a:r>
              <a:rPr kumimoji="1" lang="en-US" altLang="zh-CN" sz="2000" b="1" dirty="0" err="1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foo(</a:t>
            </a:r>
            <a:r>
              <a:rPr kumimoji="1" lang="en-US" altLang="zh-CN" sz="2000" b="1" dirty="0" err="1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x,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 err="1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y){</a:t>
            </a:r>
          </a:p>
          <a:p>
            <a:pPr marL="0" indent="0">
              <a:buNone/>
            </a:pP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kumimoji="1" lang="en-US" altLang="zh-CN" sz="2000" b="1" dirty="0" err="1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z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 err="1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x+y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buNone/>
            </a:pP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if(x==32467289)</a:t>
            </a:r>
          </a:p>
          <a:p>
            <a:pPr marL="0" indent="0">
              <a:buNone/>
            </a:pP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x/y;</a:t>
            </a:r>
          </a:p>
          <a:p>
            <a:pPr marL="0" indent="0">
              <a:buNone/>
            </a:pP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else</a:t>
            </a:r>
          </a:p>
          <a:p>
            <a:pPr marL="0" indent="0">
              <a:buNone/>
            </a:pP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0;</a:t>
            </a:r>
          </a:p>
          <a:p>
            <a:pPr marL="0" indent="0">
              <a:buNone/>
            </a:pP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>
              <a:buNone/>
            </a:pPr>
            <a:endParaRPr kumimoji="1" lang="en-US" altLang="zh-CN" sz="2000" b="1" dirty="0">
              <a:solidFill>
                <a:srgbClr val="0432FF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kumimoji="1" lang="en-US" altLang="zh-CN" sz="2000" b="1" dirty="0">
              <a:solidFill>
                <a:srgbClr val="0432FF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kumimoji="1" lang="en-US" altLang="zh-CN" sz="2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B4966FAB-BFE4-F74B-8081-12BE398477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7884000"/>
              </p:ext>
            </p:extLst>
          </p:nvPr>
        </p:nvGraphicFramePr>
        <p:xfrm>
          <a:off x="6096000" y="2849880"/>
          <a:ext cx="251460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5400">
                  <a:extLst>
                    <a:ext uri="{9D8B030D-6E8A-4147-A177-3AD203B41FA5}">
                      <a16:colId xmlns:a16="http://schemas.microsoft.com/office/drawing/2014/main" val="978326069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120923574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Variable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value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09143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x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32467289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086531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y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269589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z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32467289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2728102"/>
                  </a:ext>
                </a:extLst>
              </a:tr>
            </a:tbl>
          </a:graphicData>
        </a:graphic>
      </p:graphicFrame>
      <p:sp>
        <p:nvSpPr>
          <p:cNvPr id="4" name="文本框 3">
            <a:extLst>
              <a:ext uri="{FF2B5EF4-FFF2-40B4-BE49-F238E27FC236}">
                <a16:creationId xmlns:a16="http://schemas.microsoft.com/office/drawing/2014/main" id="{16CC8A92-33CB-1441-ACDE-CAE708E66302}"/>
              </a:ext>
            </a:extLst>
          </p:cNvPr>
          <p:cNvSpPr txBox="1"/>
          <p:nvPr/>
        </p:nvSpPr>
        <p:spPr>
          <a:xfrm>
            <a:off x="3886200" y="3465513"/>
            <a:ext cx="2514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>
                <a:solidFill>
                  <a:srgbClr val="FF0000"/>
                </a:solidFill>
              </a:rPr>
              <a:t>x</a:t>
            </a:r>
            <a:r>
              <a:rPr kumimoji="1" lang="zh-CN" altLang="en-US" dirty="0">
                <a:solidFill>
                  <a:srgbClr val="FF0000"/>
                </a:solidFill>
              </a:rPr>
              <a:t> </a:t>
            </a:r>
            <a:r>
              <a:rPr kumimoji="1" lang="en-US" altLang="zh-CN" dirty="0">
                <a:solidFill>
                  <a:srgbClr val="FF0000"/>
                </a:solidFill>
              </a:rPr>
              <a:t>==</a:t>
            </a:r>
            <a:r>
              <a:rPr kumimoji="1" lang="zh-CN" altLang="en-US" dirty="0">
                <a:solidFill>
                  <a:srgbClr val="FF0000"/>
                </a:solidFill>
              </a:rPr>
              <a:t> </a:t>
            </a:r>
            <a:r>
              <a:rPr kumimoji="1" lang="en-US" altLang="zh-CN" dirty="0">
                <a:solidFill>
                  <a:srgbClr val="FF0000"/>
                </a:solidFill>
              </a:rPr>
              <a:t>32467289</a:t>
            </a:r>
            <a:endParaRPr kumimoji="1" lang="zh-CN" altLang="en-US" dirty="0">
              <a:solidFill>
                <a:srgbClr val="FF0000"/>
              </a:solidFill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53962435-670A-9246-8F8F-9CB704043B35}"/>
              </a:ext>
            </a:extLst>
          </p:cNvPr>
          <p:cNvSpPr txBox="1"/>
          <p:nvPr/>
        </p:nvSpPr>
        <p:spPr>
          <a:xfrm>
            <a:off x="2378033" y="4188190"/>
            <a:ext cx="2514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>
                <a:solidFill>
                  <a:srgbClr val="FF0000"/>
                </a:solidFill>
              </a:rPr>
              <a:t>x</a:t>
            </a:r>
            <a:r>
              <a:rPr kumimoji="1" lang="zh-CN" altLang="en-US" dirty="0">
                <a:solidFill>
                  <a:srgbClr val="FF0000"/>
                </a:solidFill>
              </a:rPr>
              <a:t> </a:t>
            </a:r>
            <a:r>
              <a:rPr kumimoji="1" lang="en-US" altLang="zh-CN" dirty="0">
                <a:solidFill>
                  <a:srgbClr val="FF0000"/>
                </a:solidFill>
              </a:rPr>
              <a:t>!=</a:t>
            </a:r>
            <a:r>
              <a:rPr kumimoji="1" lang="zh-CN" altLang="en-US" dirty="0">
                <a:solidFill>
                  <a:srgbClr val="FF0000"/>
                </a:solidFill>
              </a:rPr>
              <a:t> </a:t>
            </a:r>
            <a:r>
              <a:rPr kumimoji="1" lang="en-US" altLang="zh-CN" dirty="0">
                <a:solidFill>
                  <a:srgbClr val="FF0000"/>
                </a:solidFill>
              </a:rPr>
              <a:t>32467289</a:t>
            </a:r>
            <a:endParaRPr kumimoji="1" lang="zh-CN" altLang="en-US" dirty="0">
              <a:solidFill>
                <a:srgbClr val="FF0000"/>
              </a:solidFill>
            </a:endParaRPr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4702C8FA-F8FA-F444-BA6B-BDE112AFD3F1}"/>
              </a:ext>
            </a:extLst>
          </p:cNvPr>
          <p:cNvSpPr/>
          <p:nvPr/>
        </p:nvSpPr>
        <p:spPr>
          <a:xfrm>
            <a:off x="5047456" y="4557522"/>
            <a:ext cx="515144" cy="47167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</a:rPr>
              <a:t>if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43540515-0931-6E4D-87FE-971D0ED01997}"/>
              </a:ext>
            </a:extLst>
          </p:cNvPr>
          <p:cNvSpPr/>
          <p:nvPr/>
        </p:nvSpPr>
        <p:spPr>
          <a:xfrm>
            <a:off x="4038600" y="5533644"/>
            <a:ext cx="809917" cy="47167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</a:rPr>
              <a:t>x/y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670EC692-9AD1-8D42-BB84-06850F4BCD90}"/>
              </a:ext>
            </a:extLst>
          </p:cNvPr>
          <p:cNvSpPr/>
          <p:nvPr/>
        </p:nvSpPr>
        <p:spPr>
          <a:xfrm>
            <a:off x="5885656" y="5533644"/>
            <a:ext cx="743744" cy="47167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</a:rPr>
              <a:t>0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  <p:cxnSp>
        <p:nvCxnSpPr>
          <p:cNvPr id="11" name="直线箭头连接符 10">
            <a:extLst>
              <a:ext uri="{FF2B5EF4-FFF2-40B4-BE49-F238E27FC236}">
                <a16:creationId xmlns:a16="http://schemas.microsoft.com/office/drawing/2014/main" id="{C787FA67-125E-CB40-A90A-212309E1EBC2}"/>
              </a:ext>
            </a:extLst>
          </p:cNvPr>
          <p:cNvCxnSpPr>
            <a:cxnSpLocks/>
            <a:endCxn id="8" idx="7"/>
          </p:cNvCxnSpPr>
          <p:nvPr/>
        </p:nvCxnSpPr>
        <p:spPr>
          <a:xfrm flipH="1">
            <a:off x="4729907" y="4997037"/>
            <a:ext cx="413594" cy="60568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线箭头连接符 12">
            <a:extLst>
              <a:ext uri="{FF2B5EF4-FFF2-40B4-BE49-F238E27FC236}">
                <a16:creationId xmlns:a16="http://schemas.microsoft.com/office/drawing/2014/main" id="{BDDF3804-50E1-6A47-81B6-917D66AB53A6}"/>
              </a:ext>
            </a:extLst>
          </p:cNvPr>
          <p:cNvCxnSpPr>
            <a:cxnSpLocks/>
            <a:stCxn id="7" idx="5"/>
            <a:endCxn id="9" idx="1"/>
          </p:cNvCxnSpPr>
          <p:nvPr/>
        </p:nvCxnSpPr>
        <p:spPr>
          <a:xfrm>
            <a:off x="5487159" y="4960124"/>
            <a:ext cx="507416" cy="64259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文本框 17">
            <a:extLst>
              <a:ext uri="{FF2B5EF4-FFF2-40B4-BE49-F238E27FC236}">
                <a16:creationId xmlns:a16="http://schemas.microsoft.com/office/drawing/2014/main" id="{2228E79C-56AB-624B-976A-73916E626B48}"/>
              </a:ext>
            </a:extLst>
          </p:cNvPr>
          <p:cNvSpPr txBox="1"/>
          <p:nvPr/>
        </p:nvSpPr>
        <p:spPr>
          <a:xfrm>
            <a:off x="3581400" y="5089187"/>
            <a:ext cx="2514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>
                <a:solidFill>
                  <a:srgbClr val="FF0000"/>
                </a:solidFill>
              </a:rPr>
              <a:t>x</a:t>
            </a:r>
            <a:r>
              <a:rPr kumimoji="1" lang="zh-CN" altLang="en-US" dirty="0">
                <a:solidFill>
                  <a:srgbClr val="FF0000"/>
                </a:solidFill>
              </a:rPr>
              <a:t> </a:t>
            </a:r>
            <a:r>
              <a:rPr kumimoji="1" lang="en-US" altLang="zh-CN" dirty="0">
                <a:solidFill>
                  <a:srgbClr val="FF0000"/>
                </a:solidFill>
              </a:rPr>
              <a:t>==</a:t>
            </a:r>
            <a:r>
              <a:rPr kumimoji="1" lang="zh-CN" altLang="en-US" dirty="0">
                <a:solidFill>
                  <a:srgbClr val="FF0000"/>
                </a:solidFill>
              </a:rPr>
              <a:t> </a:t>
            </a:r>
            <a:r>
              <a:rPr kumimoji="1" lang="en-US" altLang="zh-CN" dirty="0">
                <a:solidFill>
                  <a:srgbClr val="FF0000"/>
                </a:solidFill>
              </a:rPr>
              <a:t>32467289</a:t>
            </a:r>
            <a:endParaRPr kumimoji="1" lang="zh-CN" altLang="en-US" dirty="0">
              <a:solidFill>
                <a:srgbClr val="FF0000"/>
              </a:solidFill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9068B14A-1066-8441-BA2E-E52C34050E02}"/>
              </a:ext>
            </a:extLst>
          </p:cNvPr>
          <p:cNvSpPr txBox="1"/>
          <p:nvPr/>
        </p:nvSpPr>
        <p:spPr>
          <a:xfrm>
            <a:off x="5715000" y="5037121"/>
            <a:ext cx="2514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>
                <a:solidFill>
                  <a:srgbClr val="FF0000"/>
                </a:solidFill>
              </a:rPr>
              <a:t>x</a:t>
            </a:r>
            <a:r>
              <a:rPr kumimoji="1" lang="zh-CN" altLang="en-US" dirty="0">
                <a:solidFill>
                  <a:srgbClr val="FF0000"/>
                </a:solidFill>
              </a:rPr>
              <a:t> </a:t>
            </a:r>
            <a:r>
              <a:rPr kumimoji="1" lang="en-US" altLang="zh-CN" dirty="0">
                <a:solidFill>
                  <a:srgbClr val="FF0000"/>
                </a:solidFill>
              </a:rPr>
              <a:t>!=</a:t>
            </a:r>
            <a:r>
              <a:rPr kumimoji="1" lang="zh-CN" altLang="en-US" dirty="0">
                <a:solidFill>
                  <a:srgbClr val="FF0000"/>
                </a:solidFill>
              </a:rPr>
              <a:t> </a:t>
            </a:r>
            <a:r>
              <a:rPr kumimoji="1" lang="en-US" altLang="zh-CN" dirty="0">
                <a:solidFill>
                  <a:srgbClr val="FF0000"/>
                </a:solidFill>
              </a:rPr>
              <a:t>32467289</a:t>
            </a:r>
            <a:endParaRPr kumimoji="1" lang="zh-CN" altLang="en-US" dirty="0">
              <a:solidFill>
                <a:srgbClr val="FF0000"/>
              </a:solidFill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882A3B29-562C-B442-B920-715D123070BC}"/>
              </a:ext>
            </a:extLst>
          </p:cNvPr>
          <p:cNvSpPr txBox="1"/>
          <p:nvPr/>
        </p:nvSpPr>
        <p:spPr>
          <a:xfrm>
            <a:off x="3563560" y="3846877"/>
            <a:ext cx="2514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>
                <a:solidFill>
                  <a:srgbClr val="FF0000"/>
                </a:solidFill>
              </a:rPr>
              <a:t>y==0</a:t>
            </a:r>
            <a:endParaRPr kumimoji="1" lang="zh-CN" altLang="en-US" dirty="0">
              <a:solidFill>
                <a:srgbClr val="FF0000"/>
              </a:solidFill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0F4A69B8-8E61-6842-95BC-E8F86FA5D007}"/>
              </a:ext>
            </a:extLst>
          </p:cNvPr>
          <p:cNvSpPr txBox="1"/>
          <p:nvPr/>
        </p:nvSpPr>
        <p:spPr>
          <a:xfrm>
            <a:off x="4008312" y="5999705"/>
            <a:ext cx="2514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>
                <a:solidFill>
                  <a:srgbClr val="FF0000"/>
                </a:solidFill>
              </a:rPr>
              <a:t>y==0</a:t>
            </a:r>
            <a:endParaRPr kumimoji="1" lang="zh-CN" altLang="en-US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9CA5E1BA-3DA7-A34E-B6B8-95FB4E3A17BC}"/>
                  </a:ext>
                </a:extLst>
              </p:cNvPr>
              <p:cNvSpPr txBox="1"/>
              <p:nvPr/>
            </p:nvSpPr>
            <p:spPr>
              <a:xfrm>
                <a:off x="238286" y="5348978"/>
                <a:ext cx="344462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dirty="0">
                    <a:solidFill>
                      <a:srgbClr val="FF0000"/>
                    </a:solidFill>
                  </a:rPr>
                  <a:t>x</a:t>
                </a:r>
                <a:r>
                  <a:rPr kumimoji="1" lang="zh-CN" altLang="en-US" dirty="0">
                    <a:solidFill>
                      <a:srgbClr val="FF0000"/>
                    </a:solidFill>
                  </a:rPr>
                  <a:t> </a:t>
                </a:r>
                <a:r>
                  <a:rPr kumimoji="1" lang="en-US" altLang="zh-CN" dirty="0">
                    <a:solidFill>
                      <a:srgbClr val="FF0000"/>
                    </a:solidFill>
                  </a:rPr>
                  <a:t>==</a:t>
                </a:r>
                <a:r>
                  <a:rPr kumimoji="1" lang="zh-CN" altLang="en-US" dirty="0">
                    <a:solidFill>
                      <a:srgbClr val="FF0000"/>
                    </a:solidFill>
                  </a:rPr>
                  <a:t> </a:t>
                </a:r>
                <a:r>
                  <a:rPr kumimoji="1" lang="en-US" altLang="zh-CN" dirty="0">
                    <a:solidFill>
                      <a:srgbClr val="FF0000"/>
                    </a:solidFill>
                  </a:rPr>
                  <a:t>32467289</a:t>
                </a:r>
                <a:r>
                  <a:rPr kumimoji="1" lang="zh-CN" altLang="en-US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kumimoji="1" lang="zh-CN" altLang="en-US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∧ </m:t>
                    </m:r>
                  </m:oMath>
                </a14:m>
                <a:r>
                  <a:rPr kumimoji="1" lang="en-US" altLang="zh-CN" dirty="0">
                    <a:solidFill>
                      <a:srgbClr val="FF0000"/>
                    </a:solidFill>
                  </a:rPr>
                  <a:t> y==0</a:t>
                </a:r>
                <a:endParaRPr kumimoji="1" lang="zh-CN" alt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9CA5E1BA-3DA7-A34E-B6B8-95FB4E3A17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8286" y="5348978"/>
                <a:ext cx="3444624" cy="369332"/>
              </a:xfrm>
              <a:prstGeom prst="rect">
                <a:avLst/>
              </a:prstGeom>
              <a:blipFill>
                <a:blip r:embed="rId2"/>
                <a:stretch>
                  <a:fillRect l="-1471" t="-3333" b="-23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文本框 20">
            <a:extLst>
              <a:ext uri="{FF2B5EF4-FFF2-40B4-BE49-F238E27FC236}">
                <a16:creationId xmlns:a16="http://schemas.microsoft.com/office/drawing/2014/main" id="{454C19DE-9929-1D48-AA04-27A7D1EF5C68}"/>
              </a:ext>
            </a:extLst>
          </p:cNvPr>
          <p:cNvSpPr txBox="1"/>
          <p:nvPr/>
        </p:nvSpPr>
        <p:spPr>
          <a:xfrm>
            <a:off x="228600" y="5879068"/>
            <a:ext cx="34446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The</a:t>
            </a:r>
            <a:r>
              <a:rPr kumimoji="1" lang="zh-CN" altLang="en-US" dirty="0"/>
              <a:t> </a:t>
            </a:r>
            <a:r>
              <a:rPr kumimoji="1" lang="en-US" altLang="zh-CN" dirty="0"/>
              <a:t>model:</a:t>
            </a:r>
          </a:p>
          <a:p>
            <a:r>
              <a:rPr kumimoji="1" lang="en-US" altLang="zh-CN" dirty="0">
                <a:solidFill>
                  <a:srgbClr val="FF0000"/>
                </a:solidFill>
              </a:rPr>
              <a:t>[x</a:t>
            </a:r>
            <a:r>
              <a:rPr kumimoji="1" lang="zh-CN" altLang="en-US" dirty="0">
                <a:solidFill>
                  <a:srgbClr val="FF0000"/>
                </a:solidFill>
              </a:rPr>
              <a:t> </a:t>
            </a:r>
            <a:r>
              <a:rPr kumimoji="1" lang="en-US" altLang="zh-CN" dirty="0">
                <a:solidFill>
                  <a:srgbClr val="FF0000"/>
                </a:solidFill>
              </a:rPr>
              <a:t>=</a:t>
            </a:r>
            <a:r>
              <a:rPr kumimoji="1" lang="zh-CN" altLang="en-US" dirty="0">
                <a:solidFill>
                  <a:srgbClr val="FF0000"/>
                </a:solidFill>
              </a:rPr>
              <a:t> </a:t>
            </a:r>
            <a:r>
              <a:rPr kumimoji="1" lang="en-US" altLang="zh-CN" dirty="0">
                <a:solidFill>
                  <a:srgbClr val="FF0000"/>
                </a:solidFill>
              </a:rPr>
              <a:t>32467289,</a:t>
            </a:r>
            <a:r>
              <a:rPr kumimoji="1" lang="zh-CN" altLang="en-US" dirty="0">
                <a:solidFill>
                  <a:srgbClr val="FF0000"/>
                </a:solidFill>
              </a:rPr>
              <a:t> </a:t>
            </a:r>
            <a:r>
              <a:rPr kumimoji="1" lang="en-US" altLang="zh-CN" dirty="0">
                <a:solidFill>
                  <a:srgbClr val="FF0000"/>
                </a:solidFill>
              </a:rPr>
              <a:t>y==0]</a:t>
            </a:r>
            <a:endParaRPr kumimoji="1" lang="zh-CN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1788614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603FE81-F250-B74D-8CD8-B01DFE0A74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Architecture</a:t>
            </a:r>
            <a:endParaRPr kumimoji="1" lang="zh-CN" altLang="en-US" dirty="0"/>
          </a:p>
        </p:txBody>
      </p:sp>
      <p:sp>
        <p:nvSpPr>
          <p:cNvPr id="4" name="圆角矩形 3">
            <a:extLst>
              <a:ext uri="{FF2B5EF4-FFF2-40B4-BE49-F238E27FC236}">
                <a16:creationId xmlns:a16="http://schemas.microsoft.com/office/drawing/2014/main" id="{03767781-B157-4049-BCB7-5F17666786F1}"/>
              </a:ext>
            </a:extLst>
          </p:cNvPr>
          <p:cNvSpPr/>
          <p:nvPr/>
        </p:nvSpPr>
        <p:spPr>
          <a:xfrm>
            <a:off x="1905000" y="2971800"/>
            <a:ext cx="1828800" cy="6858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</a:rPr>
              <a:t>symbolic</a:t>
            </a:r>
            <a:r>
              <a:rPr kumimoji="1" lang="zh-CN" altLang="en-US" dirty="0">
                <a:solidFill>
                  <a:schemeClr val="tx1"/>
                </a:solidFill>
              </a:rPr>
              <a:t> </a:t>
            </a:r>
            <a:r>
              <a:rPr kumimoji="1" lang="en-US" altLang="zh-CN" dirty="0">
                <a:solidFill>
                  <a:schemeClr val="tx1"/>
                </a:solidFill>
              </a:rPr>
              <a:t>executor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  <p:cxnSp>
        <p:nvCxnSpPr>
          <p:cNvPr id="6" name="直线箭头连接符 5">
            <a:extLst>
              <a:ext uri="{FF2B5EF4-FFF2-40B4-BE49-F238E27FC236}">
                <a16:creationId xmlns:a16="http://schemas.microsoft.com/office/drawing/2014/main" id="{70F9ACAD-1A1F-424B-90EE-EB751E576BA0}"/>
              </a:ext>
            </a:extLst>
          </p:cNvPr>
          <p:cNvCxnSpPr>
            <a:endCxn id="4" idx="0"/>
          </p:cNvCxnSpPr>
          <p:nvPr/>
        </p:nvCxnSpPr>
        <p:spPr>
          <a:xfrm>
            <a:off x="2819400" y="2438400"/>
            <a:ext cx="0" cy="53340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圆角矩形 7">
            <a:extLst>
              <a:ext uri="{FF2B5EF4-FFF2-40B4-BE49-F238E27FC236}">
                <a16:creationId xmlns:a16="http://schemas.microsoft.com/office/drawing/2014/main" id="{AB9FE6DE-A05B-1448-BC04-9922F9AFA937}"/>
              </a:ext>
            </a:extLst>
          </p:cNvPr>
          <p:cNvSpPr/>
          <p:nvPr/>
        </p:nvSpPr>
        <p:spPr>
          <a:xfrm>
            <a:off x="4419600" y="4267200"/>
            <a:ext cx="1828800" cy="6858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</a:rPr>
              <a:t>solver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9BA704E6-C80F-D849-92DB-71AA540A7BD5}"/>
              </a:ext>
            </a:extLst>
          </p:cNvPr>
          <p:cNvSpPr txBox="1"/>
          <p:nvPr/>
        </p:nvSpPr>
        <p:spPr>
          <a:xfrm>
            <a:off x="2286000" y="2145268"/>
            <a:ext cx="1219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programs</a:t>
            </a:r>
            <a:endParaRPr kumimoji="1" lang="zh-CN" altLang="en-US" dirty="0"/>
          </a:p>
        </p:txBody>
      </p:sp>
      <p:cxnSp>
        <p:nvCxnSpPr>
          <p:cNvPr id="10" name="直线箭头连接符 9">
            <a:extLst>
              <a:ext uri="{FF2B5EF4-FFF2-40B4-BE49-F238E27FC236}">
                <a16:creationId xmlns:a16="http://schemas.microsoft.com/office/drawing/2014/main" id="{28F0718D-97D8-1946-8548-08817CFA0832}"/>
              </a:ext>
            </a:extLst>
          </p:cNvPr>
          <p:cNvCxnSpPr/>
          <p:nvPr/>
        </p:nvCxnSpPr>
        <p:spPr>
          <a:xfrm>
            <a:off x="2819400" y="3645932"/>
            <a:ext cx="0" cy="53340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本框 10">
            <a:extLst>
              <a:ext uri="{FF2B5EF4-FFF2-40B4-BE49-F238E27FC236}">
                <a16:creationId xmlns:a16="http://schemas.microsoft.com/office/drawing/2014/main" id="{C9DEFBC3-EB08-D344-BA57-4994B523089D}"/>
              </a:ext>
            </a:extLst>
          </p:cNvPr>
          <p:cNvSpPr txBox="1"/>
          <p:nvPr/>
        </p:nvSpPr>
        <p:spPr>
          <a:xfrm>
            <a:off x="2209800" y="4142325"/>
            <a:ext cx="12954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path conditions/obligations</a:t>
            </a:r>
            <a:endParaRPr kumimoji="1" lang="zh-CN" altLang="en-US" dirty="0"/>
          </a:p>
        </p:txBody>
      </p:sp>
      <p:cxnSp>
        <p:nvCxnSpPr>
          <p:cNvPr id="12" name="直线箭头连接符 11">
            <a:extLst>
              <a:ext uri="{FF2B5EF4-FFF2-40B4-BE49-F238E27FC236}">
                <a16:creationId xmlns:a16="http://schemas.microsoft.com/office/drawing/2014/main" id="{FFB774CF-2BBA-CE46-8CEE-C8F54EE31F4D}"/>
              </a:ext>
            </a:extLst>
          </p:cNvPr>
          <p:cNvCxnSpPr>
            <a:cxnSpLocks/>
            <a:stCxn id="11" idx="3"/>
            <a:endCxn id="8" idx="1"/>
          </p:cNvCxnSpPr>
          <p:nvPr/>
        </p:nvCxnSpPr>
        <p:spPr>
          <a:xfrm>
            <a:off x="3505200" y="4603990"/>
            <a:ext cx="914400" cy="611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线箭头连接符 15">
            <a:extLst>
              <a:ext uri="{FF2B5EF4-FFF2-40B4-BE49-F238E27FC236}">
                <a16:creationId xmlns:a16="http://schemas.microsoft.com/office/drawing/2014/main" id="{815FC9B0-73E0-BA43-929B-5240F3BDD625}"/>
              </a:ext>
            </a:extLst>
          </p:cNvPr>
          <p:cNvCxnSpPr>
            <a:cxnSpLocks/>
            <a:stCxn id="8" idx="0"/>
          </p:cNvCxnSpPr>
          <p:nvPr/>
        </p:nvCxnSpPr>
        <p:spPr>
          <a:xfrm flipV="1">
            <a:off x="5334000" y="3499366"/>
            <a:ext cx="0" cy="76783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文本框 18">
            <a:extLst>
              <a:ext uri="{FF2B5EF4-FFF2-40B4-BE49-F238E27FC236}">
                <a16:creationId xmlns:a16="http://schemas.microsoft.com/office/drawing/2014/main" id="{2392BF16-4AE8-6B45-AFF7-460651F0278E}"/>
              </a:ext>
            </a:extLst>
          </p:cNvPr>
          <p:cNvSpPr txBox="1"/>
          <p:nvPr/>
        </p:nvSpPr>
        <p:spPr>
          <a:xfrm>
            <a:off x="4876800" y="3130034"/>
            <a:ext cx="1295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model</a:t>
            </a:r>
            <a:endParaRPr kumimoji="1" lang="zh-CN" altLang="en-US" dirty="0"/>
          </a:p>
        </p:txBody>
      </p:sp>
      <p:cxnSp>
        <p:nvCxnSpPr>
          <p:cNvPr id="20" name="直线箭头连接符 19">
            <a:extLst>
              <a:ext uri="{FF2B5EF4-FFF2-40B4-BE49-F238E27FC236}">
                <a16:creationId xmlns:a16="http://schemas.microsoft.com/office/drawing/2014/main" id="{85951958-1ED2-174A-B780-10A6F541F9B2}"/>
              </a:ext>
            </a:extLst>
          </p:cNvPr>
          <p:cNvCxnSpPr>
            <a:cxnSpLocks/>
          </p:cNvCxnSpPr>
          <p:nvPr/>
        </p:nvCxnSpPr>
        <p:spPr>
          <a:xfrm>
            <a:off x="5638800" y="3330833"/>
            <a:ext cx="1219200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圆角矩形 22">
            <a:extLst>
              <a:ext uri="{FF2B5EF4-FFF2-40B4-BE49-F238E27FC236}">
                <a16:creationId xmlns:a16="http://schemas.microsoft.com/office/drawing/2014/main" id="{9A0D8238-4C72-934E-B577-7D0B96B762AF}"/>
              </a:ext>
            </a:extLst>
          </p:cNvPr>
          <p:cNvSpPr/>
          <p:nvPr/>
        </p:nvSpPr>
        <p:spPr>
          <a:xfrm>
            <a:off x="6858000" y="2971800"/>
            <a:ext cx="1828800" cy="6858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</a:rPr>
              <a:t>concrete</a:t>
            </a:r>
          </a:p>
          <a:p>
            <a:pPr algn="ctr"/>
            <a:r>
              <a:rPr kumimoji="1" lang="zh-CN" altLang="en-US" dirty="0">
                <a:solidFill>
                  <a:schemeClr val="tx1"/>
                </a:solidFill>
              </a:rPr>
              <a:t> </a:t>
            </a:r>
            <a:r>
              <a:rPr kumimoji="1" lang="en-US" altLang="zh-CN" dirty="0">
                <a:solidFill>
                  <a:schemeClr val="tx1"/>
                </a:solidFill>
              </a:rPr>
              <a:t>execution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  <p:cxnSp>
        <p:nvCxnSpPr>
          <p:cNvPr id="24" name="直线箭头连接符 23">
            <a:extLst>
              <a:ext uri="{FF2B5EF4-FFF2-40B4-BE49-F238E27FC236}">
                <a16:creationId xmlns:a16="http://schemas.microsoft.com/office/drawing/2014/main" id="{99688B17-6044-6F47-8B44-2E85832B04A8}"/>
              </a:ext>
            </a:extLst>
          </p:cNvPr>
          <p:cNvCxnSpPr/>
          <p:nvPr/>
        </p:nvCxnSpPr>
        <p:spPr>
          <a:xfrm>
            <a:off x="7766384" y="3624241"/>
            <a:ext cx="0" cy="53340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文本框 24">
            <a:extLst>
              <a:ext uri="{FF2B5EF4-FFF2-40B4-BE49-F238E27FC236}">
                <a16:creationId xmlns:a16="http://schemas.microsoft.com/office/drawing/2014/main" id="{6C555C02-E996-084C-8471-12F58068EC84}"/>
              </a:ext>
            </a:extLst>
          </p:cNvPr>
          <p:cNvSpPr txBox="1"/>
          <p:nvPr/>
        </p:nvSpPr>
        <p:spPr>
          <a:xfrm>
            <a:off x="7156783" y="4120634"/>
            <a:ext cx="17871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bug</a:t>
            </a:r>
            <a:r>
              <a:rPr kumimoji="1" lang="zh-CN" altLang="en-US" dirty="0"/>
              <a:t> </a:t>
            </a:r>
            <a:r>
              <a:rPr kumimoji="1" lang="en-US" altLang="zh-CN" dirty="0"/>
              <a:t>triggered?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5636368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83B1A98-5D2E-F84C-8A75-A8FC62CA10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The</a:t>
            </a:r>
            <a:r>
              <a:rPr kumimoji="1" lang="zh-CN" altLang="en-US" dirty="0"/>
              <a:t> </a:t>
            </a:r>
            <a:r>
              <a:rPr kumimoji="1" lang="en-US" altLang="zh-CN" dirty="0"/>
              <a:t>general</a:t>
            </a:r>
            <a:r>
              <a:rPr kumimoji="1" lang="zh-CN" altLang="en-US" dirty="0"/>
              <a:t> </a:t>
            </a:r>
            <a:r>
              <a:rPr kumimoji="1" lang="en-US" altLang="zh-CN" dirty="0"/>
              <a:t>form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EA67DCE-2389-6343-AFC1-54E1B9454D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// Conceptually,</a:t>
            </a:r>
            <a:r>
              <a: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path conditions accumulate:</a:t>
            </a:r>
          </a:p>
          <a:p>
            <a:pPr marL="0" indent="0">
              <a:buNone/>
            </a:pPr>
            <a:r>
              <a:rPr kumimoji="1" lang="en-US" altLang="zh-CN" sz="2000" b="1" dirty="0" err="1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foo(</a:t>
            </a:r>
            <a:r>
              <a:rPr kumimoji="1" lang="en-US" altLang="zh-CN" sz="2000" b="1" dirty="0" err="1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x,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 err="1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y){</a:t>
            </a:r>
          </a:p>
          <a:p>
            <a:pPr marL="0" indent="0">
              <a:buNone/>
            </a:pP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if(b1)</a:t>
            </a:r>
          </a:p>
          <a:p>
            <a:pPr marL="0" indent="0">
              <a:buNone/>
            </a:pP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if(b2)</a:t>
            </a:r>
          </a:p>
          <a:p>
            <a:pPr marL="0" indent="0">
              <a:buNone/>
            </a:pP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if(…)</a:t>
            </a:r>
          </a:p>
          <a:p>
            <a:pPr marL="0" indent="0">
              <a:buNone/>
            </a:pP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if(</a:t>
            </a:r>
            <a:r>
              <a:rPr kumimoji="1" lang="en-US" altLang="zh-CN" sz="2000" b="1" dirty="0" err="1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bn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>
              <a:buNone/>
            </a:pP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x/y;</a:t>
            </a:r>
          </a:p>
          <a:p>
            <a:pPr marL="0" indent="0">
              <a:buNone/>
            </a:pP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else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…;</a:t>
            </a:r>
          </a:p>
          <a:p>
            <a:pPr marL="0" indent="0">
              <a:buNone/>
            </a:pP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else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…;</a:t>
            </a:r>
          </a:p>
          <a:p>
            <a:pPr marL="0" indent="0">
              <a:buNone/>
            </a:pP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else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…;</a:t>
            </a:r>
          </a:p>
          <a:p>
            <a:pPr marL="0" indent="0">
              <a:buNone/>
            </a:pP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else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0;</a:t>
            </a:r>
          </a:p>
          <a:p>
            <a:pPr marL="0" indent="0">
              <a:buNone/>
            </a:pP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3CAB474-848C-174C-A1B2-CAE97B6BBDBB}"/>
              </a:ext>
            </a:extLst>
          </p:cNvPr>
          <p:cNvSpPr txBox="1"/>
          <p:nvPr/>
        </p:nvSpPr>
        <p:spPr>
          <a:xfrm>
            <a:off x="2667000" y="2743200"/>
            <a:ext cx="2514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>
                <a:solidFill>
                  <a:srgbClr val="FF0000"/>
                </a:solidFill>
              </a:rPr>
              <a:t>b1</a:t>
            </a:r>
            <a:endParaRPr kumimoji="1" lang="zh-CN" altLang="en-US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4A2103AA-E32F-804E-B059-CA67B953088B}"/>
                  </a:ext>
                </a:extLst>
              </p:cNvPr>
              <p:cNvSpPr txBox="1"/>
              <p:nvPr/>
            </p:nvSpPr>
            <p:spPr>
              <a:xfrm>
                <a:off x="2819400" y="3135868"/>
                <a:ext cx="25146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dirty="0">
                    <a:solidFill>
                      <a:srgbClr val="FF0000"/>
                    </a:solidFill>
                  </a:rPr>
                  <a:t>b1</a:t>
                </a:r>
                <a:r>
                  <a:rPr kumimoji="1" lang="zh-CN" altLang="en-US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kumimoji="1" lang="zh-CN" altLang="en-US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∧ </m:t>
                    </m:r>
                  </m:oMath>
                </a14:m>
                <a:r>
                  <a:rPr kumimoji="1" lang="en-US" altLang="zh-CN" dirty="0">
                    <a:solidFill>
                      <a:srgbClr val="FF0000"/>
                    </a:solidFill>
                  </a:rPr>
                  <a:t>b2</a:t>
                </a:r>
                <a:endParaRPr kumimoji="1" lang="zh-CN" alt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4A2103AA-E32F-804E-B059-CA67B95308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19400" y="3135868"/>
                <a:ext cx="2514600" cy="369332"/>
              </a:xfrm>
              <a:prstGeom prst="rect">
                <a:avLst/>
              </a:prstGeom>
              <a:blipFill>
                <a:blip r:embed="rId2"/>
                <a:stretch>
                  <a:fillRect l="-2010" t="-6667" b="-23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D78926F9-7193-5D4A-9239-5B28AB5A5968}"/>
                  </a:ext>
                </a:extLst>
              </p:cNvPr>
              <p:cNvSpPr txBox="1"/>
              <p:nvPr/>
            </p:nvSpPr>
            <p:spPr>
              <a:xfrm>
                <a:off x="2971800" y="3516868"/>
                <a:ext cx="25146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dirty="0">
                    <a:solidFill>
                      <a:srgbClr val="FF0000"/>
                    </a:solidFill>
                  </a:rPr>
                  <a:t>b1</a:t>
                </a:r>
                <a:r>
                  <a:rPr kumimoji="1" lang="zh-CN" altLang="en-US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kumimoji="1" lang="zh-CN" altLang="en-US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∧ </m:t>
                    </m:r>
                  </m:oMath>
                </a14:m>
                <a:r>
                  <a:rPr kumimoji="1" lang="en-US" altLang="zh-CN" dirty="0">
                    <a:solidFill>
                      <a:srgbClr val="FF0000"/>
                    </a:solidFill>
                  </a:rPr>
                  <a:t>b2</a:t>
                </a:r>
                <a:r>
                  <a:rPr kumimoji="1" lang="zh-CN" altLang="en-US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kumimoji="1" lang="zh-CN" altLang="en-US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∧</m:t>
                    </m:r>
                  </m:oMath>
                </a14:m>
                <a:r>
                  <a:rPr kumimoji="1" lang="en-US" altLang="zh-CN" dirty="0">
                    <a:solidFill>
                      <a:srgbClr val="FF0000"/>
                    </a:solidFill>
                  </a:rPr>
                  <a:t> ...</a:t>
                </a:r>
                <a:endParaRPr kumimoji="1" lang="zh-CN" alt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D78926F9-7193-5D4A-9239-5B28AB5A59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71800" y="3516868"/>
                <a:ext cx="2514600" cy="369332"/>
              </a:xfrm>
              <a:prstGeom prst="rect">
                <a:avLst/>
              </a:prstGeom>
              <a:blipFill>
                <a:blip r:embed="rId3"/>
                <a:stretch>
                  <a:fillRect l="-2010" t="-6667" b="-23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9B8A85D3-A4C5-4843-BA42-2523CDC0C651}"/>
                  </a:ext>
                </a:extLst>
              </p:cNvPr>
              <p:cNvSpPr txBox="1"/>
              <p:nvPr/>
            </p:nvSpPr>
            <p:spPr>
              <a:xfrm>
                <a:off x="3429000" y="3897868"/>
                <a:ext cx="25146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dirty="0">
                    <a:solidFill>
                      <a:srgbClr val="FF0000"/>
                    </a:solidFill>
                  </a:rPr>
                  <a:t>b1</a:t>
                </a:r>
                <a:r>
                  <a:rPr kumimoji="1" lang="zh-CN" altLang="en-US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kumimoji="1" lang="zh-CN" altLang="en-US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∧ </m:t>
                    </m:r>
                  </m:oMath>
                </a14:m>
                <a:r>
                  <a:rPr kumimoji="1" lang="en-US" altLang="zh-CN" dirty="0">
                    <a:solidFill>
                      <a:srgbClr val="FF0000"/>
                    </a:solidFill>
                  </a:rPr>
                  <a:t>b2</a:t>
                </a:r>
                <a:r>
                  <a:rPr kumimoji="1" lang="zh-CN" altLang="en-US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kumimoji="1" lang="zh-CN" altLang="en-US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∧</m:t>
                    </m:r>
                  </m:oMath>
                </a14:m>
                <a:r>
                  <a:rPr kumimoji="1" lang="en-US" altLang="zh-CN" dirty="0">
                    <a:solidFill>
                      <a:srgbClr val="FF0000"/>
                    </a:solidFill>
                  </a:rPr>
                  <a:t> ...</a:t>
                </a:r>
                <a:r>
                  <a:rPr kumimoji="1" lang="zh-CN" altLang="en-US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kumimoji="1" lang="zh-CN" altLang="en-US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∧ </m:t>
                    </m:r>
                  </m:oMath>
                </a14:m>
                <a:r>
                  <a:rPr kumimoji="1" lang="en-US" altLang="zh-CN" dirty="0" err="1">
                    <a:solidFill>
                      <a:srgbClr val="FF0000"/>
                    </a:solidFill>
                  </a:rPr>
                  <a:t>bn</a:t>
                </a:r>
                <a:endParaRPr kumimoji="1" lang="zh-CN" alt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9B8A85D3-A4C5-4843-BA42-2523CDC0C6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29000" y="3897868"/>
                <a:ext cx="2514600" cy="369332"/>
              </a:xfrm>
              <a:prstGeom prst="rect">
                <a:avLst/>
              </a:prstGeom>
              <a:blipFill>
                <a:blip r:embed="rId4"/>
                <a:stretch>
                  <a:fillRect l="-2010" t="-6667" b="-23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6951C529-A491-4C4E-80DF-569B195872A9}"/>
                  </a:ext>
                </a:extLst>
              </p:cNvPr>
              <p:cNvSpPr txBox="1"/>
              <p:nvPr/>
            </p:nvSpPr>
            <p:spPr>
              <a:xfrm>
                <a:off x="4572000" y="4278868"/>
                <a:ext cx="36576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dirty="0">
                    <a:solidFill>
                      <a:srgbClr val="FF0000"/>
                    </a:solidFill>
                  </a:rPr>
                  <a:t>b1</a:t>
                </a:r>
                <a:r>
                  <a:rPr kumimoji="1" lang="zh-CN" altLang="en-US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kumimoji="1" lang="zh-CN" altLang="en-US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∧ </m:t>
                    </m:r>
                  </m:oMath>
                </a14:m>
                <a:r>
                  <a:rPr kumimoji="1" lang="en-US" altLang="zh-CN" dirty="0">
                    <a:solidFill>
                      <a:srgbClr val="FF0000"/>
                    </a:solidFill>
                  </a:rPr>
                  <a:t>b2</a:t>
                </a:r>
                <a:r>
                  <a:rPr kumimoji="1" lang="zh-CN" altLang="en-US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kumimoji="1" lang="zh-CN" altLang="en-US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∧</m:t>
                    </m:r>
                  </m:oMath>
                </a14:m>
                <a:r>
                  <a:rPr kumimoji="1" lang="en-US" altLang="zh-CN" dirty="0">
                    <a:solidFill>
                      <a:srgbClr val="FF0000"/>
                    </a:solidFill>
                  </a:rPr>
                  <a:t> ...</a:t>
                </a:r>
                <a:r>
                  <a:rPr kumimoji="1" lang="zh-CN" altLang="en-US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kumimoji="1" lang="zh-CN" altLang="en-US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∧ </m:t>
                    </m:r>
                  </m:oMath>
                </a14:m>
                <a:r>
                  <a:rPr kumimoji="1" lang="en-US" altLang="zh-CN" dirty="0" err="1">
                    <a:solidFill>
                      <a:srgbClr val="FF0000"/>
                    </a:solidFill>
                  </a:rPr>
                  <a:t>bn</a:t>
                </a:r>
                <a:r>
                  <a:rPr kumimoji="1" lang="zh-CN" altLang="en-US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kumimoji="1" lang="zh-CN" altLang="en-US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∧ </m:t>
                    </m:r>
                  </m:oMath>
                </a14:m>
                <a:r>
                  <a:rPr kumimoji="1" lang="en-US" altLang="zh-CN" dirty="0">
                    <a:solidFill>
                      <a:srgbClr val="FF0000"/>
                    </a:solidFill>
                  </a:rPr>
                  <a:t>y==0</a:t>
                </a:r>
                <a:endParaRPr kumimoji="1" lang="zh-CN" alt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6951C529-A491-4C4E-80DF-569B195872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0" y="4278868"/>
                <a:ext cx="3657600" cy="369332"/>
              </a:xfrm>
              <a:prstGeom prst="rect">
                <a:avLst/>
              </a:prstGeom>
              <a:blipFill>
                <a:blip r:embed="rId5"/>
                <a:stretch>
                  <a:fillRect l="-1389" t="-6667" b="-23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9E86442F-CA93-A545-BDD4-158DD9EBC318}"/>
                  </a:ext>
                </a:extLst>
              </p:cNvPr>
              <p:cNvSpPr txBox="1"/>
              <p:nvPr/>
            </p:nvSpPr>
            <p:spPr>
              <a:xfrm>
                <a:off x="3581400" y="4608513"/>
                <a:ext cx="25146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dirty="0">
                    <a:solidFill>
                      <a:srgbClr val="FF0000"/>
                    </a:solidFill>
                  </a:rPr>
                  <a:t>b1</a:t>
                </a:r>
                <a:r>
                  <a:rPr kumimoji="1" lang="zh-CN" altLang="en-US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kumimoji="1" lang="zh-CN" altLang="en-US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∧ </m:t>
                    </m:r>
                  </m:oMath>
                </a14:m>
                <a:r>
                  <a:rPr kumimoji="1" lang="en-US" altLang="zh-CN" dirty="0">
                    <a:solidFill>
                      <a:srgbClr val="FF0000"/>
                    </a:solidFill>
                  </a:rPr>
                  <a:t>b2</a:t>
                </a:r>
                <a:r>
                  <a:rPr kumimoji="1" lang="zh-CN" altLang="en-US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kumimoji="1" lang="zh-CN" altLang="en-US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∧</m:t>
                    </m:r>
                  </m:oMath>
                </a14:m>
                <a:r>
                  <a:rPr kumimoji="1" lang="en-US" altLang="zh-CN" dirty="0">
                    <a:solidFill>
                      <a:srgbClr val="FF0000"/>
                    </a:solidFill>
                  </a:rPr>
                  <a:t> ...</a:t>
                </a:r>
                <a:r>
                  <a:rPr kumimoji="1" lang="zh-CN" altLang="en-US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kumimoji="1" lang="zh-CN" altLang="en-US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∧ </m:t>
                    </m:r>
                    <m:r>
                      <a:rPr kumimoji="1" lang="en-US" altLang="zh-CN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¬</m:t>
                    </m:r>
                  </m:oMath>
                </a14:m>
                <a:r>
                  <a:rPr kumimoji="1" lang="en-US" altLang="zh-CN" dirty="0" err="1">
                    <a:solidFill>
                      <a:srgbClr val="FF0000"/>
                    </a:solidFill>
                  </a:rPr>
                  <a:t>bn</a:t>
                </a:r>
                <a:endParaRPr kumimoji="1" lang="zh-CN" alt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9E86442F-CA93-A545-BDD4-158DD9EBC3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81400" y="4608513"/>
                <a:ext cx="2514600" cy="369332"/>
              </a:xfrm>
              <a:prstGeom prst="rect">
                <a:avLst/>
              </a:prstGeom>
              <a:blipFill>
                <a:blip r:embed="rId6"/>
                <a:stretch>
                  <a:fillRect l="-2010" t="-6667" b="-23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31F185D7-C6AB-2247-AE60-A8E05673C313}"/>
                  </a:ext>
                </a:extLst>
              </p:cNvPr>
              <p:cNvSpPr txBox="1"/>
              <p:nvPr/>
            </p:nvSpPr>
            <p:spPr>
              <a:xfrm>
                <a:off x="3276600" y="4964668"/>
                <a:ext cx="25146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dirty="0">
                    <a:solidFill>
                      <a:srgbClr val="FF0000"/>
                    </a:solidFill>
                  </a:rPr>
                  <a:t>b1</a:t>
                </a:r>
                <a:r>
                  <a:rPr kumimoji="1" lang="zh-CN" altLang="en-US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kumimoji="1" lang="zh-CN" altLang="en-US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∧ </m:t>
                    </m:r>
                  </m:oMath>
                </a14:m>
                <a:r>
                  <a:rPr kumimoji="1" lang="en-US" altLang="zh-CN" dirty="0">
                    <a:solidFill>
                      <a:srgbClr val="FF0000"/>
                    </a:solidFill>
                  </a:rPr>
                  <a:t>b2</a:t>
                </a:r>
                <a:r>
                  <a:rPr kumimoji="1" lang="zh-CN" altLang="en-US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kumimoji="1" lang="zh-CN" altLang="en-US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∧</m:t>
                    </m:r>
                  </m:oMath>
                </a14:m>
                <a:r>
                  <a:rPr kumimoji="1" lang="en-US" altLang="zh-CN" dirty="0">
                    <a:solidFill>
                      <a:srgbClr val="FF0000"/>
                    </a:solidFill>
                  </a:rPr>
                  <a:t> ...</a:t>
                </a:r>
                <a:r>
                  <a:rPr kumimoji="1" lang="zh-CN" altLang="en-US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kumimoji="1" lang="zh-CN" altLang="en-US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∧ </m:t>
                    </m:r>
                    <m:r>
                      <a:rPr kumimoji="1" lang="en-US" altLang="zh-CN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¬</m:t>
                    </m:r>
                  </m:oMath>
                </a14:m>
                <a:r>
                  <a:rPr kumimoji="1" lang="en-US" altLang="zh-CN" dirty="0">
                    <a:solidFill>
                      <a:srgbClr val="FF0000"/>
                    </a:solidFill>
                  </a:rPr>
                  <a:t>bn-1</a:t>
                </a:r>
                <a:endParaRPr kumimoji="1" lang="zh-CN" alt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31F185D7-C6AB-2247-AE60-A8E05673C3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6600" y="4964668"/>
                <a:ext cx="2514600" cy="369332"/>
              </a:xfrm>
              <a:prstGeom prst="rect">
                <a:avLst/>
              </a:prstGeom>
              <a:blipFill>
                <a:blip r:embed="rId7"/>
                <a:stretch>
                  <a:fillRect l="-2010" t="-6667" b="-23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041F7C04-FEFB-AF46-BB6D-49F649E1DD3E}"/>
                  </a:ext>
                </a:extLst>
              </p:cNvPr>
              <p:cNvSpPr txBox="1"/>
              <p:nvPr/>
            </p:nvSpPr>
            <p:spPr>
              <a:xfrm>
                <a:off x="2971800" y="5309992"/>
                <a:ext cx="25146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dirty="0">
                    <a:solidFill>
                      <a:srgbClr val="FF0000"/>
                    </a:solidFill>
                  </a:rPr>
                  <a:t>b1</a:t>
                </a:r>
                <a:r>
                  <a:rPr kumimoji="1" lang="zh-CN" altLang="en-US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kumimoji="1" lang="zh-CN" altLang="en-US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∧ </m:t>
                    </m:r>
                    <m:r>
                      <a:rPr kumimoji="1" lang="en-US" altLang="zh-CN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¬</m:t>
                    </m:r>
                  </m:oMath>
                </a14:m>
                <a:r>
                  <a:rPr kumimoji="1" lang="en-US" altLang="zh-CN" dirty="0">
                    <a:solidFill>
                      <a:srgbClr val="FF0000"/>
                    </a:solidFill>
                  </a:rPr>
                  <a:t>b2</a:t>
                </a:r>
                <a:endParaRPr kumimoji="1" lang="zh-CN" alt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041F7C04-FEFB-AF46-BB6D-49F649E1DD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71800" y="5309992"/>
                <a:ext cx="2514600" cy="369332"/>
              </a:xfrm>
              <a:prstGeom prst="rect">
                <a:avLst/>
              </a:prstGeom>
              <a:blipFill>
                <a:blip r:embed="rId8"/>
                <a:stretch>
                  <a:fillRect l="-2010" t="-3333" b="-2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DDF83A29-BB17-DB44-A6CC-FE9DF32250E6}"/>
                  </a:ext>
                </a:extLst>
              </p:cNvPr>
              <p:cNvSpPr txBox="1"/>
              <p:nvPr/>
            </p:nvSpPr>
            <p:spPr>
              <a:xfrm>
                <a:off x="3914274" y="5686981"/>
                <a:ext cx="25146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kumimoji="1" lang="en-US" altLang="zh-CN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¬</m:t>
                    </m:r>
                  </m:oMath>
                </a14:m>
                <a:r>
                  <a:rPr kumimoji="1" lang="en-US" altLang="zh-CN" dirty="0">
                    <a:solidFill>
                      <a:srgbClr val="FF0000"/>
                    </a:solidFill>
                  </a:rPr>
                  <a:t>b1</a:t>
                </a:r>
                <a:endParaRPr kumimoji="1" lang="zh-CN" alt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DDF83A29-BB17-DB44-A6CC-FE9DF32250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14274" y="5686981"/>
                <a:ext cx="2514600" cy="369332"/>
              </a:xfrm>
              <a:prstGeom prst="rect">
                <a:avLst/>
              </a:prstGeom>
              <a:blipFill>
                <a:blip r:embed="rId9"/>
                <a:stretch>
                  <a:fillRect t="-6667" b="-23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555644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83B1A98-5D2E-F84C-8A75-A8FC62CA10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Process</a:t>
            </a:r>
            <a:r>
              <a:rPr kumimoji="1" lang="zh-CN" altLang="en-US" dirty="0"/>
              <a:t> </a:t>
            </a:r>
            <a:r>
              <a:rPr kumimoji="1" lang="en-US" altLang="zh-CN" dirty="0"/>
              <a:t>&amp;</a:t>
            </a:r>
            <a:r>
              <a:rPr kumimoji="1" lang="zh-CN" altLang="en-US" dirty="0"/>
              <a:t> </a:t>
            </a:r>
            <a:r>
              <a:rPr kumimoji="1" lang="en-US" altLang="zh-CN" dirty="0"/>
              <a:t>Forking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EA67DCE-2389-6343-AFC1-54E1B9454D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2017713"/>
            <a:ext cx="8650288" cy="4114800"/>
          </a:xfrm>
        </p:spPr>
        <p:txBody>
          <a:bodyPr/>
          <a:lstStyle/>
          <a:p>
            <a:pPr marL="0" indent="0">
              <a:buNone/>
            </a:pP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//</a:t>
            </a:r>
            <a:r>
              <a: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The program:</a:t>
            </a:r>
          </a:p>
          <a:p>
            <a:pPr marL="0" indent="0">
              <a:buNone/>
            </a:pPr>
            <a:r>
              <a:rPr kumimoji="1" lang="en-US" altLang="zh-CN" sz="2000" b="1" dirty="0" err="1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foo(){</a:t>
            </a:r>
          </a:p>
          <a:p>
            <a:pPr marL="0" indent="0">
              <a:buNone/>
            </a:pP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if(e1)</a:t>
            </a:r>
          </a:p>
          <a:p>
            <a:pPr marL="0" indent="0">
              <a:buNone/>
            </a:pP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if(e11)</a:t>
            </a:r>
          </a:p>
          <a:p>
            <a:pPr marL="0" indent="0">
              <a:buNone/>
            </a:pP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…;</a:t>
            </a:r>
          </a:p>
          <a:p>
            <a:pPr marL="0" indent="0">
              <a:buNone/>
            </a:pP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else</a:t>
            </a:r>
          </a:p>
          <a:p>
            <a:pPr marL="0" indent="0">
              <a:buNone/>
            </a:pP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…;</a:t>
            </a:r>
          </a:p>
          <a:p>
            <a:pPr marL="0" indent="0">
              <a:buNone/>
            </a:pP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else</a:t>
            </a:r>
          </a:p>
          <a:p>
            <a:pPr marL="0" indent="0">
              <a:buNone/>
            </a:pP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if(e12)</a:t>
            </a:r>
          </a:p>
          <a:p>
            <a:pPr marL="0" indent="0">
              <a:buNone/>
            </a:pP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…;</a:t>
            </a:r>
          </a:p>
          <a:p>
            <a:pPr marL="0" indent="0">
              <a:buNone/>
            </a:pP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else</a:t>
            </a:r>
          </a:p>
          <a:p>
            <a:pPr marL="0" indent="0">
              <a:buNone/>
            </a:pP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…;</a:t>
            </a:r>
          </a:p>
          <a:p>
            <a:pPr marL="0" indent="0">
              <a:buNone/>
            </a:pP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97711026-C053-4649-A693-302DE3A71D19}"/>
              </a:ext>
            </a:extLst>
          </p:cNvPr>
          <p:cNvSpPr/>
          <p:nvPr/>
        </p:nvSpPr>
        <p:spPr>
          <a:xfrm>
            <a:off x="5791200" y="2438400"/>
            <a:ext cx="609600" cy="47167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</a:rPr>
              <a:t>e1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68B10703-3303-AB4C-B3C6-E57135DCCD3B}"/>
              </a:ext>
            </a:extLst>
          </p:cNvPr>
          <p:cNvSpPr/>
          <p:nvPr/>
        </p:nvSpPr>
        <p:spPr>
          <a:xfrm>
            <a:off x="4782344" y="3414522"/>
            <a:ext cx="809917" cy="47167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</a:rPr>
              <a:t>e11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F958ECE9-2EA8-5C4D-B3FF-8932D9B07E1D}"/>
              </a:ext>
            </a:extLst>
          </p:cNvPr>
          <p:cNvSpPr/>
          <p:nvPr/>
        </p:nvSpPr>
        <p:spPr>
          <a:xfrm>
            <a:off x="6629400" y="3414522"/>
            <a:ext cx="914400" cy="47167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</a:rPr>
              <a:t>e12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  <p:cxnSp>
        <p:nvCxnSpPr>
          <p:cNvPr id="7" name="直线箭头连接符 6">
            <a:extLst>
              <a:ext uri="{FF2B5EF4-FFF2-40B4-BE49-F238E27FC236}">
                <a16:creationId xmlns:a16="http://schemas.microsoft.com/office/drawing/2014/main" id="{A61DF5BE-6E2D-5D4C-9AC1-1E544ED28970}"/>
              </a:ext>
            </a:extLst>
          </p:cNvPr>
          <p:cNvCxnSpPr>
            <a:cxnSpLocks/>
            <a:endCxn id="5" idx="7"/>
          </p:cNvCxnSpPr>
          <p:nvPr/>
        </p:nvCxnSpPr>
        <p:spPr>
          <a:xfrm flipH="1">
            <a:off x="5473651" y="2877915"/>
            <a:ext cx="413594" cy="60568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线箭头连接符 7">
            <a:extLst>
              <a:ext uri="{FF2B5EF4-FFF2-40B4-BE49-F238E27FC236}">
                <a16:creationId xmlns:a16="http://schemas.microsoft.com/office/drawing/2014/main" id="{C830BFE5-3832-D740-A1C1-D75E8D54637E}"/>
              </a:ext>
            </a:extLst>
          </p:cNvPr>
          <p:cNvCxnSpPr>
            <a:cxnSpLocks/>
            <a:stCxn id="4" idx="5"/>
            <a:endCxn id="6" idx="1"/>
          </p:cNvCxnSpPr>
          <p:nvPr/>
        </p:nvCxnSpPr>
        <p:spPr>
          <a:xfrm>
            <a:off x="6311526" y="2841002"/>
            <a:ext cx="451785" cy="64259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EB0E44DE-0BAA-F04C-A2FF-9C4DC1932F25}"/>
              </a:ext>
            </a:extLst>
          </p:cNvPr>
          <p:cNvSpPr txBox="1"/>
          <p:nvPr/>
        </p:nvSpPr>
        <p:spPr>
          <a:xfrm>
            <a:off x="5280118" y="2930571"/>
            <a:ext cx="8158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>
                <a:solidFill>
                  <a:srgbClr val="FF0000"/>
                </a:solidFill>
              </a:rPr>
              <a:t>e1</a:t>
            </a:r>
            <a:endParaRPr kumimoji="1" lang="zh-CN" altLang="en-US" dirty="0">
              <a:solidFill>
                <a:srgbClr val="FF0000"/>
              </a:solidFill>
            </a:endParaRP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91A81CAF-25EA-5F42-99FE-75445F1789BC}"/>
              </a:ext>
            </a:extLst>
          </p:cNvPr>
          <p:cNvSpPr/>
          <p:nvPr/>
        </p:nvSpPr>
        <p:spPr>
          <a:xfrm>
            <a:off x="3886200" y="5014722"/>
            <a:ext cx="809917" cy="47167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</a:rPr>
              <a:t>e…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  <p:cxnSp>
        <p:nvCxnSpPr>
          <p:cNvPr id="13" name="直线箭头连接符 12">
            <a:extLst>
              <a:ext uri="{FF2B5EF4-FFF2-40B4-BE49-F238E27FC236}">
                <a16:creationId xmlns:a16="http://schemas.microsoft.com/office/drawing/2014/main" id="{A9CC638E-2AA0-0345-BBBC-736C07CAA79D}"/>
              </a:ext>
            </a:extLst>
          </p:cNvPr>
          <p:cNvCxnSpPr>
            <a:cxnSpLocks/>
            <a:endCxn id="12" idx="7"/>
          </p:cNvCxnSpPr>
          <p:nvPr/>
        </p:nvCxnSpPr>
        <p:spPr>
          <a:xfrm flipH="1">
            <a:off x="4577507" y="4648200"/>
            <a:ext cx="299293" cy="43559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闪电形 13">
            <a:extLst>
              <a:ext uri="{FF2B5EF4-FFF2-40B4-BE49-F238E27FC236}">
                <a16:creationId xmlns:a16="http://schemas.microsoft.com/office/drawing/2014/main" id="{A75AF1EB-E229-5D4F-A283-973552EA3430}"/>
              </a:ext>
            </a:extLst>
          </p:cNvPr>
          <p:cNvSpPr/>
          <p:nvPr/>
        </p:nvSpPr>
        <p:spPr>
          <a:xfrm>
            <a:off x="4648200" y="4114800"/>
            <a:ext cx="381000" cy="533400"/>
          </a:xfrm>
          <a:prstGeom prst="lightningBol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15" name="直线箭头连接符 14">
            <a:extLst>
              <a:ext uri="{FF2B5EF4-FFF2-40B4-BE49-F238E27FC236}">
                <a16:creationId xmlns:a16="http://schemas.microsoft.com/office/drawing/2014/main" id="{F98A1AA5-219C-F149-9B5A-502F78F17EC5}"/>
              </a:ext>
            </a:extLst>
          </p:cNvPr>
          <p:cNvCxnSpPr>
            <a:cxnSpLocks/>
          </p:cNvCxnSpPr>
          <p:nvPr/>
        </p:nvCxnSpPr>
        <p:spPr>
          <a:xfrm flipH="1">
            <a:off x="4969895" y="3886200"/>
            <a:ext cx="220028" cy="4393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椭圆 17">
            <a:extLst>
              <a:ext uri="{FF2B5EF4-FFF2-40B4-BE49-F238E27FC236}">
                <a16:creationId xmlns:a16="http://schemas.microsoft.com/office/drawing/2014/main" id="{72A51D4E-4363-834D-9F91-CF8E38D519AA}"/>
              </a:ext>
            </a:extLst>
          </p:cNvPr>
          <p:cNvSpPr/>
          <p:nvPr/>
        </p:nvSpPr>
        <p:spPr>
          <a:xfrm>
            <a:off x="5187302" y="5014722"/>
            <a:ext cx="809917" cy="47167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</a:rPr>
              <a:t>e…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  <p:cxnSp>
        <p:nvCxnSpPr>
          <p:cNvPr id="19" name="直线箭头连接符 18">
            <a:extLst>
              <a:ext uri="{FF2B5EF4-FFF2-40B4-BE49-F238E27FC236}">
                <a16:creationId xmlns:a16="http://schemas.microsoft.com/office/drawing/2014/main" id="{8A94112A-048F-5946-9682-A9EDFEE75ADB}"/>
              </a:ext>
            </a:extLst>
          </p:cNvPr>
          <p:cNvCxnSpPr>
            <a:cxnSpLocks/>
          </p:cNvCxnSpPr>
          <p:nvPr/>
        </p:nvCxnSpPr>
        <p:spPr>
          <a:xfrm>
            <a:off x="5099893" y="4648200"/>
            <a:ext cx="271894" cy="4136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椭圆 20">
            <a:extLst>
              <a:ext uri="{FF2B5EF4-FFF2-40B4-BE49-F238E27FC236}">
                <a16:creationId xmlns:a16="http://schemas.microsoft.com/office/drawing/2014/main" id="{367EEFFB-DCD1-F84C-945E-62EA139FF240}"/>
              </a:ext>
            </a:extLst>
          </p:cNvPr>
          <p:cNvSpPr/>
          <p:nvPr/>
        </p:nvSpPr>
        <p:spPr>
          <a:xfrm>
            <a:off x="6370212" y="5014722"/>
            <a:ext cx="809917" cy="47167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</a:rPr>
              <a:t>e…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  <p:cxnSp>
        <p:nvCxnSpPr>
          <p:cNvPr id="22" name="直线箭头连接符 21">
            <a:extLst>
              <a:ext uri="{FF2B5EF4-FFF2-40B4-BE49-F238E27FC236}">
                <a16:creationId xmlns:a16="http://schemas.microsoft.com/office/drawing/2014/main" id="{BA557CF5-5852-7047-9380-B34C51289926}"/>
              </a:ext>
            </a:extLst>
          </p:cNvPr>
          <p:cNvCxnSpPr>
            <a:cxnSpLocks/>
            <a:endCxn id="21" idx="7"/>
          </p:cNvCxnSpPr>
          <p:nvPr/>
        </p:nvCxnSpPr>
        <p:spPr>
          <a:xfrm flipH="1">
            <a:off x="7061519" y="4648200"/>
            <a:ext cx="299293" cy="43559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闪电形 22">
            <a:extLst>
              <a:ext uri="{FF2B5EF4-FFF2-40B4-BE49-F238E27FC236}">
                <a16:creationId xmlns:a16="http://schemas.microsoft.com/office/drawing/2014/main" id="{D7BDDDF9-F7C6-DB46-A7C2-3ED679EDF07B}"/>
              </a:ext>
            </a:extLst>
          </p:cNvPr>
          <p:cNvSpPr/>
          <p:nvPr/>
        </p:nvSpPr>
        <p:spPr>
          <a:xfrm>
            <a:off x="7314155" y="4276708"/>
            <a:ext cx="381000" cy="533400"/>
          </a:xfrm>
          <a:prstGeom prst="lightningBol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24" name="直线箭头连接符 23">
            <a:extLst>
              <a:ext uri="{FF2B5EF4-FFF2-40B4-BE49-F238E27FC236}">
                <a16:creationId xmlns:a16="http://schemas.microsoft.com/office/drawing/2014/main" id="{E61C648C-C6E9-CD46-AD76-A12399D2521C}"/>
              </a:ext>
            </a:extLst>
          </p:cNvPr>
          <p:cNvCxnSpPr>
            <a:cxnSpLocks/>
          </p:cNvCxnSpPr>
          <p:nvPr/>
        </p:nvCxnSpPr>
        <p:spPr>
          <a:xfrm>
            <a:off x="7093603" y="3887540"/>
            <a:ext cx="211544" cy="37015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椭圆 25">
            <a:extLst>
              <a:ext uri="{FF2B5EF4-FFF2-40B4-BE49-F238E27FC236}">
                <a16:creationId xmlns:a16="http://schemas.microsoft.com/office/drawing/2014/main" id="{5B479FEF-9640-194D-BBAC-7983109167CC}"/>
              </a:ext>
            </a:extLst>
          </p:cNvPr>
          <p:cNvSpPr/>
          <p:nvPr/>
        </p:nvSpPr>
        <p:spPr>
          <a:xfrm>
            <a:off x="7878948" y="5017696"/>
            <a:ext cx="809917" cy="47167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</a:rPr>
              <a:t>e…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  <p:cxnSp>
        <p:nvCxnSpPr>
          <p:cNvPr id="27" name="直线箭头连接符 26">
            <a:extLst>
              <a:ext uri="{FF2B5EF4-FFF2-40B4-BE49-F238E27FC236}">
                <a16:creationId xmlns:a16="http://schemas.microsoft.com/office/drawing/2014/main" id="{3B03921D-2365-2E43-ABD9-AC09B5D62D3D}"/>
              </a:ext>
            </a:extLst>
          </p:cNvPr>
          <p:cNvCxnSpPr>
            <a:cxnSpLocks/>
          </p:cNvCxnSpPr>
          <p:nvPr/>
        </p:nvCxnSpPr>
        <p:spPr>
          <a:xfrm>
            <a:off x="7695155" y="4676383"/>
            <a:ext cx="384388" cy="3722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文本框 28">
                <a:extLst>
                  <a:ext uri="{FF2B5EF4-FFF2-40B4-BE49-F238E27FC236}">
                    <a16:creationId xmlns:a16="http://schemas.microsoft.com/office/drawing/2014/main" id="{D56240FF-C7B4-094F-B010-FAA194EEB6A8}"/>
                  </a:ext>
                </a:extLst>
              </p:cNvPr>
              <p:cNvSpPr txBox="1"/>
              <p:nvPr/>
            </p:nvSpPr>
            <p:spPr>
              <a:xfrm>
                <a:off x="6575192" y="2888543"/>
                <a:ext cx="81588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kumimoji="1" lang="en-US" altLang="zh-CN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¬</m:t>
                    </m:r>
                  </m:oMath>
                </a14:m>
                <a:r>
                  <a:rPr kumimoji="1" lang="en-US" altLang="zh-CN" dirty="0">
                    <a:solidFill>
                      <a:srgbClr val="FF0000"/>
                    </a:solidFill>
                  </a:rPr>
                  <a:t>e1</a:t>
                </a:r>
                <a:endParaRPr kumimoji="1" lang="zh-CN" alt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9" name="文本框 28">
                <a:extLst>
                  <a:ext uri="{FF2B5EF4-FFF2-40B4-BE49-F238E27FC236}">
                    <a16:creationId xmlns:a16="http://schemas.microsoft.com/office/drawing/2014/main" id="{D56240FF-C7B4-094F-B010-FAA194EEB6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75192" y="2888543"/>
                <a:ext cx="815882" cy="369332"/>
              </a:xfrm>
              <a:prstGeom prst="rect">
                <a:avLst/>
              </a:prstGeom>
              <a:blipFill>
                <a:blip r:embed="rId2"/>
                <a:stretch>
                  <a:fillRect t="-3226" b="-2258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3219BFE4-BE67-D14E-8966-B94987A6644A}"/>
                  </a:ext>
                </a:extLst>
              </p:cNvPr>
              <p:cNvSpPr txBox="1"/>
              <p:nvPr/>
            </p:nvSpPr>
            <p:spPr>
              <a:xfrm>
                <a:off x="4130597" y="3816153"/>
                <a:ext cx="120340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dirty="0">
                    <a:solidFill>
                      <a:srgbClr val="FF0000"/>
                    </a:solidFill>
                  </a:rPr>
                  <a:t>e1</a:t>
                </a:r>
                <a:r>
                  <a:rPr kumimoji="1" lang="zh-CN" altLang="en-US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kumimoji="1" lang="zh-CN" altLang="en-US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∧ </m:t>
                    </m:r>
                  </m:oMath>
                </a14:m>
                <a:r>
                  <a:rPr kumimoji="1" lang="en-US" altLang="zh-CN" dirty="0">
                    <a:solidFill>
                      <a:srgbClr val="FF0000"/>
                    </a:solidFill>
                  </a:rPr>
                  <a:t>e11</a:t>
                </a:r>
                <a:endParaRPr kumimoji="1" lang="zh-CN" alt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3219BFE4-BE67-D14E-8966-B94987A664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30597" y="3816153"/>
                <a:ext cx="1203403" cy="369332"/>
              </a:xfrm>
              <a:prstGeom prst="rect">
                <a:avLst/>
              </a:prstGeom>
              <a:blipFill>
                <a:blip r:embed="rId3"/>
                <a:stretch>
                  <a:fillRect l="-3125" t="-6667" b="-23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文本框 30">
                <a:extLst>
                  <a:ext uri="{FF2B5EF4-FFF2-40B4-BE49-F238E27FC236}">
                    <a16:creationId xmlns:a16="http://schemas.microsoft.com/office/drawing/2014/main" id="{BDE9DFF2-C6EF-F14D-8930-D5CFA78E4E4A}"/>
                  </a:ext>
                </a:extLst>
              </p:cNvPr>
              <p:cNvSpPr txBox="1"/>
              <p:nvPr/>
            </p:nvSpPr>
            <p:spPr>
              <a:xfrm>
                <a:off x="7211165" y="3796100"/>
                <a:ext cx="141769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kumimoji="1" lang="en-US" altLang="zh-CN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¬</m:t>
                    </m:r>
                  </m:oMath>
                </a14:m>
                <a:r>
                  <a:rPr kumimoji="1" lang="en-US" altLang="zh-CN" dirty="0">
                    <a:solidFill>
                      <a:srgbClr val="FF0000"/>
                    </a:solidFill>
                  </a:rPr>
                  <a:t>e1</a:t>
                </a:r>
                <a:r>
                  <a:rPr kumimoji="1" lang="zh-CN" altLang="en-US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kumimoji="1" lang="zh-CN" altLang="en-US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kumimoji="1" lang="en-US" altLang="zh-CN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¬</m:t>
                    </m:r>
                  </m:oMath>
                </a14:m>
                <a:r>
                  <a:rPr kumimoji="1" lang="en-US" altLang="zh-CN" dirty="0">
                    <a:solidFill>
                      <a:srgbClr val="FF0000"/>
                    </a:solidFill>
                  </a:rPr>
                  <a:t>e12</a:t>
                </a:r>
                <a:endParaRPr kumimoji="1" lang="zh-CN" alt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1" name="文本框 30">
                <a:extLst>
                  <a:ext uri="{FF2B5EF4-FFF2-40B4-BE49-F238E27FC236}">
                    <a16:creationId xmlns:a16="http://schemas.microsoft.com/office/drawing/2014/main" id="{BDE9DFF2-C6EF-F14D-8930-D5CFA78E4E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11165" y="3796100"/>
                <a:ext cx="1417691" cy="369332"/>
              </a:xfrm>
              <a:prstGeom prst="rect">
                <a:avLst/>
              </a:prstGeom>
              <a:blipFill>
                <a:blip r:embed="rId4"/>
                <a:stretch>
                  <a:fillRect t="-6667" r="-2679" b="-23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2" name="直线箭头连接符 31">
            <a:extLst>
              <a:ext uri="{FF2B5EF4-FFF2-40B4-BE49-F238E27FC236}">
                <a16:creationId xmlns:a16="http://schemas.microsoft.com/office/drawing/2014/main" id="{E817423F-B00A-054E-8446-5B9B2E871BC0}"/>
              </a:ext>
            </a:extLst>
          </p:cNvPr>
          <p:cNvCxnSpPr>
            <a:cxnSpLocks/>
          </p:cNvCxnSpPr>
          <p:nvPr/>
        </p:nvCxnSpPr>
        <p:spPr>
          <a:xfrm>
            <a:off x="5307485" y="3897900"/>
            <a:ext cx="344553" cy="4276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闪电形 34">
            <a:extLst>
              <a:ext uri="{FF2B5EF4-FFF2-40B4-BE49-F238E27FC236}">
                <a16:creationId xmlns:a16="http://schemas.microsoft.com/office/drawing/2014/main" id="{61398BDF-8A28-8144-AA6F-E1CF708D11BD}"/>
              </a:ext>
            </a:extLst>
          </p:cNvPr>
          <p:cNvSpPr/>
          <p:nvPr/>
        </p:nvSpPr>
        <p:spPr>
          <a:xfrm>
            <a:off x="5654604" y="4109346"/>
            <a:ext cx="381000" cy="533400"/>
          </a:xfrm>
          <a:prstGeom prst="lightningBol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37" name="直线箭头连接符 36">
            <a:extLst>
              <a:ext uri="{FF2B5EF4-FFF2-40B4-BE49-F238E27FC236}">
                <a16:creationId xmlns:a16="http://schemas.microsoft.com/office/drawing/2014/main" id="{EC9597DE-725D-1240-A94F-1BDFF141DDFA}"/>
              </a:ext>
            </a:extLst>
          </p:cNvPr>
          <p:cNvCxnSpPr>
            <a:cxnSpLocks/>
          </p:cNvCxnSpPr>
          <p:nvPr/>
        </p:nvCxnSpPr>
        <p:spPr>
          <a:xfrm flipH="1">
            <a:off x="6760798" y="3852958"/>
            <a:ext cx="220028" cy="4393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闪电形 37">
            <a:extLst>
              <a:ext uri="{FF2B5EF4-FFF2-40B4-BE49-F238E27FC236}">
                <a16:creationId xmlns:a16="http://schemas.microsoft.com/office/drawing/2014/main" id="{96B2BA0F-BA0E-1041-90F4-EC77B1826736}"/>
              </a:ext>
            </a:extLst>
          </p:cNvPr>
          <p:cNvSpPr/>
          <p:nvPr/>
        </p:nvSpPr>
        <p:spPr>
          <a:xfrm>
            <a:off x="6457521" y="4142983"/>
            <a:ext cx="381000" cy="533400"/>
          </a:xfrm>
          <a:prstGeom prst="lightningBol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文本框 38">
                <a:extLst>
                  <a:ext uri="{FF2B5EF4-FFF2-40B4-BE49-F238E27FC236}">
                    <a16:creationId xmlns:a16="http://schemas.microsoft.com/office/drawing/2014/main" id="{490FFCB9-0499-8040-BF17-136D826FC94E}"/>
                  </a:ext>
                </a:extLst>
              </p:cNvPr>
              <p:cNvSpPr txBox="1"/>
              <p:nvPr/>
            </p:nvSpPr>
            <p:spPr>
              <a:xfrm>
                <a:off x="6035597" y="3974068"/>
                <a:ext cx="120340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kumimoji="1" lang="en-US" altLang="zh-CN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¬</m:t>
                    </m:r>
                  </m:oMath>
                </a14:m>
                <a:r>
                  <a:rPr kumimoji="1" lang="en-US" altLang="zh-CN" dirty="0">
                    <a:solidFill>
                      <a:srgbClr val="FF0000"/>
                    </a:solidFill>
                  </a:rPr>
                  <a:t>e1</a:t>
                </a:r>
                <a:r>
                  <a:rPr kumimoji="1" lang="zh-CN" altLang="en-US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kumimoji="1" lang="zh-CN" altLang="en-US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∧</m:t>
                    </m:r>
                  </m:oMath>
                </a14:m>
                <a:r>
                  <a:rPr kumimoji="1" lang="en-US" altLang="zh-CN" dirty="0">
                    <a:solidFill>
                      <a:srgbClr val="FF0000"/>
                    </a:solidFill>
                  </a:rPr>
                  <a:t>e12</a:t>
                </a:r>
                <a:endParaRPr kumimoji="1" lang="zh-CN" alt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9" name="文本框 38">
                <a:extLst>
                  <a:ext uri="{FF2B5EF4-FFF2-40B4-BE49-F238E27FC236}">
                    <a16:creationId xmlns:a16="http://schemas.microsoft.com/office/drawing/2014/main" id="{490FFCB9-0499-8040-BF17-136D826FC9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35597" y="3974068"/>
                <a:ext cx="1203403" cy="369332"/>
              </a:xfrm>
              <a:prstGeom prst="rect">
                <a:avLst/>
              </a:prstGeom>
              <a:blipFill>
                <a:blip r:embed="rId5"/>
                <a:stretch>
                  <a:fillRect t="-6667" r="-2083" b="-23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文本框 39">
                <a:extLst>
                  <a:ext uri="{FF2B5EF4-FFF2-40B4-BE49-F238E27FC236}">
                    <a16:creationId xmlns:a16="http://schemas.microsoft.com/office/drawing/2014/main" id="{671D5650-4EA4-A641-AB37-168B14F7F640}"/>
                  </a:ext>
                </a:extLst>
              </p:cNvPr>
              <p:cNvSpPr txBox="1"/>
              <p:nvPr/>
            </p:nvSpPr>
            <p:spPr>
              <a:xfrm>
                <a:off x="5332929" y="3680268"/>
                <a:ext cx="120340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dirty="0">
                    <a:solidFill>
                      <a:srgbClr val="FF0000"/>
                    </a:solidFill>
                  </a:rPr>
                  <a:t>e1</a:t>
                </a:r>
                <a14:m>
                  <m:oMath xmlns:m="http://schemas.openxmlformats.org/officeDocument/2006/math">
                    <m:r>
                      <a:rPr kumimoji="1" lang="zh-CN" altLang="en-US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∧</m:t>
                    </m:r>
                  </m:oMath>
                </a14:m>
                <a:r>
                  <a:rPr kumimoji="1" lang="en-US" altLang="zh-CN" dirty="0">
                    <a:solidFill>
                      <a:srgbClr val="FF0000"/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zh-CN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¬</m:t>
                    </m:r>
                  </m:oMath>
                </a14:m>
                <a:r>
                  <a:rPr kumimoji="1" lang="en-US" altLang="zh-CN" dirty="0">
                    <a:solidFill>
                      <a:srgbClr val="FF0000"/>
                    </a:solidFill>
                  </a:rPr>
                  <a:t>e11</a:t>
                </a:r>
                <a:endParaRPr kumimoji="1" lang="zh-CN" alt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40" name="文本框 39">
                <a:extLst>
                  <a:ext uri="{FF2B5EF4-FFF2-40B4-BE49-F238E27FC236}">
                    <a16:creationId xmlns:a16="http://schemas.microsoft.com/office/drawing/2014/main" id="{671D5650-4EA4-A641-AB37-168B14F7F6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32929" y="3680268"/>
                <a:ext cx="1203403" cy="369332"/>
              </a:xfrm>
              <a:prstGeom prst="rect">
                <a:avLst/>
              </a:prstGeom>
              <a:blipFill>
                <a:blip r:embed="rId6"/>
                <a:stretch>
                  <a:fillRect l="-5263" t="-6667" r="-1053" b="-23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罐形 9">
            <a:extLst>
              <a:ext uri="{FF2B5EF4-FFF2-40B4-BE49-F238E27FC236}">
                <a16:creationId xmlns:a16="http://schemas.microsoft.com/office/drawing/2014/main" id="{D9EEA5FA-04D9-8743-8923-DF0247BDB691}"/>
              </a:ext>
            </a:extLst>
          </p:cNvPr>
          <p:cNvSpPr/>
          <p:nvPr/>
        </p:nvSpPr>
        <p:spPr>
          <a:xfrm>
            <a:off x="5406300" y="1792232"/>
            <a:ext cx="371920" cy="624078"/>
          </a:xfrm>
          <a:prstGeom prst="can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zh-CN" altLang="en-US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0A0D9972-8173-C648-9930-00C5CB32C05C}"/>
              </a:ext>
            </a:extLst>
          </p:cNvPr>
          <p:cNvSpPr txBox="1"/>
          <p:nvPr/>
        </p:nvSpPr>
        <p:spPr>
          <a:xfrm>
            <a:off x="6370212" y="1295400"/>
            <a:ext cx="20117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parent</a:t>
            </a:r>
            <a:r>
              <a:rPr kumimoji="1" lang="zh-CN" altLang="en-US" dirty="0"/>
              <a:t> </a:t>
            </a:r>
            <a:r>
              <a:rPr kumimoji="1" lang="en-US" altLang="zh-CN" dirty="0"/>
              <a:t>process</a:t>
            </a:r>
            <a:endParaRPr kumimoji="1" lang="zh-CN" altLang="en-US" dirty="0"/>
          </a:p>
        </p:txBody>
      </p:sp>
      <p:cxnSp>
        <p:nvCxnSpPr>
          <p:cNvPr id="17" name="直线箭头连接符 16">
            <a:extLst>
              <a:ext uri="{FF2B5EF4-FFF2-40B4-BE49-F238E27FC236}">
                <a16:creationId xmlns:a16="http://schemas.microsoft.com/office/drawing/2014/main" id="{E56D1CBC-3625-B241-9BFB-A1C56020E1CA}"/>
              </a:ext>
            </a:extLst>
          </p:cNvPr>
          <p:cNvCxnSpPr>
            <a:stCxn id="11" idx="1"/>
          </p:cNvCxnSpPr>
          <p:nvPr/>
        </p:nvCxnSpPr>
        <p:spPr>
          <a:xfrm flipH="1">
            <a:off x="5791200" y="1480066"/>
            <a:ext cx="579012" cy="3121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罐形 35">
            <a:extLst>
              <a:ext uri="{FF2B5EF4-FFF2-40B4-BE49-F238E27FC236}">
                <a16:creationId xmlns:a16="http://schemas.microsoft.com/office/drawing/2014/main" id="{4C76E2A5-884C-B24E-AD2B-ECC4B2BB7679}"/>
              </a:ext>
            </a:extLst>
          </p:cNvPr>
          <p:cNvSpPr/>
          <p:nvPr/>
        </p:nvSpPr>
        <p:spPr>
          <a:xfrm>
            <a:off x="5270625" y="2776978"/>
            <a:ext cx="371920" cy="624078"/>
          </a:xfrm>
          <a:prstGeom prst="can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zh-CN" altLang="en-US" dirty="0"/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242C16AE-3040-A84A-951A-A3DDDE1A25BC}"/>
              </a:ext>
            </a:extLst>
          </p:cNvPr>
          <p:cNvSpPr txBox="1"/>
          <p:nvPr/>
        </p:nvSpPr>
        <p:spPr>
          <a:xfrm>
            <a:off x="4122976" y="2035290"/>
            <a:ext cx="11194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fork()</a:t>
            </a:r>
            <a:endParaRPr kumimoji="1" lang="zh-CN" altLang="en-US" dirty="0"/>
          </a:p>
        </p:txBody>
      </p:sp>
      <p:cxnSp>
        <p:nvCxnSpPr>
          <p:cNvPr id="43" name="直线箭头连接符 42">
            <a:extLst>
              <a:ext uri="{FF2B5EF4-FFF2-40B4-BE49-F238E27FC236}">
                <a16:creationId xmlns:a16="http://schemas.microsoft.com/office/drawing/2014/main" id="{9768E83F-747C-AA41-8DDD-AFE50AFC9454}"/>
              </a:ext>
            </a:extLst>
          </p:cNvPr>
          <p:cNvCxnSpPr>
            <a:cxnSpLocks/>
            <a:endCxn id="36" idx="1"/>
          </p:cNvCxnSpPr>
          <p:nvPr/>
        </p:nvCxnSpPr>
        <p:spPr>
          <a:xfrm>
            <a:off x="4813425" y="2334256"/>
            <a:ext cx="643160" cy="4427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罐形 43">
            <a:extLst>
              <a:ext uri="{FF2B5EF4-FFF2-40B4-BE49-F238E27FC236}">
                <a16:creationId xmlns:a16="http://schemas.microsoft.com/office/drawing/2014/main" id="{4B89934D-0468-D643-976B-1EF806A9735D}"/>
              </a:ext>
            </a:extLst>
          </p:cNvPr>
          <p:cNvSpPr/>
          <p:nvPr/>
        </p:nvSpPr>
        <p:spPr>
          <a:xfrm>
            <a:off x="6701700" y="2782832"/>
            <a:ext cx="371920" cy="624078"/>
          </a:xfrm>
          <a:prstGeom prst="can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zh-CN" altLang="en-US" dirty="0"/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1EB6DE71-0DBD-6443-AB79-7BDBD9050BC9}"/>
              </a:ext>
            </a:extLst>
          </p:cNvPr>
          <p:cNvSpPr txBox="1"/>
          <p:nvPr/>
        </p:nvSpPr>
        <p:spPr>
          <a:xfrm>
            <a:off x="7665612" y="2286000"/>
            <a:ext cx="20117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fork()</a:t>
            </a:r>
            <a:endParaRPr kumimoji="1" lang="zh-CN" altLang="en-US" dirty="0"/>
          </a:p>
        </p:txBody>
      </p:sp>
      <p:cxnSp>
        <p:nvCxnSpPr>
          <p:cNvPr id="46" name="直线箭头连接符 45">
            <a:extLst>
              <a:ext uri="{FF2B5EF4-FFF2-40B4-BE49-F238E27FC236}">
                <a16:creationId xmlns:a16="http://schemas.microsoft.com/office/drawing/2014/main" id="{25511DE6-F01A-5841-ADCC-D8DDB494F6B7}"/>
              </a:ext>
            </a:extLst>
          </p:cNvPr>
          <p:cNvCxnSpPr>
            <a:stCxn id="45" idx="1"/>
          </p:cNvCxnSpPr>
          <p:nvPr/>
        </p:nvCxnSpPr>
        <p:spPr>
          <a:xfrm flipH="1">
            <a:off x="7086600" y="2470666"/>
            <a:ext cx="579012" cy="3121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罐形 46">
            <a:extLst>
              <a:ext uri="{FF2B5EF4-FFF2-40B4-BE49-F238E27FC236}">
                <a16:creationId xmlns:a16="http://schemas.microsoft.com/office/drawing/2014/main" id="{47FCD915-C5B8-1D42-B129-4FFAC3A4C6F4}"/>
              </a:ext>
            </a:extLst>
          </p:cNvPr>
          <p:cNvSpPr/>
          <p:nvPr/>
        </p:nvSpPr>
        <p:spPr>
          <a:xfrm>
            <a:off x="4292086" y="3530379"/>
            <a:ext cx="371920" cy="624078"/>
          </a:xfrm>
          <a:prstGeom prst="can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zh-CN" altLang="en-US" dirty="0"/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1A35074B-9EBD-6948-BBB5-D6554EC37A69}"/>
              </a:ext>
            </a:extLst>
          </p:cNvPr>
          <p:cNvSpPr txBox="1"/>
          <p:nvPr/>
        </p:nvSpPr>
        <p:spPr>
          <a:xfrm>
            <a:off x="3144437" y="2788691"/>
            <a:ext cx="11194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fork()</a:t>
            </a:r>
            <a:endParaRPr kumimoji="1" lang="zh-CN" altLang="en-US" dirty="0"/>
          </a:p>
        </p:txBody>
      </p:sp>
      <p:cxnSp>
        <p:nvCxnSpPr>
          <p:cNvPr id="49" name="直线箭头连接符 48">
            <a:extLst>
              <a:ext uri="{FF2B5EF4-FFF2-40B4-BE49-F238E27FC236}">
                <a16:creationId xmlns:a16="http://schemas.microsoft.com/office/drawing/2014/main" id="{5BD78910-265D-A546-834E-3059BC4F145B}"/>
              </a:ext>
            </a:extLst>
          </p:cNvPr>
          <p:cNvCxnSpPr>
            <a:cxnSpLocks/>
            <a:endCxn id="47" idx="1"/>
          </p:cNvCxnSpPr>
          <p:nvPr/>
        </p:nvCxnSpPr>
        <p:spPr>
          <a:xfrm>
            <a:off x="3834886" y="3087657"/>
            <a:ext cx="643160" cy="4427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文本框 49">
            <a:extLst>
              <a:ext uri="{FF2B5EF4-FFF2-40B4-BE49-F238E27FC236}">
                <a16:creationId xmlns:a16="http://schemas.microsoft.com/office/drawing/2014/main" id="{9A3E9B58-4175-9B41-90CB-8D0ACE52BE98}"/>
              </a:ext>
            </a:extLst>
          </p:cNvPr>
          <p:cNvSpPr txBox="1"/>
          <p:nvPr/>
        </p:nvSpPr>
        <p:spPr>
          <a:xfrm>
            <a:off x="2350082" y="5733187"/>
            <a:ext cx="495506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By</a:t>
            </a:r>
            <a:r>
              <a:rPr kumimoji="1" lang="zh-CN" altLang="en-US" dirty="0"/>
              <a:t> </a:t>
            </a:r>
            <a:r>
              <a:rPr kumimoji="1" lang="en-US" altLang="zh-CN" dirty="0"/>
              <a:t>utilizing</a:t>
            </a:r>
            <a:r>
              <a:rPr kumimoji="1" lang="zh-CN" altLang="en-US" dirty="0"/>
              <a:t> </a:t>
            </a:r>
            <a:r>
              <a:rPr kumimoji="1" lang="en-US" altLang="zh-CN" dirty="0"/>
              <a:t>forking,</a:t>
            </a:r>
            <a:r>
              <a:rPr kumimoji="1" lang="zh-CN" altLang="en-US" dirty="0"/>
              <a:t> </a:t>
            </a:r>
            <a:r>
              <a:rPr kumimoji="1" lang="en-US" altLang="zh-CN" dirty="0"/>
              <a:t>instead</a:t>
            </a:r>
            <a:r>
              <a:rPr kumimoji="1" lang="zh-CN" altLang="en-US" dirty="0"/>
              <a:t> </a:t>
            </a:r>
            <a:r>
              <a:rPr kumimoji="1" lang="en-US" altLang="zh-CN" dirty="0"/>
              <a:t>of</a:t>
            </a:r>
            <a:r>
              <a:rPr kumimoji="1" lang="zh-CN" altLang="en-US" dirty="0"/>
              <a:t> </a:t>
            </a:r>
            <a:r>
              <a:rPr kumimoji="1" lang="en-US" altLang="zh-CN" dirty="0"/>
              <a:t>multi-threading,</a:t>
            </a:r>
            <a:r>
              <a:rPr kumimoji="1" lang="zh-CN" altLang="en-US" dirty="0"/>
              <a:t> </a:t>
            </a:r>
            <a:r>
              <a:rPr kumimoji="1" lang="en-US" altLang="zh-CN" dirty="0"/>
              <a:t>it</a:t>
            </a:r>
            <a:r>
              <a:rPr kumimoji="1" lang="zh-CN" altLang="en-US" dirty="0"/>
              <a:t> </a:t>
            </a:r>
            <a:r>
              <a:rPr kumimoji="1" lang="en-US" altLang="zh-CN" dirty="0"/>
              <a:t>is</a:t>
            </a:r>
            <a:r>
              <a:rPr kumimoji="1" lang="zh-CN" altLang="en-US" dirty="0"/>
              <a:t> </a:t>
            </a:r>
            <a:r>
              <a:rPr kumimoji="1" lang="en-US" altLang="zh-CN" dirty="0"/>
              <a:t>easy</a:t>
            </a:r>
            <a:r>
              <a:rPr kumimoji="1" lang="zh-CN" altLang="en-US" dirty="0"/>
              <a:t> </a:t>
            </a:r>
            <a:r>
              <a:rPr kumimoji="1" lang="en-US" altLang="zh-CN" dirty="0"/>
              <a:t>to</a:t>
            </a:r>
            <a:r>
              <a:rPr kumimoji="1" lang="zh-CN" altLang="en-US" dirty="0"/>
              <a:t> </a:t>
            </a:r>
            <a:r>
              <a:rPr kumimoji="1" lang="en-US" altLang="zh-CN" dirty="0"/>
              <a:t>maintain</a:t>
            </a:r>
            <a:r>
              <a:rPr kumimoji="1" lang="zh-CN" altLang="en-US" dirty="0"/>
              <a:t> </a:t>
            </a:r>
            <a:r>
              <a:rPr kumimoji="1" lang="en-US" altLang="zh-CN" dirty="0"/>
              <a:t>separate</a:t>
            </a:r>
            <a:r>
              <a:rPr kumimoji="1" lang="zh-CN" altLang="en-US" dirty="0"/>
              <a:t> </a:t>
            </a:r>
            <a:r>
              <a:rPr kumimoji="1" lang="en-US" altLang="zh-CN" dirty="0"/>
              <a:t>program</a:t>
            </a:r>
            <a:r>
              <a:rPr kumimoji="1" lang="zh-CN" altLang="en-US" dirty="0"/>
              <a:t> </a:t>
            </a:r>
            <a:r>
              <a:rPr kumimoji="1" lang="en-US" altLang="zh-CN" dirty="0"/>
              <a:t>states:</a:t>
            </a:r>
            <a:r>
              <a:rPr kumimoji="1" lang="zh-CN" altLang="en-US" dirty="0"/>
              <a:t> </a:t>
            </a:r>
            <a:r>
              <a:rPr kumimoji="1" lang="en-US" altLang="zh-CN" dirty="0"/>
              <a:t>symbolic</a:t>
            </a:r>
            <a:r>
              <a:rPr kumimoji="1" lang="zh-CN" altLang="en-US" dirty="0"/>
              <a:t> </a:t>
            </a:r>
            <a:r>
              <a:rPr kumimoji="1" lang="en-US" altLang="zh-CN" dirty="0"/>
              <a:t>stores,</a:t>
            </a:r>
            <a:r>
              <a:rPr kumimoji="1" lang="zh-CN" altLang="en-US" dirty="0"/>
              <a:t> </a:t>
            </a:r>
            <a:r>
              <a:rPr kumimoji="1" lang="en-US" altLang="zh-CN" dirty="0"/>
              <a:t>path</a:t>
            </a:r>
            <a:r>
              <a:rPr kumimoji="1" lang="zh-CN" altLang="en-US" dirty="0"/>
              <a:t> </a:t>
            </a:r>
            <a:r>
              <a:rPr kumimoji="1" lang="en-US" altLang="zh-CN" dirty="0"/>
              <a:t>conditions,</a:t>
            </a:r>
            <a:r>
              <a:rPr kumimoji="1" lang="zh-CN" altLang="en-US" dirty="0"/>
              <a:t> </a:t>
            </a:r>
            <a:r>
              <a:rPr kumimoji="1" lang="en-US" altLang="zh-CN" dirty="0"/>
              <a:t>etc..</a:t>
            </a:r>
            <a:r>
              <a:rPr kumimoji="1" lang="zh-CN" alt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9808416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8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1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4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9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5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0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3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6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29" grpId="0"/>
      <p:bldP spid="30" grpId="0"/>
      <p:bldP spid="31" grpId="0"/>
      <p:bldP spid="39" grpId="0"/>
      <p:bldP spid="40" grpId="0"/>
      <p:bldP spid="10" grpId="0" animBg="1"/>
      <p:bldP spid="11" grpId="0"/>
      <p:bldP spid="36" grpId="0" animBg="1"/>
      <p:bldP spid="42" grpId="0"/>
      <p:bldP spid="44" grpId="0" animBg="1"/>
      <p:bldP spid="45" grpId="0"/>
      <p:bldP spid="47" grpId="0" animBg="1"/>
      <p:bldP spid="48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83B1A98-5D2E-F84C-8A75-A8FC62CA10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Example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EA67DCE-2389-6343-AFC1-54E1B9454D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//</a:t>
            </a:r>
            <a:r>
              <a: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Symbolically</a:t>
            </a:r>
            <a:r>
              <a: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executing</a:t>
            </a:r>
            <a:r>
              <a: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the</a:t>
            </a:r>
            <a:r>
              <a: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following</a:t>
            </a:r>
            <a:r>
              <a: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program:</a:t>
            </a:r>
          </a:p>
          <a:p>
            <a:pPr marL="0" indent="0">
              <a:buNone/>
            </a:pP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 foo(</a:t>
            </a:r>
            <a:r>
              <a:rPr kumimoji="1" lang="en-US" altLang="zh-CN" sz="2000" b="1" dirty="0" err="1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a, </a:t>
            </a:r>
            <a:r>
              <a:rPr kumimoji="1" lang="en-US" altLang="zh-CN" sz="2000" b="1" dirty="0" err="1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b){</a:t>
            </a:r>
          </a:p>
          <a:p>
            <a:pPr marL="0" indent="0">
              <a:buNone/>
            </a:pP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kumimoji="1" lang="en-US" altLang="zh-CN" sz="2000" b="1" dirty="0" err="1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x = 1, y = 0;</a:t>
            </a:r>
          </a:p>
          <a:p>
            <a:pPr marL="0" indent="0">
              <a:buNone/>
            </a:pP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if(a != 0){</a:t>
            </a:r>
          </a:p>
          <a:p>
            <a:pPr marL="0" indent="0">
              <a:buNone/>
            </a:pP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y = 3+x;</a:t>
            </a:r>
          </a:p>
          <a:p>
            <a:pPr marL="0" indent="0">
              <a:buNone/>
            </a:pP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if(b == 0)</a:t>
            </a:r>
          </a:p>
          <a:p>
            <a:pPr marL="0" indent="0">
              <a:buNone/>
            </a:pP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 = 2*(</a:t>
            </a:r>
            <a:r>
              <a:rPr kumimoji="1" lang="en-US" altLang="zh-CN" sz="2000" b="1" dirty="0" err="1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a+b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marL="0" indent="0">
              <a:buNone/>
            </a:pP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>
              <a:buNone/>
            </a:pP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assert(x-y != 0);</a:t>
            </a:r>
          </a:p>
          <a:p>
            <a:pPr marL="0" indent="0">
              <a:buNone/>
            </a:pP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>
              <a:buNone/>
            </a:pPr>
            <a:endParaRPr kumimoji="1" lang="en-US" altLang="zh-CN" sz="2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C6BF906E-11AD-654A-87CC-89AE5F8E7A00}"/>
              </a:ext>
            </a:extLst>
          </p:cNvPr>
          <p:cNvSpPr txBox="1"/>
          <p:nvPr/>
        </p:nvSpPr>
        <p:spPr>
          <a:xfrm>
            <a:off x="6019799" y="4992469"/>
            <a:ext cx="254317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Can</a:t>
            </a:r>
            <a:r>
              <a:rPr kumimoji="1" lang="zh-CN" altLang="en-US" dirty="0"/>
              <a:t> </a:t>
            </a:r>
            <a:r>
              <a:rPr kumimoji="1" lang="en-US" altLang="zh-CN" dirty="0"/>
              <a:t>we</a:t>
            </a:r>
            <a:r>
              <a:rPr kumimoji="1" lang="zh-CN" altLang="en-US" dirty="0"/>
              <a:t> </a:t>
            </a:r>
            <a:r>
              <a:rPr kumimoji="1" lang="en-US" altLang="zh-CN" dirty="0"/>
              <a:t>construct</a:t>
            </a:r>
            <a:r>
              <a:rPr kumimoji="1" lang="zh-CN" altLang="en-US" dirty="0"/>
              <a:t> </a:t>
            </a:r>
            <a:r>
              <a:rPr kumimoji="1" lang="en-US" altLang="zh-CN" dirty="0"/>
              <a:t>values</a:t>
            </a:r>
            <a:r>
              <a:rPr kumimoji="1" lang="zh-CN" altLang="en-US" dirty="0"/>
              <a:t> </a:t>
            </a:r>
            <a:r>
              <a:rPr kumimoji="1" lang="en-US" altLang="zh-CN" dirty="0"/>
              <a:t>for</a:t>
            </a:r>
            <a:r>
              <a:rPr kumimoji="1" lang="zh-CN" altLang="en-US" dirty="0"/>
              <a:t> </a:t>
            </a:r>
            <a:r>
              <a:rPr kumimoji="1" lang="en-US" altLang="zh-CN" dirty="0"/>
              <a:t>x</a:t>
            </a:r>
            <a:r>
              <a:rPr kumimoji="1" lang="zh-CN" altLang="en-US" dirty="0"/>
              <a:t> </a:t>
            </a:r>
            <a:r>
              <a:rPr kumimoji="1" lang="en-US" altLang="zh-CN" dirty="0"/>
              <a:t>and</a:t>
            </a:r>
            <a:r>
              <a:rPr kumimoji="1" lang="zh-CN" altLang="en-US" dirty="0"/>
              <a:t> </a:t>
            </a:r>
            <a:r>
              <a:rPr kumimoji="1" lang="en-US" altLang="zh-CN" dirty="0"/>
              <a:t>y,</a:t>
            </a:r>
            <a:r>
              <a:rPr kumimoji="1" lang="zh-CN" altLang="en-US" dirty="0"/>
              <a:t> </a:t>
            </a:r>
            <a:r>
              <a:rPr kumimoji="1" lang="en-US" altLang="zh-CN" dirty="0"/>
              <a:t>to</a:t>
            </a:r>
            <a:r>
              <a:rPr kumimoji="1" lang="zh-CN" altLang="en-US" dirty="0"/>
              <a:t> </a:t>
            </a:r>
            <a:r>
              <a:rPr kumimoji="1" lang="en-US" altLang="zh-CN" dirty="0"/>
              <a:t>trigger</a:t>
            </a:r>
            <a:r>
              <a:rPr kumimoji="1" lang="zh-CN" altLang="en-US" dirty="0"/>
              <a:t> </a:t>
            </a:r>
            <a:r>
              <a:rPr kumimoji="1" lang="en-US" altLang="zh-CN" dirty="0"/>
              <a:t>this</a:t>
            </a:r>
            <a:r>
              <a:rPr kumimoji="1" lang="zh-CN" altLang="en-US" dirty="0"/>
              <a:t> </a:t>
            </a:r>
            <a:r>
              <a:rPr kumimoji="1" lang="en-US" altLang="zh-CN" dirty="0"/>
              <a:t>assertion?</a:t>
            </a:r>
            <a:endParaRPr kumimoji="1" lang="zh-CN" altLang="en-US" dirty="0"/>
          </a:p>
        </p:txBody>
      </p:sp>
      <p:cxnSp>
        <p:nvCxnSpPr>
          <p:cNvPr id="8" name="直线箭头连接符 7">
            <a:extLst>
              <a:ext uri="{FF2B5EF4-FFF2-40B4-BE49-F238E27FC236}">
                <a16:creationId xmlns:a16="http://schemas.microsoft.com/office/drawing/2014/main" id="{256CED9B-4113-BE41-9C59-AABCC4FDEDA7}"/>
              </a:ext>
            </a:extLst>
          </p:cNvPr>
          <p:cNvCxnSpPr/>
          <p:nvPr/>
        </p:nvCxnSpPr>
        <p:spPr>
          <a:xfrm flipH="1" flipV="1">
            <a:off x="4419600" y="5140622"/>
            <a:ext cx="1600200" cy="7620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1" name="表格 20">
            <a:extLst>
              <a:ext uri="{FF2B5EF4-FFF2-40B4-BE49-F238E27FC236}">
                <a16:creationId xmlns:a16="http://schemas.microsoft.com/office/drawing/2014/main" id="{EFB472D2-8299-6B4A-8792-4EF6DDB4E2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12264757"/>
              </p:ext>
            </p:extLst>
          </p:nvPr>
        </p:nvGraphicFramePr>
        <p:xfrm>
          <a:off x="6096000" y="2402840"/>
          <a:ext cx="251460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5400">
                  <a:extLst>
                    <a:ext uri="{9D8B030D-6E8A-4147-A177-3AD203B41FA5}">
                      <a16:colId xmlns:a16="http://schemas.microsoft.com/office/drawing/2014/main" val="978326069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120923574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Variable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value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09143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a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a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086531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b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b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269589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x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27281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y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483748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288118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83B1A98-5D2E-F84C-8A75-A8FC62CA10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Example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EA67DCE-2389-6343-AFC1-54E1B9454D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" y="2017713"/>
            <a:ext cx="7772400" cy="4114800"/>
          </a:xfrm>
        </p:spPr>
        <p:txBody>
          <a:bodyPr/>
          <a:lstStyle/>
          <a:p>
            <a:pPr marL="0" indent="0">
              <a:buNone/>
            </a:pP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//</a:t>
            </a:r>
            <a:r>
              <a: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branching,</a:t>
            </a:r>
            <a:r>
              <a: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the</a:t>
            </a:r>
            <a:r>
              <a: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process</a:t>
            </a:r>
          </a:p>
          <a:p>
            <a:pPr marL="0" indent="0">
              <a:buNone/>
            </a:pP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//</a:t>
            </a:r>
            <a:r>
              <a: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forks:</a:t>
            </a:r>
          </a:p>
          <a:p>
            <a:pPr marL="0" indent="0">
              <a:buNone/>
            </a:pP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 foo(</a:t>
            </a:r>
            <a:r>
              <a:rPr kumimoji="1" lang="en-US" altLang="zh-CN" sz="2000" b="1" dirty="0" err="1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a, </a:t>
            </a:r>
            <a:r>
              <a:rPr kumimoji="1" lang="en-US" altLang="zh-CN" sz="2000" b="1" dirty="0" err="1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b){</a:t>
            </a:r>
          </a:p>
          <a:p>
            <a:pPr marL="0" indent="0">
              <a:buNone/>
            </a:pP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kumimoji="1" lang="en-US" altLang="zh-CN" sz="2000" b="1" dirty="0" err="1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x = 1, y = 0;</a:t>
            </a:r>
          </a:p>
          <a:p>
            <a:pPr marL="0" indent="0">
              <a:buNone/>
            </a:pP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if(a != 0){</a:t>
            </a:r>
          </a:p>
          <a:p>
            <a:pPr marL="0" indent="0">
              <a:buNone/>
            </a:pP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y = 3+x;</a:t>
            </a:r>
          </a:p>
          <a:p>
            <a:pPr marL="0" indent="0">
              <a:buNone/>
            </a:pP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if(b == 0)</a:t>
            </a:r>
          </a:p>
          <a:p>
            <a:pPr marL="0" indent="0">
              <a:buNone/>
            </a:pP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 = 2*(</a:t>
            </a:r>
            <a:r>
              <a:rPr kumimoji="1" lang="en-US" altLang="zh-CN" sz="2000" b="1" dirty="0" err="1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a+b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marL="0" indent="0">
              <a:buNone/>
            </a:pP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>
              <a:buNone/>
            </a:pP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assert(x-y != 0);</a:t>
            </a:r>
          </a:p>
          <a:p>
            <a:pPr marL="0" indent="0">
              <a:buNone/>
            </a:pP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>
              <a:buNone/>
            </a:pPr>
            <a:endParaRPr kumimoji="1" lang="en-US" altLang="zh-CN" sz="2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aphicFrame>
        <p:nvGraphicFramePr>
          <p:cNvPr id="21" name="表格 20">
            <a:extLst>
              <a:ext uri="{FF2B5EF4-FFF2-40B4-BE49-F238E27FC236}">
                <a16:creationId xmlns:a16="http://schemas.microsoft.com/office/drawing/2014/main" id="{EFB472D2-8299-6B4A-8792-4EF6DDB4E2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31638310"/>
              </p:ext>
            </p:extLst>
          </p:nvPr>
        </p:nvGraphicFramePr>
        <p:xfrm>
          <a:off x="6324600" y="292577"/>
          <a:ext cx="121920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0571">
                  <a:extLst>
                    <a:ext uri="{9D8B030D-6E8A-4147-A177-3AD203B41FA5}">
                      <a16:colId xmlns:a16="http://schemas.microsoft.com/office/drawing/2014/main" val="978326069"/>
                    </a:ext>
                  </a:extLst>
                </a:gridCol>
                <a:gridCol w="638629">
                  <a:extLst>
                    <a:ext uri="{9D8B030D-6E8A-4147-A177-3AD203B41FA5}">
                      <a16:colId xmlns:a16="http://schemas.microsoft.com/office/drawing/2014/main" val="1209235749"/>
                    </a:ext>
                  </a:extLst>
                </a:gridCol>
              </a:tblGrid>
              <a:tr h="224118">
                <a:tc>
                  <a:txBody>
                    <a:bodyPr/>
                    <a:lstStyle/>
                    <a:p>
                      <a:r>
                        <a:rPr lang="en-US" altLang="zh-CN" sz="1200" dirty="0">
                          <a:solidFill>
                            <a:schemeClr val="tx1"/>
                          </a:solidFill>
                        </a:rPr>
                        <a:t>Variable</a:t>
                      </a:r>
                      <a:endParaRPr lang="zh-CN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>
                          <a:solidFill>
                            <a:schemeClr val="tx1"/>
                          </a:solidFill>
                        </a:rPr>
                        <a:t>value</a:t>
                      </a:r>
                      <a:endParaRPr lang="zh-CN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0914343"/>
                  </a:ext>
                </a:extLst>
              </a:tr>
              <a:tr h="134471"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a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a</a:t>
                      </a:r>
                      <a:endParaRPr lang="zh-CN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08653192"/>
                  </a:ext>
                </a:extLst>
              </a:tr>
              <a:tr h="134471"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b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b</a:t>
                      </a:r>
                      <a:endParaRPr lang="zh-CN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26958939"/>
                  </a:ext>
                </a:extLst>
              </a:tr>
              <a:tr h="134471"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x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1</a:t>
                      </a:r>
                      <a:endParaRPr lang="zh-CN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2728102"/>
                  </a:ext>
                </a:extLst>
              </a:tr>
              <a:tr h="134471"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y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4837483"/>
                  </a:ext>
                </a:extLst>
              </a:tr>
            </a:tbl>
          </a:graphicData>
        </a:graphic>
      </p:graphicFrame>
      <p:graphicFrame>
        <p:nvGraphicFramePr>
          <p:cNvPr id="9" name="表格 8">
            <a:extLst>
              <a:ext uri="{FF2B5EF4-FFF2-40B4-BE49-F238E27FC236}">
                <a16:creationId xmlns:a16="http://schemas.microsoft.com/office/drawing/2014/main" id="{2D8EA7AE-34AF-F34C-9EBD-E4A45FD47E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29043313"/>
              </p:ext>
            </p:extLst>
          </p:nvPr>
        </p:nvGraphicFramePr>
        <p:xfrm>
          <a:off x="5047456" y="2209800"/>
          <a:ext cx="121920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0571">
                  <a:extLst>
                    <a:ext uri="{9D8B030D-6E8A-4147-A177-3AD203B41FA5}">
                      <a16:colId xmlns:a16="http://schemas.microsoft.com/office/drawing/2014/main" val="978326069"/>
                    </a:ext>
                  </a:extLst>
                </a:gridCol>
                <a:gridCol w="638629">
                  <a:extLst>
                    <a:ext uri="{9D8B030D-6E8A-4147-A177-3AD203B41FA5}">
                      <a16:colId xmlns:a16="http://schemas.microsoft.com/office/drawing/2014/main" val="1209235749"/>
                    </a:ext>
                  </a:extLst>
                </a:gridCol>
              </a:tblGrid>
              <a:tr h="224118">
                <a:tc>
                  <a:txBody>
                    <a:bodyPr/>
                    <a:lstStyle/>
                    <a:p>
                      <a:r>
                        <a:rPr lang="en-US" altLang="zh-CN" sz="1200" dirty="0">
                          <a:solidFill>
                            <a:schemeClr val="tx1"/>
                          </a:solidFill>
                        </a:rPr>
                        <a:t>Variable</a:t>
                      </a:r>
                      <a:endParaRPr lang="zh-CN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>
                          <a:solidFill>
                            <a:schemeClr val="tx1"/>
                          </a:solidFill>
                        </a:rPr>
                        <a:t>value</a:t>
                      </a:r>
                      <a:endParaRPr lang="zh-CN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0914343"/>
                  </a:ext>
                </a:extLst>
              </a:tr>
              <a:tr h="134471"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a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a</a:t>
                      </a:r>
                      <a:endParaRPr lang="zh-CN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08653192"/>
                  </a:ext>
                </a:extLst>
              </a:tr>
              <a:tr h="134471"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b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b</a:t>
                      </a:r>
                      <a:endParaRPr lang="zh-CN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26958939"/>
                  </a:ext>
                </a:extLst>
              </a:tr>
              <a:tr h="134471"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x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1</a:t>
                      </a:r>
                      <a:endParaRPr lang="zh-CN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2728102"/>
                  </a:ext>
                </a:extLst>
              </a:tr>
              <a:tr h="134471"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y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4837483"/>
                  </a:ext>
                </a:extLst>
              </a:tr>
            </a:tbl>
          </a:graphicData>
        </a:graphic>
      </p:graphicFrame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7371777D-3652-F948-9A18-7D6089338B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07997641"/>
              </p:ext>
            </p:extLst>
          </p:nvPr>
        </p:nvGraphicFramePr>
        <p:xfrm>
          <a:off x="7467600" y="2209800"/>
          <a:ext cx="121920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0571">
                  <a:extLst>
                    <a:ext uri="{9D8B030D-6E8A-4147-A177-3AD203B41FA5}">
                      <a16:colId xmlns:a16="http://schemas.microsoft.com/office/drawing/2014/main" val="978326069"/>
                    </a:ext>
                  </a:extLst>
                </a:gridCol>
                <a:gridCol w="638629">
                  <a:extLst>
                    <a:ext uri="{9D8B030D-6E8A-4147-A177-3AD203B41FA5}">
                      <a16:colId xmlns:a16="http://schemas.microsoft.com/office/drawing/2014/main" val="1209235749"/>
                    </a:ext>
                  </a:extLst>
                </a:gridCol>
              </a:tblGrid>
              <a:tr h="224118">
                <a:tc>
                  <a:txBody>
                    <a:bodyPr/>
                    <a:lstStyle/>
                    <a:p>
                      <a:r>
                        <a:rPr lang="en-US" altLang="zh-CN" sz="1200" dirty="0">
                          <a:solidFill>
                            <a:schemeClr val="tx1"/>
                          </a:solidFill>
                        </a:rPr>
                        <a:t>Variable</a:t>
                      </a:r>
                      <a:endParaRPr lang="zh-CN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>
                          <a:solidFill>
                            <a:schemeClr val="tx1"/>
                          </a:solidFill>
                        </a:rPr>
                        <a:t>value</a:t>
                      </a:r>
                      <a:endParaRPr lang="zh-CN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0914343"/>
                  </a:ext>
                </a:extLst>
              </a:tr>
              <a:tr h="134471"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a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a</a:t>
                      </a:r>
                      <a:endParaRPr lang="zh-CN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08653192"/>
                  </a:ext>
                </a:extLst>
              </a:tr>
              <a:tr h="134471"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b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b</a:t>
                      </a:r>
                      <a:endParaRPr lang="zh-CN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26958939"/>
                  </a:ext>
                </a:extLst>
              </a:tr>
              <a:tr h="134471"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x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1</a:t>
                      </a:r>
                      <a:endParaRPr lang="zh-CN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2728102"/>
                  </a:ext>
                </a:extLst>
              </a:tr>
              <a:tr h="134471"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y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4837483"/>
                  </a:ext>
                </a:extLst>
              </a:tr>
            </a:tbl>
          </a:graphicData>
        </a:graphic>
      </p:graphicFrame>
      <p:cxnSp>
        <p:nvCxnSpPr>
          <p:cNvPr id="5" name="直线箭头连接符 4">
            <a:extLst>
              <a:ext uri="{FF2B5EF4-FFF2-40B4-BE49-F238E27FC236}">
                <a16:creationId xmlns:a16="http://schemas.microsoft.com/office/drawing/2014/main" id="{05502018-EA49-A64C-9D30-2B0708A2E425}"/>
              </a:ext>
            </a:extLst>
          </p:cNvPr>
          <p:cNvCxnSpPr>
            <a:endCxn id="9" idx="0"/>
          </p:cNvCxnSpPr>
          <p:nvPr/>
        </p:nvCxnSpPr>
        <p:spPr>
          <a:xfrm flipH="1">
            <a:off x="5657056" y="1847056"/>
            <a:ext cx="1277144" cy="36274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线箭头连接符 10">
            <a:extLst>
              <a:ext uri="{FF2B5EF4-FFF2-40B4-BE49-F238E27FC236}">
                <a16:creationId xmlns:a16="http://schemas.microsoft.com/office/drawing/2014/main" id="{EB58A3F9-5BB8-6F41-ACF8-D66360CFE70D}"/>
              </a:ext>
            </a:extLst>
          </p:cNvPr>
          <p:cNvCxnSpPr>
            <a:cxnSpLocks/>
            <a:stCxn id="21" idx="2"/>
            <a:endCxn id="10" idx="0"/>
          </p:cNvCxnSpPr>
          <p:nvPr/>
        </p:nvCxnSpPr>
        <p:spPr>
          <a:xfrm>
            <a:off x="6934200" y="1847057"/>
            <a:ext cx="1143000" cy="36274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文本框 12">
            <a:extLst>
              <a:ext uri="{FF2B5EF4-FFF2-40B4-BE49-F238E27FC236}">
                <a16:creationId xmlns:a16="http://schemas.microsoft.com/office/drawing/2014/main" id="{DD654C91-1C89-034A-8258-C0B955FC68A4}"/>
              </a:ext>
            </a:extLst>
          </p:cNvPr>
          <p:cNvSpPr txBox="1"/>
          <p:nvPr/>
        </p:nvSpPr>
        <p:spPr>
          <a:xfrm>
            <a:off x="7696200" y="1847056"/>
            <a:ext cx="1143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a==0</a:t>
            </a:r>
            <a:endParaRPr kumimoji="1" lang="zh-CN" altLang="en-US" sz="1200" dirty="0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15B1005E-3F20-3245-8A2F-E1D10FDECBDB}"/>
              </a:ext>
            </a:extLst>
          </p:cNvPr>
          <p:cNvSpPr txBox="1"/>
          <p:nvPr/>
        </p:nvSpPr>
        <p:spPr>
          <a:xfrm>
            <a:off x="5562600" y="1868214"/>
            <a:ext cx="1143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a!=0</a:t>
            </a:r>
            <a:endParaRPr kumimoji="1" lang="zh-CN" altLang="en-US" sz="1200" dirty="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8E1E2E24-A6FA-AC49-BE8F-46AB3880C5E6}"/>
              </a:ext>
            </a:extLst>
          </p:cNvPr>
          <p:cNvSpPr txBox="1"/>
          <p:nvPr/>
        </p:nvSpPr>
        <p:spPr>
          <a:xfrm>
            <a:off x="7543800" y="3894157"/>
            <a:ext cx="139229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The</a:t>
            </a:r>
            <a:r>
              <a:rPr kumimoji="1" lang="zh-CN" altLang="en-US" sz="1200" dirty="0"/>
              <a:t> </a:t>
            </a:r>
            <a:r>
              <a:rPr kumimoji="1" lang="en-US" altLang="zh-CN" sz="1200" dirty="0"/>
              <a:t>obligation:</a:t>
            </a:r>
          </a:p>
          <a:p>
            <a:r>
              <a:rPr kumimoji="1" lang="en-US" altLang="zh-CN" sz="1200" dirty="0">
                <a:solidFill>
                  <a:srgbClr val="0432FF"/>
                </a:solidFill>
              </a:rPr>
              <a:t>x-y==0</a:t>
            </a:r>
          </a:p>
          <a:p>
            <a:r>
              <a:rPr kumimoji="1" lang="en-US" altLang="zh-CN" sz="1200" dirty="0"/>
              <a:t>that</a:t>
            </a:r>
            <a:r>
              <a:rPr kumimoji="1" lang="zh-CN" altLang="en-US" sz="1200" dirty="0"/>
              <a:t> </a:t>
            </a:r>
            <a:r>
              <a:rPr kumimoji="1" lang="en-US" altLang="zh-CN" sz="1200" dirty="0"/>
              <a:t>is:</a:t>
            </a:r>
          </a:p>
          <a:p>
            <a:r>
              <a:rPr kumimoji="1" lang="en-US" altLang="zh-CN" sz="1200" dirty="0">
                <a:solidFill>
                  <a:srgbClr val="0432FF"/>
                </a:solidFill>
              </a:rPr>
              <a:t>1-0==0</a:t>
            </a:r>
            <a:endParaRPr kumimoji="1" lang="zh-CN" altLang="en-US" sz="1200" dirty="0">
              <a:solidFill>
                <a:srgbClr val="0432FF"/>
              </a:solidFill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E922B430-8AC9-4D4C-AB0B-5F0E9F6CA114}"/>
              </a:ext>
            </a:extLst>
          </p:cNvPr>
          <p:cNvSpPr txBox="1"/>
          <p:nvPr/>
        </p:nvSpPr>
        <p:spPr>
          <a:xfrm>
            <a:off x="7543800" y="4807803"/>
            <a:ext cx="139229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>
                <a:solidFill>
                  <a:srgbClr val="FF0000"/>
                </a:solidFill>
              </a:rPr>
              <a:t>USNAT!</a:t>
            </a:r>
            <a:endParaRPr kumimoji="1" lang="zh-CN" altLang="en-US" sz="12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793960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5" grpId="0"/>
      <p:bldP spid="16" grpId="0"/>
      <p:bldP spid="18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83B1A98-5D2E-F84C-8A75-A8FC62CA10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Example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EA67DCE-2389-6343-AFC1-54E1B9454D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" y="2017713"/>
            <a:ext cx="7772400" cy="4114800"/>
          </a:xfrm>
        </p:spPr>
        <p:txBody>
          <a:bodyPr/>
          <a:lstStyle/>
          <a:p>
            <a:pPr marL="0" indent="0">
              <a:buNone/>
            </a:pP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//</a:t>
            </a:r>
            <a:r>
              <a: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branching,</a:t>
            </a:r>
            <a:r>
              <a: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the</a:t>
            </a:r>
            <a:r>
              <a: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process</a:t>
            </a:r>
          </a:p>
          <a:p>
            <a:pPr marL="0" indent="0">
              <a:buNone/>
            </a:pP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//</a:t>
            </a:r>
            <a:r>
              <a: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forks:</a:t>
            </a:r>
          </a:p>
          <a:p>
            <a:pPr marL="0" indent="0">
              <a:buNone/>
            </a:pP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 foo(</a:t>
            </a:r>
            <a:r>
              <a:rPr kumimoji="1" lang="en-US" altLang="zh-CN" sz="2000" b="1" dirty="0" err="1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a, </a:t>
            </a:r>
            <a:r>
              <a:rPr kumimoji="1" lang="en-US" altLang="zh-CN" sz="2000" b="1" dirty="0" err="1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b){</a:t>
            </a:r>
          </a:p>
          <a:p>
            <a:pPr marL="0" indent="0">
              <a:buNone/>
            </a:pP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kumimoji="1" lang="en-US" altLang="zh-CN" sz="2000" b="1" dirty="0" err="1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x = 1, y = 0;</a:t>
            </a:r>
          </a:p>
          <a:p>
            <a:pPr marL="0" indent="0">
              <a:buNone/>
            </a:pP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if(a != 0){</a:t>
            </a:r>
          </a:p>
          <a:p>
            <a:pPr marL="0" indent="0">
              <a:buNone/>
            </a:pP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y = 3+x;</a:t>
            </a:r>
          </a:p>
          <a:p>
            <a:pPr marL="0" indent="0">
              <a:buNone/>
            </a:pP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if(b == 0)</a:t>
            </a:r>
          </a:p>
          <a:p>
            <a:pPr marL="0" indent="0">
              <a:buNone/>
            </a:pP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 = 2*(</a:t>
            </a:r>
            <a:r>
              <a:rPr kumimoji="1" lang="en-US" altLang="zh-CN" sz="2000" b="1" dirty="0" err="1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a+b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marL="0" indent="0">
              <a:buNone/>
            </a:pP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>
              <a:buNone/>
            </a:pP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assert(x-y != 0);</a:t>
            </a:r>
          </a:p>
          <a:p>
            <a:pPr marL="0" indent="0">
              <a:buNone/>
            </a:pP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>
              <a:buNone/>
            </a:pPr>
            <a:endParaRPr kumimoji="1" lang="en-US" altLang="zh-CN" sz="2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aphicFrame>
        <p:nvGraphicFramePr>
          <p:cNvPr id="21" name="表格 20">
            <a:extLst>
              <a:ext uri="{FF2B5EF4-FFF2-40B4-BE49-F238E27FC236}">
                <a16:creationId xmlns:a16="http://schemas.microsoft.com/office/drawing/2014/main" id="{EFB472D2-8299-6B4A-8792-4EF6DDB4E2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8382875"/>
              </p:ext>
            </p:extLst>
          </p:nvPr>
        </p:nvGraphicFramePr>
        <p:xfrm>
          <a:off x="6324600" y="292577"/>
          <a:ext cx="121920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0571">
                  <a:extLst>
                    <a:ext uri="{9D8B030D-6E8A-4147-A177-3AD203B41FA5}">
                      <a16:colId xmlns:a16="http://schemas.microsoft.com/office/drawing/2014/main" val="978326069"/>
                    </a:ext>
                  </a:extLst>
                </a:gridCol>
                <a:gridCol w="638629">
                  <a:extLst>
                    <a:ext uri="{9D8B030D-6E8A-4147-A177-3AD203B41FA5}">
                      <a16:colId xmlns:a16="http://schemas.microsoft.com/office/drawing/2014/main" val="1209235749"/>
                    </a:ext>
                  </a:extLst>
                </a:gridCol>
              </a:tblGrid>
              <a:tr h="224118">
                <a:tc>
                  <a:txBody>
                    <a:bodyPr/>
                    <a:lstStyle/>
                    <a:p>
                      <a:r>
                        <a:rPr lang="en-US" altLang="zh-CN" sz="1200" dirty="0">
                          <a:solidFill>
                            <a:schemeClr val="tx1"/>
                          </a:solidFill>
                        </a:rPr>
                        <a:t>Variable</a:t>
                      </a:r>
                      <a:endParaRPr lang="zh-CN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>
                          <a:solidFill>
                            <a:schemeClr val="tx1"/>
                          </a:solidFill>
                        </a:rPr>
                        <a:t>value</a:t>
                      </a:r>
                      <a:endParaRPr lang="zh-CN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0914343"/>
                  </a:ext>
                </a:extLst>
              </a:tr>
              <a:tr h="134471"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a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a</a:t>
                      </a:r>
                      <a:endParaRPr lang="zh-CN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08653192"/>
                  </a:ext>
                </a:extLst>
              </a:tr>
              <a:tr h="134471"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b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b</a:t>
                      </a:r>
                      <a:endParaRPr lang="zh-CN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26958939"/>
                  </a:ext>
                </a:extLst>
              </a:tr>
              <a:tr h="134471"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x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1</a:t>
                      </a:r>
                      <a:endParaRPr lang="zh-CN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2728102"/>
                  </a:ext>
                </a:extLst>
              </a:tr>
              <a:tr h="134471"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y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4837483"/>
                  </a:ext>
                </a:extLst>
              </a:tr>
            </a:tbl>
          </a:graphicData>
        </a:graphic>
      </p:graphicFrame>
      <p:graphicFrame>
        <p:nvGraphicFramePr>
          <p:cNvPr id="9" name="表格 8">
            <a:extLst>
              <a:ext uri="{FF2B5EF4-FFF2-40B4-BE49-F238E27FC236}">
                <a16:creationId xmlns:a16="http://schemas.microsoft.com/office/drawing/2014/main" id="{2D8EA7AE-34AF-F34C-9EBD-E4A45FD47E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35278605"/>
              </p:ext>
            </p:extLst>
          </p:nvPr>
        </p:nvGraphicFramePr>
        <p:xfrm>
          <a:off x="5047456" y="2209800"/>
          <a:ext cx="121920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0571">
                  <a:extLst>
                    <a:ext uri="{9D8B030D-6E8A-4147-A177-3AD203B41FA5}">
                      <a16:colId xmlns:a16="http://schemas.microsoft.com/office/drawing/2014/main" val="978326069"/>
                    </a:ext>
                  </a:extLst>
                </a:gridCol>
                <a:gridCol w="638629">
                  <a:extLst>
                    <a:ext uri="{9D8B030D-6E8A-4147-A177-3AD203B41FA5}">
                      <a16:colId xmlns:a16="http://schemas.microsoft.com/office/drawing/2014/main" val="1209235749"/>
                    </a:ext>
                  </a:extLst>
                </a:gridCol>
              </a:tblGrid>
              <a:tr h="224118">
                <a:tc>
                  <a:txBody>
                    <a:bodyPr/>
                    <a:lstStyle/>
                    <a:p>
                      <a:r>
                        <a:rPr lang="en-US" altLang="zh-CN" sz="1200" dirty="0">
                          <a:solidFill>
                            <a:schemeClr val="tx1"/>
                          </a:solidFill>
                        </a:rPr>
                        <a:t>Variable</a:t>
                      </a:r>
                      <a:endParaRPr lang="zh-CN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>
                          <a:solidFill>
                            <a:schemeClr val="tx1"/>
                          </a:solidFill>
                        </a:rPr>
                        <a:t>value</a:t>
                      </a:r>
                      <a:endParaRPr lang="zh-CN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0914343"/>
                  </a:ext>
                </a:extLst>
              </a:tr>
              <a:tr h="134471"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a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a</a:t>
                      </a:r>
                      <a:endParaRPr lang="zh-CN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08653192"/>
                  </a:ext>
                </a:extLst>
              </a:tr>
              <a:tr h="134471"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b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b</a:t>
                      </a:r>
                      <a:endParaRPr lang="zh-CN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26958939"/>
                  </a:ext>
                </a:extLst>
              </a:tr>
              <a:tr h="134471"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x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1</a:t>
                      </a:r>
                      <a:endParaRPr lang="zh-CN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2728102"/>
                  </a:ext>
                </a:extLst>
              </a:tr>
              <a:tr h="134471"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y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>
                          <a:solidFill>
                            <a:srgbClr val="FF0000"/>
                          </a:solidFill>
                        </a:rPr>
                        <a:t>4</a:t>
                      </a:r>
                      <a:endParaRPr lang="zh-CN" altLang="en-US" sz="12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4837483"/>
                  </a:ext>
                </a:extLst>
              </a:tr>
            </a:tbl>
          </a:graphicData>
        </a:graphic>
      </p:graphicFrame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7371777D-3652-F948-9A18-7D6089338B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74476306"/>
              </p:ext>
            </p:extLst>
          </p:nvPr>
        </p:nvGraphicFramePr>
        <p:xfrm>
          <a:off x="7467600" y="2209800"/>
          <a:ext cx="121920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0571">
                  <a:extLst>
                    <a:ext uri="{9D8B030D-6E8A-4147-A177-3AD203B41FA5}">
                      <a16:colId xmlns:a16="http://schemas.microsoft.com/office/drawing/2014/main" val="978326069"/>
                    </a:ext>
                  </a:extLst>
                </a:gridCol>
                <a:gridCol w="638629">
                  <a:extLst>
                    <a:ext uri="{9D8B030D-6E8A-4147-A177-3AD203B41FA5}">
                      <a16:colId xmlns:a16="http://schemas.microsoft.com/office/drawing/2014/main" val="1209235749"/>
                    </a:ext>
                  </a:extLst>
                </a:gridCol>
              </a:tblGrid>
              <a:tr h="224118">
                <a:tc>
                  <a:txBody>
                    <a:bodyPr/>
                    <a:lstStyle/>
                    <a:p>
                      <a:r>
                        <a:rPr lang="en-US" altLang="zh-CN" sz="1200" dirty="0">
                          <a:solidFill>
                            <a:schemeClr val="tx1"/>
                          </a:solidFill>
                        </a:rPr>
                        <a:t>Variable</a:t>
                      </a:r>
                      <a:endParaRPr lang="zh-CN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>
                          <a:solidFill>
                            <a:schemeClr val="tx1"/>
                          </a:solidFill>
                        </a:rPr>
                        <a:t>value</a:t>
                      </a:r>
                      <a:endParaRPr lang="zh-CN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0914343"/>
                  </a:ext>
                </a:extLst>
              </a:tr>
              <a:tr h="134471"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a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a</a:t>
                      </a:r>
                      <a:endParaRPr lang="zh-CN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08653192"/>
                  </a:ext>
                </a:extLst>
              </a:tr>
              <a:tr h="134471"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b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b</a:t>
                      </a:r>
                      <a:endParaRPr lang="zh-CN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26958939"/>
                  </a:ext>
                </a:extLst>
              </a:tr>
              <a:tr h="134471"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x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1</a:t>
                      </a:r>
                      <a:endParaRPr lang="zh-CN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2728102"/>
                  </a:ext>
                </a:extLst>
              </a:tr>
              <a:tr h="134471"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y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4837483"/>
                  </a:ext>
                </a:extLst>
              </a:tr>
            </a:tbl>
          </a:graphicData>
        </a:graphic>
      </p:graphicFrame>
      <p:cxnSp>
        <p:nvCxnSpPr>
          <p:cNvPr id="5" name="直线箭头连接符 4">
            <a:extLst>
              <a:ext uri="{FF2B5EF4-FFF2-40B4-BE49-F238E27FC236}">
                <a16:creationId xmlns:a16="http://schemas.microsoft.com/office/drawing/2014/main" id="{05502018-EA49-A64C-9D30-2B0708A2E425}"/>
              </a:ext>
            </a:extLst>
          </p:cNvPr>
          <p:cNvCxnSpPr>
            <a:endCxn id="9" idx="0"/>
          </p:cNvCxnSpPr>
          <p:nvPr/>
        </p:nvCxnSpPr>
        <p:spPr>
          <a:xfrm flipH="1">
            <a:off x="5657056" y="1847056"/>
            <a:ext cx="1277144" cy="36274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线箭头连接符 10">
            <a:extLst>
              <a:ext uri="{FF2B5EF4-FFF2-40B4-BE49-F238E27FC236}">
                <a16:creationId xmlns:a16="http://schemas.microsoft.com/office/drawing/2014/main" id="{EB58A3F9-5BB8-6F41-ACF8-D66360CFE70D}"/>
              </a:ext>
            </a:extLst>
          </p:cNvPr>
          <p:cNvCxnSpPr>
            <a:cxnSpLocks/>
            <a:stCxn id="21" idx="2"/>
            <a:endCxn id="10" idx="0"/>
          </p:cNvCxnSpPr>
          <p:nvPr/>
        </p:nvCxnSpPr>
        <p:spPr>
          <a:xfrm>
            <a:off x="6934200" y="1847057"/>
            <a:ext cx="1143000" cy="36274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文本框 12">
            <a:extLst>
              <a:ext uri="{FF2B5EF4-FFF2-40B4-BE49-F238E27FC236}">
                <a16:creationId xmlns:a16="http://schemas.microsoft.com/office/drawing/2014/main" id="{DD654C91-1C89-034A-8258-C0B955FC68A4}"/>
              </a:ext>
            </a:extLst>
          </p:cNvPr>
          <p:cNvSpPr txBox="1"/>
          <p:nvPr/>
        </p:nvSpPr>
        <p:spPr>
          <a:xfrm>
            <a:off x="7696200" y="1847056"/>
            <a:ext cx="1143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a==0</a:t>
            </a:r>
            <a:endParaRPr kumimoji="1" lang="zh-CN" altLang="en-US" sz="1200" dirty="0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15B1005E-3F20-3245-8A2F-E1D10FDECBDB}"/>
              </a:ext>
            </a:extLst>
          </p:cNvPr>
          <p:cNvSpPr txBox="1"/>
          <p:nvPr/>
        </p:nvSpPr>
        <p:spPr>
          <a:xfrm>
            <a:off x="5562600" y="1868214"/>
            <a:ext cx="1143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a!=0</a:t>
            </a:r>
            <a:endParaRPr kumimoji="1" lang="zh-CN" altLang="en-US" sz="1200" dirty="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8E1E2E24-A6FA-AC49-BE8F-46AB3880C5E6}"/>
              </a:ext>
            </a:extLst>
          </p:cNvPr>
          <p:cNvSpPr txBox="1"/>
          <p:nvPr/>
        </p:nvSpPr>
        <p:spPr>
          <a:xfrm>
            <a:off x="7543800" y="3894157"/>
            <a:ext cx="139229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The</a:t>
            </a:r>
            <a:r>
              <a:rPr kumimoji="1" lang="zh-CN" altLang="en-US" sz="1200" dirty="0"/>
              <a:t> </a:t>
            </a:r>
            <a:r>
              <a:rPr kumimoji="1" lang="en-US" altLang="zh-CN" sz="1200" dirty="0"/>
              <a:t>obligation:</a:t>
            </a:r>
          </a:p>
          <a:p>
            <a:r>
              <a:rPr kumimoji="1" lang="en-US" altLang="zh-CN" sz="1200" dirty="0">
                <a:solidFill>
                  <a:srgbClr val="0432FF"/>
                </a:solidFill>
              </a:rPr>
              <a:t>x-y==0</a:t>
            </a:r>
          </a:p>
          <a:p>
            <a:r>
              <a:rPr kumimoji="1" lang="en-US" altLang="zh-CN" sz="1200" dirty="0"/>
              <a:t>that</a:t>
            </a:r>
            <a:r>
              <a:rPr kumimoji="1" lang="zh-CN" altLang="en-US" sz="1200" dirty="0"/>
              <a:t> </a:t>
            </a:r>
            <a:r>
              <a:rPr kumimoji="1" lang="en-US" altLang="zh-CN" sz="1200" dirty="0"/>
              <a:t>is:</a:t>
            </a:r>
          </a:p>
          <a:p>
            <a:r>
              <a:rPr kumimoji="1" lang="en-US" altLang="zh-CN" sz="1200" dirty="0">
                <a:solidFill>
                  <a:srgbClr val="0432FF"/>
                </a:solidFill>
              </a:rPr>
              <a:t>1-0==0</a:t>
            </a:r>
            <a:endParaRPr kumimoji="1" lang="zh-CN" altLang="en-US" sz="1200" dirty="0">
              <a:solidFill>
                <a:srgbClr val="0432FF"/>
              </a:solidFill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E922B430-8AC9-4D4C-AB0B-5F0E9F6CA114}"/>
              </a:ext>
            </a:extLst>
          </p:cNvPr>
          <p:cNvSpPr txBox="1"/>
          <p:nvPr/>
        </p:nvSpPr>
        <p:spPr>
          <a:xfrm>
            <a:off x="7543800" y="4807803"/>
            <a:ext cx="139229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>
                <a:solidFill>
                  <a:srgbClr val="FF0000"/>
                </a:solidFill>
              </a:rPr>
              <a:t>USNAT!</a:t>
            </a:r>
            <a:endParaRPr kumimoji="1" lang="zh-CN" altLang="en-US" sz="1200" dirty="0">
              <a:solidFill>
                <a:srgbClr val="FF0000"/>
              </a:solidFill>
            </a:endParaRPr>
          </a:p>
        </p:txBody>
      </p:sp>
      <p:cxnSp>
        <p:nvCxnSpPr>
          <p:cNvPr id="14" name="直线箭头连接符 13">
            <a:extLst>
              <a:ext uri="{FF2B5EF4-FFF2-40B4-BE49-F238E27FC236}">
                <a16:creationId xmlns:a16="http://schemas.microsoft.com/office/drawing/2014/main" id="{B951F13F-1BC3-254E-855B-DE01FEEAD39A}"/>
              </a:ext>
            </a:extLst>
          </p:cNvPr>
          <p:cNvCxnSpPr/>
          <p:nvPr/>
        </p:nvCxnSpPr>
        <p:spPr>
          <a:xfrm flipH="1">
            <a:off x="4361656" y="3752056"/>
            <a:ext cx="1277144" cy="36274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线箭头连接符 16">
            <a:extLst>
              <a:ext uri="{FF2B5EF4-FFF2-40B4-BE49-F238E27FC236}">
                <a16:creationId xmlns:a16="http://schemas.microsoft.com/office/drawing/2014/main" id="{B45453B9-F5EC-E744-95ED-7D89302B8CDB}"/>
              </a:ext>
            </a:extLst>
          </p:cNvPr>
          <p:cNvCxnSpPr>
            <a:cxnSpLocks/>
          </p:cNvCxnSpPr>
          <p:nvPr/>
        </p:nvCxnSpPr>
        <p:spPr>
          <a:xfrm>
            <a:off x="5638800" y="3752057"/>
            <a:ext cx="1143000" cy="36274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文本框 18">
            <a:extLst>
              <a:ext uri="{FF2B5EF4-FFF2-40B4-BE49-F238E27FC236}">
                <a16:creationId xmlns:a16="http://schemas.microsoft.com/office/drawing/2014/main" id="{E751AF04-9708-8549-88D6-9038992215C6}"/>
              </a:ext>
            </a:extLst>
          </p:cNvPr>
          <p:cNvSpPr txBox="1"/>
          <p:nvPr/>
        </p:nvSpPr>
        <p:spPr>
          <a:xfrm>
            <a:off x="6400800" y="3752056"/>
            <a:ext cx="1143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b!=0</a:t>
            </a:r>
            <a:endParaRPr kumimoji="1" lang="zh-CN" altLang="en-US" sz="1200" dirty="0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AF815DB2-FA02-8542-B716-6DD419A6D31D}"/>
              </a:ext>
            </a:extLst>
          </p:cNvPr>
          <p:cNvSpPr txBox="1"/>
          <p:nvPr/>
        </p:nvSpPr>
        <p:spPr>
          <a:xfrm>
            <a:off x="4267200" y="3773214"/>
            <a:ext cx="1143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b==0</a:t>
            </a:r>
            <a:endParaRPr kumimoji="1" lang="zh-CN" altLang="en-US" sz="1200" dirty="0"/>
          </a:p>
        </p:txBody>
      </p:sp>
      <p:graphicFrame>
        <p:nvGraphicFramePr>
          <p:cNvPr id="22" name="表格 21">
            <a:extLst>
              <a:ext uri="{FF2B5EF4-FFF2-40B4-BE49-F238E27FC236}">
                <a16:creationId xmlns:a16="http://schemas.microsoft.com/office/drawing/2014/main" id="{F899E1C9-0B96-C045-AD2F-32AF9143DE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46607475"/>
              </p:ext>
            </p:extLst>
          </p:nvPr>
        </p:nvGraphicFramePr>
        <p:xfrm>
          <a:off x="3752056" y="4123734"/>
          <a:ext cx="121920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0571">
                  <a:extLst>
                    <a:ext uri="{9D8B030D-6E8A-4147-A177-3AD203B41FA5}">
                      <a16:colId xmlns:a16="http://schemas.microsoft.com/office/drawing/2014/main" val="978326069"/>
                    </a:ext>
                  </a:extLst>
                </a:gridCol>
                <a:gridCol w="638629">
                  <a:extLst>
                    <a:ext uri="{9D8B030D-6E8A-4147-A177-3AD203B41FA5}">
                      <a16:colId xmlns:a16="http://schemas.microsoft.com/office/drawing/2014/main" val="1209235749"/>
                    </a:ext>
                  </a:extLst>
                </a:gridCol>
              </a:tblGrid>
              <a:tr h="224118">
                <a:tc>
                  <a:txBody>
                    <a:bodyPr/>
                    <a:lstStyle/>
                    <a:p>
                      <a:r>
                        <a:rPr lang="en-US" altLang="zh-CN" sz="1200" dirty="0">
                          <a:solidFill>
                            <a:schemeClr val="tx1"/>
                          </a:solidFill>
                        </a:rPr>
                        <a:t>Variable</a:t>
                      </a:r>
                      <a:endParaRPr lang="zh-CN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>
                          <a:solidFill>
                            <a:schemeClr val="tx1"/>
                          </a:solidFill>
                        </a:rPr>
                        <a:t>value</a:t>
                      </a:r>
                      <a:endParaRPr lang="zh-CN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0914343"/>
                  </a:ext>
                </a:extLst>
              </a:tr>
              <a:tr h="134471"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a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a</a:t>
                      </a:r>
                      <a:endParaRPr lang="zh-CN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08653192"/>
                  </a:ext>
                </a:extLst>
              </a:tr>
              <a:tr h="134471"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b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b</a:t>
                      </a:r>
                      <a:endParaRPr lang="zh-CN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26958939"/>
                  </a:ext>
                </a:extLst>
              </a:tr>
              <a:tr h="134471"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x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1</a:t>
                      </a:r>
                      <a:endParaRPr lang="zh-CN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2728102"/>
                  </a:ext>
                </a:extLst>
              </a:tr>
              <a:tr h="134471"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y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>
                          <a:solidFill>
                            <a:srgbClr val="FF0000"/>
                          </a:solidFill>
                        </a:rPr>
                        <a:t>4</a:t>
                      </a:r>
                      <a:endParaRPr lang="zh-CN" altLang="en-US" sz="12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4837483"/>
                  </a:ext>
                </a:extLst>
              </a:tr>
            </a:tbl>
          </a:graphicData>
        </a:graphic>
      </p:graphicFrame>
      <p:graphicFrame>
        <p:nvGraphicFramePr>
          <p:cNvPr id="23" name="表格 22">
            <a:extLst>
              <a:ext uri="{FF2B5EF4-FFF2-40B4-BE49-F238E27FC236}">
                <a16:creationId xmlns:a16="http://schemas.microsoft.com/office/drawing/2014/main" id="{819DC949-18EF-DC4C-A149-19F688B8A2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6907818"/>
              </p:ext>
            </p:extLst>
          </p:nvPr>
        </p:nvGraphicFramePr>
        <p:xfrm>
          <a:off x="6172200" y="4141854"/>
          <a:ext cx="121920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0571">
                  <a:extLst>
                    <a:ext uri="{9D8B030D-6E8A-4147-A177-3AD203B41FA5}">
                      <a16:colId xmlns:a16="http://schemas.microsoft.com/office/drawing/2014/main" val="978326069"/>
                    </a:ext>
                  </a:extLst>
                </a:gridCol>
                <a:gridCol w="638629">
                  <a:extLst>
                    <a:ext uri="{9D8B030D-6E8A-4147-A177-3AD203B41FA5}">
                      <a16:colId xmlns:a16="http://schemas.microsoft.com/office/drawing/2014/main" val="1209235749"/>
                    </a:ext>
                  </a:extLst>
                </a:gridCol>
              </a:tblGrid>
              <a:tr h="224118">
                <a:tc>
                  <a:txBody>
                    <a:bodyPr/>
                    <a:lstStyle/>
                    <a:p>
                      <a:r>
                        <a:rPr lang="en-US" altLang="zh-CN" sz="1200" dirty="0">
                          <a:solidFill>
                            <a:schemeClr val="tx1"/>
                          </a:solidFill>
                        </a:rPr>
                        <a:t>Variable</a:t>
                      </a:r>
                      <a:endParaRPr lang="zh-CN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>
                          <a:solidFill>
                            <a:schemeClr val="tx1"/>
                          </a:solidFill>
                        </a:rPr>
                        <a:t>value</a:t>
                      </a:r>
                      <a:endParaRPr lang="zh-CN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0914343"/>
                  </a:ext>
                </a:extLst>
              </a:tr>
              <a:tr h="134471"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a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a</a:t>
                      </a:r>
                      <a:endParaRPr lang="zh-CN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08653192"/>
                  </a:ext>
                </a:extLst>
              </a:tr>
              <a:tr h="134471"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b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b</a:t>
                      </a:r>
                      <a:endParaRPr lang="zh-CN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26958939"/>
                  </a:ext>
                </a:extLst>
              </a:tr>
              <a:tr h="134471"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x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1</a:t>
                      </a:r>
                      <a:endParaRPr lang="zh-CN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2728102"/>
                  </a:ext>
                </a:extLst>
              </a:tr>
              <a:tr h="134471"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y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>
                          <a:solidFill>
                            <a:srgbClr val="FF0000"/>
                          </a:solidFill>
                        </a:rPr>
                        <a:t>4</a:t>
                      </a:r>
                      <a:endParaRPr lang="zh-CN" altLang="en-US" sz="12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4837483"/>
                  </a:ext>
                </a:extLst>
              </a:tr>
            </a:tbl>
          </a:graphicData>
        </a:graphic>
      </p:graphicFrame>
      <p:sp>
        <p:nvSpPr>
          <p:cNvPr id="24" name="文本框 23">
            <a:extLst>
              <a:ext uri="{FF2B5EF4-FFF2-40B4-BE49-F238E27FC236}">
                <a16:creationId xmlns:a16="http://schemas.microsoft.com/office/drawing/2014/main" id="{B6CB39BE-CED4-3C49-AF2E-0BFBB72A1801}"/>
              </a:ext>
            </a:extLst>
          </p:cNvPr>
          <p:cNvSpPr txBox="1"/>
          <p:nvPr/>
        </p:nvSpPr>
        <p:spPr>
          <a:xfrm>
            <a:off x="6172200" y="5667355"/>
            <a:ext cx="139229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The</a:t>
            </a:r>
            <a:r>
              <a:rPr kumimoji="1" lang="zh-CN" altLang="en-US" sz="1200" dirty="0"/>
              <a:t> </a:t>
            </a:r>
            <a:r>
              <a:rPr kumimoji="1" lang="en-US" altLang="zh-CN" sz="1200" dirty="0"/>
              <a:t>obligation:</a:t>
            </a:r>
          </a:p>
          <a:p>
            <a:r>
              <a:rPr kumimoji="1" lang="en-US" altLang="zh-CN" sz="1200" dirty="0">
                <a:solidFill>
                  <a:srgbClr val="0432FF"/>
                </a:solidFill>
              </a:rPr>
              <a:t>x-y==0</a:t>
            </a:r>
          </a:p>
          <a:p>
            <a:r>
              <a:rPr kumimoji="1" lang="en-US" altLang="zh-CN" sz="1200" dirty="0"/>
              <a:t>that</a:t>
            </a:r>
            <a:r>
              <a:rPr kumimoji="1" lang="zh-CN" altLang="en-US" sz="1200" dirty="0"/>
              <a:t> </a:t>
            </a:r>
            <a:r>
              <a:rPr kumimoji="1" lang="en-US" altLang="zh-CN" sz="1200" dirty="0"/>
              <a:t>is:</a:t>
            </a:r>
          </a:p>
          <a:p>
            <a:r>
              <a:rPr kumimoji="1" lang="en-US" altLang="zh-CN" sz="1200" dirty="0">
                <a:solidFill>
                  <a:srgbClr val="0432FF"/>
                </a:solidFill>
              </a:rPr>
              <a:t>1-4==0</a:t>
            </a:r>
            <a:endParaRPr kumimoji="1" lang="zh-CN" altLang="en-US" sz="1200" dirty="0">
              <a:solidFill>
                <a:srgbClr val="0432FF"/>
              </a:solidFill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D5A05E05-105D-8944-AB16-A10929CC1444}"/>
              </a:ext>
            </a:extLst>
          </p:cNvPr>
          <p:cNvSpPr txBox="1"/>
          <p:nvPr/>
        </p:nvSpPr>
        <p:spPr>
          <a:xfrm>
            <a:off x="6172200" y="6581001"/>
            <a:ext cx="139229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>
                <a:solidFill>
                  <a:srgbClr val="FF0000"/>
                </a:solidFill>
              </a:rPr>
              <a:t>USNAT!</a:t>
            </a:r>
            <a:endParaRPr kumimoji="1" lang="zh-CN" altLang="en-US" sz="12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146025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4" grpId="0"/>
      <p:bldP spid="25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83B1A98-5D2E-F84C-8A75-A8FC62CA10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Example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EA67DCE-2389-6343-AFC1-54E1B9454D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" y="2017713"/>
            <a:ext cx="7772400" cy="4114800"/>
          </a:xfrm>
        </p:spPr>
        <p:txBody>
          <a:bodyPr/>
          <a:lstStyle/>
          <a:p>
            <a:pPr marL="0" indent="0">
              <a:buNone/>
            </a:pP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//</a:t>
            </a:r>
            <a:r>
              <a: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branching,</a:t>
            </a:r>
            <a:r>
              <a: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the</a:t>
            </a:r>
            <a:r>
              <a: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process</a:t>
            </a:r>
          </a:p>
          <a:p>
            <a:pPr marL="0" indent="0">
              <a:buNone/>
            </a:pP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//</a:t>
            </a:r>
            <a:r>
              <a: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forks:</a:t>
            </a:r>
          </a:p>
          <a:p>
            <a:pPr marL="0" indent="0">
              <a:buNone/>
            </a:pP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 foo(</a:t>
            </a:r>
            <a:r>
              <a:rPr kumimoji="1" lang="en-US" altLang="zh-CN" sz="2000" b="1" dirty="0" err="1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a, </a:t>
            </a:r>
            <a:r>
              <a:rPr kumimoji="1" lang="en-US" altLang="zh-CN" sz="2000" b="1" dirty="0" err="1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b){</a:t>
            </a:r>
          </a:p>
          <a:p>
            <a:pPr marL="0" indent="0">
              <a:buNone/>
            </a:pP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kumimoji="1" lang="en-US" altLang="zh-CN" sz="2000" b="1" dirty="0" err="1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x = 1, y = 0;</a:t>
            </a:r>
          </a:p>
          <a:p>
            <a:pPr marL="0" indent="0">
              <a:buNone/>
            </a:pP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if(a != 0){</a:t>
            </a:r>
          </a:p>
          <a:p>
            <a:pPr marL="0" indent="0">
              <a:buNone/>
            </a:pP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y = 3+x;</a:t>
            </a:r>
          </a:p>
          <a:p>
            <a:pPr marL="0" indent="0">
              <a:buNone/>
            </a:pP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if(b == 0)</a:t>
            </a:r>
          </a:p>
          <a:p>
            <a:pPr marL="0" indent="0">
              <a:buNone/>
            </a:pP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 = 2*(</a:t>
            </a:r>
            <a:r>
              <a:rPr kumimoji="1" lang="en-US" altLang="zh-CN" sz="2000" b="1" dirty="0" err="1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a+b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marL="0" indent="0">
              <a:buNone/>
            </a:pP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>
              <a:buNone/>
            </a:pP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assert(x-y != 0);</a:t>
            </a:r>
          </a:p>
          <a:p>
            <a:pPr marL="0" indent="0">
              <a:buNone/>
            </a:pP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>
              <a:buNone/>
            </a:pPr>
            <a:endParaRPr kumimoji="1" lang="en-US" altLang="zh-CN" sz="2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aphicFrame>
        <p:nvGraphicFramePr>
          <p:cNvPr id="21" name="表格 20">
            <a:extLst>
              <a:ext uri="{FF2B5EF4-FFF2-40B4-BE49-F238E27FC236}">
                <a16:creationId xmlns:a16="http://schemas.microsoft.com/office/drawing/2014/main" id="{EFB472D2-8299-6B4A-8792-4EF6DDB4E2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76710946"/>
              </p:ext>
            </p:extLst>
          </p:nvPr>
        </p:nvGraphicFramePr>
        <p:xfrm>
          <a:off x="6324600" y="292577"/>
          <a:ext cx="121920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0571">
                  <a:extLst>
                    <a:ext uri="{9D8B030D-6E8A-4147-A177-3AD203B41FA5}">
                      <a16:colId xmlns:a16="http://schemas.microsoft.com/office/drawing/2014/main" val="978326069"/>
                    </a:ext>
                  </a:extLst>
                </a:gridCol>
                <a:gridCol w="638629">
                  <a:extLst>
                    <a:ext uri="{9D8B030D-6E8A-4147-A177-3AD203B41FA5}">
                      <a16:colId xmlns:a16="http://schemas.microsoft.com/office/drawing/2014/main" val="1209235749"/>
                    </a:ext>
                  </a:extLst>
                </a:gridCol>
              </a:tblGrid>
              <a:tr h="224118">
                <a:tc>
                  <a:txBody>
                    <a:bodyPr/>
                    <a:lstStyle/>
                    <a:p>
                      <a:r>
                        <a:rPr lang="en-US" altLang="zh-CN" sz="1200" dirty="0">
                          <a:solidFill>
                            <a:schemeClr val="tx1"/>
                          </a:solidFill>
                        </a:rPr>
                        <a:t>Variable</a:t>
                      </a:r>
                      <a:endParaRPr lang="zh-CN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>
                          <a:solidFill>
                            <a:schemeClr val="tx1"/>
                          </a:solidFill>
                        </a:rPr>
                        <a:t>value</a:t>
                      </a:r>
                      <a:endParaRPr lang="zh-CN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0914343"/>
                  </a:ext>
                </a:extLst>
              </a:tr>
              <a:tr h="134471"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a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a</a:t>
                      </a:r>
                      <a:endParaRPr lang="zh-CN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08653192"/>
                  </a:ext>
                </a:extLst>
              </a:tr>
              <a:tr h="134471"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b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b</a:t>
                      </a:r>
                      <a:endParaRPr lang="zh-CN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26958939"/>
                  </a:ext>
                </a:extLst>
              </a:tr>
              <a:tr h="134471"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x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1</a:t>
                      </a:r>
                      <a:endParaRPr lang="zh-CN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2728102"/>
                  </a:ext>
                </a:extLst>
              </a:tr>
              <a:tr h="134471"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y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4837483"/>
                  </a:ext>
                </a:extLst>
              </a:tr>
            </a:tbl>
          </a:graphicData>
        </a:graphic>
      </p:graphicFrame>
      <p:graphicFrame>
        <p:nvGraphicFramePr>
          <p:cNvPr id="9" name="表格 8">
            <a:extLst>
              <a:ext uri="{FF2B5EF4-FFF2-40B4-BE49-F238E27FC236}">
                <a16:creationId xmlns:a16="http://schemas.microsoft.com/office/drawing/2014/main" id="{2D8EA7AE-34AF-F34C-9EBD-E4A45FD47E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35908365"/>
              </p:ext>
            </p:extLst>
          </p:nvPr>
        </p:nvGraphicFramePr>
        <p:xfrm>
          <a:off x="5047456" y="2209800"/>
          <a:ext cx="121920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0571">
                  <a:extLst>
                    <a:ext uri="{9D8B030D-6E8A-4147-A177-3AD203B41FA5}">
                      <a16:colId xmlns:a16="http://schemas.microsoft.com/office/drawing/2014/main" val="978326069"/>
                    </a:ext>
                  </a:extLst>
                </a:gridCol>
                <a:gridCol w="638629">
                  <a:extLst>
                    <a:ext uri="{9D8B030D-6E8A-4147-A177-3AD203B41FA5}">
                      <a16:colId xmlns:a16="http://schemas.microsoft.com/office/drawing/2014/main" val="1209235749"/>
                    </a:ext>
                  </a:extLst>
                </a:gridCol>
              </a:tblGrid>
              <a:tr h="224118">
                <a:tc>
                  <a:txBody>
                    <a:bodyPr/>
                    <a:lstStyle/>
                    <a:p>
                      <a:r>
                        <a:rPr lang="en-US" altLang="zh-CN" sz="1200" dirty="0">
                          <a:solidFill>
                            <a:schemeClr val="tx1"/>
                          </a:solidFill>
                        </a:rPr>
                        <a:t>Variable</a:t>
                      </a:r>
                      <a:endParaRPr lang="zh-CN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>
                          <a:solidFill>
                            <a:schemeClr val="tx1"/>
                          </a:solidFill>
                        </a:rPr>
                        <a:t>value</a:t>
                      </a:r>
                      <a:endParaRPr lang="zh-CN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0914343"/>
                  </a:ext>
                </a:extLst>
              </a:tr>
              <a:tr h="134471"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a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a</a:t>
                      </a:r>
                      <a:endParaRPr lang="zh-CN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08653192"/>
                  </a:ext>
                </a:extLst>
              </a:tr>
              <a:tr h="134471"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b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b</a:t>
                      </a:r>
                      <a:endParaRPr lang="zh-CN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26958939"/>
                  </a:ext>
                </a:extLst>
              </a:tr>
              <a:tr h="134471"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x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1</a:t>
                      </a:r>
                      <a:endParaRPr lang="zh-CN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2728102"/>
                  </a:ext>
                </a:extLst>
              </a:tr>
              <a:tr h="134471"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y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CN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4837483"/>
                  </a:ext>
                </a:extLst>
              </a:tr>
            </a:tbl>
          </a:graphicData>
        </a:graphic>
      </p:graphicFrame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7371777D-3652-F948-9A18-7D6089338B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60334743"/>
              </p:ext>
            </p:extLst>
          </p:nvPr>
        </p:nvGraphicFramePr>
        <p:xfrm>
          <a:off x="7467600" y="2209800"/>
          <a:ext cx="121920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0571">
                  <a:extLst>
                    <a:ext uri="{9D8B030D-6E8A-4147-A177-3AD203B41FA5}">
                      <a16:colId xmlns:a16="http://schemas.microsoft.com/office/drawing/2014/main" val="978326069"/>
                    </a:ext>
                  </a:extLst>
                </a:gridCol>
                <a:gridCol w="638629">
                  <a:extLst>
                    <a:ext uri="{9D8B030D-6E8A-4147-A177-3AD203B41FA5}">
                      <a16:colId xmlns:a16="http://schemas.microsoft.com/office/drawing/2014/main" val="1209235749"/>
                    </a:ext>
                  </a:extLst>
                </a:gridCol>
              </a:tblGrid>
              <a:tr h="224118">
                <a:tc>
                  <a:txBody>
                    <a:bodyPr/>
                    <a:lstStyle/>
                    <a:p>
                      <a:r>
                        <a:rPr lang="en-US" altLang="zh-CN" sz="1200" dirty="0">
                          <a:solidFill>
                            <a:schemeClr val="tx1"/>
                          </a:solidFill>
                        </a:rPr>
                        <a:t>Variable</a:t>
                      </a:r>
                      <a:endParaRPr lang="zh-CN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>
                          <a:solidFill>
                            <a:schemeClr val="tx1"/>
                          </a:solidFill>
                        </a:rPr>
                        <a:t>value</a:t>
                      </a:r>
                      <a:endParaRPr lang="zh-CN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0914343"/>
                  </a:ext>
                </a:extLst>
              </a:tr>
              <a:tr h="134471"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a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a</a:t>
                      </a:r>
                      <a:endParaRPr lang="zh-CN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08653192"/>
                  </a:ext>
                </a:extLst>
              </a:tr>
              <a:tr h="134471"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b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b</a:t>
                      </a:r>
                      <a:endParaRPr lang="zh-CN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26958939"/>
                  </a:ext>
                </a:extLst>
              </a:tr>
              <a:tr h="134471"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x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1</a:t>
                      </a:r>
                      <a:endParaRPr lang="zh-CN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2728102"/>
                  </a:ext>
                </a:extLst>
              </a:tr>
              <a:tr h="134471"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y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4837483"/>
                  </a:ext>
                </a:extLst>
              </a:tr>
            </a:tbl>
          </a:graphicData>
        </a:graphic>
      </p:graphicFrame>
      <p:cxnSp>
        <p:nvCxnSpPr>
          <p:cNvPr id="5" name="直线箭头连接符 4">
            <a:extLst>
              <a:ext uri="{FF2B5EF4-FFF2-40B4-BE49-F238E27FC236}">
                <a16:creationId xmlns:a16="http://schemas.microsoft.com/office/drawing/2014/main" id="{05502018-EA49-A64C-9D30-2B0708A2E425}"/>
              </a:ext>
            </a:extLst>
          </p:cNvPr>
          <p:cNvCxnSpPr>
            <a:endCxn id="9" idx="0"/>
          </p:cNvCxnSpPr>
          <p:nvPr/>
        </p:nvCxnSpPr>
        <p:spPr>
          <a:xfrm flipH="1">
            <a:off x="5657056" y="1847056"/>
            <a:ext cx="1277144" cy="36274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线箭头连接符 10">
            <a:extLst>
              <a:ext uri="{FF2B5EF4-FFF2-40B4-BE49-F238E27FC236}">
                <a16:creationId xmlns:a16="http://schemas.microsoft.com/office/drawing/2014/main" id="{EB58A3F9-5BB8-6F41-ACF8-D66360CFE70D}"/>
              </a:ext>
            </a:extLst>
          </p:cNvPr>
          <p:cNvCxnSpPr>
            <a:cxnSpLocks/>
            <a:stCxn id="21" idx="2"/>
            <a:endCxn id="10" idx="0"/>
          </p:cNvCxnSpPr>
          <p:nvPr/>
        </p:nvCxnSpPr>
        <p:spPr>
          <a:xfrm>
            <a:off x="6934200" y="1847057"/>
            <a:ext cx="1143000" cy="36274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文本框 12">
            <a:extLst>
              <a:ext uri="{FF2B5EF4-FFF2-40B4-BE49-F238E27FC236}">
                <a16:creationId xmlns:a16="http://schemas.microsoft.com/office/drawing/2014/main" id="{DD654C91-1C89-034A-8258-C0B955FC68A4}"/>
              </a:ext>
            </a:extLst>
          </p:cNvPr>
          <p:cNvSpPr txBox="1"/>
          <p:nvPr/>
        </p:nvSpPr>
        <p:spPr>
          <a:xfrm>
            <a:off x="7696200" y="1847056"/>
            <a:ext cx="1143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a==0</a:t>
            </a:r>
            <a:endParaRPr kumimoji="1" lang="zh-CN" altLang="en-US" sz="1200" dirty="0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15B1005E-3F20-3245-8A2F-E1D10FDECBDB}"/>
              </a:ext>
            </a:extLst>
          </p:cNvPr>
          <p:cNvSpPr txBox="1"/>
          <p:nvPr/>
        </p:nvSpPr>
        <p:spPr>
          <a:xfrm>
            <a:off x="5562600" y="1868214"/>
            <a:ext cx="1143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a!=0</a:t>
            </a:r>
            <a:endParaRPr kumimoji="1" lang="zh-CN" altLang="en-US" sz="1200" dirty="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8E1E2E24-A6FA-AC49-BE8F-46AB3880C5E6}"/>
              </a:ext>
            </a:extLst>
          </p:cNvPr>
          <p:cNvSpPr txBox="1"/>
          <p:nvPr/>
        </p:nvSpPr>
        <p:spPr>
          <a:xfrm>
            <a:off x="7543800" y="3894157"/>
            <a:ext cx="139229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The</a:t>
            </a:r>
            <a:r>
              <a:rPr kumimoji="1" lang="zh-CN" altLang="en-US" sz="1200" dirty="0"/>
              <a:t> </a:t>
            </a:r>
            <a:r>
              <a:rPr kumimoji="1" lang="en-US" altLang="zh-CN" sz="1200" dirty="0"/>
              <a:t>obligation:</a:t>
            </a:r>
          </a:p>
          <a:p>
            <a:r>
              <a:rPr kumimoji="1" lang="en-US" altLang="zh-CN" sz="1200" dirty="0">
                <a:solidFill>
                  <a:srgbClr val="0432FF"/>
                </a:solidFill>
              </a:rPr>
              <a:t>x-y==0</a:t>
            </a:r>
          </a:p>
          <a:p>
            <a:r>
              <a:rPr kumimoji="1" lang="en-US" altLang="zh-CN" sz="1200" dirty="0"/>
              <a:t>that</a:t>
            </a:r>
            <a:r>
              <a:rPr kumimoji="1" lang="zh-CN" altLang="en-US" sz="1200" dirty="0"/>
              <a:t> </a:t>
            </a:r>
            <a:r>
              <a:rPr kumimoji="1" lang="en-US" altLang="zh-CN" sz="1200" dirty="0"/>
              <a:t>is:</a:t>
            </a:r>
          </a:p>
          <a:p>
            <a:r>
              <a:rPr kumimoji="1" lang="en-US" altLang="zh-CN" sz="1200" dirty="0">
                <a:solidFill>
                  <a:srgbClr val="0432FF"/>
                </a:solidFill>
              </a:rPr>
              <a:t>1-0==0</a:t>
            </a:r>
            <a:endParaRPr kumimoji="1" lang="zh-CN" altLang="en-US" sz="1200" dirty="0">
              <a:solidFill>
                <a:srgbClr val="0432FF"/>
              </a:solidFill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E922B430-8AC9-4D4C-AB0B-5F0E9F6CA114}"/>
              </a:ext>
            </a:extLst>
          </p:cNvPr>
          <p:cNvSpPr txBox="1"/>
          <p:nvPr/>
        </p:nvSpPr>
        <p:spPr>
          <a:xfrm>
            <a:off x="7543800" y="4807803"/>
            <a:ext cx="139229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>
                <a:solidFill>
                  <a:srgbClr val="FF0000"/>
                </a:solidFill>
              </a:rPr>
              <a:t>USNAT!</a:t>
            </a:r>
            <a:endParaRPr kumimoji="1" lang="zh-CN" altLang="en-US" sz="1200" dirty="0">
              <a:solidFill>
                <a:srgbClr val="FF0000"/>
              </a:solidFill>
            </a:endParaRPr>
          </a:p>
        </p:txBody>
      </p:sp>
      <p:cxnSp>
        <p:nvCxnSpPr>
          <p:cNvPr id="14" name="直线箭头连接符 13">
            <a:extLst>
              <a:ext uri="{FF2B5EF4-FFF2-40B4-BE49-F238E27FC236}">
                <a16:creationId xmlns:a16="http://schemas.microsoft.com/office/drawing/2014/main" id="{B951F13F-1BC3-254E-855B-DE01FEEAD39A}"/>
              </a:ext>
            </a:extLst>
          </p:cNvPr>
          <p:cNvCxnSpPr/>
          <p:nvPr/>
        </p:nvCxnSpPr>
        <p:spPr>
          <a:xfrm flipH="1">
            <a:off x="4361656" y="3752056"/>
            <a:ext cx="1277144" cy="36274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线箭头连接符 16">
            <a:extLst>
              <a:ext uri="{FF2B5EF4-FFF2-40B4-BE49-F238E27FC236}">
                <a16:creationId xmlns:a16="http://schemas.microsoft.com/office/drawing/2014/main" id="{B45453B9-F5EC-E744-95ED-7D89302B8CDB}"/>
              </a:ext>
            </a:extLst>
          </p:cNvPr>
          <p:cNvCxnSpPr>
            <a:cxnSpLocks/>
          </p:cNvCxnSpPr>
          <p:nvPr/>
        </p:nvCxnSpPr>
        <p:spPr>
          <a:xfrm>
            <a:off x="5638800" y="3752057"/>
            <a:ext cx="1143000" cy="36274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文本框 18">
            <a:extLst>
              <a:ext uri="{FF2B5EF4-FFF2-40B4-BE49-F238E27FC236}">
                <a16:creationId xmlns:a16="http://schemas.microsoft.com/office/drawing/2014/main" id="{E751AF04-9708-8549-88D6-9038992215C6}"/>
              </a:ext>
            </a:extLst>
          </p:cNvPr>
          <p:cNvSpPr txBox="1"/>
          <p:nvPr/>
        </p:nvSpPr>
        <p:spPr>
          <a:xfrm>
            <a:off x="6400800" y="3752056"/>
            <a:ext cx="1143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b!=0</a:t>
            </a:r>
            <a:endParaRPr kumimoji="1" lang="zh-CN" altLang="en-US" sz="1200" dirty="0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AF815DB2-FA02-8542-B716-6DD419A6D31D}"/>
              </a:ext>
            </a:extLst>
          </p:cNvPr>
          <p:cNvSpPr txBox="1"/>
          <p:nvPr/>
        </p:nvSpPr>
        <p:spPr>
          <a:xfrm>
            <a:off x="4267200" y="3773214"/>
            <a:ext cx="1143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b==0</a:t>
            </a:r>
            <a:endParaRPr kumimoji="1" lang="zh-CN" altLang="en-US" sz="1200" dirty="0"/>
          </a:p>
        </p:txBody>
      </p:sp>
      <p:graphicFrame>
        <p:nvGraphicFramePr>
          <p:cNvPr id="22" name="表格 21">
            <a:extLst>
              <a:ext uri="{FF2B5EF4-FFF2-40B4-BE49-F238E27FC236}">
                <a16:creationId xmlns:a16="http://schemas.microsoft.com/office/drawing/2014/main" id="{F899E1C9-0B96-C045-AD2F-32AF9143DE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10827858"/>
              </p:ext>
            </p:extLst>
          </p:nvPr>
        </p:nvGraphicFramePr>
        <p:xfrm>
          <a:off x="3752056" y="4123734"/>
          <a:ext cx="1429544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0735">
                  <a:extLst>
                    <a:ext uri="{9D8B030D-6E8A-4147-A177-3AD203B41FA5}">
                      <a16:colId xmlns:a16="http://schemas.microsoft.com/office/drawing/2014/main" val="978326069"/>
                    </a:ext>
                  </a:extLst>
                </a:gridCol>
                <a:gridCol w="748809">
                  <a:extLst>
                    <a:ext uri="{9D8B030D-6E8A-4147-A177-3AD203B41FA5}">
                      <a16:colId xmlns:a16="http://schemas.microsoft.com/office/drawing/2014/main" val="1209235749"/>
                    </a:ext>
                  </a:extLst>
                </a:gridCol>
              </a:tblGrid>
              <a:tr h="224118">
                <a:tc>
                  <a:txBody>
                    <a:bodyPr/>
                    <a:lstStyle/>
                    <a:p>
                      <a:r>
                        <a:rPr lang="en-US" altLang="zh-CN" sz="1200" dirty="0">
                          <a:solidFill>
                            <a:schemeClr val="tx1"/>
                          </a:solidFill>
                        </a:rPr>
                        <a:t>Variable</a:t>
                      </a:r>
                      <a:endParaRPr lang="zh-CN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>
                          <a:solidFill>
                            <a:schemeClr val="tx1"/>
                          </a:solidFill>
                        </a:rPr>
                        <a:t>value</a:t>
                      </a:r>
                      <a:endParaRPr lang="zh-CN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0914343"/>
                  </a:ext>
                </a:extLst>
              </a:tr>
              <a:tr h="134471"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a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a</a:t>
                      </a:r>
                      <a:endParaRPr lang="zh-CN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08653192"/>
                  </a:ext>
                </a:extLst>
              </a:tr>
              <a:tr h="134471"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b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b</a:t>
                      </a:r>
                      <a:endParaRPr lang="zh-CN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26958939"/>
                  </a:ext>
                </a:extLst>
              </a:tr>
              <a:tr h="134471"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x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>
                          <a:solidFill>
                            <a:srgbClr val="FF0000"/>
                          </a:solidFill>
                        </a:rPr>
                        <a:t>2</a:t>
                      </a:r>
                      <a:r>
                        <a:rPr lang="zh-CN" altLang="en-US" sz="1200" dirty="0">
                          <a:solidFill>
                            <a:srgbClr val="FF0000"/>
                          </a:solidFill>
                        </a:rPr>
                        <a:t>*</a:t>
                      </a:r>
                      <a:r>
                        <a:rPr lang="en-US" altLang="zh-CN" sz="1200" dirty="0">
                          <a:solidFill>
                            <a:srgbClr val="FF0000"/>
                          </a:solidFill>
                        </a:rPr>
                        <a:t>(</a:t>
                      </a:r>
                      <a:r>
                        <a:rPr lang="en-US" altLang="zh-CN" sz="1200" dirty="0" err="1">
                          <a:solidFill>
                            <a:srgbClr val="FF0000"/>
                          </a:solidFill>
                        </a:rPr>
                        <a:t>a+b</a:t>
                      </a:r>
                      <a:r>
                        <a:rPr lang="en-US" altLang="zh-CN" sz="1200" dirty="0">
                          <a:solidFill>
                            <a:srgbClr val="FF0000"/>
                          </a:solidFill>
                        </a:rPr>
                        <a:t>)</a:t>
                      </a:r>
                      <a:endParaRPr lang="zh-CN" altLang="en-US" sz="12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2728102"/>
                  </a:ext>
                </a:extLst>
              </a:tr>
              <a:tr h="134471"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y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CN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4837483"/>
                  </a:ext>
                </a:extLst>
              </a:tr>
            </a:tbl>
          </a:graphicData>
        </a:graphic>
      </p:graphicFrame>
      <p:graphicFrame>
        <p:nvGraphicFramePr>
          <p:cNvPr id="23" name="表格 22">
            <a:extLst>
              <a:ext uri="{FF2B5EF4-FFF2-40B4-BE49-F238E27FC236}">
                <a16:creationId xmlns:a16="http://schemas.microsoft.com/office/drawing/2014/main" id="{819DC949-18EF-DC4C-A149-19F688B8A2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14879945"/>
              </p:ext>
            </p:extLst>
          </p:nvPr>
        </p:nvGraphicFramePr>
        <p:xfrm>
          <a:off x="6172200" y="4141854"/>
          <a:ext cx="121920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0571">
                  <a:extLst>
                    <a:ext uri="{9D8B030D-6E8A-4147-A177-3AD203B41FA5}">
                      <a16:colId xmlns:a16="http://schemas.microsoft.com/office/drawing/2014/main" val="978326069"/>
                    </a:ext>
                  </a:extLst>
                </a:gridCol>
                <a:gridCol w="638629">
                  <a:extLst>
                    <a:ext uri="{9D8B030D-6E8A-4147-A177-3AD203B41FA5}">
                      <a16:colId xmlns:a16="http://schemas.microsoft.com/office/drawing/2014/main" val="1209235749"/>
                    </a:ext>
                  </a:extLst>
                </a:gridCol>
              </a:tblGrid>
              <a:tr h="224118">
                <a:tc>
                  <a:txBody>
                    <a:bodyPr/>
                    <a:lstStyle/>
                    <a:p>
                      <a:r>
                        <a:rPr lang="en-US" altLang="zh-CN" sz="1200" dirty="0">
                          <a:solidFill>
                            <a:schemeClr val="tx1"/>
                          </a:solidFill>
                        </a:rPr>
                        <a:t>Variable</a:t>
                      </a:r>
                      <a:endParaRPr lang="zh-CN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>
                          <a:solidFill>
                            <a:schemeClr val="tx1"/>
                          </a:solidFill>
                        </a:rPr>
                        <a:t>value</a:t>
                      </a:r>
                      <a:endParaRPr lang="zh-CN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0914343"/>
                  </a:ext>
                </a:extLst>
              </a:tr>
              <a:tr h="134471"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a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a</a:t>
                      </a:r>
                      <a:endParaRPr lang="zh-CN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08653192"/>
                  </a:ext>
                </a:extLst>
              </a:tr>
              <a:tr h="134471"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b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b</a:t>
                      </a:r>
                      <a:endParaRPr lang="zh-CN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26958939"/>
                  </a:ext>
                </a:extLst>
              </a:tr>
              <a:tr h="134471"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x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1</a:t>
                      </a:r>
                      <a:endParaRPr lang="zh-CN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2728102"/>
                  </a:ext>
                </a:extLst>
              </a:tr>
              <a:tr h="134471"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y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CN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4837483"/>
                  </a:ext>
                </a:extLst>
              </a:tr>
            </a:tbl>
          </a:graphicData>
        </a:graphic>
      </p:graphicFrame>
      <p:sp>
        <p:nvSpPr>
          <p:cNvPr id="24" name="文本框 23">
            <a:extLst>
              <a:ext uri="{FF2B5EF4-FFF2-40B4-BE49-F238E27FC236}">
                <a16:creationId xmlns:a16="http://schemas.microsoft.com/office/drawing/2014/main" id="{B6CB39BE-CED4-3C49-AF2E-0BFBB72A1801}"/>
              </a:ext>
            </a:extLst>
          </p:cNvPr>
          <p:cNvSpPr txBox="1"/>
          <p:nvPr/>
        </p:nvSpPr>
        <p:spPr>
          <a:xfrm>
            <a:off x="6172200" y="5667355"/>
            <a:ext cx="139229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The</a:t>
            </a:r>
            <a:r>
              <a:rPr kumimoji="1" lang="zh-CN" altLang="en-US" sz="1200" dirty="0"/>
              <a:t> </a:t>
            </a:r>
            <a:r>
              <a:rPr kumimoji="1" lang="en-US" altLang="zh-CN" sz="1200" dirty="0"/>
              <a:t>obligation:</a:t>
            </a:r>
          </a:p>
          <a:p>
            <a:r>
              <a:rPr kumimoji="1" lang="en-US" altLang="zh-CN" sz="1200" dirty="0">
                <a:solidFill>
                  <a:srgbClr val="0432FF"/>
                </a:solidFill>
              </a:rPr>
              <a:t>x-y==0</a:t>
            </a:r>
          </a:p>
          <a:p>
            <a:r>
              <a:rPr kumimoji="1" lang="en-US" altLang="zh-CN" sz="1200" dirty="0"/>
              <a:t>that</a:t>
            </a:r>
            <a:r>
              <a:rPr kumimoji="1" lang="zh-CN" altLang="en-US" sz="1200" dirty="0"/>
              <a:t> </a:t>
            </a:r>
            <a:r>
              <a:rPr kumimoji="1" lang="en-US" altLang="zh-CN" sz="1200" dirty="0"/>
              <a:t>is:</a:t>
            </a:r>
          </a:p>
          <a:p>
            <a:r>
              <a:rPr kumimoji="1" lang="en-US" altLang="zh-CN" sz="1200" dirty="0">
                <a:solidFill>
                  <a:srgbClr val="0432FF"/>
                </a:solidFill>
              </a:rPr>
              <a:t>1-4==0</a:t>
            </a:r>
            <a:endParaRPr kumimoji="1" lang="zh-CN" altLang="en-US" sz="1200" dirty="0">
              <a:solidFill>
                <a:srgbClr val="0432FF"/>
              </a:solidFill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D5A05E05-105D-8944-AB16-A10929CC1444}"/>
              </a:ext>
            </a:extLst>
          </p:cNvPr>
          <p:cNvSpPr txBox="1"/>
          <p:nvPr/>
        </p:nvSpPr>
        <p:spPr>
          <a:xfrm>
            <a:off x="6172200" y="6581001"/>
            <a:ext cx="139229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>
                <a:solidFill>
                  <a:srgbClr val="FF0000"/>
                </a:solidFill>
              </a:rPr>
              <a:t>USNAT!</a:t>
            </a:r>
            <a:endParaRPr kumimoji="1" lang="zh-CN" altLang="en-US" sz="1200" dirty="0">
              <a:solidFill>
                <a:srgbClr val="FF0000"/>
              </a:solidFill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8615F09E-85F0-1244-B7C4-80A4A61C0D8E}"/>
              </a:ext>
            </a:extLst>
          </p:cNvPr>
          <p:cNvSpPr txBox="1"/>
          <p:nvPr/>
        </p:nvSpPr>
        <p:spPr>
          <a:xfrm>
            <a:off x="3789308" y="5638800"/>
            <a:ext cx="139229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The</a:t>
            </a:r>
            <a:r>
              <a:rPr kumimoji="1" lang="zh-CN" altLang="en-US" sz="1200" dirty="0"/>
              <a:t> </a:t>
            </a:r>
            <a:r>
              <a:rPr kumimoji="1" lang="en-US" altLang="zh-CN" sz="1200" dirty="0"/>
              <a:t>obligation:</a:t>
            </a:r>
          </a:p>
          <a:p>
            <a:r>
              <a:rPr kumimoji="1" lang="en-US" altLang="zh-CN" sz="1200" dirty="0">
                <a:solidFill>
                  <a:srgbClr val="0432FF"/>
                </a:solidFill>
              </a:rPr>
              <a:t>x-y==0</a:t>
            </a:r>
          </a:p>
          <a:p>
            <a:r>
              <a:rPr kumimoji="1" lang="en-US" altLang="zh-CN" sz="1200" dirty="0"/>
              <a:t>that</a:t>
            </a:r>
            <a:r>
              <a:rPr kumimoji="1" lang="zh-CN" altLang="en-US" sz="1200" dirty="0"/>
              <a:t> </a:t>
            </a:r>
            <a:r>
              <a:rPr kumimoji="1" lang="en-US" altLang="zh-CN" sz="1200" dirty="0"/>
              <a:t>is:</a:t>
            </a:r>
          </a:p>
          <a:p>
            <a:r>
              <a:rPr kumimoji="1" lang="en-US" altLang="zh-CN" sz="1200" dirty="0">
                <a:solidFill>
                  <a:srgbClr val="0432FF"/>
                </a:solidFill>
              </a:rPr>
              <a:t>2</a:t>
            </a:r>
            <a:r>
              <a:rPr kumimoji="1" lang="zh-CN" altLang="en-US" sz="1200" dirty="0">
                <a:solidFill>
                  <a:srgbClr val="0432FF"/>
                </a:solidFill>
              </a:rPr>
              <a:t>*</a:t>
            </a:r>
            <a:r>
              <a:rPr kumimoji="1" lang="en-US" altLang="zh-CN" sz="1200" dirty="0">
                <a:solidFill>
                  <a:srgbClr val="0432FF"/>
                </a:solidFill>
              </a:rPr>
              <a:t>(</a:t>
            </a:r>
            <a:r>
              <a:rPr kumimoji="1" lang="en-US" altLang="zh-CN" sz="1200" dirty="0" err="1">
                <a:solidFill>
                  <a:srgbClr val="0432FF"/>
                </a:solidFill>
              </a:rPr>
              <a:t>a+b</a:t>
            </a:r>
            <a:r>
              <a:rPr kumimoji="1" lang="en-US" altLang="zh-CN" sz="1200" dirty="0">
                <a:solidFill>
                  <a:srgbClr val="0432FF"/>
                </a:solidFill>
              </a:rPr>
              <a:t>)-4==0</a:t>
            </a:r>
            <a:endParaRPr kumimoji="1" lang="zh-CN" altLang="en-US" sz="1200" dirty="0">
              <a:solidFill>
                <a:srgbClr val="0432FF"/>
              </a:solidFill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F59B3892-A74C-D34E-B168-B48CA77ADCCA}"/>
              </a:ext>
            </a:extLst>
          </p:cNvPr>
          <p:cNvSpPr txBox="1"/>
          <p:nvPr/>
        </p:nvSpPr>
        <p:spPr>
          <a:xfrm>
            <a:off x="3789308" y="6552446"/>
            <a:ext cx="139229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>
                <a:solidFill>
                  <a:srgbClr val="FF0000"/>
                </a:solidFill>
              </a:rPr>
              <a:t>[a=2,</a:t>
            </a:r>
            <a:r>
              <a:rPr kumimoji="1" lang="zh-CN" altLang="en-US" sz="1200" dirty="0">
                <a:solidFill>
                  <a:srgbClr val="FF0000"/>
                </a:solidFill>
              </a:rPr>
              <a:t> </a:t>
            </a:r>
            <a:r>
              <a:rPr kumimoji="1" lang="en-US" altLang="zh-CN" sz="1200" dirty="0">
                <a:solidFill>
                  <a:srgbClr val="FF0000"/>
                </a:solidFill>
              </a:rPr>
              <a:t>b=0]</a:t>
            </a:r>
            <a:endParaRPr kumimoji="1" lang="zh-CN" altLang="en-US" sz="1200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文本框 27">
                <a:extLst>
                  <a:ext uri="{FF2B5EF4-FFF2-40B4-BE49-F238E27FC236}">
                    <a16:creationId xmlns:a16="http://schemas.microsoft.com/office/drawing/2014/main" id="{AC2AD399-119A-BC45-B5E4-5782A10493F5}"/>
                  </a:ext>
                </a:extLst>
              </p:cNvPr>
              <p:cNvSpPr txBox="1"/>
              <p:nvPr/>
            </p:nvSpPr>
            <p:spPr>
              <a:xfrm>
                <a:off x="76200" y="6091535"/>
                <a:ext cx="304800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sz="1400" dirty="0"/>
                  <a:t>Send</a:t>
                </a:r>
                <a:r>
                  <a:rPr kumimoji="1" lang="zh-CN" altLang="en-US" sz="1400" dirty="0"/>
                  <a:t> </a:t>
                </a:r>
                <a:r>
                  <a:rPr kumimoji="1" lang="en-US" altLang="zh-CN" sz="1400" dirty="0"/>
                  <a:t>this</a:t>
                </a:r>
                <a:r>
                  <a:rPr kumimoji="1" lang="zh-CN" altLang="en-US" sz="1400" dirty="0"/>
                  <a:t> </a:t>
                </a:r>
                <a:r>
                  <a:rPr kumimoji="1" lang="en-US" altLang="zh-CN" sz="1400" dirty="0"/>
                  <a:t>formulae</a:t>
                </a:r>
                <a:r>
                  <a:rPr kumimoji="1" lang="zh-CN" altLang="en-US" sz="1400" dirty="0"/>
                  <a:t> </a:t>
                </a:r>
                <a:r>
                  <a:rPr kumimoji="1" lang="en-US" altLang="zh-CN" sz="1400" dirty="0"/>
                  <a:t>to</a:t>
                </a:r>
                <a:r>
                  <a:rPr kumimoji="1" lang="zh-CN" altLang="en-US" sz="1400" dirty="0"/>
                  <a:t> </a:t>
                </a:r>
                <a:r>
                  <a:rPr kumimoji="1" lang="en-US" altLang="zh-CN" sz="1400" dirty="0"/>
                  <a:t>Z3:</a:t>
                </a:r>
              </a:p>
              <a:p>
                <a:r>
                  <a:rPr kumimoji="1" lang="en-US" altLang="zh-CN" sz="1400" dirty="0">
                    <a:solidFill>
                      <a:srgbClr val="0432FF"/>
                    </a:solidFill>
                  </a:rPr>
                  <a:t>a!=0 ∧ b==0</a:t>
                </a:r>
                <a:r>
                  <a:rPr kumimoji="1" lang="zh-CN" altLang="en-US" sz="1400" dirty="0">
                    <a:solidFill>
                      <a:srgbClr val="0432FF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kumimoji="1" lang="zh-CN" altLang="en-US" sz="140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∧</m:t>
                    </m:r>
                  </m:oMath>
                </a14:m>
                <a:r>
                  <a:rPr kumimoji="1" lang="zh-CN" altLang="en-US" sz="1400" dirty="0">
                    <a:solidFill>
                      <a:srgbClr val="0432FF"/>
                    </a:solidFill>
                  </a:rPr>
                  <a:t> </a:t>
                </a:r>
                <a:r>
                  <a:rPr kumimoji="1" lang="en-US" altLang="zh-CN" sz="1400" dirty="0">
                    <a:solidFill>
                      <a:srgbClr val="0432FF"/>
                    </a:solidFill>
                  </a:rPr>
                  <a:t>2</a:t>
                </a:r>
                <a:r>
                  <a:rPr kumimoji="1" lang="zh-CN" altLang="en-US" sz="1400" dirty="0">
                    <a:solidFill>
                      <a:srgbClr val="0432FF"/>
                    </a:solidFill>
                  </a:rPr>
                  <a:t>*</a:t>
                </a:r>
                <a:r>
                  <a:rPr kumimoji="1" lang="en-US" altLang="zh-CN" sz="1400" dirty="0">
                    <a:solidFill>
                      <a:srgbClr val="0432FF"/>
                    </a:solidFill>
                  </a:rPr>
                  <a:t>(</a:t>
                </a:r>
                <a:r>
                  <a:rPr kumimoji="1" lang="en-US" altLang="zh-CN" sz="1400" dirty="0" err="1">
                    <a:solidFill>
                      <a:srgbClr val="0432FF"/>
                    </a:solidFill>
                  </a:rPr>
                  <a:t>a+b</a:t>
                </a:r>
                <a:r>
                  <a:rPr kumimoji="1" lang="en-US" altLang="zh-CN" sz="1400" dirty="0">
                    <a:solidFill>
                      <a:srgbClr val="0432FF"/>
                    </a:solidFill>
                  </a:rPr>
                  <a:t>)-4==0</a:t>
                </a:r>
                <a:endParaRPr kumimoji="1" lang="zh-CN" altLang="en-US" sz="1400" dirty="0">
                  <a:solidFill>
                    <a:srgbClr val="0432FF"/>
                  </a:solidFill>
                </a:endParaRPr>
              </a:p>
            </p:txBody>
          </p:sp>
        </mc:Choice>
        <mc:Fallback xmlns="">
          <p:sp>
            <p:nvSpPr>
              <p:cNvPr id="28" name="文本框 27">
                <a:extLst>
                  <a:ext uri="{FF2B5EF4-FFF2-40B4-BE49-F238E27FC236}">
                    <a16:creationId xmlns:a16="http://schemas.microsoft.com/office/drawing/2014/main" id="{AC2AD399-119A-BC45-B5E4-5782A10493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00" y="6091535"/>
                <a:ext cx="3048000" cy="523220"/>
              </a:xfrm>
              <a:prstGeom prst="rect">
                <a:avLst/>
              </a:prstGeom>
              <a:blipFill>
                <a:blip r:embed="rId2"/>
                <a:stretch>
                  <a:fillRect l="-415" t="-4878" b="-1219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任意形状 3">
            <a:extLst>
              <a:ext uri="{FF2B5EF4-FFF2-40B4-BE49-F238E27FC236}">
                <a16:creationId xmlns:a16="http://schemas.microsoft.com/office/drawing/2014/main" id="{7535E057-DF53-1440-8747-9DC5AFC2685F}"/>
              </a:ext>
            </a:extLst>
          </p:cNvPr>
          <p:cNvSpPr/>
          <p:nvPr/>
        </p:nvSpPr>
        <p:spPr>
          <a:xfrm>
            <a:off x="5412828" y="1807779"/>
            <a:ext cx="663526" cy="483476"/>
          </a:xfrm>
          <a:custGeom>
            <a:avLst/>
            <a:gdLst>
              <a:gd name="connsiteX0" fmla="*/ 283779 w 663526"/>
              <a:gd name="connsiteY0" fmla="*/ 0 h 483476"/>
              <a:gd name="connsiteX1" fmla="*/ 199696 w 663526"/>
              <a:gd name="connsiteY1" fmla="*/ 42042 h 483476"/>
              <a:gd name="connsiteX2" fmla="*/ 105103 w 663526"/>
              <a:gd name="connsiteY2" fmla="*/ 94593 h 483476"/>
              <a:gd name="connsiteX3" fmla="*/ 42041 w 663526"/>
              <a:gd name="connsiteY3" fmla="*/ 136635 h 483476"/>
              <a:gd name="connsiteX4" fmla="*/ 10510 w 663526"/>
              <a:gd name="connsiteY4" fmla="*/ 157655 h 483476"/>
              <a:gd name="connsiteX5" fmla="*/ 0 w 663526"/>
              <a:gd name="connsiteY5" fmla="*/ 189187 h 483476"/>
              <a:gd name="connsiteX6" fmla="*/ 21020 w 663526"/>
              <a:gd name="connsiteY6" fmla="*/ 304800 h 483476"/>
              <a:gd name="connsiteX7" fmla="*/ 42041 w 663526"/>
              <a:gd name="connsiteY7" fmla="*/ 336331 h 483476"/>
              <a:gd name="connsiteX8" fmla="*/ 52551 w 663526"/>
              <a:gd name="connsiteY8" fmla="*/ 367862 h 483476"/>
              <a:gd name="connsiteX9" fmla="*/ 147144 w 663526"/>
              <a:gd name="connsiteY9" fmla="*/ 451945 h 483476"/>
              <a:gd name="connsiteX10" fmla="*/ 262758 w 663526"/>
              <a:gd name="connsiteY10" fmla="*/ 483476 h 483476"/>
              <a:gd name="connsiteX11" fmla="*/ 483475 w 663526"/>
              <a:gd name="connsiteY11" fmla="*/ 472966 h 483476"/>
              <a:gd name="connsiteX12" fmla="*/ 567558 w 663526"/>
              <a:gd name="connsiteY12" fmla="*/ 451945 h 483476"/>
              <a:gd name="connsiteX13" fmla="*/ 609600 w 663526"/>
              <a:gd name="connsiteY13" fmla="*/ 441435 h 483476"/>
              <a:gd name="connsiteX14" fmla="*/ 630620 w 663526"/>
              <a:gd name="connsiteY14" fmla="*/ 189187 h 483476"/>
              <a:gd name="connsiteX15" fmla="*/ 588579 w 663526"/>
              <a:gd name="connsiteY15" fmla="*/ 115614 h 483476"/>
              <a:gd name="connsiteX16" fmla="*/ 525517 w 663526"/>
              <a:gd name="connsiteY16" fmla="*/ 94593 h 483476"/>
              <a:gd name="connsiteX17" fmla="*/ 493986 w 663526"/>
              <a:gd name="connsiteY17" fmla="*/ 73573 h 483476"/>
              <a:gd name="connsiteX18" fmla="*/ 430924 w 663526"/>
              <a:gd name="connsiteY18" fmla="*/ 52552 h 483476"/>
              <a:gd name="connsiteX19" fmla="*/ 315310 w 663526"/>
              <a:gd name="connsiteY19" fmla="*/ 21021 h 483476"/>
              <a:gd name="connsiteX20" fmla="*/ 283779 w 663526"/>
              <a:gd name="connsiteY20" fmla="*/ 0 h 4834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663526" h="483476">
                <a:moveTo>
                  <a:pt x="283779" y="0"/>
                </a:moveTo>
                <a:cubicBezTo>
                  <a:pt x="255751" y="14014"/>
                  <a:pt x="226903" y="26495"/>
                  <a:pt x="199696" y="42042"/>
                </a:cubicBezTo>
                <a:cubicBezTo>
                  <a:pt x="98507" y="99864"/>
                  <a:pt x="173279" y="71869"/>
                  <a:pt x="105103" y="94593"/>
                </a:cubicBezTo>
                <a:lnTo>
                  <a:pt x="42041" y="136635"/>
                </a:lnTo>
                <a:lnTo>
                  <a:pt x="10510" y="157655"/>
                </a:lnTo>
                <a:cubicBezTo>
                  <a:pt x="7007" y="168166"/>
                  <a:pt x="0" y="178108"/>
                  <a:pt x="0" y="189187"/>
                </a:cubicBezTo>
                <a:cubicBezTo>
                  <a:pt x="0" y="210923"/>
                  <a:pt x="6240" y="275239"/>
                  <a:pt x="21020" y="304800"/>
                </a:cubicBezTo>
                <a:cubicBezTo>
                  <a:pt x="26669" y="316098"/>
                  <a:pt x="35034" y="325821"/>
                  <a:pt x="42041" y="336331"/>
                </a:cubicBezTo>
                <a:cubicBezTo>
                  <a:pt x="45544" y="346841"/>
                  <a:pt x="45749" y="359117"/>
                  <a:pt x="52551" y="367862"/>
                </a:cubicBezTo>
                <a:cubicBezTo>
                  <a:pt x="65116" y="384017"/>
                  <a:pt x="116131" y="438161"/>
                  <a:pt x="147144" y="451945"/>
                </a:cubicBezTo>
                <a:cubicBezTo>
                  <a:pt x="190787" y="471342"/>
                  <a:pt x="217798" y="474484"/>
                  <a:pt x="262758" y="483476"/>
                </a:cubicBezTo>
                <a:cubicBezTo>
                  <a:pt x="336330" y="479973"/>
                  <a:pt x="410210" y="480545"/>
                  <a:pt x="483475" y="472966"/>
                </a:cubicBezTo>
                <a:cubicBezTo>
                  <a:pt x="512212" y="469993"/>
                  <a:pt x="539530" y="458952"/>
                  <a:pt x="567558" y="451945"/>
                </a:cubicBezTo>
                <a:lnTo>
                  <a:pt x="609600" y="441435"/>
                </a:lnTo>
                <a:cubicBezTo>
                  <a:pt x="704019" y="378488"/>
                  <a:pt x="649701" y="427702"/>
                  <a:pt x="630620" y="189187"/>
                </a:cubicBezTo>
                <a:cubicBezTo>
                  <a:pt x="628815" y="166631"/>
                  <a:pt x="604236" y="126052"/>
                  <a:pt x="588579" y="115614"/>
                </a:cubicBezTo>
                <a:cubicBezTo>
                  <a:pt x="570143" y="103323"/>
                  <a:pt x="543954" y="106884"/>
                  <a:pt x="525517" y="94593"/>
                </a:cubicBezTo>
                <a:cubicBezTo>
                  <a:pt x="515007" y="87586"/>
                  <a:pt x="505529" y="78703"/>
                  <a:pt x="493986" y="73573"/>
                </a:cubicBezTo>
                <a:cubicBezTo>
                  <a:pt x="473738" y="64574"/>
                  <a:pt x="451945" y="59559"/>
                  <a:pt x="430924" y="52552"/>
                </a:cubicBezTo>
                <a:cubicBezTo>
                  <a:pt x="399262" y="41998"/>
                  <a:pt x="339012" y="21021"/>
                  <a:pt x="315310" y="21021"/>
                </a:cubicBezTo>
                <a:lnTo>
                  <a:pt x="283779" y="0"/>
                </a:lnTo>
                <a:close/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zh-CN" altLang="en-US" dirty="0"/>
          </a:p>
        </p:txBody>
      </p:sp>
      <p:sp>
        <p:nvSpPr>
          <p:cNvPr id="29" name="任意形状 28">
            <a:extLst>
              <a:ext uri="{FF2B5EF4-FFF2-40B4-BE49-F238E27FC236}">
                <a16:creationId xmlns:a16="http://schemas.microsoft.com/office/drawing/2014/main" id="{AF30293F-8156-5D44-BC6B-9E0654BF63A6}"/>
              </a:ext>
            </a:extLst>
          </p:cNvPr>
          <p:cNvSpPr/>
          <p:nvPr/>
        </p:nvSpPr>
        <p:spPr>
          <a:xfrm>
            <a:off x="4191000" y="3631324"/>
            <a:ext cx="663526" cy="483476"/>
          </a:xfrm>
          <a:custGeom>
            <a:avLst/>
            <a:gdLst>
              <a:gd name="connsiteX0" fmla="*/ 283779 w 663526"/>
              <a:gd name="connsiteY0" fmla="*/ 0 h 483476"/>
              <a:gd name="connsiteX1" fmla="*/ 199696 w 663526"/>
              <a:gd name="connsiteY1" fmla="*/ 42042 h 483476"/>
              <a:gd name="connsiteX2" fmla="*/ 105103 w 663526"/>
              <a:gd name="connsiteY2" fmla="*/ 94593 h 483476"/>
              <a:gd name="connsiteX3" fmla="*/ 42041 w 663526"/>
              <a:gd name="connsiteY3" fmla="*/ 136635 h 483476"/>
              <a:gd name="connsiteX4" fmla="*/ 10510 w 663526"/>
              <a:gd name="connsiteY4" fmla="*/ 157655 h 483476"/>
              <a:gd name="connsiteX5" fmla="*/ 0 w 663526"/>
              <a:gd name="connsiteY5" fmla="*/ 189187 h 483476"/>
              <a:gd name="connsiteX6" fmla="*/ 21020 w 663526"/>
              <a:gd name="connsiteY6" fmla="*/ 304800 h 483476"/>
              <a:gd name="connsiteX7" fmla="*/ 42041 w 663526"/>
              <a:gd name="connsiteY7" fmla="*/ 336331 h 483476"/>
              <a:gd name="connsiteX8" fmla="*/ 52551 w 663526"/>
              <a:gd name="connsiteY8" fmla="*/ 367862 h 483476"/>
              <a:gd name="connsiteX9" fmla="*/ 147144 w 663526"/>
              <a:gd name="connsiteY9" fmla="*/ 451945 h 483476"/>
              <a:gd name="connsiteX10" fmla="*/ 262758 w 663526"/>
              <a:gd name="connsiteY10" fmla="*/ 483476 h 483476"/>
              <a:gd name="connsiteX11" fmla="*/ 483475 w 663526"/>
              <a:gd name="connsiteY11" fmla="*/ 472966 h 483476"/>
              <a:gd name="connsiteX12" fmla="*/ 567558 w 663526"/>
              <a:gd name="connsiteY12" fmla="*/ 451945 h 483476"/>
              <a:gd name="connsiteX13" fmla="*/ 609600 w 663526"/>
              <a:gd name="connsiteY13" fmla="*/ 441435 h 483476"/>
              <a:gd name="connsiteX14" fmla="*/ 630620 w 663526"/>
              <a:gd name="connsiteY14" fmla="*/ 189187 h 483476"/>
              <a:gd name="connsiteX15" fmla="*/ 588579 w 663526"/>
              <a:gd name="connsiteY15" fmla="*/ 115614 h 483476"/>
              <a:gd name="connsiteX16" fmla="*/ 525517 w 663526"/>
              <a:gd name="connsiteY16" fmla="*/ 94593 h 483476"/>
              <a:gd name="connsiteX17" fmla="*/ 493986 w 663526"/>
              <a:gd name="connsiteY17" fmla="*/ 73573 h 483476"/>
              <a:gd name="connsiteX18" fmla="*/ 430924 w 663526"/>
              <a:gd name="connsiteY18" fmla="*/ 52552 h 483476"/>
              <a:gd name="connsiteX19" fmla="*/ 315310 w 663526"/>
              <a:gd name="connsiteY19" fmla="*/ 21021 h 483476"/>
              <a:gd name="connsiteX20" fmla="*/ 283779 w 663526"/>
              <a:gd name="connsiteY20" fmla="*/ 0 h 4834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663526" h="483476">
                <a:moveTo>
                  <a:pt x="283779" y="0"/>
                </a:moveTo>
                <a:cubicBezTo>
                  <a:pt x="255751" y="14014"/>
                  <a:pt x="226903" y="26495"/>
                  <a:pt x="199696" y="42042"/>
                </a:cubicBezTo>
                <a:cubicBezTo>
                  <a:pt x="98507" y="99864"/>
                  <a:pt x="173279" y="71869"/>
                  <a:pt x="105103" y="94593"/>
                </a:cubicBezTo>
                <a:lnTo>
                  <a:pt x="42041" y="136635"/>
                </a:lnTo>
                <a:lnTo>
                  <a:pt x="10510" y="157655"/>
                </a:lnTo>
                <a:cubicBezTo>
                  <a:pt x="7007" y="168166"/>
                  <a:pt x="0" y="178108"/>
                  <a:pt x="0" y="189187"/>
                </a:cubicBezTo>
                <a:cubicBezTo>
                  <a:pt x="0" y="210923"/>
                  <a:pt x="6240" y="275239"/>
                  <a:pt x="21020" y="304800"/>
                </a:cubicBezTo>
                <a:cubicBezTo>
                  <a:pt x="26669" y="316098"/>
                  <a:pt x="35034" y="325821"/>
                  <a:pt x="42041" y="336331"/>
                </a:cubicBezTo>
                <a:cubicBezTo>
                  <a:pt x="45544" y="346841"/>
                  <a:pt x="45749" y="359117"/>
                  <a:pt x="52551" y="367862"/>
                </a:cubicBezTo>
                <a:cubicBezTo>
                  <a:pt x="65116" y="384017"/>
                  <a:pt x="116131" y="438161"/>
                  <a:pt x="147144" y="451945"/>
                </a:cubicBezTo>
                <a:cubicBezTo>
                  <a:pt x="190787" y="471342"/>
                  <a:pt x="217798" y="474484"/>
                  <a:pt x="262758" y="483476"/>
                </a:cubicBezTo>
                <a:cubicBezTo>
                  <a:pt x="336330" y="479973"/>
                  <a:pt x="410210" y="480545"/>
                  <a:pt x="483475" y="472966"/>
                </a:cubicBezTo>
                <a:cubicBezTo>
                  <a:pt x="512212" y="469993"/>
                  <a:pt x="539530" y="458952"/>
                  <a:pt x="567558" y="451945"/>
                </a:cubicBezTo>
                <a:lnTo>
                  <a:pt x="609600" y="441435"/>
                </a:lnTo>
                <a:cubicBezTo>
                  <a:pt x="704019" y="378488"/>
                  <a:pt x="649701" y="427702"/>
                  <a:pt x="630620" y="189187"/>
                </a:cubicBezTo>
                <a:cubicBezTo>
                  <a:pt x="628815" y="166631"/>
                  <a:pt x="604236" y="126052"/>
                  <a:pt x="588579" y="115614"/>
                </a:cubicBezTo>
                <a:cubicBezTo>
                  <a:pt x="570143" y="103323"/>
                  <a:pt x="543954" y="106884"/>
                  <a:pt x="525517" y="94593"/>
                </a:cubicBezTo>
                <a:cubicBezTo>
                  <a:pt x="515007" y="87586"/>
                  <a:pt x="505529" y="78703"/>
                  <a:pt x="493986" y="73573"/>
                </a:cubicBezTo>
                <a:cubicBezTo>
                  <a:pt x="473738" y="64574"/>
                  <a:pt x="451945" y="59559"/>
                  <a:pt x="430924" y="52552"/>
                </a:cubicBezTo>
                <a:cubicBezTo>
                  <a:pt x="399262" y="41998"/>
                  <a:pt x="339012" y="21021"/>
                  <a:pt x="315310" y="21021"/>
                </a:cubicBezTo>
                <a:lnTo>
                  <a:pt x="283779" y="0"/>
                </a:lnTo>
                <a:close/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zh-CN" altLang="en-US" dirty="0"/>
          </a:p>
        </p:txBody>
      </p:sp>
      <p:sp>
        <p:nvSpPr>
          <p:cNvPr id="30" name="任意形状 29">
            <a:extLst>
              <a:ext uri="{FF2B5EF4-FFF2-40B4-BE49-F238E27FC236}">
                <a16:creationId xmlns:a16="http://schemas.microsoft.com/office/drawing/2014/main" id="{0E31B6C5-D026-AA40-8070-7231D7CF4263}"/>
              </a:ext>
            </a:extLst>
          </p:cNvPr>
          <p:cNvSpPr/>
          <p:nvPr/>
        </p:nvSpPr>
        <p:spPr>
          <a:xfrm>
            <a:off x="3962400" y="6069724"/>
            <a:ext cx="663526" cy="483476"/>
          </a:xfrm>
          <a:custGeom>
            <a:avLst/>
            <a:gdLst>
              <a:gd name="connsiteX0" fmla="*/ 283779 w 663526"/>
              <a:gd name="connsiteY0" fmla="*/ 0 h 483476"/>
              <a:gd name="connsiteX1" fmla="*/ 199696 w 663526"/>
              <a:gd name="connsiteY1" fmla="*/ 42042 h 483476"/>
              <a:gd name="connsiteX2" fmla="*/ 105103 w 663526"/>
              <a:gd name="connsiteY2" fmla="*/ 94593 h 483476"/>
              <a:gd name="connsiteX3" fmla="*/ 42041 w 663526"/>
              <a:gd name="connsiteY3" fmla="*/ 136635 h 483476"/>
              <a:gd name="connsiteX4" fmla="*/ 10510 w 663526"/>
              <a:gd name="connsiteY4" fmla="*/ 157655 h 483476"/>
              <a:gd name="connsiteX5" fmla="*/ 0 w 663526"/>
              <a:gd name="connsiteY5" fmla="*/ 189187 h 483476"/>
              <a:gd name="connsiteX6" fmla="*/ 21020 w 663526"/>
              <a:gd name="connsiteY6" fmla="*/ 304800 h 483476"/>
              <a:gd name="connsiteX7" fmla="*/ 42041 w 663526"/>
              <a:gd name="connsiteY7" fmla="*/ 336331 h 483476"/>
              <a:gd name="connsiteX8" fmla="*/ 52551 w 663526"/>
              <a:gd name="connsiteY8" fmla="*/ 367862 h 483476"/>
              <a:gd name="connsiteX9" fmla="*/ 147144 w 663526"/>
              <a:gd name="connsiteY9" fmla="*/ 451945 h 483476"/>
              <a:gd name="connsiteX10" fmla="*/ 262758 w 663526"/>
              <a:gd name="connsiteY10" fmla="*/ 483476 h 483476"/>
              <a:gd name="connsiteX11" fmla="*/ 483475 w 663526"/>
              <a:gd name="connsiteY11" fmla="*/ 472966 h 483476"/>
              <a:gd name="connsiteX12" fmla="*/ 567558 w 663526"/>
              <a:gd name="connsiteY12" fmla="*/ 451945 h 483476"/>
              <a:gd name="connsiteX13" fmla="*/ 609600 w 663526"/>
              <a:gd name="connsiteY13" fmla="*/ 441435 h 483476"/>
              <a:gd name="connsiteX14" fmla="*/ 630620 w 663526"/>
              <a:gd name="connsiteY14" fmla="*/ 189187 h 483476"/>
              <a:gd name="connsiteX15" fmla="*/ 588579 w 663526"/>
              <a:gd name="connsiteY15" fmla="*/ 115614 h 483476"/>
              <a:gd name="connsiteX16" fmla="*/ 525517 w 663526"/>
              <a:gd name="connsiteY16" fmla="*/ 94593 h 483476"/>
              <a:gd name="connsiteX17" fmla="*/ 493986 w 663526"/>
              <a:gd name="connsiteY17" fmla="*/ 73573 h 483476"/>
              <a:gd name="connsiteX18" fmla="*/ 430924 w 663526"/>
              <a:gd name="connsiteY18" fmla="*/ 52552 h 483476"/>
              <a:gd name="connsiteX19" fmla="*/ 315310 w 663526"/>
              <a:gd name="connsiteY19" fmla="*/ 21021 h 483476"/>
              <a:gd name="connsiteX20" fmla="*/ 283779 w 663526"/>
              <a:gd name="connsiteY20" fmla="*/ 0 h 4834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663526" h="483476">
                <a:moveTo>
                  <a:pt x="283779" y="0"/>
                </a:moveTo>
                <a:cubicBezTo>
                  <a:pt x="255751" y="14014"/>
                  <a:pt x="226903" y="26495"/>
                  <a:pt x="199696" y="42042"/>
                </a:cubicBezTo>
                <a:cubicBezTo>
                  <a:pt x="98507" y="99864"/>
                  <a:pt x="173279" y="71869"/>
                  <a:pt x="105103" y="94593"/>
                </a:cubicBezTo>
                <a:lnTo>
                  <a:pt x="42041" y="136635"/>
                </a:lnTo>
                <a:lnTo>
                  <a:pt x="10510" y="157655"/>
                </a:lnTo>
                <a:cubicBezTo>
                  <a:pt x="7007" y="168166"/>
                  <a:pt x="0" y="178108"/>
                  <a:pt x="0" y="189187"/>
                </a:cubicBezTo>
                <a:cubicBezTo>
                  <a:pt x="0" y="210923"/>
                  <a:pt x="6240" y="275239"/>
                  <a:pt x="21020" y="304800"/>
                </a:cubicBezTo>
                <a:cubicBezTo>
                  <a:pt x="26669" y="316098"/>
                  <a:pt x="35034" y="325821"/>
                  <a:pt x="42041" y="336331"/>
                </a:cubicBezTo>
                <a:cubicBezTo>
                  <a:pt x="45544" y="346841"/>
                  <a:pt x="45749" y="359117"/>
                  <a:pt x="52551" y="367862"/>
                </a:cubicBezTo>
                <a:cubicBezTo>
                  <a:pt x="65116" y="384017"/>
                  <a:pt x="116131" y="438161"/>
                  <a:pt x="147144" y="451945"/>
                </a:cubicBezTo>
                <a:cubicBezTo>
                  <a:pt x="190787" y="471342"/>
                  <a:pt x="217798" y="474484"/>
                  <a:pt x="262758" y="483476"/>
                </a:cubicBezTo>
                <a:cubicBezTo>
                  <a:pt x="336330" y="479973"/>
                  <a:pt x="410210" y="480545"/>
                  <a:pt x="483475" y="472966"/>
                </a:cubicBezTo>
                <a:cubicBezTo>
                  <a:pt x="512212" y="469993"/>
                  <a:pt x="539530" y="458952"/>
                  <a:pt x="567558" y="451945"/>
                </a:cubicBezTo>
                <a:lnTo>
                  <a:pt x="609600" y="441435"/>
                </a:lnTo>
                <a:cubicBezTo>
                  <a:pt x="704019" y="378488"/>
                  <a:pt x="649701" y="427702"/>
                  <a:pt x="630620" y="189187"/>
                </a:cubicBezTo>
                <a:cubicBezTo>
                  <a:pt x="628815" y="166631"/>
                  <a:pt x="604236" y="126052"/>
                  <a:pt x="588579" y="115614"/>
                </a:cubicBezTo>
                <a:cubicBezTo>
                  <a:pt x="570143" y="103323"/>
                  <a:pt x="543954" y="106884"/>
                  <a:pt x="525517" y="94593"/>
                </a:cubicBezTo>
                <a:cubicBezTo>
                  <a:pt x="515007" y="87586"/>
                  <a:pt x="505529" y="78703"/>
                  <a:pt x="493986" y="73573"/>
                </a:cubicBezTo>
                <a:cubicBezTo>
                  <a:pt x="473738" y="64574"/>
                  <a:pt x="451945" y="59559"/>
                  <a:pt x="430924" y="52552"/>
                </a:cubicBezTo>
                <a:cubicBezTo>
                  <a:pt x="399262" y="41998"/>
                  <a:pt x="339012" y="21021"/>
                  <a:pt x="315310" y="21021"/>
                </a:cubicBezTo>
                <a:lnTo>
                  <a:pt x="283779" y="0"/>
                </a:lnTo>
                <a:close/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文本框 31">
                <a:extLst>
                  <a:ext uri="{FF2B5EF4-FFF2-40B4-BE49-F238E27FC236}">
                    <a16:creationId xmlns:a16="http://schemas.microsoft.com/office/drawing/2014/main" id="{73F16601-B36B-5D47-BE9B-A706A1AAFF0C}"/>
                  </a:ext>
                </a:extLst>
              </p:cNvPr>
              <p:cNvSpPr txBox="1"/>
              <p:nvPr/>
            </p:nvSpPr>
            <p:spPr>
              <a:xfrm>
                <a:off x="3789308" y="601782"/>
                <a:ext cx="2223984" cy="10374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dirty="0">
                    <a:solidFill>
                      <a:srgbClr val="FF0000"/>
                    </a:solidFill>
                  </a:rPr>
                  <a:t>The</a:t>
                </a:r>
                <a:r>
                  <a:rPr kumimoji="1" lang="zh-CN" altLang="en-US" dirty="0">
                    <a:solidFill>
                      <a:srgbClr val="FF0000"/>
                    </a:solidFill>
                  </a:rPr>
                  <a:t> </a:t>
                </a:r>
                <a:r>
                  <a:rPr kumimoji="1" lang="en-US" altLang="zh-CN" dirty="0">
                    <a:solidFill>
                      <a:srgbClr val="FF0000"/>
                    </a:solidFill>
                  </a:rPr>
                  <a:t>possibility</a:t>
                </a:r>
                <a:r>
                  <a:rPr kumimoji="1" lang="zh-CN" altLang="en-US" dirty="0">
                    <a:solidFill>
                      <a:srgbClr val="FF0000"/>
                    </a:solidFill>
                  </a:rPr>
                  <a:t> </a:t>
                </a:r>
                <a:r>
                  <a:rPr kumimoji="1" lang="en-US" altLang="zh-CN" dirty="0">
                    <a:solidFill>
                      <a:srgbClr val="FF0000"/>
                    </a:solidFill>
                  </a:rPr>
                  <a:t>is</a:t>
                </a:r>
                <a:r>
                  <a:rPr kumimoji="1" lang="zh-CN" altLang="en-US" dirty="0">
                    <a:solidFill>
                      <a:srgbClr val="FF0000"/>
                    </a:solidFill>
                  </a:rPr>
                  <a:t> </a:t>
                </a:r>
                <a:r>
                  <a:rPr kumimoji="1" lang="en-US" altLang="zh-CN" dirty="0">
                    <a:solidFill>
                      <a:srgbClr val="FF0000"/>
                    </a:solidFill>
                  </a:rPr>
                  <a:t>only</a:t>
                </a:r>
                <a:r>
                  <a:rPr kumimoji="1" lang="zh-CN" altLang="en-US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kumimoji="1" lang="en-US" altLang="zh-CN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kumimoji="1" lang="en-US" altLang="zh-CN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sSupPr>
                            <m:ctrlPr>
                              <a:rPr kumimoji="1" lang="en-US" altLang="zh-CN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kumimoji="1" lang="en-US" altLang="zh-CN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kumimoji="1" lang="en-US" altLang="zh-CN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64</m:t>
                            </m:r>
                          </m:sup>
                        </m:sSup>
                      </m:den>
                    </m:f>
                  </m:oMath>
                </a14:m>
                <a:r>
                  <a:rPr kumimoji="1" lang="zh-CN" altLang="en-US" dirty="0">
                    <a:solidFill>
                      <a:srgbClr val="FF0000"/>
                    </a:solidFill>
                  </a:rPr>
                  <a:t> </a:t>
                </a:r>
                <a:r>
                  <a:rPr kumimoji="1" lang="en-US" altLang="zh-CN" dirty="0">
                    <a:solidFill>
                      <a:srgbClr val="FF0000"/>
                    </a:solidFill>
                  </a:rPr>
                  <a:t>to</a:t>
                </a:r>
                <a:r>
                  <a:rPr kumimoji="1" lang="zh-CN" altLang="en-US" dirty="0">
                    <a:solidFill>
                      <a:srgbClr val="FF0000"/>
                    </a:solidFill>
                  </a:rPr>
                  <a:t> </a:t>
                </a:r>
                <a:r>
                  <a:rPr kumimoji="1" lang="en-US" altLang="zh-CN" dirty="0">
                    <a:solidFill>
                      <a:srgbClr val="FF0000"/>
                    </a:solidFill>
                  </a:rPr>
                  <a:t>fuzz</a:t>
                </a:r>
                <a:r>
                  <a:rPr kumimoji="1" lang="zh-CN" altLang="en-US" dirty="0">
                    <a:solidFill>
                      <a:srgbClr val="FF0000"/>
                    </a:solidFill>
                  </a:rPr>
                  <a:t> </a:t>
                </a:r>
                <a:r>
                  <a:rPr kumimoji="1" lang="en-US" altLang="zh-CN" dirty="0">
                    <a:solidFill>
                      <a:srgbClr val="FF0000"/>
                    </a:solidFill>
                  </a:rPr>
                  <a:t>this</a:t>
                </a:r>
                <a:r>
                  <a:rPr kumimoji="1" lang="zh-CN" altLang="en-US" dirty="0">
                    <a:solidFill>
                      <a:srgbClr val="FF0000"/>
                    </a:solidFill>
                  </a:rPr>
                  <a:t> </a:t>
                </a:r>
                <a:r>
                  <a:rPr kumimoji="1" lang="en-US" altLang="zh-CN" dirty="0">
                    <a:solidFill>
                      <a:srgbClr val="FF0000"/>
                    </a:solidFill>
                  </a:rPr>
                  <a:t>program!</a:t>
                </a:r>
                <a:endParaRPr kumimoji="1" lang="zh-CN" alt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2" name="文本框 31">
                <a:extLst>
                  <a:ext uri="{FF2B5EF4-FFF2-40B4-BE49-F238E27FC236}">
                    <a16:creationId xmlns:a16="http://schemas.microsoft.com/office/drawing/2014/main" id="{73F16601-B36B-5D47-BE9B-A706A1AAFF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89308" y="601782"/>
                <a:ext cx="2223984" cy="1037463"/>
              </a:xfrm>
              <a:prstGeom prst="rect">
                <a:avLst/>
              </a:prstGeom>
              <a:blipFill>
                <a:blip r:embed="rId3"/>
                <a:stretch>
                  <a:fillRect l="-1705" t="-1205" b="-843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941980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27" grpId="0"/>
      <p:bldP spid="28" grpId="0"/>
      <p:bldP spid="4" grpId="0" animBg="1"/>
      <p:bldP spid="29" grpId="0" animBg="1"/>
      <p:bldP spid="30" grpId="0" animBg="1"/>
      <p:bldP spid="32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3DFA9D-529B-D12A-46FA-D3D75FD493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73D7462-DD7E-F79A-8E4C-8D4DA1C6F1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 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3EA6DE6-CEE1-9239-9C8E-086019920A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kumimoji="1" lang="en-US" altLang="zh-CN" dirty="0"/>
          </a:p>
          <a:p>
            <a:pPr marL="0" indent="0">
              <a:buNone/>
            </a:pPr>
            <a:endParaRPr kumimoji="1" lang="en-US" altLang="zh-CN" dirty="0"/>
          </a:p>
          <a:p>
            <a:pPr marL="0" indent="0" algn="ctr">
              <a:buNone/>
            </a:pPr>
            <a:r>
              <a:rPr kumimoji="1" lang="en-US" altLang="zh-CN" i="1" dirty="0"/>
              <a:t>Practical Symbolic</a:t>
            </a:r>
            <a:r>
              <a:rPr kumimoji="1" lang="zh-CN" altLang="en-US" i="1" dirty="0"/>
              <a:t> </a:t>
            </a:r>
            <a:r>
              <a:rPr kumimoji="1" lang="en-US" altLang="zh-CN" i="1" dirty="0"/>
              <a:t>Execution</a:t>
            </a:r>
            <a:r>
              <a:rPr kumimoji="1" lang="zh-CN" altLang="en-US" i="1" dirty="0"/>
              <a:t> </a:t>
            </a:r>
            <a:r>
              <a:rPr kumimoji="1" lang="en-US" altLang="zh-CN" i="1" dirty="0"/>
              <a:t>I:</a:t>
            </a:r>
          </a:p>
          <a:p>
            <a:pPr marL="0" indent="0" algn="ctr">
              <a:buNone/>
            </a:pPr>
            <a:r>
              <a:rPr kumimoji="1" lang="en-US" altLang="zh-CN" i="1" dirty="0" err="1"/>
              <a:t>CrossHair</a:t>
            </a:r>
            <a:endParaRPr kumimoji="1" lang="zh-CN" altLang="en-US" i="1" dirty="0"/>
          </a:p>
        </p:txBody>
      </p:sp>
    </p:spTree>
    <p:extLst>
      <p:ext uri="{BB962C8B-B14F-4D97-AF65-F5344CB8AC3E}">
        <p14:creationId xmlns:p14="http://schemas.microsoft.com/office/powerpoint/2010/main" val="12913527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BEF3C2-14DA-A940-31A0-2D00B262FF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5661E38-3D44-A071-CAD4-22A1EE2640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 err="1"/>
              <a:t>CrossHair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42CEBC2-6F08-A027-5DD2-83A4318A39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 err="1"/>
              <a:t>CrossHair</a:t>
            </a:r>
            <a:r>
              <a:rPr kumimoji="1" lang="en-US" altLang="zh-CN" dirty="0"/>
              <a:t> is a widely used symbolic</a:t>
            </a:r>
            <a:r>
              <a:rPr kumimoji="1" lang="zh-CN" altLang="en-US" dirty="0"/>
              <a:t> </a:t>
            </a:r>
            <a:r>
              <a:rPr kumimoji="1" lang="en-US" altLang="zh-CN" dirty="0"/>
              <a:t>(concolic)</a:t>
            </a:r>
            <a:r>
              <a:rPr kumimoji="1" lang="zh-CN" altLang="en-US" dirty="0"/>
              <a:t> </a:t>
            </a:r>
            <a:r>
              <a:rPr kumimoji="1" lang="en-US" altLang="zh-CN" dirty="0"/>
              <a:t>execution</a:t>
            </a:r>
            <a:r>
              <a:rPr kumimoji="1" lang="zh-CN" altLang="en-US" dirty="0"/>
              <a:t> </a:t>
            </a:r>
            <a:r>
              <a:rPr kumimoji="1" lang="en-US" altLang="zh-CN" dirty="0"/>
              <a:t>engine for</a:t>
            </a:r>
            <a:r>
              <a:rPr kumimoji="1" lang="zh-CN" altLang="en-US" dirty="0"/>
              <a:t> </a:t>
            </a:r>
            <a:r>
              <a:rPr kumimoji="1" lang="en-US" altLang="zh-CN" dirty="0"/>
              <a:t>Python</a:t>
            </a:r>
          </a:p>
          <a:p>
            <a:pPr lvl="1"/>
            <a:r>
              <a:rPr kumimoji="1" lang="en-US" altLang="zh-CN" dirty="0"/>
              <a:t>open source: </a:t>
            </a:r>
            <a:r>
              <a:rPr kumimoji="1" lang="en-US" altLang="zh-CN" dirty="0">
                <a:solidFill>
                  <a:srgbClr val="0432FF"/>
                </a:solidFill>
              </a:rPr>
              <a:t>https://</a:t>
            </a:r>
            <a:r>
              <a:rPr kumimoji="1" lang="en-US" altLang="zh-CN" dirty="0" err="1">
                <a:solidFill>
                  <a:srgbClr val="0432FF"/>
                </a:solidFill>
              </a:rPr>
              <a:t>crosshair.readthedocs.io</a:t>
            </a:r>
            <a:r>
              <a:rPr kumimoji="1" lang="en-US" altLang="zh-CN" dirty="0">
                <a:solidFill>
                  <a:srgbClr val="0432FF"/>
                </a:solidFill>
              </a:rPr>
              <a:t>/</a:t>
            </a:r>
          </a:p>
          <a:p>
            <a:pPr lvl="1"/>
            <a:r>
              <a:rPr kumimoji="1" lang="en-US" altLang="zh-CN" dirty="0"/>
              <a:t>It</a:t>
            </a:r>
            <a:r>
              <a:rPr kumimoji="1" lang="zh-CN" altLang="en-US" dirty="0"/>
              <a:t> </a:t>
            </a:r>
            <a:r>
              <a:rPr kumimoji="1" lang="en-US" altLang="zh-CN" dirty="0"/>
              <a:t>leverages</a:t>
            </a:r>
            <a:r>
              <a:rPr kumimoji="1" lang="zh-CN" altLang="en-US" dirty="0"/>
              <a:t> </a:t>
            </a:r>
            <a:r>
              <a:rPr kumimoji="1" lang="en-US" altLang="zh-CN" dirty="0"/>
              <a:t>Z3</a:t>
            </a:r>
            <a:r>
              <a:rPr kumimoji="1" lang="zh-CN" altLang="en-US" dirty="0"/>
              <a:t> </a:t>
            </a:r>
            <a:r>
              <a:rPr kumimoji="1" lang="en-US" altLang="zh-CN" dirty="0"/>
              <a:t>as</a:t>
            </a:r>
            <a:r>
              <a:rPr kumimoji="1" lang="zh-CN" altLang="en-US" dirty="0"/>
              <a:t> </a:t>
            </a:r>
            <a:r>
              <a:rPr kumimoji="1" lang="en-US" altLang="zh-CN" dirty="0"/>
              <a:t>its</a:t>
            </a:r>
            <a:r>
              <a:rPr kumimoji="1" lang="zh-CN" altLang="en-US" dirty="0"/>
              <a:t> </a:t>
            </a:r>
            <a:r>
              <a:rPr kumimoji="1" lang="en-US" altLang="zh-CN" dirty="0"/>
              <a:t>backend</a:t>
            </a:r>
          </a:p>
          <a:p>
            <a:r>
              <a:rPr kumimoji="1" lang="en-US" altLang="zh-CN" dirty="0"/>
              <a:t>We</a:t>
            </a:r>
            <a:r>
              <a:rPr kumimoji="1" lang="zh-CN" altLang="en-US" dirty="0"/>
              <a:t> </a:t>
            </a:r>
            <a:r>
              <a:rPr kumimoji="1" lang="en-US" altLang="zh-CN" dirty="0"/>
              <a:t>next</a:t>
            </a:r>
            <a:r>
              <a:rPr kumimoji="1" lang="zh-CN" altLang="en-US" dirty="0"/>
              <a:t> </a:t>
            </a:r>
            <a:r>
              <a:rPr kumimoji="1" lang="en-US" altLang="zh-CN" dirty="0"/>
              <a:t>investigate</a:t>
            </a:r>
            <a:r>
              <a:rPr kumimoji="1" lang="zh-CN" altLang="en-US" dirty="0"/>
              <a:t> </a:t>
            </a:r>
            <a:r>
              <a:rPr kumimoji="1" lang="en-US" altLang="zh-CN" dirty="0" err="1"/>
              <a:t>CrossHair’s</a:t>
            </a:r>
            <a:r>
              <a:rPr kumimoji="1" lang="zh-CN" altLang="en-US" dirty="0"/>
              <a:t> </a:t>
            </a:r>
            <a:r>
              <a:rPr kumimoji="1" lang="en-US" altLang="zh-CN" dirty="0"/>
              <a:t>practical</a:t>
            </a:r>
            <a:r>
              <a:rPr kumimoji="1" lang="zh-CN" altLang="en-US" dirty="0"/>
              <a:t> </a:t>
            </a:r>
            <a:r>
              <a:rPr kumimoji="1" lang="en-US" altLang="zh-CN" dirty="0"/>
              <a:t>usage</a:t>
            </a:r>
            <a:r>
              <a:rPr kumimoji="1" lang="zh-CN" altLang="en-US" dirty="0"/>
              <a:t> </a:t>
            </a:r>
            <a:r>
              <a:rPr kumimoji="1" lang="en-US" altLang="zh-CN" dirty="0"/>
              <a:t>(as</a:t>
            </a:r>
            <a:r>
              <a:rPr kumimoji="1" lang="zh-CN" altLang="en-US" dirty="0"/>
              <a:t> </a:t>
            </a:r>
            <a:r>
              <a:rPr kumimoji="1" lang="en-US" altLang="zh-CN" dirty="0"/>
              <a:t>a</a:t>
            </a:r>
            <a:r>
              <a:rPr kumimoji="1" lang="zh-CN" altLang="en-US" dirty="0"/>
              <a:t> </a:t>
            </a:r>
            <a:r>
              <a:rPr kumimoji="1" lang="en-US" altLang="zh-CN" dirty="0"/>
              <a:t>case</a:t>
            </a:r>
            <a:r>
              <a:rPr kumimoji="1" lang="zh-CN" altLang="en-US" dirty="0"/>
              <a:t> </a:t>
            </a:r>
            <a:r>
              <a:rPr kumimoji="1" lang="en-US" altLang="zh-CN" dirty="0"/>
              <a:t>study)</a:t>
            </a:r>
          </a:p>
          <a:p>
            <a:pPr lvl="1"/>
            <a:r>
              <a:rPr kumimoji="1" lang="en-US" altLang="zh-CN" dirty="0"/>
              <a:t>as</a:t>
            </a:r>
            <a:r>
              <a:rPr kumimoji="1" lang="zh-CN" altLang="en-US" dirty="0"/>
              <a:t> </a:t>
            </a:r>
            <a:r>
              <a:rPr kumimoji="1" lang="en-US" altLang="zh-CN" dirty="0"/>
              <a:t>we</a:t>
            </a:r>
            <a:r>
              <a:rPr kumimoji="1" lang="zh-CN" altLang="en-US" dirty="0"/>
              <a:t> </a:t>
            </a:r>
            <a:r>
              <a:rPr kumimoji="1" lang="en-US" altLang="zh-CN" dirty="0"/>
              <a:t>have</a:t>
            </a:r>
            <a:r>
              <a:rPr kumimoji="1" lang="zh-CN" altLang="en-US" dirty="0"/>
              <a:t> </a:t>
            </a:r>
            <a:r>
              <a:rPr kumimoji="1" lang="en-US" altLang="zh-CN" dirty="0"/>
              <a:t>discussed</a:t>
            </a:r>
            <a:r>
              <a:rPr kumimoji="1" lang="zh-CN" altLang="en-US" dirty="0"/>
              <a:t> </a:t>
            </a:r>
            <a:r>
              <a:rPr kumimoji="1" lang="en-US" altLang="zh-CN" dirty="0"/>
              <a:t>the</a:t>
            </a:r>
            <a:r>
              <a:rPr kumimoji="1" lang="zh-CN" altLang="en-US" dirty="0"/>
              <a:t> </a:t>
            </a:r>
            <a:r>
              <a:rPr kumimoji="1" lang="en-US" altLang="zh-CN" dirty="0"/>
              <a:t>underlying</a:t>
            </a:r>
            <a:r>
              <a:rPr kumimoji="1" lang="zh-CN" altLang="en-US" dirty="0"/>
              <a:t> </a:t>
            </a:r>
            <a:r>
              <a:rPr kumimoji="1" lang="en-US" altLang="zh-CN" dirty="0"/>
              <a:t>theory</a:t>
            </a:r>
            <a:endParaRPr kumimoji="1" lang="en-US" altLang="zh-CN" dirty="0">
              <a:solidFill>
                <a:srgbClr val="0432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5252387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2889DA-2F8E-1CBD-7202-37F85C33B8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38E3EED-821A-0295-4518-D3E30CF69E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Example #1:</a:t>
            </a:r>
            <a:r>
              <a:rPr kumimoji="1" lang="zh-CN" altLang="en-US" dirty="0"/>
              <a:t> </a:t>
            </a:r>
            <a:r>
              <a:rPr kumimoji="1" lang="en-US" altLang="zh-CN" dirty="0"/>
              <a:t>the</a:t>
            </a:r>
            <a:r>
              <a:rPr kumimoji="1" lang="zh-CN" altLang="en-US" dirty="0"/>
              <a:t> </a:t>
            </a:r>
            <a:r>
              <a:rPr kumimoji="1" lang="en-US" altLang="zh-CN" dirty="0"/>
              <a:t>program</a:t>
            </a:r>
            <a:br>
              <a:rPr kumimoji="1" lang="en-US" altLang="zh-CN" dirty="0"/>
            </a:br>
            <a:r>
              <a:rPr kumimoji="1" lang="en-US" altLang="zh-CN" dirty="0"/>
              <a:t>Step #1: symbolic execution</a:t>
            </a:r>
            <a:endParaRPr kumimoji="1" lang="zh-CN" altLang="en-US" dirty="0"/>
          </a:p>
        </p:txBody>
      </p:sp>
      <p:sp>
        <p:nvSpPr>
          <p:cNvPr id="9" name="内容占位符 2">
            <a:extLst>
              <a:ext uri="{FF2B5EF4-FFF2-40B4-BE49-F238E27FC236}">
                <a16:creationId xmlns:a16="http://schemas.microsoft.com/office/drawing/2014/main" id="{FBB95658-7038-3180-A272-24A49E4B55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1905000"/>
            <a:ext cx="8763000" cy="4114800"/>
          </a:xfrm>
        </p:spPr>
        <p:txBody>
          <a:bodyPr/>
          <a:lstStyle/>
          <a:p>
            <a:pPr marL="0" indent="0">
              <a:buNone/>
            </a:pP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def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foo(x: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int,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y: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int)-&gt;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int: 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// aforementioned example</a:t>
            </a:r>
          </a:p>
          <a:p>
            <a:pPr marL="0" indent="0">
              <a:buNone/>
            </a:pP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assert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True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//</a:t>
            </a:r>
            <a:r>
              <a: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Tells</a:t>
            </a:r>
            <a:r>
              <a: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CrossHair</a:t>
            </a:r>
            <a:r>
              <a: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to</a:t>
            </a:r>
            <a:r>
              <a: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endParaRPr kumimoji="1" lang="en-US" altLang="zh-CN" sz="2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     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check</a:t>
            </a:r>
            <a:r>
              <a: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this</a:t>
            </a:r>
            <a:r>
              <a: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function</a:t>
            </a:r>
            <a:r>
              <a: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endParaRPr kumimoji="1" lang="en-US" altLang="zh-CN" sz="2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x==123456789:</a:t>
            </a:r>
          </a:p>
          <a:p>
            <a:pPr marL="0" indent="0">
              <a:buNone/>
            </a:pP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x//y</a:t>
            </a:r>
          </a:p>
          <a:p>
            <a:pPr marL="0" indent="0">
              <a:buNone/>
            </a:pP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else:</a:t>
            </a:r>
          </a:p>
          <a:p>
            <a:pPr marL="0" indent="0">
              <a:buNone/>
            </a:pP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</a:p>
          <a:p>
            <a:pPr marL="0" indent="0">
              <a:buNone/>
            </a:pPr>
            <a:endParaRPr kumimoji="1" lang="en-US" altLang="zh-CN" sz="2000" b="1" dirty="0">
              <a:solidFill>
                <a:srgbClr val="0432FF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kumimoji="1" lang="en-US" altLang="zh-CN" sz="2000" b="1" dirty="0">
              <a:solidFill>
                <a:srgbClr val="0432FF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38C7AA87-4E7C-BB0F-DF50-8111D624231F}"/>
              </a:ext>
            </a:extLst>
          </p:cNvPr>
          <p:cNvSpPr txBox="1"/>
          <p:nvPr/>
        </p:nvSpPr>
        <p:spPr>
          <a:xfrm>
            <a:off x="228600" y="4445675"/>
            <a:ext cx="84582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//</a:t>
            </a:r>
            <a:r>
              <a:rPr kumimoji="1" lang="zh-CN" altLang="en-US" dirty="0"/>
              <a:t> </a:t>
            </a:r>
            <a:r>
              <a:rPr kumimoji="1" lang="en-US" altLang="zh-CN" dirty="0"/>
              <a:t>To</a:t>
            </a:r>
            <a:r>
              <a:rPr kumimoji="1" lang="zh-CN" altLang="en-US" dirty="0"/>
              <a:t> </a:t>
            </a:r>
            <a:r>
              <a:rPr kumimoji="1" lang="en-US" altLang="zh-CN" dirty="0"/>
              <a:t>check</a:t>
            </a:r>
            <a:r>
              <a:rPr kumimoji="1" lang="zh-CN" altLang="en-US" dirty="0"/>
              <a:t> </a:t>
            </a:r>
            <a:r>
              <a:rPr kumimoji="1" lang="en-US" altLang="zh-CN" dirty="0"/>
              <a:t>the</a:t>
            </a:r>
            <a:r>
              <a:rPr kumimoji="1" lang="zh-CN" altLang="en-US" dirty="0"/>
              <a:t> </a:t>
            </a:r>
            <a:r>
              <a:rPr kumimoji="1" lang="en-US" altLang="zh-CN" dirty="0"/>
              <a:t>target</a:t>
            </a:r>
            <a:r>
              <a:rPr kumimoji="1" lang="zh-CN" altLang="en-US" dirty="0"/>
              <a:t> </a:t>
            </a:r>
            <a:r>
              <a:rPr kumimoji="1" lang="en-US" altLang="zh-CN" dirty="0"/>
              <a:t>program,</a:t>
            </a:r>
            <a:r>
              <a:rPr kumimoji="1" lang="zh-CN" altLang="en-US" dirty="0"/>
              <a:t> </a:t>
            </a:r>
            <a:r>
              <a:rPr kumimoji="1" lang="en-US" altLang="zh-CN" dirty="0"/>
              <a:t>run:</a:t>
            </a:r>
          </a:p>
          <a:p>
            <a:r>
              <a:rPr kumimoji="1" lang="en-US" altLang="zh-CN" dirty="0">
                <a:solidFill>
                  <a:srgbClr val="FF0000"/>
                </a:solidFill>
              </a:rPr>
              <a:t>$ crosshair</a:t>
            </a:r>
            <a:r>
              <a:rPr kumimoji="1" lang="zh-CN" altLang="en-US" dirty="0">
                <a:solidFill>
                  <a:srgbClr val="FF0000"/>
                </a:solidFill>
              </a:rPr>
              <a:t> </a:t>
            </a:r>
            <a:r>
              <a:rPr kumimoji="1" lang="en-US" altLang="zh-CN" dirty="0">
                <a:solidFill>
                  <a:srgbClr val="FF0000"/>
                </a:solidFill>
              </a:rPr>
              <a:t>check</a:t>
            </a:r>
            <a:r>
              <a:rPr kumimoji="1" lang="zh-CN" altLang="en-US" dirty="0">
                <a:solidFill>
                  <a:srgbClr val="FF0000"/>
                </a:solidFill>
              </a:rPr>
              <a:t> </a:t>
            </a:r>
            <a:r>
              <a:rPr kumimoji="1" lang="en-US" altLang="zh-CN" dirty="0">
                <a:solidFill>
                  <a:srgbClr val="FF0000"/>
                </a:solidFill>
              </a:rPr>
              <a:t>--</a:t>
            </a:r>
            <a:r>
              <a:rPr kumimoji="1" lang="en-US" altLang="zh-CN" dirty="0" err="1">
                <a:solidFill>
                  <a:srgbClr val="FF0000"/>
                </a:solidFill>
              </a:rPr>
              <a:t>analysis_kind</a:t>
            </a:r>
            <a:r>
              <a:rPr kumimoji="1" lang="en-US" altLang="zh-CN" dirty="0">
                <a:solidFill>
                  <a:srgbClr val="FF0000"/>
                </a:solidFill>
              </a:rPr>
              <a:t>=asserts</a:t>
            </a:r>
            <a:r>
              <a:rPr kumimoji="1" lang="zh-CN" altLang="en-US" dirty="0">
                <a:solidFill>
                  <a:srgbClr val="FF0000"/>
                </a:solidFill>
              </a:rPr>
              <a:t> </a:t>
            </a:r>
            <a:r>
              <a:rPr kumimoji="1" lang="en-US" altLang="zh-CN" dirty="0" err="1">
                <a:solidFill>
                  <a:srgbClr val="FF0000"/>
                </a:solidFill>
              </a:rPr>
              <a:t>test.py</a:t>
            </a:r>
            <a:endParaRPr kumimoji="1" lang="en-US" altLang="zh-CN" dirty="0">
              <a:solidFill>
                <a:srgbClr val="FF0000"/>
              </a:solidFill>
            </a:endParaRPr>
          </a:p>
          <a:p>
            <a:endParaRPr kumimoji="1" lang="en-US" altLang="zh-CN" dirty="0"/>
          </a:p>
          <a:p>
            <a:r>
              <a:rPr kumimoji="1" lang="en-US" altLang="zh-CN" dirty="0"/>
              <a:t>//</a:t>
            </a:r>
            <a:r>
              <a:rPr kumimoji="1" lang="zh-CN" altLang="en-US" dirty="0"/>
              <a:t> </a:t>
            </a:r>
            <a:r>
              <a:rPr kumimoji="1" lang="en-US" altLang="zh-CN" dirty="0"/>
              <a:t>symbolically</a:t>
            </a:r>
            <a:r>
              <a:rPr kumimoji="1" lang="zh-CN" altLang="en-US" dirty="0"/>
              <a:t> </a:t>
            </a:r>
            <a:r>
              <a:rPr kumimoji="1" lang="en-US" altLang="zh-CN" dirty="0"/>
              <a:t>executes</a:t>
            </a:r>
            <a:r>
              <a:rPr kumimoji="1" lang="zh-CN" altLang="en-US" dirty="0"/>
              <a:t> </a:t>
            </a:r>
            <a:r>
              <a:rPr kumimoji="1" lang="en-US" altLang="zh-CN" dirty="0"/>
              <a:t>the</a:t>
            </a:r>
            <a:r>
              <a:rPr kumimoji="1" lang="zh-CN" altLang="en-US" dirty="0"/>
              <a:t> </a:t>
            </a:r>
            <a:r>
              <a:rPr kumimoji="1" lang="en-US" altLang="zh-CN" dirty="0"/>
              <a:t>program,</a:t>
            </a:r>
            <a:r>
              <a:rPr kumimoji="1" lang="zh-CN" altLang="en-US" dirty="0"/>
              <a:t> </a:t>
            </a:r>
            <a:r>
              <a:rPr kumimoji="1" lang="en-US" altLang="zh-CN" dirty="0"/>
              <a:t>output:</a:t>
            </a:r>
          </a:p>
          <a:p>
            <a:r>
              <a:rPr kumimoji="1" lang="en-US" altLang="zh-CN" dirty="0">
                <a:solidFill>
                  <a:srgbClr val="FF0000"/>
                </a:solidFill>
              </a:rPr>
              <a:t>test.py:7: error: </a:t>
            </a:r>
            <a:r>
              <a:rPr kumimoji="1" lang="en-US" altLang="zh-CN" dirty="0" err="1">
                <a:solidFill>
                  <a:srgbClr val="FF0000"/>
                </a:solidFill>
              </a:rPr>
              <a:t>ZeroDivisionError</a:t>
            </a:r>
            <a:r>
              <a:rPr kumimoji="1" lang="en-US" altLang="zh-CN" dirty="0">
                <a:solidFill>
                  <a:srgbClr val="FF0000"/>
                </a:solidFill>
              </a:rPr>
              <a:t>:  when calling foo(123456789, 0)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820275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2D2D27-A6A2-87E2-5B24-B93C5637E8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2A3D191-6613-B197-D834-1DEA35354D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Example #1:</a:t>
            </a:r>
            <a:r>
              <a:rPr kumimoji="1" lang="zh-CN" altLang="en-US" dirty="0"/>
              <a:t> </a:t>
            </a:r>
            <a:r>
              <a:rPr kumimoji="1" lang="en-US" altLang="zh-CN" dirty="0"/>
              <a:t>the</a:t>
            </a:r>
            <a:r>
              <a:rPr kumimoji="1" lang="zh-CN" altLang="en-US" dirty="0"/>
              <a:t> </a:t>
            </a:r>
            <a:r>
              <a:rPr kumimoji="1" lang="en-US" altLang="zh-CN" dirty="0"/>
              <a:t>program</a:t>
            </a:r>
            <a:br>
              <a:rPr kumimoji="1" lang="en-US" altLang="zh-CN" dirty="0"/>
            </a:br>
            <a:r>
              <a:rPr kumimoji="1" lang="en-US" altLang="zh-CN" dirty="0"/>
              <a:t>Step #2: Test</a:t>
            </a:r>
            <a:r>
              <a:rPr kumimoji="1" lang="zh-CN" altLang="en-US" dirty="0"/>
              <a:t> </a:t>
            </a:r>
            <a:r>
              <a:rPr kumimoji="1" lang="en-US" altLang="zh-CN" dirty="0"/>
              <a:t>Generation</a:t>
            </a:r>
            <a:endParaRPr kumimoji="1" lang="zh-CN" altLang="en-US" dirty="0"/>
          </a:p>
        </p:txBody>
      </p:sp>
      <p:sp>
        <p:nvSpPr>
          <p:cNvPr id="9" name="内容占位符 2">
            <a:extLst>
              <a:ext uri="{FF2B5EF4-FFF2-40B4-BE49-F238E27FC236}">
                <a16:creationId xmlns:a16="http://schemas.microsoft.com/office/drawing/2014/main" id="{700B37F4-81D0-58A2-0B11-D29533B61C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1905000"/>
            <a:ext cx="8763000" cy="4114800"/>
          </a:xfrm>
        </p:spPr>
        <p:txBody>
          <a:bodyPr/>
          <a:lstStyle/>
          <a:p>
            <a:pPr marL="0" indent="0">
              <a:buNone/>
            </a:pP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def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foo(x: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int,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y: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int)-&gt;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int: 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# aforementioned example</a:t>
            </a:r>
          </a:p>
          <a:p>
            <a:pPr marL="0" indent="0">
              <a:buNone/>
            </a:pP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assert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True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#</a:t>
            </a:r>
            <a:r>
              <a: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Tells</a:t>
            </a:r>
            <a:r>
              <a: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CrossHair</a:t>
            </a:r>
            <a:r>
              <a: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to</a:t>
            </a:r>
            <a:r>
              <a: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endParaRPr kumimoji="1" lang="en-US" altLang="zh-CN" sz="2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     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check</a:t>
            </a:r>
            <a:r>
              <a: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this</a:t>
            </a:r>
            <a:r>
              <a: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function</a:t>
            </a:r>
            <a:r>
              <a: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endParaRPr kumimoji="1" lang="en-US" altLang="zh-CN" sz="2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x==123456789:</a:t>
            </a:r>
          </a:p>
          <a:p>
            <a:pPr marL="0" indent="0">
              <a:buNone/>
            </a:pP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x//y</a:t>
            </a:r>
          </a:p>
          <a:p>
            <a:pPr marL="0" indent="0">
              <a:buNone/>
            </a:pP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else:</a:t>
            </a:r>
          </a:p>
          <a:p>
            <a:pPr marL="0" indent="0">
              <a:buNone/>
            </a:pP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</a:p>
          <a:p>
            <a:pPr marL="0" indent="0">
              <a:buNone/>
            </a:pPr>
            <a:endParaRPr kumimoji="1" lang="en-US" altLang="zh-CN" sz="2000" b="1" dirty="0">
              <a:solidFill>
                <a:srgbClr val="0432FF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kumimoji="1" lang="en-US" altLang="zh-CN" sz="2000" b="1" dirty="0">
              <a:solidFill>
                <a:srgbClr val="0432FF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42C943A3-502B-B0A2-9B84-FAE85196D99A}"/>
              </a:ext>
            </a:extLst>
          </p:cNvPr>
          <p:cNvSpPr txBox="1"/>
          <p:nvPr/>
        </p:nvSpPr>
        <p:spPr>
          <a:xfrm>
            <a:off x="228600" y="4445675"/>
            <a:ext cx="84582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//</a:t>
            </a:r>
            <a:r>
              <a:rPr kumimoji="1" lang="zh-CN" altLang="en-US" dirty="0"/>
              <a:t> </a:t>
            </a:r>
            <a:r>
              <a:rPr kumimoji="1" lang="en-US" altLang="zh-CN" dirty="0"/>
              <a:t>To</a:t>
            </a:r>
            <a:r>
              <a:rPr kumimoji="1" lang="zh-CN" altLang="en-US" dirty="0"/>
              <a:t> </a:t>
            </a:r>
            <a:r>
              <a:rPr kumimoji="1" lang="en-US" altLang="zh-CN" dirty="0"/>
              <a:t>generate</a:t>
            </a:r>
            <a:r>
              <a:rPr kumimoji="1" lang="zh-CN" altLang="en-US" dirty="0"/>
              <a:t> </a:t>
            </a:r>
            <a:r>
              <a:rPr kumimoji="1" lang="en-US" altLang="zh-CN" dirty="0"/>
              <a:t>test</a:t>
            </a:r>
            <a:r>
              <a:rPr kumimoji="1" lang="zh-CN" altLang="en-US" dirty="0"/>
              <a:t> </a:t>
            </a:r>
            <a:r>
              <a:rPr kumimoji="1" lang="en-US" altLang="zh-CN" dirty="0"/>
              <a:t>cases,</a:t>
            </a:r>
            <a:r>
              <a:rPr kumimoji="1" lang="zh-CN" altLang="en-US" dirty="0"/>
              <a:t> </a:t>
            </a:r>
            <a:r>
              <a:rPr kumimoji="1" lang="en-US" altLang="zh-CN" dirty="0"/>
              <a:t>run:</a:t>
            </a:r>
          </a:p>
          <a:p>
            <a:r>
              <a:rPr kumimoji="1" lang="en-US" altLang="zh-CN" dirty="0">
                <a:solidFill>
                  <a:srgbClr val="FF0000"/>
                </a:solidFill>
              </a:rPr>
              <a:t>$ crosshair</a:t>
            </a:r>
            <a:r>
              <a:rPr kumimoji="1" lang="zh-CN" altLang="en-US" dirty="0">
                <a:solidFill>
                  <a:srgbClr val="FF0000"/>
                </a:solidFill>
              </a:rPr>
              <a:t> </a:t>
            </a:r>
            <a:r>
              <a:rPr kumimoji="1" lang="en-US" altLang="zh-CN" dirty="0">
                <a:solidFill>
                  <a:srgbClr val="FF0000"/>
                </a:solidFill>
              </a:rPr>
              <a:t>cover</a:t>
            </a:r>
            <a:r>
              <a:rPr kumimoji="1" lang="zh-CN" altLang="en-US" dirty="0">
                <a:solidFill>
                  <a:srgbClr val="FF0000"/>
                </a:solidFill>
              </a:rPr>
              <a:t> </a:t>
            </a:r>
            <a:r>
              <a:rPr kumimoji="1" lang="en-US" altLang="zh-CN" dirty="0" err="1">
                <a:solidFill>
                  <a:srgbClr val="FF0000"/>
                </a:solidFill>
              </a:rPr>
              <a:t>test.py</a:t>
            </a:r>
            <a:r>
              <a:rPr kumimoji="1" lang="en-US" altLang="zh-CN" dirty="0">
                <a:solidFill>
                  <a:srgbClr val="FF0000"/>
                </a:solidFill>
              </a:rPr>
              <a:t> --</a:t>
            </a:r>
            <a:r>
              <a:rPr kumimoji="1" lang="en-US" altLang="zh-CN" dirty="0" err="1">
                <a:solidFill>
                  <a:srgbClr val="FF0000"/>
                </a:solidFill>
              </a:rPr>
              <a:t>example_output_format</a:t>
            </a:r>
            <a:r>
              <a:rPr kumimoji="1" lang="en-US" altLang="zh-CN" dirty="0">
                <a:solidFill>
                  <a:srgbClr val="FF0000"/>
                </a:solidFill>
              </a:rPr>
              <a:t>=</a:t>
            </a:r>
            <a:r>
              <a:rPr kumimoji="1" lang="en-US" altLang="zh-CN" dirty="0" err="1">
                <a:solidFill>
                  <a:srgbClr val="FF0000"/>
                </a:solidFill>
              </a:rPr>
              <a:t>pytest</a:t>
            </a:r>
            <a:r>
              <a:rPr kumimoji="1" lang="en-US" altLang="zh-CN" dirty="0">
                <a:solidFill>
                  <a:srgbClr val="FF0000"/>
                </a:solidFill>
              </a:rPr>
              <a:t> &gt;</a:t>
            </a:r>
            <a:r>
              <a:rPr kumimoji="1" lang="zh-CN" altLang="en-US" dirty="0">
                <a:solidFill>
                  <a:srgbClr val="FF0000"/>
                </a:solidFill>
              </a:rPr>
              <a:t> </a:t>
            </a:r>
            <a:r>
              <a:rPr kumimoji="1" lang="en-US" altLang="zh-CN" dirty="0" err="1">
                <a:solidFill>
                  <a:srgbClr val="FF0000"/>
                </a:solidFill>
              </a:rPr>
              <a:t>cases_gen.py</a:t>
            </a:r>
            <a:endParaRPr kumimoji="1" lang="en-US" altLang="zh-CN" dirty="0">
              <a:solidFill>
                <a:srgbClr val="FF0000"/>
              </a:solidFill>
            </a:endParaRPr>
          </a:p>
          <a:p>
            <a:endParaRPr kumimoji="1" lang="en-US" altLang="zh-CN" dirty="0"/>
          </a:p>
          <a:p>
            <a:r>
              <a:rPr kumimoji="1" lang="en-US" altLang="zh-CN" dirty="0"/>
              <a:t>//</a:t>
            </a:r>
            <a:r>
              <a:rPr kumimoji="1" lang="zh-CN" altLang="en-US" dirty="0"/>
              <a:t> </a:t>
            </a:r>
            <a:r>
              <a:rPr kumimoji="1" lang="en-US" altLang="zh-CN" dirty="0"/>
              <a:t>will</a:t>
            </a:r>
            <a:r>
              <a:rPr kumimoji="1" lang="zh-CN" altLang="en-US" dirty="0"/>
              <a:t> </a:t>
            </a:r>
            <a:r>
              <a:rPr kumimoji="1" lang="en-US" altLang="zh-CN" dirty="0"/>
              <a:t>generate</a:t>
            </a:r>
            <a:r>
              <a:rPr kumimoji="1" lang="zh-CN" altLang="en-US" dirty="0"/>
              <a:t> </a:t>
            </a:r>
            <a:r>
              <a:rPr kumimoji="1" lang="en-US" altLang="zh-CN" dirty="0"/>
              <a:t>two</a:t>
            </a:r>
            <a:r>
              <a:rPr kumimoji="1" lang="zh-CN" altLang="en-US" dirty="0"/>
              <a:t> </a:t>
            </a:r>
            <a:r>
              <a:rPr kumimoji="1" lang="en-US" altLang="zh-CN" dirty="0"/>
              <a:t>test</a:t>
            </a:r>
            <a:r>
              <a:rPr kumimoji="1" lang="zh-CN" altLang="en-US" dirty="0"/>
              <a:t> </a:t>
            </a:r>
            <a:r>
              <a:rPr kumimoji="1" lang="en-US" altLang="zh-CN" dirty="0"/>
              <a:t>cases</a:t>
            </a:r>
            <a:r>
              <a:rPr kumimoji="1" lang="zh-CN" altLang="en-US" dirty="0"/>
              <a:t> </a:t>
            </a:r>
            <a:r>
              <a:rPr kumimoji="1" lang="en-US" altLang="zh-CN" dirty="0"/>
              <a:t>in</a:t>
            </a:r>
            <a:r>
              <a:rPr kumimoji="1" lang="zh-CN" altLang="en-US" dirty="0"/>
              <a:t> </a:t>
            </a:r>
            <a:r>
              <a:rPr kumimoji="1" lang="en-US" altLang="zh-CN" dirty="0"/>
              <a:t>the</a:t>
            </a:r>
            <a:r>
              <a:rPr kumimoji="1" lang="zh-CN" altLang="en-US" dirty="0"/>
              <a:t> </a:t>
            </a:r>
            <a:r>
              <a:rPr kumimoji="1" lang="en-US" altLang="zh-CN" dirty="0"/>
              <a:t>file</a:t>
            </a:r>
            <a:r>
              <a:rPr kumimoji="1" lang="zh-CN" altLang="en-US" dirty="0"/>
              <a:t> </a:t>
            </a:r>
            <a:r>
              <a:rPr kumimoji="1" lang="en-US" altLang="zh-CN" dirty="0"/>
              <a:t>”</a:t>
            </a:r>
            <a:r>
              <a:rPr kumimoji="1" lang="en-US" altLang="zh-CN" dirty="0" err="1"/>
              <a:t>cases_gen.py</a:t>
            </a:r>
            <a:r>
              <a:rPr kumimoji="1" lang="en-US" altLang="zh-CN" dirty="0"/>
              <a:t>”:</a:t>
            </a:r>
          </a:p>
          <a:p>
            <a:r>
              <a:rPr kumimoji="1" lang="en-US" altLang="zh-CN" dirty="0">
                <a:solidFill>
                  <a:srgbClr val="FF0000"/>
                </a:solidFill>
              </a:rPr>
              <a:t>def </a:t>
            </a:r>
            <a:r>
              <a:rPr kumimoji="1" lang="en-US" altLang="zh-CN" dirty="0" err="1">
                <a:solidFill>
                  <a:srgbClr val="FF0000"/>
                </a:solidFill>
              </a:rPr>
              <a:t>test_nest_add</a:t>
            </a:r>
            <a:r>
              <a:rPr kumimoji="1" lang="en-US" altLang="zh-CN" dirty="0">
                <a:solidFill>
                  <a:srgbClr val="FF0000"/>
                </a:solidFill>
              </a:rPr>
              <a:t>():</a:t>
            </a:r>
          </a:p>
          <a:p>
            <a:r>
              <a:rPr kumimoji="1" lang="en-US" altLang="zh-CN" dirty="0">
                <a:solidFill>
                  <a:srgbClr val="FF0000"/>
                </a:solidFill>
              </a:rPr>
              <a:t>    assert </a:t>
            </a:r>
            <a:r>
              <a:rPr kumimoji="1" lang="en-US" altLang="zh-CN" dirty="0" err="1">
                <a:solidFill>
                  <a:srgbClr val="FF0000"/>
                </a:solidFill>
              </a:rPr>
              <a:t>nest_add</a:t>
            </a:r>
            <a:r>
              <a:rPr kumimoji="1" lang="en-US" altLang="zh-CN" dirty="0">
                <a:solidFill>
                  <a:srgbClr val="FF0000"/>
                </a:solidFill>
              </a:rPr>
              <a:t>(123456789, 1) == 123456789</a:t>
            </a:r>
          </a:p>
          <a:p>
            <a:r>
              <a:rPr kumimoji="1" lang="en-US" altLang="zh-CN" dirty="0">
                <a:solidFill>
                  <a:srgbClr val="FF0000"/>
                </a:solidFill>
              </a:rPr>
              <a:t>def test_nest_add_2():</a:t>
            </a:r>
          </a:p>
          <a:p>
            <a:r>
              <a:rPr kumimoji="1" lang="en-US" altLang="zh-CN" dirty="0">
                <a:solidFill>
                  <a:srgbClr val="FF0000"/>
                </a:solidFill>
              </a:rPr>
              <a:t>    assert </a:t>
            </a:r>
            <a:r>
              <a:rPr kumimoji="1" lang="en-US" altLang="zh-CN" dirty="0" err="1">
                <a:solidFill>
                  <a:srgbClr val="FF0000"/>
                </a:solidFill>
              </a:rPr>
              <a:t>nest_add</a:t>
            </a:r>
            <a:r>
              <a:rPr kumimoji="1" lang="en-US" altLang="zh-CN" dirty="0">
                <a:solidFill>
                  <a:srgbClr val="FF0000"/>
                </a:solidFill>
              </a:rPr>
              <a:t>(123456790, 0) == 0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2038218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2C0E2E-434A-101C-0869-B668B059F4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231E6E1-3BB7-17D0-7817-94AF2E0021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Example #1:</a:t>
            </a:r>
            <a:r>
              <a:rPr kumimoji="1" lang="zh-CN" altLang="en-US" dirty="0"/>
              <a:t> </a:t>
            </a:r>
            <a:r>
              <a:rPr kumimoji="1" lang="en-US" altLang="zh-CN" dirty="0"/>
              <a:t>the</a:t>
            </a:r>
            <a:r>
              <a:rPr kumimoji="1" lang="zh-CN" altLang="en-US" dirty="0"/>
              <a:t> </a:t>
            </a:r>
            <a:r>
              <a:rPr kumimoji="1" lang="en-US" altLang="zh-CN" dirty="0"/>
              <a:t>program</a:t>
            </a:r>
            <a:br>
              <a:rPr kumimoji="1" lang="en-US" altLang="zh-CN" dirty="0"/>
            </a:br>
            <a:r>
              <a:rPr kumimoji="1" lang="en-US" altLang="zh-CN" dirty="0"/>
              <a:t>Step #3: Test</a:t>
            </a:r>
            <a:r>
              <a:rPr kumimoji="1" lang="zh-CN" altLang="en-US" dirty="0"/>
              <a:t> </a:t>
            </a:r>
            <a:r>
              <a:rPr kumimoji="1" lang="en-US" altLang="zh-CN" dirty="0"/>
              <a:t>replay</a:t>
            </a:r>
            <a:endParaRPr kumimoji="1" lang="zh-CN" altLang="en-US" dirty="0"/>
          </a:p>
        </p:txBody>
      </p:sp>
      <p:sp>
        <p:nvSpPr>
          <p:cNvPr id="9" name="内容占位符 2">
            <a:extLst>
              <a:ext uri="{FF2B5EF4-FFF2-40B4-BE49-F238E27FC236}">
                <a16:creationId xmlns:a16="http://schemas.microsoft.com/office/drawing/2014/main" id="{76A5504A-FE56-3B04-6FD7-43CDA75A53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1905000"/>
            <a:ext cx="8763000" cy="4114800"/>
          </a:xfrm>
        </p:spPr>
        <p:txBody>
          <a:bodyPr/>
          <a:lstStyle/>
          <a:p>
            <a:pPr marL="0" indent="0">
              <a:buNone/>
            </a:pP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def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foo(x: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int,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y: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int)-&gt;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int: 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# aforementioned example</a:t>
            </a:r>
          </a:p>
          <a:p>
            <a:pPr marL="0" indent="0">
              <a:buNone/>
            </a:pP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assert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True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#</a:t>
            </a:r>
            <a:r>
              <a: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Tells</a:t>
            </a:r>
            <a:r>
              <a: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CrossHair</a:t>
            </a:r>
            <a:r>
              <a: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to</a:t>
            </a:r>
            <a:r>
              <a: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endParaRPr kumimoji="1" lang="en-US" altLang="zh-CN" sz="2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     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check</a:t>
            </a:r>
            <a:r>
              <a: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this</a:t>
            </a:r>
            <a:r>
              <a: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function</a:t>
            </a:r>
            <a:r>
              <a: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endParaRPr kumimoji="1" lang="en-US" altLang="zh-CN" sz="2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x==123456789:</a:t>
            </a:r>
          </a:p>
          <a:p>
            <a:pPr marL="0" indent="0">
              <a:buNone/>
            </a:pP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x//y</a:t>
            </a:r>
          </a:p>
          <a:p>
            <a:pPr marL="0" indent="0">
              <a:buNone/>
            </a:pP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else:</a:t>
            </a:r>
          </a:p>
          <a:p>
            <a:pPr marL="0" indent="0">
              <a:buNone/>
            </a:pP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</a:p>
          <a:p>
            <a:pPr marL="0" indent="0">
              <a:buNone/>
            </a:pPr>
            <a:endParaRPr kumimoji="1" lang="en-US" altLang="zh-CN" sz="2000" b="1" dirty="0">
              <a:solidFill>
                <a:srgbClr val="0432FF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kumimoji="1" lang="en-US" altLang="zh-CN" sz="2000" b="1" dirty="0">
              <a:solidFill>
                <a:srgbClr val="0432FF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0DDF0B5F-6426-E960-0591-A0A1B710D19F}"/>
              </a:ext>
            </a:extLst>
          </p:cNvPr>
          <p:cNvSpPr txBox="1"/>
          <p:nvPr/>
        </p:nvSpPr>
        <p:spPr>
          <a:xfrm>
            <a:off x="228600" y="4445675"/>
            <a:ext cx="84582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//</a:t>
            </a:r>
            <a:r>
              <a:rPr kumimoji="1" lang="zh-CN" altLang="en-US" dirty="0"/>
              <a:t> </a:t>
            </a:r>
            <a:r>
              <a:rPr kumimoji="1" lang="en-US" altLang="zh-CN" dirty="0"/>
              <a:t>To</a:t>
            </a:r>
            <a:r>
              <a:rPr kumimoji="1" lang="zh-CN" altLang="en-US" dirty="0"/>
              <a:t> </a:t>
            </a:r>
            <a:r>
              <a:rPr kumimoji="1" lang="en-US" altLang="zh-CN" dirty="0"/>
              <a:t>replay</a:t>
            </a:r>
            <a:r>
              <a:rPr kumimoji="1" lang="zh-CN" altLang="en-US" dirty="0"/>
              <a:t> </a:t>
            </a:r>
            <a:r>
              <a:rPr kumimoji="1" lang="en-US" altLang="zh-CN" dirty="0"/>
              <a:t>the</a:t>
            </a:r>
            <a:r>
              <a:rPr kumimoji="1" lang="zh-CN" altLang="en-US" dirty="0"/>
              <a:t> </a:t>
            </a:r>
            <a:r>
              <a:rPr kumimoji="1" lang="en-US" altLang="zh-CN" dirty="0"/>
              <a:t>test</a:t>
            </a:r>
            <a:r>
              <a:rPr kumimoji="1" lang="zh-CN" altLang="en-US" dirty="0"/>
              <a:t> </a:t>
            </a:r>
            <a:r>
              <a:rPr kumimoji="1" lang="en-US" altLang="zh-CN" dirty="0"/>
              <a:t>cases:</a:t>
            </a:r>
          </a:p>
          <a:p>
            <a:r>
              <a:rPr kumimoji="1" lang="en-US" altLang="zh-CN" dirty="0">
                <a:solidFill>
                  <a:srgbClr val="FF0000"/>
                </a:solidFill>
              </a:rPr>
              <a:t>$ </a:t>
            </a:r>
            <a:r>
              <a:rPr kumimoji="1" lang="en-US" altLang="zh-CN" dirty="0" err="1">
                <a:solidFill>
                  <a:srgbClr val="FF0000"/>
                </a:solidFill>
              </a:rPr>
              <a:t>pytest</a:t>
            </a:r>
            <a:r>
              <a:rPr kumimoji="1" lang="zh-CN" altLang="en-US" dirty="0">
                <a:solidFill>
                  <a:srgbClr val="FF0000"/>
                </a:solidFill>
              </a:rPr>
              <a:t> </a:t>
            </a:r>
            <a:r>
              <a:rPr kumimoji="1" lang="en-US" altLang="zh-CN" dirty="0" err="1">
                <a:solidFill>
                  <a:srgbClr val="FF0000"/>
                </a:solidFill>
              </a:rPr>
              <a:t>cases_gen.py</a:t>
            </a:r>
            <a:endParaRPr kumimoji="1" lang="en-US" altLang="zh-CN" dirty="0">
              <a:solidFill>
                <a:srgbClr val="FF0000"/>
              </a:solidFill>
            </a:endParaRPr>
          </a:p>
          <a:p>
            <a:endParaRPr kumimoji="1" lang="en-US" altLang="zh-CN" dirty="0"/>
          </a:p>
          <a:p>
            <a:r>
              <a:rPr kumimoji="1" lang="en-US" altLang="zh-CN" dirty="0"/>
              <a:t>//</a:t>
            </a:r>
            <a:r>
              <a:rPr kumimoji="1" lang="zh-CN" altLang="en-US" dirty="0"/>
              <a:t> </a:t>
            </a:r>
            <a:r>
              <a:rPr kumimoji="1" lang="en-US" altLang="zh-CN" dirty="0"/>
              <a:t>will</a:t>
            </a:r>
            <a:r>
              <a:rPr kumimoji="1" lang="zh-CN" altLang="en-US" dirty="0"/>
              <a:t> </a:t>
            </a:r>
            <a:r>
              <a:rPr kumimoji="1" lang="en-US" altLang="zh-CN" dirty="0"/>
              <a:t>perform</a:t>
            </a:r>
            <a:r>
              <a:rPr kumimoji="1" lang="zh-CN" altLang="en-US" dirty="0"/>
              <a:t> </a:t>
            </a:r>
            <a:r>
              <a:rPr kumimoji="1" lang="en-US" altLang="zh-CN" dirty="0"/>
              <a:t>the</a:t>
            </a:r>
            <a:r>
              <a:rPr kumimoji="1" lang="zh-CN" altLang="en-US" dirty="0"/>
              <a:t> </a:t>
            </a:r>
            <a:r>
              <a:rPr kumimoji="1" lang="en-US" altLang="zh-CN" dirty="0"/>
              <a:t>test</a:t>
            </a:r>
            <a:r>
              <a:rPr kumimoji="1" lang="zh-CN" altLang="en-US" dirty="0"/>
              <a:t> </a:t>
            </a:r>
            <a:r>
              <a:rPr kumimoji="1" lang="en-US" altLang="zh-CN" dirty="0"/>
              <a:t>automatically</a:t>
            </a:r>
            <a:r>
              <a:rPr kumimoji="1" lang="zh-CN" altLang="en-US" dirty="0"/>
              <a:t> </a:t>
            </a:r>
            <a:r>
              <a:rPr kumimoji="1" lang="en-US" altLang="zh-CN" dirty="0"/>
              <a:t>(stripped):</a:t>
            </a:r>
          </a:p>
          <a:p>
            <a:r>
              <a:rPr kumimoji="1" lang="en-US" altLang="zh-CN" dirty="0">
                <a:solidFill>
                  <a:srgbClr val="FF0000"/>
                </a:solidFill>
              </a:rPr>
              <a:t>====== test session starts</a:t>
            </a:r>
            <a:r>
              <a:rPr kumimoji="1" lang="zh-CN" altLang="en-US" dirty="0">
                <a:solidFill>
                  <a:srgbClr val="FF0000"/>
                </a:solidFill>
              </a:rPr>
              <a:t> </a:t>
            </a:r>
            <a:r>
              <a:rPr kumimoji="1" lang="en-US" altLang="zh-CN" dirty="0">
                <a:solidFill>
                  <a:srgbClr val="FF0000"/>
                </a:solidFill>
              </a:rPr>
              <a:t>==</a:t>
            </a:r>
          </a:p>
          <a:p>
            <a:r>
              <a:rPr kumimoji="1" lang="en-US" altLang="zh-CN" dirty="0">
                <a:solidFill>
                  <a:srgbClr val="FF0000"/>
                </a:solidFill>
              </a:rPr>
              <a:t>collected 2 items                                                                                                                                </a:t>
            </a:r>
          </a:p>
          <a:p>
            <a:r>
              <a:rPr kumimoji="1" lang="en-US" altLang="zh-CN" dirty="0" err="1">
                <a:solidFill>
                  <a:srgbClr val="FF0000"/>
                </a:solidFill>
              </a:rPr>
              <a:t>cases_gen.py</a:t>
            </a:r>
            <a:r>
              <a:rPr kumimoji="1" lang="en-US" altLang="zh-CN" dirty="0">
                <a:solidFill>
                  <a:srgbClr val="FF0000"/>
                </a:solidFill>
              </a:rPr>
              <a:t> ..                                          [100%]</a:t>
            </a:r>
          </a:p>
          <a:p>
            <a:r>
              <a:rPr kumimoji="1" lang="en-US" altLang="zh-CN" dirty="0">
                <a:solidFill>
                  <a:srgbClr val="FF0000"/>
                </a:solidFill>
              </a:rPr>
              <a:t>====== 2 passed in 0.08s</a:t>
            </a:r>
            <a:endParaRPr kumimoji="1" lang="zh-CN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881817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3E7254-C17A-D714-FCA7-BDE448E184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D1C61A9-DB4D-6347-ED78-ADEE60772C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Example #2:</a:t>
            </a:r>
            <a:r>
              <a:rPr kumimoji="1" lang="zh-CN" altLang="en-US" dirty="0"/>
              <a:t> </a:t>
            </a:r>
            <a:r>
              <a:rPr kumimoji="1" lang="en-US" altLang="zh-CN" dirty="0"/>
              <a:t>bug</a:t>
            </a:r>
            <a:r>
              <a:rPr kumimoji="1" lang="zh-CN" altLang="en-US" dirty="0"/>
              <a:t> </a:t>
            </a:r>
            <a:r>
              <a:rPr kumimoji="1" lang="en-US" altLang="zh-CN" dirty="0"/>
              <a:t>detection</a:t>
            </a:r>
            <a:endParaRPr kumimoji="1" lang="zh-CN" altLang="en-US" dirty="0"/>
          </a:p>
        </p:txBody>
      </p:sp>
      <p:sp>
        <p:nvSpPr>
          <p:cNvPr id="9" name="内容占位符 2">
            <a:extLst>
              <a:ext uri="{FF2B5EF4-FFF2-40B4-BE49-F238E27FC236}">
                <a16:creationId xmlns:a16="http://schemas.microsoft.com/office/drawing/2014/main" id="{DE1F4B1C-7F36-0628-E211-AC10A5B6A4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1905000"/>
            <a:ext cx="7772400" cy="4114800"/>
          </a:xfrm>
        </p:spPr>
        <p:txBody>
          <a:bodyPr/>
          <a:lstStyle/>
          <a:p>
            <a:pPr marL="0" indent="0">
              <a:buNone/>
            </a:pP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def foo(a: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int, b: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int):</a:t>
            </a:r>
          </a:p>
          <a:p>
            <a:pPr marL="0" indent="0">
              <a:buNone/>
            </a:pP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 = 1</a:t>
            </a:r>
          </a:p>
          <a:p>
            <a:pPr marL="0" indent="0">
              <a:buNone/>
            </a:pP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y = 0</a:t>
            </a:r>
          </a:p>
          <a:p>
            <a:pPr marL="0" indent="0">
              <a:buNone/>
            </a:pP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if(a != 0):</a:t>
            </a:r>
          </a:p>
          <a:p>
            <a:pPr marL="0" indent="0">
              <a:buNone/>
            </a:pP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y = 3+x</a:t>
            </a:r>
          </a:p>
          <a:p>
            <a:pPr marL="0" indent="0">
              <a:buNone/>
            </a:pP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if(b == 0):</a:t>
            </a:r>
          </a:p>
          <a:p>
            <a:pPr marL="0" indent="0">
              <a:buNone/>
            </a:pP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 = 2*(</a:t>
            </a:r>
            <a:r>
              <a:rPr kumimoji="1" lang="en-US" altLang="zh-CN" sz="2000" b="1" dirty="0" err="1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a+b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>
              <a:buNone/>
            </a:pP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assert(x-y != 0)</a:t>
            </a:r>
          </a:p>
          <a:p>
            <a:pPr marL="0" indent="0">
              <a:buNone/>
            </a:pPr>
            <a:endParaRPr kumimoji="1" lang="en-US" altLang="zh-CN" sz="2000" b="1" dirty="0">
              <a:solidFill>
                <a:srgbClr val="0432FF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3028ED2A-F693-5623-3C08-A45AAAE55C96}"/>
              </a:ext>
            </a:extLst>
          </p:cNvPr>
          <p:cNvSpPr txBox="1"/>
          <p:nvPr/>
        </p:nvSpPr>
        <p:spPr>
          <a:xfrm>
            <a:off x="4724400" y="2209800"/>
            <a:ext cx="42195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Leave the triage of this program as an exercise.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81434290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50CB16-9A21-65D2-80B1-0E17FB3FBD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E2EF556-9E9F-67BC-B455-04F10B09B6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Case #3:</a:t>
            </a:r>
            <a:r>
              <a:rPr kumimoji="1" lang="zh-CN" altLang="en-US" dirty="0"/>
              <a:t> </a:t>
            </a:r>
            <a:r>
              <a:rPr kumimoji="1" lang="en-US" altLang="zh-CN" dirty="0"/>
              <a:t>crack password</a:t>
            </a:r>
            <a:endParaRPr kumimoji="1" lang="zh-CN" altLang="en-US" dirty="0"/>
          </a:p>
        </p:txBody>
      </p:sp>
      <p:sp>
        <p:nvSpPr>
          <p:cNvPr id="9" name="内容占位符 2">
            <a:extLst>
              <a:ext uri="{FF2B5EF4-FFF2-40B4-BE49-F238E27FC236}">
                <a16:creationId xmlns:a16="http://schemas.microsoft.com/office/drawing/2014/main" id="{49DEC906-3D59-9805-868B-2685DB3CDC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905000"/>
            <a:ext cx="5029200" cy="4114800"/>
          </a:xfrm>
        </p:spPr>
        <p:txBody>
          <a:bodyPr/>
          <a:lstStyle/>
          <a:p>
            <a:pPr marL="0" indent="0">
              <a:buNone/>
            </a:pP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 main(){</a:t>
            </a:r>
          </a:p>
          <a:p>
            <a:pPr marL="0" indent="0">
              <a:buNone/>
            </a:pP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int password;</a:t>
            </a:r>
          </a:p>
          <a:p>
            <a:pPr marL="0" indent="0">
              <a:buNone/>
            </a:pP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kumimoji="1" lang="en-US" altLang="zh-CN" sz="2000" b="1" dirty="0" err="1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(“pls input passwd:”);</a:t>
            </a:r>
          </a:p>
          <a:p>
            <a:pPr marL="0" indent="0">
              <a:buNone/>
            </a:pP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kumimoji="1" lang="en-US" altLang="zh-CN" sz="2000" b="1" dirty="0" err="1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scanf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(”%d”, &amp;password);</a:t>
            </a:r>
          </a:p>
          <a:p>
            <a:pPr marL="0" indent="0">
              <a:buNone/>
            </a:pP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check(password);</a:t>
            </a:r>
          </a:p>
          <a:p>
            <a:pPr marL="0" indent="0">
              <a:buNone/>
            </a:pP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return 0;</a:t>
            </a:r>
          </a:p>
          <a:p>
            <a:pPr marL="0" indent="0">
              <a:buNone/>
            </a:pP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kumimoji="1" lang="en-US" altLang="zh-CN" sz="2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7290814-3F43-097D-73B0-5220B9F1DDEB}"/>
              </a:ext>
            </a:extLst>
          </p:cNvPr>
          <p:cNvSpPr txBox="1">
            <a:spLocks/>
          </p:cNvSpPr>
          <p:nvPr/>
        </p:nvSpPr>
        <p:spPr bwMode="auto">
          <a:xfrm>
            <a:off x="4953000" y="1905000"/>
            <a:ext cx="41148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>
              <a:buFont typeface="Wingdings" pitchFamily="2" charset="2"/>
              <a:buNone/>
            </a:pPr>
            <a:r>
              <a:rPr kumimoji="1" lang="en-US" altLang="zh-CN" sz="2000" b="1" kern="0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 check(int pw){</a:t>
            </a:r>
          </a:p>
          <a:p>
            <a:pPr marL="0" indent="0">
              <a:buFont typeface="Wingdings" pitchFamily="2" charset="2"/>
              <a:buNone/>
            </a:pPr>
            <a:r>
              <a:rPr kumimoji="1" lang="en-US" altLang="zh-CN" sz="2000" b="1" kern="0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unsigned char *p = &amp;pw;</a:t>
            </a:r>
          </a:p>
          <a:p>
            <a:pPr marL="0" indent="0">
              <a:buFont typeface="Wingdings" pitchFamily="2" charset="2"/>
              <a:buNone/>
            </a:pPr>
            <a:r>
              <a:rPr kumimoji="1" lang="en-US" altLang="zh-CN" sz="2000" b="1" kern="0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if(p[0]==0)</a:t>
            </a:r>
          </a:p>
          <a:p>
            <a:pPr marL="0" indent="0">
              <a:buFont typeface="Wingdings" pitchFamily="2" charset="2"/>
              <a:buNone/>
            </a:pPr>
            <a:r>
              <a:rPr kumimoji="1" lang="en-US" altLang="zh-CN" sz="2000" b="1" kern="0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if(p[1]==1)</a:t>
            </a:r>
          </a:p>
          <a:p>
            <a:pPr marL="0" indent="0">
              <a:buFont typeface="Wingdings" pitchFamily="2" charset="2"/>
              <a:buNone/>
            </a:pPr>
            <a:r>
              <a:rPr kumimoji="1" lang="en-US" altLang="zh-CN" sz="2000" b="1" kern="0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if(p[2]==2)</a:t>
            </a:r>
          </a:p>
          <a:p>
            <a:pPr marL="0" indent="0">
              <a:buFont typeface="Wingdings" pitchFamily="2" charset="2"/>
              <a:buNone/>
            </a:pPr>
            <a:r>
              <a:rPr kumimoji="1" lang="en-US" altLang="zh-CN" sz="2000" b="1" kern="0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if(p[3]==3)</a:t>
            </a:r>
          </a:p>
          <a:p>
            <a:pPr marL="0" indent="0">
              <a:buFont typeface="Wingdings" pitchFamily="2" charset="2"/>
              <a:buNone/>
            </a:pPr>
            <a:r>
              <a:rPr kumimoji="1" lang="en-US" altLang="zh-CN" sz="2000" b="1" kern="0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assert(0);</a:t>
            </a:r>
          </a:p>
          <a:p>
            <a:pPr marL="0" indent="0">
              <a:buFont typeface="Wingdings" pitchFamily="2" charset="2"/>
              <a:buNone/>
            </a:pPr>
            <a:r>
              <a:rPr kumimoji="1" lang="en-US" altLang="zh-CN" sz="2000" b="1" kern="0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return;</a:t>
            </a:r>
          </a:p>
          <a:p>
            <a:pPr marL="0" indent="0">
              <a:buFont typeface="Wingdings" pitchFamily="2" charset="2"/>
              <a:buNone/>
            </a:pPr>
            <a:r>
              <a:rPr kumimoji="1" lang="en-US" altLang="zh-CN" sz="2000" b="1" kern="0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kumimoji="1" lang="en-US" altLang="zh-CN" sz="2000" b="1" kern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036765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5BE8EF-CC36-B013-BA81-126D786EA9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41AA66F-515D-52E8-1C53-668AFAA7AA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Case #4:</a:t>
            </a:r>
            <a:r>
              <a:rPr kumimoji="1" lang="zh-CN" altLang="en-US" dirty="0"/>
              <a:t> </a:t>
            </a:r>
            <a:r>
              <a:rPr kumimoji="1" lang="en-US" altLang="zh-CN" dirty="0"/>
              <a:t>vulnerability</a:t>
            </a:r>
            <a:endParaRPr kumimoji="1" lang="zh-CN" altLang="en-US" dirty="0"/>
          </a:p>
        </p:txBody>
      </p:sp>
      <p:sp>
        <p:nvSpPr>
          <p:cNvPr id="9" name="内容占位符 2">
            <a:extLst>
              <a:ext uri="{FF2B5EF4-FFF2-40B4-BE49-F238E27FC236}">
                <a16:creationId xmlns:a16="http://schemas.microsoft.com/office/drawing/2014/main" id="{B730456C-F5D3-3E4B-D2A1-EE3A955283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905000"/>
            <a:ext cx="8305800" cy="4114800"/>
          </a:xfrm>
        </p:spPr>
        <p:txBody>
          <a:bodyPr/>
          <a:lstStyle/>
          <a:p>
            <a:pPr marL="0" indent="0">
              <a:buNone/>
            </a:pP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def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 err="1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buf_write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kumimoji="1" lang="en-US" altLang="zh-CN" sz="2000" b="1" dirty="0" err="1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buf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List[int],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index: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int):</a:t>
            </a:r>
          </a:p>
          <a:p>
            <a:pPr marL="0" indent="0">
              <a:buNone/>
            </a:pP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assert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index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&gt;=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</a:p>
          <a:p>
            <a:pPr marL="0" indent="0">
              <a:buNone/>
            </a:pPr>
            <a:endParaRPr kumimoji="1" lang="en-US" altLang="zh-CN" sz="2000" b="1" dirty="0">
              <a:solidFill>
                <a:srgbClr val="0432FF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kumimoji="1" lang="zh-CN" altLang="en-US" sz="2000" b="1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kumimoji="1" lang="en-US" altLang="zh-CN" sz="2000" b="1">
                <a:latin typeface="Courier New" panose="02070309020205020404" pitchFamily="49" charset="0"/>
                <a:cs typeface="Courier New" panose="02070309020205020404" pitchFamily="49" charset="0"/>
              </a:rPr>
              <a:t>#</a:t>
            </a:r>
            <a:r>
              <a: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oops,</a:t>
            </a:r>
            <a:r>
              <a: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index</a:t>
            </a:r>
            <a:r>
              <a: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out</a:t>
            </a:r>
            <a:r>
              <a: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of</a:t>
            </a:r>
            <a:r>
              <a: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bound</a:t>
            </a:r>
          </a:p>
          <a:p>
            <a:pPr marL="0" indent="0">
              <a:buNone/>
            </a:pP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kumimoji="1" lang="en-US" altLang="zh-CN" sz="2000" b="1" dirty="0" err="1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buf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[index]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+=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endParaRPr kumimoji="1" lang="en-US" altLang="zh-CN" sz="2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1686778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5AFDCE-2CFE-9B71-D68D-FD164AAA03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1AFAC93-60C8-608A-74EA-48EABECC44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Summary</a:t>
            </a:r>
            <a:r>
              <a:rPr kumimoji="1" lang="zh-CN" altLang="en-US" dirty="0"/>
              <a:t> </a:t>
            </a:r>
            <a:r>
              <a:rPr kumimoji="1" lang="en-US" altLang="zh-CN" dirty="0"/>
              <a:t>for</a:t>
            </a:r>
            <a:r>
              <a:rPr kumimoji="1" lang="zh-CN" altLang="en-US" dirty="0"/>
              <a:t> </a:t>
            </a:r>
            <a:r>
              <a:rPr kumimoji="1" lang="en-US" altLang="zh-CN" dirty="0" err="1"/>
              <a:t>CrossHair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AF7F8F0-9A59-3190-FE73-1E80CCC4D4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/>
              <a:t>Pros:</a:t>
            </a:r>
          </a:p>
          <a:p>
            <a:pPr lvl="1"/>
            <a:r>
              <a:rPr kumimoji="1" lang="en-US" altLang="zh-CN" dirty="0"/>
              <a:t>in</a:t>
            </a:r>
            <a:r>
              <a:rPr kumimoji="1" lang="zh-CN" altLang="en-US" dirty="0"/>
              <a:t> </a:t>
            </a:r>
            <a:r>
              <a:rPr kumimoji="1" lang="en-US" altLang="zh-CN" dirty="0"/>
              <a:t>Python,</a:t>
            </a:r>
            <a:r>
              <a:rPr kumimoji="1" lang="zh-CN" altLang="en-US" dirty="0"/>
              <a:t> </a:t>
            </a:r>
            <a:r>
              <a:rPr kumimoji="1" lang="en-US" altLang="zh-CN" dirty="0"/>
              <a:t>for</a:t>
            </a:r>
            <a:r>
              <a:rPr kumimoji="1" lang="zh-CN" altLang="en-US" dirty="0"/>
              <a:t> </a:t>
            </a:r>
            <a:r>
              <a:rPr kumimoji="1" lang="en-US" altLang="zh-CN" dirty="0"/>
              <a:t>Python</a:t>
            </a:r>
          </a:p>
          <a:p>
            <a:pPr lvl="1"/>
            <a:r>
              <a:rPr kumimoji="1" lang="en-US" altLang="zh-CN" dirty="0"/>
              <a:t>high</a:t>
            </a:r>
            <a:r>
              <a:rPr kumimoji="1" lang="zh-CN" altLang="en-US" dirty="0"/>
              <a:t> </a:t>
            </a:r>
            <a:r>
              <a:rPr kumimoji="1" lang="en-US" altLang="zh-CN" dirty="0"/>
              <a:t>coverage,</a:t>
            </a:r>
            <a:r>
              <a:rPr kumimoji="1" lang="zh-CN" altLang="en-US" dirty="0"/>
              <a:t> </a:t>
            </a:r>
            <a:r>
              <a:rPr kumimoji="1" lang="en-US" altLang="zh-CN" dirty="0"/>
              <a:t>(mostly)</a:t>
            </a:r>
            <a:r>
              <a:rPr kumimoji="1" lang="zh-CN" altLang="en-US" dirty="0"/>
              <a:t> </a:t>
            </a:r>
            <a:r>
              <a:rPr kumimoji="1" lang="en-US" altLang="zh-CN" dirty="0"/>
              <a:t>automated</a:t>
            </a:r>
          </a:p>
          <a:p>
            <a:pPr lvl="1"/>
            <a:r>
              <a:rPr kumimoji="1" lang="en-US" altLang="zh-CN" dirty="0"/>
              <a:t>high</a:t>
            </a:r>
            <a:r>
              <a:rPr kumimoji="1" lang="zh-CN" altLang="en-US" dirty="0"/>
              <a:t> </a:t>
            </a:r>
            <a:r>
              <a:rPr kumimoji="1" lang="en-US" altLang="zh-CN" dirty="0"/>
              <a:t>effectiveness</a:t>
            </a:r>
            <a:r>
              <a:rPr kumimoji="1" lang="zh-CN" altLang="en-US" dirty="0"/>
              <a:t> </a:t>
            </a:r>
            <a:r>
              <a:rPr kumimoji="1" lang="en-US" altLang="zh-CN" dirty="0"/>
              <a:t>(even</a:t>
            </a:r>
            <a:r>
              <a:rPr kumimoji="1" lang="zh-CN" altLang="en-US" dirty="0"/>
              <a:t> </a:t>
            </a:r>
            <a:r>
              <a:rPr kumimoji="1" lang="en-US" altLang="zh-CN" dirty="0"/>
              <a:t>for</a:t>
            </a:r>
            <a:r>
              <a:rPr kumimoji="1" lang="zh-CN" altLang="en-US" dirty="0"/>
              <a:t> </a:t>
            </a:r>
            <a:r>
              <a:rPr kumimoji="1" lang="en-US" altLang="zh-CN" dirty="0"/>
              <a:t>programs</a:t>
            </a:r>
            <a:r>
              <a:rPr kumimoji="1" lang="zh-CN" altLang="en-US" dirty="0"/>
              <a:t> </a:t>
            </a:r>
            <a:r>
              <a:rPr kumimoji="1" lang="en-US" altLang="zh-CN" dirty="0"/>
              <a:t>heavily</a:t>
            </a:r>
            <a:r>
              <a:rPr kumimoji="1" lang="zh-CN" altLang="en-US" dirty="0"/>
              <a:t> </a:t>
            </a:r>
            <a:r>
              <a:rPr kumimoji="1" lang="en-US" altLang="zh-CN" dirty="0"/>
              <a:t>tested)</a:t>
            </a:r>
          </a:p>
          <a:p>
            <a:r>
              <a:rPr kumimoji="1" lang="en-US" altLang="zh-CN" dirty="0"/>
              <a:t>Cons:</a:t>
            </a:r>
          </a:p>
          <a:p>
            <a:pPr lvl="1"/>
            <a:r>
              <a:rPr kumimoji="1" lang="en-US" altLang="zh-CN" dirty="0"/>
              <a:t>expensive</a:t>
            </a:r>
          </a:p>
          <a:p>
            <a:pPr lvl="1"/>
            <a:r>
              <a:rPr kumimoji="1" lang="en-US" altLang="zh-CN" dirty="0"/>
              <a:t>white-box</a:t>
            </a:r>
            <a:r>
              <a:rPr kumimoji="1" lang="zh-CN" altLang="en-US" dirty="0"/>
              <a:t> </a:t>
            </a:r>
            <a:r>
              <a:rPr kumimoji="1" lang="en-US" altLang="zh-CN" dirty="0"/>
              <a:t>(i.e.,</a:t>
            </a:r>
            <a:r>
              <a:rPr kumimoji="1" lang="zh-CN" altLang="en-US" dirty="0"/>
              <a:t> </a:t>
            </a:r>
            <a:r>
              <a:rPr kumimoji="1" lang="en-US" altLang="zh-CN" dirty="0"/>
              <a:t>source</a:t>
            </a:r>
            <a:r>
              <a:rPr kumimoji="1" lang="zh-CN" altLang="en-US" dirty="0"/>
              <a:t> </a:t>
            </a:r>
            <a:r>
              <a:rPr kumimoji="1" lang="en-US" altLang="zh-CN" dirty="0"/>
              <a:t>code</a:t>
            </a:r>
            <a:r>
              <a:rPr kumimoji="1" lang="zh-CN" altLang="en-US" dirty="0"/>
              <a:t> </a:t>
            </a:r>
            <a:r>
              <a:rPr kumimoji="1" lang="en-US" altLang="zh-CN" dirty="0"/>
              <a:t>needed)</a:t>
            </a:r>
          </a:p>
          <a:p>
            <a:pPr lvl="1"/>
            <a:r>
              <a:rPr kumimoji="1" lang="en-US" altLang="zh-CN" dirty="0"/>
              <a:t>tied</a:t>
            </a:r>
            <a:r>
              <a:rPr kumimoji="1" lang="zh-CN" altLang="en-US" dirty="0"/>
              <a:t> </a:t>
            </a:r>
            <a:r>
              <a:rPr kumimoji="1" lang="en-US" altLang="zh-CN" dirty="0"/>
              <a:t>to</a:t>
            </a:r>
            <a:r>
              <a:rPr kumimoji="1" lang="zh-CN" altLang="en-US" dirty="0"/>
              <a:t> </a:t>
            </a:r>
            <a:r>
              <a:rPr kumimoji="1" lang="en-US" altLang="zh-CN" dirty="0"/>
              <a:t>specific</a:t>
            </a:r>
            <a:r>
              <a:rPr kumimoji="1" lang="zh-CN" altLang="en-US" dirty="0"/>
              <a:t> </a:t>
            </a:r>
            <a:r>
              <a:rPr kumimoji="1" lang="en-US" altLang="zh-CN" dirty="0"/>
              <a:t>language</a:t>
            </a:r>
            <a:r>
              <a:rPr kumimoji="1" lang="zh-CN" altLang="en-US" dirty="0"/>
              <a:t> </a:t>
            </a:r>
            <a:r>
              <a:rPr kumimoji="1" lang="en-US" altLang="zh-CN" dirty="0"/>
              <a:t>(clang)</a:t>
            </a:r>
          </a:p>
        </p:txBody>
      </p:sp>
    </p:spTree>
    <p:extLst>
      <p:ext uri="{BB962C8B-B14F-4D97-AF65-F5344CB8AC3E}">
        <p14:creationId xmlns:p14="http://schemas.microsoft.com/office/powerpoint/2010/main" val="403569267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F8B185-38C4-3697-3E60-4162F0234D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BACA91E-92B7-1977-F1FA-DEC1BD1A98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 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073A04A-AD48-6037-052E-F173A259FB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kumimoji="1" lang="en-US" altLang="zh-CN" dirty="0"/>
          </a:p>
          <a:p>
            <a:pPr marL="0" indent="0">
              <a:buNone/>
            </a:pPr>
            <a:endParaRPr kumimoji="1" lang="en-US" altLang="zh-CN" dirty="0"/>
          </a:p>
          <a:p>
            <a:pPr marL="0" indent="0" algn="ctr">
              <a:buNone/>
            </a:pPr>
            <a:r>
              <a:rPr kumimoji="1" lang="en-US" altLang="zh-CN" i="1" dirty="0"/>
              <a:t>Practical Symbolic</a:t>
            </a:r>
            <a:r>
              <a:rPr kumimoji="1" lang="zh-CN" altLang="en-US" i="1" dirty="0"/>
              <a:t> </a:t>
            </a:r>
            <a:r>
              <a:rPr kumimoji="1" lang="en-US" altLang="zh-CN" i="1" dirty="0"/>
              <a:t>Execution</a:t>
            </a:r>
            <a:r>
              <a:rPr kumimoji="1" lang="zh-CN" altLang="en-US" i="1" dirty="0"/>
              <a:t> </a:t>
            </a:r>
            <a:r>
              <a:rPr kumimoji="1" lang="en-US" altLang="zh-CN" i="1" dirty="0"/>
              <a:t>II:</a:t>
            </a:r>
          </a:p>
          <a:p>
            <a:pPr marL="0" indent="0" algn="ctr">
              <a:buNone/>
            </a:pPr>
            <a:r>
              <a:rPr kumimoji="1" lang="en-US" altLang="zh-CN" i="1" dirty="0"/>
              <a:t>Klee</a:t>
            </a:r>
            <a:endParaRPr kumimoji="1" lang="zh-CN" altLang="en-US" i="1" dirty="0"/>
          </a:p>
        </p:txBody>
      </p:sp>
    </p:spTree>
    <p:extLst>
      <p:ext uri="{BB962C8B-B14F-4D97-AF65-F5344CB8AC3E}">
        <p14:creationId xmlns:p14="http://schemas.microsoft.com/office/powerpoint/2010/main" val="370220868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530F1F-33F3-4DBB-17E2-4453696DE1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4BCFA6B-A2F8-7CE4-C706-D2569E5914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Klee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34C822E-904E-0A85-FEEB-8B041CD030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/>
              <a:t>Klee is a relatively new tool that makes symbolic execution popular (again)</a:t>
            </a:r>
          </a:p>
          <a:p>
            <a:pPr lvl="1"/>
            <a:r>
              <a:rPr kumimoji="1" lang="en-US" altLang="zh-CN" dirty="0"/>
              <a:t>designed at Stanford</a:t>
            </a:r>
          </a:p>
          <a:p>
            <a:pPr lvl="1"/>
            <a:r>
              <a:rPr kumimoji="1" lang="en-US" altLang="zh-CN" dirty="0"/>
              <a:t>and now open source: </a:t>
            </a:r>
            <a:r>
              <a:rPr kumimoji="1" lang="en-US" altLang="zh-CN" dirty="0">
                <a:solidFill>
                  <a:srgbClr val="0432FF"/>
                </a:solidFill>
              </a:rPr>
              <a:t>https://</a:t>
            </a:r>
            <a:r>
              <a:rPr kumimoji="1" lang="en-US" altLang="zh-CN" dirty="0" err="1">
                <a:solidFill>
                  <a:srgbClr val="0432FF"/>
                </a:solidFill>
              </a:rPr>
              <a:t>klee-se.org</a:t>
            </a:r>
            <a:r>
              <a:rPr kumimoji="1" lang="en-US" altLang="zh-CN" dirty="0">
                <a:solidFill>
                  <a:srgbClr val="0432FF"/>
                </a:solidFill>
              </a:rPr>
              <a:t>/</a:t>
            </a:r>
          </a:p>
          <a:p>
            <a:r>
              <a:rPr kumimoji="1" lang="en-US" altLang="zh-CN" dirty="0"/>
              <a:t>The original paper:</a:t>
            </a:r>
          </a:p>
          <a:p>
            <a:pPr lvl="1"/>
            <a:r>
              <a:rPr lang="en" altLang="zh-CN" dirty="0"/>
              <a:t>KLEE: Unassisted and Automatic Generation of High-Coverage Tests for Complex Systems Programs (OSDI ‘08)</a:t>
            </a:r>
            <a:endParaRPr kumimoji="1"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68996036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DDE4E8-26D8-18F0-5A84-B5C77BE0B1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E1AEFAD-1B23-0DDB-37A8-5BAC7BA57F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Klee,</a:t>
            </a:r>
            <a:r>
              <a:rPr kumimoji="1" lang="zh-CN" altLang="en-US" dirty="0"/>
              <a:t> </a:t>
            </a:r>
            <a:r>
              <a:rPr kumimoji="1" lang="en-US" altLang="zh-CN" dirty="0" err="1"/>
              <a:t>cont</a:t>
            </a:r>
            <a:r>
              <a:rPr kumimoji="1" lang="en-US" altLang="zh-CN" dirty="0"/>
              <a:t>’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F917DB7-E107-CD07-7E81-78B1807C06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/>
              <a:t>We</a:t>
            </a:r>
            <a:r>
              <a:rPr kumimoji="1" lang="zh-CN" altLang="en-US" dirty="0"/>
              <a:t> </a:t>
            </a:r>
            <a:r>
              <a:rPr kumimoji="1" lang="en-US" altLang="zh-CN" dirty="0"/>
              <a:t>next</a:t>
            </a:r>
            <a:r>
              <a:rPr kumimoji="1" lang="zh-CN" altLang="en-US" dirty="0"/>
              <a:t> </a:t>
            </a:r>
            <a:r>
              <a:rPr kumimoji="1" lang="en-US" altLang="zh-CN" dirty="0"/>
              <a:t>investigate</a:t>
            </a:r>
            <a:r>
              <a:rPr kumimoji="1" lang="zh-CN" altLang="en-US" dirty="0"/>
              <a:t> </a:t>
            </a:r>
            <a:r>
              <a:rPr kumimoji="1" lang="en-US" altLang="zh-CN" dirty="0"/>
              <a:t>Klee’s</a:t>
            </a:r>
            <a:r>
              <a:rPr kumimoji="1" lang="zh-CN" altLang="en-US" dirty="0"/>
              <a:t> </a:t>
            </a:r>
            <a:r>
              <a:rPr kumimoji="1" lang="en-US" altLang="zh-CN" dirty="0"/>
              <a:t>practical</a:t>
            </a:r>
            <a:r>
              <a:rPr kumimoji="1" lang="zh-CN" altLang="en-US" dirty="0"/>
              <a:t> </a:t>
            </a:r>
            <a:r>
              <a:rPr kumimoji="1" lang="en-US" altLang="zh-CN" dirty="0"/>
              <a:t>usage</a:t>
            </a:r>
            <a:r>
              <a:rPr kumimoji="1" lang="zh-CN" altLang="en-US" dirty="0"/>
              <a:t> </a:t>
            </a:r>
            <a:r>
              <a:rPr kumimoji="1" lang="en-US" altLang="zh-CN" dirty="0"/>
              <a:t>(as</a:t>
            </a:r>
            <a:r>
              <a:rPr kumimoji="1" lang="zh-CN" altLang="en-US" dirty="0"/>
              <a:t> </a:t>
            </a:r>
            <a:r>
              <a:rPr kumimoji="1" lang="en-US" altLang="zh-CN" dirty="0"/>
              <a:t>a</a:t>
            </a:r>
            <a:r>
              <a:rPr kumimoji="1" lang="zh-CN" altLang="en-US" dirty="0"/>
              <a:t> </a:t>
            </a:r>
            <a:r>
              <a:rPr kumimoji="1" lang="en-US" altLang="zh-CN" dirty="0"/>
              <a:t>case</a:t>
            </a:r>
            <a:r>
              <a:rPr kumimoji="1" lang="zh-CN" altLang="en-US" dirty="0"/>
              <a:t> </a:t>
            </a:r>
            <a:r>
              <a:rPr kumimoji="1" lang="en-US" altLang="zh-CN" dirty="0"/>
              <a:t>study)</a:t>
            </a:r>
          </a:p>
          <a:p>
            <a:pPr lvl="1"/>
            <a:r>
              <a:rPr kumimoji="1" lang="en-US" altLang="zh-CN" dirty="0"/>
              <a:t>as</a:t>
            </a:r>
            <a:r>
              <a:rPr kumimoji="1" lang="zh-CN" altLang="en-US" dirty="0"/>
              <a:t> </a:t>
            </a:r>
            <a:r>
              <a:rPr kumimoji="1" lang="en-US" altLang="zh-CN" dirty="0"/>
              <a:t>we</a:t>
            </a:r>
            <a:r>
              <a:rPr kumimoji="1" lang="zh-CN" altLang="en-US" dirty="0"/>
              <a:t> </a:t>
            </a:r>
            <a:r>
              <a:rPr kumimoji="1" lang="en-US" altLang="zh-CN" dirty="0"/>
              <a:t>have</a:t>
            </a:r>
            <a:r>
              <a:rPr kumimoji="1" lang="zh-CN" altLang="en-US" dirty="0"/>
              <a:t> </a:t>
            </a:r>
            <a:r>
              <a:rPr kumimoji="1" lang="en-US" altLang="zh-CN" dirty="0"/>
              <a:t>discussed</a:t>
            </a:r>
            <a:r>
              <a:rPr kumimoji="1" lang="zh-CN" altLang="en-US" dirty="0"/>
              <a:t> </a:t>
            </a:r>
            <a:r>
              <a:rPr kumimoji="1" lang="en-US" altLang="zh-CN" dirty="0"/>
              <a:t>the</a:t>
            </a:r>
            <a:r>
              <a:rPr kumimoji="1" lang="zh-CN" altLang="en-US" dirty="0"/>
              <a:t> </a:t>
            </a:r>
            <a:r>
              <a:rPr kumimoji="1" lang="en-US" altLang="zh-CN" dirty="0"/>
              <a:t>underlying</a:t>
            </a:r>
            <a:r>
              <a:rPr kumimoji="1" lang="zh-CN" altLang="en-US" dirty="0"/>
              <a:t> </a:t>
            </a:r>
            <a:r>
              <a:rPr kumimoji="1" lang="en-US" altLang="zh-CN" dirty="0"/>
              <a:t>theory</a:t>
            </a:r>
            <a:endParaRPr kumimoji="1" lang="en-US" altLang="zh-CN" dirty="0">
              <a:solidFill>
                <a:srgbClr val="0432FF"/>
              </a:solidFill>
            </a:endParaRPr>
          </a:p>
          <a:p>
            <a:r>
              <a:rPr kumimoji="1" lang="en-US" altLang="zh-CN" dirty="0"/>
              <a:t>Required</a:t>
            </a:r>
            <a:r>
              <a:rPr kumimoji="1" lang="zh-CN" altLang="en-US" dirty="0"/>
              <a:t> </a:t>
            </a:r>
            <a:r>
              <a:rPr kumimoji="1" lang="en-US" altLang="zh-CN" dirty="0"/>
              <a:t>tools:</a:t>
            </a:r>
          </a:p>
          <a:p>
            <a:pPr lvl="1"/>
            <a:r>
              <a:rPr kumimoji="1" lang="en-US" altLang="zh-CN" dirty="0"/>
              <a:t>Klee:</a:t>
            </a:r>
            <a:r>
              <a:rPr kumimoji="1" lang="zh-CN" altLang="en-US" dirty="0"/>
              <a:t> </a:t>
            </a:r>
            <a:r>
              <a:rPr kumimoji="1" lang="en-US" altLang="zh-CN" dirty="0">
                <a:solidFill>
                  <a:srgbClr val="0432FF"/>
                </a:solidFill>
                <a:hlinkClick r:id="rId2"/>
              </a:rPr>
              <a:t>https://klee-se.org/</a:t>
            </a:r>
            <a:endParaRPr kumimoji="1" lang="en-US" altLang="zh-CN" dirty="0">
              <a:solidFill>
                <a:srgbClr val="0432FF"/>
              </a:solidFill>
            </a:endParaRPr>
          </a:p>
          <a:p>
            <a:pPr lvl="1"/>
            <a:r>
              <a:rPr kumimoji="1" lang="en-US" altLang="zh-CN" dirty="0"/>
              <a:t>clang</a:t>
            </a:r>
            <a:r>
              <a:rPr kumimoji="1" lang="zh-CN" altLang="en-US" dirty="0"/>
              <a:t> </a:t>
            </a:r>
            <a:r>
              <a:rPr kumimoji="1" lang="en-US" altLang="zh-CN" dirty="0"/>
              <a:t>&amp;</a:t>
            </a:r>
            <a:r>
              <a:rPr kumimoji="1" lang="zh-CN" altLang="en-US" dirty="0"/>
              <a:t> </a:t>
            </a:r>
            <a:r>
              <a:rPr kumimoji="1" lang="en-US" altLang="zh-CN" dirty="0" err="1"/>
              <a:t>llvm</a:t>
            </a:r>
            <a:r>
              <a:rPr kumimoji="1" lang="en-US" altLang="zh-CN" dirty="0"/>
              <a:t>:</a:t>
            </a:r>
            <a:r>
              <a:rPr kumimoji="1" lang="zh-CN" altLang="en-US" dirty="0"/>
              <a:t> </a:t>
            </a:r>
            <a:r>
              <a:rPr kumimoji="1" lang="en" altLang="zh-CN" dirty="0">
                <a:hlinkClick r:id="rId3"/>
              </a:rPr>
              <a:t>https://clang.llvm.org/</a:t>
            </a:r>
            <a:endParaRPr kumimoji="1" lang="en" altLang="zh-CN" dirty="0"/>
          </a:p>
          <a:p>
            <a:pPr lvl="1"/>
            <a:r>
              <a:rPr kumimoji="1" lang="en" altLang="zh-CN" dirty="0"/>
              <a:t>g</a:t>
            </a:r>
            <a:r>
              <a:rPr kumimoji="1" lang="en-US" altLang="zh-CN" dirty="0" err="1"/>
              <a:t>cov</a:t>
            </a:r>
            <a:r>
              <a:rPr kumimoji="1" lang="en-US" altLang="zh-CN" dirty="0"/>
              <a:t>:</a:t>
            </a:r>
            <a:r>
              <a:rPr kumimoji="1" lang="zh-CN" altLang="en-US" dirty="0"/>
              <a:t> </a:t>
            </a:r>
            <a:r>
              <a:rPr kumimoji="1" lang="en" altLang="zh-CN" dirty="0"/>
              <a:t>https://</a:t>
            </a:r>
            <a:r>
              <a:rPr kumimoji="1" lang="en" altLang="zh-CN" dirty="0" err="1"/>
              <a:t>gcc.gnu.org</a:t>
            </a:r>
            <a:r>
              <a:rPr kumimoji="1" lang="en" altLang="zh-CN" dirty="0"/>
              <a:t>/</a:t>
            </a:r>
            <a:r>
              <a:rPr kumimoji="1" lang="en" altLang="zh-CN" dirty="0" err="1"/>
              <a:t>onlinedocs</a:t>
            </a:r>
            <a:r>
              <a:rPr kumimoji="1" lang="en" altLang="zh-CN" dirty="0"/>
              <a:t>/</a:t>
            </a:r>
            <a:r>
              <a:rPr kumimoji="1" lang="en" altLang="zh-CN" dirty="0" err="1"/>
              <a:t>gcc</a:t>
            </a:r>
            <a:r>
              <a:rPr kumimoji="1" lang="en" altLang="zh-CN" dirty="0"/>
              <a:t>/</a:t>
            </a:r>
            <a:r>
              <a:rPr kumimoji="1" lang="en" altLang="zh-CN" dirty="0" err="1"/>
              <a:t>Gcov.html</a:t>
            </a:r>
            <a:endParaRPr kumimoji="1"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83508792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8EBC9C-AED3-02CD-0A3D-8B590C22AD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C89DB91-CA8C-4011-85D3-3C1BA55BAE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Case #1:</a:t>
            </a:r>
            <a:r>
              <a:rPr kumimoji="1" lang="zh-CN" altLang="en-US" dirty="0"/>
              <a:t> </a:t>
            </a:r>
            <a:r>
              <a:rPr kumimoji="1" lang="en-US" altLang="zh-CN" dirty="0"/>
              <a:t>the</a:t>
            </a:r>
            <a:r>
              <a:rPr kumimoji="1" lang="zh-CN" altLang="en-US" dirty="0"/>
              <a:t> </a:t>
            </a:r>
            <a:r>
              <a:rPr kumimoji="1" lang="en-US" altLang="zh-CN" dirty="0"/>
              <a:t>program</a:t>
            </a:r>
            <a:br>
              <a:rPr kumimoji="1" lang="en-US" altLang="zh-CN" dirty="0"/>
            </a:br>
            <a:r>
              <a:rPr kumimoji="1" lang="en-US" altLang="zh-CN" dirty="0"/>
              <a:t>Step #1: symbolic execution</a:t>
            </a:r>
            <a:endParaRPr kumimoji="1" lang="zh-CN" altLang="en-US" dirty="0"/>
          </a:p>
        </p:txBody>
      </p:sp>
      <p:sp>
        <p:nvSpPr>
          <p:cNvPr id="9" name="内容占位符 2">
            <a:extLst>
              <a:ext uri="{FF2B5EF4-FFF2-40B4-BE49-F238E27FC236}">
                <a16:creationId xmlns:a16="http://schemas.microsoft.com/office/drawing/2014/main" id="{B7630A56-BFDD-A0F4-F32D-FB27C3F081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1905000"/>
            <a:ext cx="7772400" cy="4114800"/>
          </a:xfrm>
        </p:spPr>
        <p:txBody>
          <a:bodyPr/>
          <a:lstStyle/>
          <a:p>
            <a:pPr marL="0" indent="0">
              <a:buNone/>
            </a:pP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foo(int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x,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y){ 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// aforementioned example</a:t>
            </a:r>
          </a:p>
          <a:p>
            <a:pPr marL="0" indent="0">
              <a:buNone/>
            </a:pP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z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 err="1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x+y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buNone/>
            </a:pP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if(x==32467289)</a:t>
            </a:r>
          </a:p>
          <a:p>
            <a:pPr marL="0" indent="0">
              <a:buNone/>
            </a:pP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x/y;</a:t>
            </a:r>
          </a:p>
          <a:p>
            <a:pPr marL="0" indent="0">
              <a:buNone/>
            </a:pP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else</a:t>
            </a:r>
          </a:p>
          <a:p>
            <a:pPr marL="0" indent="0">
              <a:buNone/>
            </a:pP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0;</a:t>
            </a:r>
          </a:p>
          <a:p>
            <a:pPr marL="0" indent="0">
              <a:buNone/>
            </a:pP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>
              <a:buNone/>
            </a:pP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 main(){</a:t>
            </a:r>
          </a:p>
          <a:p>
            <a:pPr marL="0" indent="0">
              <a:buNone/>
            </a:pP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int a=0, b=1;</a:t>
            </a:r>
            <a:endParaRPr kumimoji="1" lang="en-US" altLang="zh-CN" sz="2000" b="1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kumimoji="1" lang="en-US" altLang="zh-CN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kumimoji="1" lang="en-US" altLang="zh-CN" sz="20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klee_make_symbolic</a:t>
            </a:r>
            <a:r>
              <a:rPr kumimoji="1" lang="en-US" altLang="zh-CN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(&amp;a, </a:t>
            </a:r>
            <a:r>
              <a:rPr kumimoji="1" lang="en-US" altLang="zh-CN" sz="20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sizeof</a:t>
            </a:r>
            <a:r>
              <a:rPr kumimoji="1" lang="en-US" altLang="zh-CN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(a), "a");</a:t>
            </a:r>
          </a:p>
          <a:p>
            <a:pPr marL="0" indent="0">
              <a:buNone/>
            </a:pPr>
            <a:r>
              <a:rPr kumimoji="1" lang="en-US" altLang="zh-CN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kumimoji="1" lang="en-US" altLang="zh-CN" sz="20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klee_make_symbolic</a:t>
            </a:r>
            <a:r>
              <a:rPr kumimoji="1" lang="en-US" altLang="zh-CN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(&amp;b, </a:t>
            </a:r>
            <a:r>
              <a:rPr kumimoji="1" lang="en-US" altLang="zh-CN" sz="20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sizeof</a:t>
            </a:r>
            <a:r>
              <a:rPr kumimoji="1" lang="en-US" altLang="zh-CN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(b), "b");</a:t>
            </a:r>
          </a:p>
          <a:p>
            <a:pPr marL="0" indent="0">
              <a:buNone/>
            </a:pP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foo(a, b); </a:t>
            </a:r>
          </a:p>
          <a:p>
            <a:pPr marL="0" indent="0">
              <a:buNone/>
            </a:pP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return 0;</a:t>
            </a:r>
          </a:p>
          <a:p>
            <a:pPr marL="0" indent="0">
              <a:buNone/>
            </a:pP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B7E316A1-3F6C-8E68-ECD8-64E9E887FBD5}"/>
              </a:ext>
            </a:extLst>
          </p:cNvPr>
          <p:cNvSpPr txBox="1"/>
          <p:nvPr/>
        </p:nvSpPr>
        <p:spPr>
          <a:xfrm>
            <a:off x="4724400" y="2209800"/>
            <a:ext cx="421957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//</a:t>
            </a:r>
            <a:r>
              <a:rPr kumimoji="1" lang="zh-CN" altLang="en-US" dirty="0"/>
              <a:t> </a:t>
            </a:r>
            <a:r>
              <a:rPr kumimoji="1" lang="en-US" altLang="zh-CN" dirty="0"/>
              <a:t>Commands:</a:t>
            </a:r>
          </a:p>
          <a:p>
            <a:r>
              <a:rPr kumimoji="1" lang="en-US" altLang="zh-CN" dirty="0"/>
              <a:t>//</a:t>
            </a:r>
            <a:r>
              <a:rPr kumimoji="1" lang="zh-CN" altLang="en-US" dirty="0"/>
              <a:t> </a:t>
            </a:r>
            <a:r>
              <a:rPr kumimoji="1" lang="en-US" altLang="zh-CN" dirty="0"/>
              <a:t>compile</a:t>
            </a:r>
            <a:r>
              <a:rPr kumimoji="1" lang="zh-CN" altLang="en-US" dirty="0"/>
              <a:t> </a:t>
            </a:r>
            <a:r>
              <a:rPr kumimoji="1" lang="en-US" altLang="zh-CN" dirty="0"/>
              <a:t>the</a:t>
            </a:r>
            <a:r>
              <a:rPr kumimoji="1" lang="zh-CN" altLang="en-US" dirty="0"/>
              <a:t> </a:t>
            </a:r>
            <a:r>
              <a:rPr kumimoji="1" lang="en-US" altLang="zh-CN" dirty="0"/>
              <a:t>target</a:t>
            </a:r>
            <a:r>
              <a:rPr kumimoji="1" lang="zh-CN" altLang="en-US" dirty="0"/>
              <a:t> </a:t>
            </a:r>
            <a:r>
              <a:rPr kumimoji="1" lang="en-US" altLang="zh-CN" dirty="0"/>
              <a:t>program:</a:t>
            </a:r>
          </a:p>
          <a:p>
            <a:r>
              <a:rPr kumimoji="1" lang="en-US" altLang="zh-CN" dirty="0">
                <a:solidFill>
                  <a:srgbClr val="FF0000"/>
                </a:solidFill>
              </a:rPr>
              <a:t>$ clang</a:t>
            </a:r>
            <a:r>
              <a:rPr kumimoji="1" lang="zh-CN" altLang="en-US" dirty="0">
                <a:solidFill>
                  <a:srgbClr val="FF0000"/>
                </a:solidFill>
              </a:rPr>
              <a:t> </a:t>
            </a:r>
            <a:r>
              <a:rPr kumimoji="1" lang="en-US" altLang="zh-CN" dirty="0">
                <a:solidFill>
                  <a:srgbClr val="FF0000"/>
                </a:solidFill>
              </a:rPr>
              <a:t>–O0</a:t>
            </a:r>
            <a:r>
              <a:rPr kumimoji="1" lang="zh-CN" altLang="en-US" dirty="0">
                <a:solidFill>
                  <a:srgbClr val="FF0000"/>
                </a:solidFill>
              </a:rPr>
              <a:t> </a:t>
            </a:r>
            <a:r>
              <a:rPr kumimoji="1" lang="en-US" altLang="zh-CN" dirty="0">
                <a:solidFill>
                  <a:srgbClr val="FF0000"/>
                </a:solidFill>
              </a:rPr>
              <a:t>–c</a:t>
            </a:r>
            <a:r>
              <a:rPr kumimoji="1" lang="zh-CN" altLang="en-US" dirty="0">
                <a:solidFill>
                  <a:srgbClr val="FF0000"/>
                </a:solidFill>
              </a:rPr>
              <a:t> </a:t>
            </a:r>
            <a:r>
              <a:rPr kumimoji="1" lang="en-US" altLang="zh-CN" dirty="0">
                <a:solidFill>
                  <a:srgbClr val="FF0000"/>
                </a:solidFill>
              </a:rPr>
              <a:t>–emit-</a:t>
            </a:r>
            <a:r>
              <a:rPr kumimoji="1" lang="en-US" altLang="zh-CN" dirty="0" err="1">
                <a:solidFill>
                  <a:srgbClr val="FF0000"/>
                </a:solidFill>
              </a:rPr>
              <a:t>llvm</a:t>
            </a:r>
            <a:r>
              <a:rPr kumimoji="1" lang="en-US" altLang="zh-CN" dirty="0">
                <a:solidFill>
                  <a:srgbClr val="FF0000"/>
                </a:solidFill>
              </a:rPr>
              <a:t> –g</a:t>
            </a:r>
            <a:r>
              <a:rPr kumimoji="1" lang="zh-CN" altLang="en-US" dirty="0">
                <a:solidFill>
                  <a:srgbClr val="FF0000"/>
                </a:solidFill>
              </a:rPr>
              <a:t> </a:t>
            </a:r>
            <a:r>
              <a:rPr kumimoji="1" lang="en-US" altLang="zh-CN" dirty="0">
                <a:solidFill>
                  <a:srgbClr val="FF0000"/>
                </a:solidFill>
              </a:rPr>
              <a:t>case1.c</a:t>
            </a:r>
          </a:p>
          <a:p>
            <a:r>
              <a:rPr kumimoji="1" lang="en-US" altLang="zh-CN" dirty="0"/>
              <a:t>//</a:t>
            </a:r>
            <a:r>
              <a:rPr kumimoji="1" lang="zh-CN" altLang="en-US" dirty="0"/>
              <a:t> </a:t>
            </a:r>
            <a:r>
              <a:rPr kumimoji="1" lang="en-US" altLang="zh-CN" dirty="0"/>
              <a:t>which</a:t>
            </a:r>
            <a:r>
              <a:rPr kumimoji="1" lang="zh-CN" altLang="en-US" dirty="0"/>
              <a:t> </a:t>
            </a:r>
            <a:r>
              <a:rPr kumimoji="1" lang="en-US" altLang="zh-CN" dirty="0"/>
              <a:t>generates</a:t>
            </a:r>
            <a:r>
              <a:rPr kumimoji="1" lang="zh-CN" altLang="en-US" dirty="0"/>
              <a:t> </a:t>
            </a:r>
            <a:r>
              <a:rPr kumimoji="1" lang="en-US" altLang="zh-CN" dirty="0"/>
              <a:t>“case1.bc”</a:t>
            </a:r>
          </a:p>
          <a:p>
            <a:endParaRPr kumimoji="1" lang="en-US" altLang="zh-CN" dirty="0"/>
          </a:p>
          <a:p>
            <a:r>
              <a:rPr kumimoji="1" lang="en-US" altLang="zh-CN" dirty="0"/>
              <a:t>//</a:t>
            </a:r>
            <a:r>
              <a:rPr kumimoji="1" lang="zh-CN" altLang="en-US" dirty="0"/>
              <a:t> </a:t>
            </a:r>
            <a:r>
              <a:rPr kumimoji="1" lang="en-US" altLang="zh-CN" dirty="0"/>
              <a:t>symbolically</a:t>
            </a:r>
            <a:r>
              <a:rPr kumimoji="1" lang="zh-CN" altLang="en-US" dirty="0"/>
              <a:t> </a:t>
            </a:r>
            <a:r>
              <a:rPr kumimoji="1" lang="en-US" altLang="zh-CN" dirty="0"/>
              <a:t>executes</a:t>
            </a:r>
            <a:r>
              <a:rPr kumimoji="1" lang="zh-CN" altLang="en-US" dirty="0"/>
              <a:t> </a:t>
            </a:r>
            <a:r>
              <a:rPr kumimoji="1" lang="en-US" altLang="zh-CN" dirty="0"/>
              <a:t>the</a:t>
            </a:r>
            <a:r>
              <a:rPr kumimoji="1" lang="zh-CN" altLang="en-US" dirty="0"/>
              <a:t> </a:t>
            </a:r>
            <a:r>
              <a:rPr kumimoji="1" lang="en-US" altLang="zh-CN" dirty="0"/>
              <a:t>“binary”:</a:t>
            </a:r>
          </a:p>
          <a:p>
            <a:r>
              <a:rPr kumimoji="1" lang="en-US" altLang="zh-CN" dirty="0">
                <a:solidFill>
                  <a:srgbClr val="FF0000"/>
                </a:solidFill>
              </a:rPr>
              <a:t>$</a:t>
            </a:r>
            <a:r>
              <a:rPr kumimoji="1" lang="zh-CN" altLang="en-US" dirty="0">
                <a:solidFill>
                  <a:srgbClr val="FF0000"/>
                </a:solidFill>
              </a:rPr>
              <a:t> </a:t>
            </a:r>
            <a:r>
              <a:rPr kumimoji="1" lang="en-US" altLang="zh-CN" dirty="0" err="1">
                <a:solidFill>
                  <a:srgbClr val="FF0000"/>
                </a:solidFill>
              </a:rPr>
              <a:t>klee</a:t>
            </a:r>
            <a:r>
              <a:rPr kumimoji="1" lang="zh-CN" altLang="en-US" dirty="0">
                <a:solidFill>
                  <a:srgbClr val="FF0000"/>
                </a:solidFill>
              </a:rPr>
              <a:t> </a:t>
            </a:r>
            <a:r>
              <a:rPr kumimoji="1" lang="en-US" altLang="zh-CN" dirty="0">
                <a:solidFill>
                  <a:srgbClr val="FF0000"/>
                </a:solidFill>
              </a:rPr>
              <a:t>case1.bc</a:t>
            </a:r>
          </a:p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039704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983909-2789-5C66-F41A-98467137AA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B751A93-CF11-6B39-63A7-05B1D438D9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Step #2:</a:t>
            </a:r>
            <a:r>
              <a:rPr kumimoji="1" lang="zh-CN" altLang="en-US" dirty="0"/>
              <a:t> </a:t>
            </a:r>
            <a:r>
              <a:rPr kumimoji="1" lang="en-US" altLang="zh-CN" dirty="0"/>
              <a:t>error</a:t>
            </a:r>
            <a:r>
              <a:rPr kumimoji="1" lang="zh-CN" altLang="en-US" dirty="0"/>
              <a:t> </a:t>
            </a:r>
            <a:r>
              <a:rPr kumimoji="1" lang="en-US" altLang="zh-CN" dirty="0"/>
              <a:t>detection</a:t>
            </a:r>
            <a:endParaRPr kumimoji="1" lang="zh-CN" altLang="en-US" dirty="0"/>
          </a:p>
        </p:txBody>
      </p:sp>
      <p:sp>
        <p:nvSpPr>
          <p:cNvPr id="5" name="内容占位符 2">
            <a:extLst>
              <a:ext uri="{FF2B5EF4-FFF2-40B4-BE49-F238E27FC236}">
                <a16:creationId xmlns:a16="http://schemas.microsoft.com/office/drawing/2014/main" id="{230B42D2-2A16-EB1A-3FE9-88C6BAA9E8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1905000"/>
            <a:ext cx="7772400" cy="4114800"/>
          </a:xfrm>
        </p:spPr>
        <p:txBody>
          <a:bodyPr/>
          <a:lstStyle/>
          <a:p>
            <a:pPr marL="0" indent="0">
              <a:buNone/>
            </a:pP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foo(int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x,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y){</a:t>
            </a:r>
            <a:endParaRPr kumimoji="1" lang="en-US" altLang="zh-CN" sz="2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z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 err="1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x+y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buNone/>
            </a:pP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if(x==32467289)</a:t>
            </a:r>
          </a:p>
          <a:p>
            <a:pPr marL="0" indent="0">
              <a:buNone/>
            </a:pP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x/y;</a:t>
            </a:r>
          </a:p>
          <a:p>
            <a:pPr marL="0" indent="0">
              <a:buNone/>
            </a:pP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else</a:t>
            </a:r>
          </a:p>
          <a:p>
            <a:pPr marL="0" indent="0">
              <a:buNone/>
            </a:pP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0;</a:t>
            </a:r>
          </a:p>
          <a:p>
            <a:pPr marL="0" indent="0">
              <a:buNone/>
            </a:pP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>
              <a:buNone/>
            </a:pP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 main(){</a:t>
            </a:r>
          </a:p>
          <a:p>
            <a:pPr marL="0" indent="0">
              <a:buNone/>
            </a:pP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int a=0, b=1;</a:t>
            </a:r>
            <a:endParaRPr kumimoji="1" lang="en-US" altLang="zh-CN" sz="2000" b="1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kumimoji="1" lang="en-US" altLang="zh-CN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kumimoji="1" lang="en-US" altLang="zh-CN" sz="20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klee_make_symbolic</a:t>
            </a:r>
            <a:r>
              <a:rPr kumimoji="1" lang="en-US" altLang="zh-CN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(&amp;a, </a:t>
            </a:r>
            <a:r>
              <a:rPr kumimoji="1" lang="en-US" altLang="zh-CN" sz="20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sizeof</a:t>
            </a:r>
            <a:r>
              <a:rPr kumimoji="1" lang="en-US" altLang="zh-CN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(a), "a");</a:t>
            </a:r>
          </a:p>
          <a:p>
            <a:pPr marL="0" indent="0">
              <a:buNone/>
            </a:pPr>
            <a:r>
              <a:rPr kumimoji="1" lang="en-US" altLang="zh-CN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kumimoji="1" lang="en-US" altLang="zh-CN" sz="20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klee_make_symbolic</a:t>
            </a:r>
            <a:r>
              <a:rPr kumimoji="1" lang="en-US" altLang="zh-CN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(&amp;b, </a:t>
            </a:r>
            <a:r>
              <a:rPr kumimoji="1" lang="en-US" altLang="zh-CN" sz="20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sizeof</a:t>
            </a:r>
            <a:r>
              <a:rPr kumimoji="1" lang="en-US" altLang="zh-CN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(b), "b");</a:t>
            </a:r>
          </a:p>
          <a:p>
            <a:pPr marL="0" indent="0">
              <a:buNone/>
            </a:pP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foo(a, b); </a:t>
            </a:r>
          </a:p>
          <a:p>
            <a:pPr marL="0" indent="0">
              <a:buNone/>
            </a:pP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return 0;</a:t>
            </a:r>
          </a:p>
          <a:p>
            <a:pPr marL="0" indent="0">
              <a:buNone/>
            </a:pP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6A19C30-E42D-A00E-0F6A-D3E1A0B8BD10}"/>
              </a:ext>
            </a:extLst>
          </p:cNvPr>
          <p:cNvSpPr txBox="1"/>
          <p:nvPr/>
        </p:nvSpPr>
        <p:spPr>
          <a:xfrm>
            <a:off x="4724400" y="2209800"/>
            <a:ext cx="4219575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600" dirty="0"/>
              <a:t>//</a:t>
            </a:r>
            <a:r>
              <a:rPr kumimoji="1" lang="zh-CN" altLang="en-US" sz="1600" dirty="0"/>
              <a:t> </a:t>
            </a:r>
            <a:r>
              <a:rPr kumimoji="1" lang="en-US" altLang="zh-CN" sz="1600" dirty="0"/>
              <a:t>Outputs</a:t>
            </a:r>
            <a:r>
              <a:rPr kumimoji="1" lang="zh-CN" altLang="en-US" sz="1600" dirty="0"/>
              <a:t> </a:t>
            </a:r>
            <a:r>
              <a:rPr kumimoji="1" lang="en-US" altLang="zh-CN" sz="1600" dirty="0"/>
              <a:t>(part):</a:t>
            </a:r>
          </a:p>
          <a:p>
            <a:r>
              <a:rPr kumimoji="1" lang="en-US" altLang="zh-CN" sz="1600" dirty="0"/>
              <a:t>KLEE: Using Z3 solver backend</a:t>
            </a:r>
          </a:p>
          <a:p>
            <a:r>
              <a:rPr kumimoji="1" lang="en-US" altLang="zh-CN" sz="1600" dirty="0">
                <a:solidFill>
                  <a:srgbClr val="FF0000"/>
                </a:solidFill>
              </a:rPr>
              <a:t>KLEE: ERROR: case1.c:6: divide by zero</a:t>
            </a:r>
          </a:p>
          <a:p>
            <a:r>
              <a:rPr kumimoji="1" lang="en-US" altLang="zh-CN" sz="1600" dirty="0"/>
              <a:t>KLEE: NOTE: now ignoring this error at this location</a:t>
            </a:r>
          </a:p>
          <a:p>
            <a:endParaRPr kumimoji="1" lang="en-US" altLang="zh-CN" sz="1600" dirty="0"/>
          </a:p>
          <a:p>
            <a:r>
              <a:rPr kumimoji="1" lang="en-US" altLang="zh-CN" sz="1600" dirty="0"/>
              <a:t>KLEE: done: total instructions = 51</a:t>
            </a:r>
          </a:p>
          <a:p>
            <a:r>
              <a:rPr kumimoji="1" lang="en-US" altLang="zh-CN" sz="1600" dirty="0"/>
              <a:t>KLEE: done: completed paths = 2</a:t>
            </a:r>
          </a:p>
          <a:p>
            <a:r>
              <a:rPr kumimoji="1" lang="en-US" altLang="zh-CN" sz="1600" dirty="0"/>
              <a:t>KLEE: done: partially completed paths = 1</a:t>
            </a:r>
          </a:p>
          <a:p>
            <a:r>
              <a:rPr kumimoji="1" lang="en-US" altLang="zh-CN" sz="1600" dirty="0"/>
              <a:t>KLEE: done: generated tests = 3</a:t>
            </a:r>
            <a:endParaRPr kumimoji="1" lang="zh-CN" altLang="en-US" sz="1600" dirty="0"/>
          </a:p>
        </p:txBody>
      </p:sp>
    </p:spTree>
    <p:extLst>
      <p:ext uri="{BB962C8B-B14F-4D97-AF65-F5344CB8AC3E}">
        <p14:creationId xmlns:p14="http://schemas.microsoft.com/office/powerpoint/2010/main" val="398358362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AF49B2-EE69-794A-25B7-1A20BF7179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611A1B0-1C36-434F-DD4F-E804B1AFAA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Step #3:</a:t>
            </a:r>
            <a:r>
              <a:rPr kumimoji="1" lang="zh-CN" altLang="en-US" dirty="0"/>
              <a:t> </a:t>
            </a:r>
            <a:r>
              <a:rPr kumimoji="1" lang="en-US" altLang="zh-CN" dirty="0"/>
              <a:t>tests</a:t>
            </a:r>
            <a:r>
              <a:rPr kumimoji="1" lang="zh-CN" altLang="en-US" dirty="0"/>
              <a:t> </a:t>
            </a:r>
            <a:r>
              <a:rPr kumimoji="1" lang="en-US" altLang="zh-CN" dirty="0"/>
              <a:t>generation</a:t>
            </a:r>
            <a:endParaRPr kumimoji="1" lang="zh-CN" altLang="en-US" dirty="0"/>
          </a:p>
        </p:txBody>
      </p:sp>
      <p:sp>
        <p:nvSpPr>
          <p:cNvPr id="5" name="内容占位符 2">
            <a:extLst>
              <a:ext uri="{FF2B5EF4-FFF2-40B4-BE49-F238E27FC236}">
                <a16:creationId xmlns:a16="http://schemas.microsoft.com/office/drawing/2014/main" id="{8B47C2BE-48F1-92B9-EF2C-F09A8862FE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1905000"/>
            <a:ext cx="7772400" cy="4114800"/>
          </a:xfrm>
        </p:spPr>
        <p:txBody>
          <a:bodyPr/>
          <a:lstStyle/>
          <a:p>
            <a:pPr marL="0" indent="0">
              <a:buNone/>
            </a:pP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foo(int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x,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y){</a:t>
            </a:r>
            <a:endParaRPr kumimoji="1" lang="en-US" altLang="zh-CN" sz="2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z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 err="1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x+y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buNone/>
            </a:pP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if(x==32467289)</a:t>
            </a:r>
          </a:p>
          <a:p>
            <a:pPr marL="0" indent="0">
              <a:buNone/>
            </a:pP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x/y;</a:t>
            </a:r>
          </a:p>
          <a:p>
            <a:pPr marL="0" indent="0">
              <a:buNone/>
            </a:pP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else</a:t>
            </a:r>
          </a:p>
          <a:p>
            <a:pPr marL="0" indent="0">
              <a:buNone/>
            </a:pP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0;</a:t>
            </a:r>
          </a:p>
          <a:p>
            <a:pPr marL="0" indent="0">
              <a:buNone/>
            </a:pP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>
              <a:buNone/>
            </a:pP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 main(){</a:t>
            </a:r>
          </a:p>
          <a:p>
            <a:pPr marL="0" indent="0">
              <a:buNone/>
            </a:pP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int a=0, b=1;</a:t>
            </a:r>
            <a:endParaRPr kumimoji="1" lang="en-US" altLang="zh-CN" sz="2000" b="1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kumimoji="1" lang="en-US" altLang="zh-CN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kumimoji="1" lang="en-US" altLang="zh-CN" sz="20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klee_make_symbolic</a:t>
            </a:r>
            <a:r>
              <a:rPr kumimoji="1" lang="en-US" altLang="zh-CN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(&amp;a, </a:t>
            </a:r>
            <a:r>
              <a:rPr kumimoji="1" lang="en-US" altLang="zh-CN" sz="20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sizeof</a:t>
            </a:r>
            <a:r>
              <a:rPr kumimoji="1" lang="en-US" altLang="zh-CN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(a), "a");</a:t>
            </a:r>
          </a:p>
          <a:p>
            <a:pPr marL="0" indent="0">
              <a:buNone/>
            </a:pPr>
            <a:r>
              <a:rPr kumimoji="1" lang="en-US" altLang="zh-CN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kumimoji="1" lang="en-US" altLang="zh-CN" sz="20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klee_make_symbolic</a:t>
            </a:r>
            <a:r>
              <a:rPr kumimoji="1" lang="en-US" altLang="zh-CN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(&amp;b, </a:t>
            </a:r>
            <a:r>
              <a:rPr kumimoji="1" lang="en-US" altLang="zh-CN" sz="20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sizeof</a:t>
            </a:r>
            <a:r>
              <a:rPr kumimoji="1" lang="en-US" altLang="zh-CN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(b), "b");</a:t>
            </a:r>
          </a:p>
          <a:p>
            <a:pPr marL="0" indent="0">
              <a:buNone/>
            </a:pP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foo(a, b); </a:t>
            </a:r>
          </a:p>
          <a:p>
            <a:pPr marL="0" indent="0">
              <a:buNone/>
            </a:pP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return 0;</a:t>
            </a:r>
          </a:p>
          <a:p>
            <a:pPr marL="0" indent="0">
              <a:buNone/>
            </a:pP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DB139C32-6BBF-2037-E9CC-D62FE91B1F21}"/>
              </a:ext>
            </a:extLst>
          </p:cNvPr>
          <p:cNvSpPr txBox="1"/>
          <p:nvPr/>
        </p:nvSpPr>
        <p:spPr>
          <a:xfrm>
            <a:off x="4724400" y="2209800"/>
            <a:ext cx="4219575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600" dirty="0"/>
              <a:t>//</a:t>
            </a:r>
            <a:r>
              <a:rPr kumimoji="1" lang="zh-CN" altLang="en-US" sz="1600" dirty="0"/>
              <a:t> </a:t>
            </a:r>
            <a:r>
              <a:rPr kumimoji="1" lang="en-US" altLang="zh-CN" sz="1600" dirty="0"/>
              <a:t>Klee</a:t>
            </a:r>
            <a:r>
              <a:rPr kumimoji="1" lang="zh-CN" altLang="en-US" sz="1600" dirty="0"/>
              <a:t> </a:t>
            </a:r>
            <a:r>
              <a:rPr kumimoji="1" lang="en-US" altLang="zh-CN" sz="1600" dirty="0"/>
              <a:t>also</a:t>
            </a:r>
            <a:r>
              <a:rPr kumimoji="1" lang="zh-CN" altLang="en-US" sz="1600" dirty="0"/>
              <a:t> </a:t>
            </a:r>
            <a:r>
              <a:rPr kumimoji="1" lang="en-US" altLang="zh-CN" sz="1600" dirty="0"/>
              <a:t>generates</a:t>
            </a:r>
            <a:r>
              <a:rPr kumimoji="1" lang="zh-CN" altLang="en-US" sz="1600" dirty="0"/>
              <a:t> </a:t>
            </a:r>
            <a:r>
              <a:rPr kumimoji="1" lang="en-US" altLang="zh-CN" sz="1600" dirty="0"/>
              <a:t>3</a:t>
            </a:r>
            <a:r>
              <a:rPr kumimoji="1" lang="zh-CN" altLang="en-US" sz="1600" dirty="0"/>
              <a:t> </a:t>
            </a:r>
            <a:r>
              <a:rPr kumimoji="1" lang="en-US" altLang="zh-CN" sz="1600" dirty="0"/>
              <a:t>test</a:t>
            </a:r>
            <a:r>
              <a:rPr kumimoji="1" lang="zh-CN" altLang="en-US" sz="1600" dirty="0"/>
              <a:t> </a:t>
            </a:r>
            <a:r>
              <a:rPr kumimoji="1" lang="en-US" altLang="zh-CN" sz="1600" dirty="0"/>
              <a:t>cases:</a:t>
            </a:r>
          </a:p>
          <a:p>
            <a:r>
              <a:rPr kumimoji="1" lang="en-US" altLang="zh-CN" sz="1600" dirty="0"/>
              <a:t>test000001.ktest</a:t>
            </a:r>
          </a:p>
          <a:p>
            <a:r>
              <a:rPr kumimoji="1" lang="en-US" altLang="zh-CN" sz="1600" dirty="0"/>
              <a:t>test000002.ktest</a:t>
            </a:r>
          </a:p>
          <a:p>
            <a:r>
              <a:rPr kumimoji="1" lang="en-US" altLang="zh-CN" sz="1600" dirty="0"/>
              <a:t>test000003.ktest</a:t>
            </a:r>
          </a:p>
          <a:p>
            <a:endParaRPr kumimoji="1" lang="en-US" altLang="zh-CN" sz="1600" dirty="0"/>
          </a:p>
          <a:p>
            <a:r>
              <a:rPr kumimoji="1" lang="en-US" altLang="zh-CN" sz="1600" dirty="0"/>
              <a:t>//</a:t>
            </a:r>
            <a:r>
              <a:rPr kumimoji="1" lang="zh-CN" altLang="en-US" sz="1600" dirty="0"/>
              <a:t> </a:t>
            </a:r>
            <a:r>
              <a:rPr kumimoji="1" lang="en-US" altLang="zh-CN" sz="1600" dirty="0"/>
              <a:t>which</a:t>
            </a:r>
            <a:r>
              <a:rPr kumimoji="1" lang="zh-CN" altLang="en-US" sz="1600" dirty="0"/>
              <a:t> </a:t>
            </a:r>
            <a:r>
              <a:rPr kumimoji="1" lang="en-US" altLang="zh-CN" sz="1600" dirty="0"/>
              <a:t>are</a:t>
            </a:r>
            <a:r>
              <a:rPr kumimoji="1" lang="zh-CN" altLang="en-US" sz="1600" dirty="0"/>
              <a:t> </a:t>
            </a:r>
            <a:r>
              <a:rPr kumimoji="1" lang="en-US" altLang="zh-CN" sz="1600" dirty="0"/>
              <a:t>binaries</a:t>
            </a:r>
            <a:r>
              <a:rPr kumimoji="1" lang="zh-CN" altLang="en-US" sz="1600" dirty="0"/>
              <a:t> </a:t>
            </a:r>
            <a:r>
              <a:rPr kumimoji="1" lang="en-US" altLang="zh-CN" sz="1600" dirty="0"/>
              <a:t>that</a:t>
            </a:r>
            <a:r>
              <a:rPr kumimoji="1" lang="zh-CN" altLang="en-US" sz="1600" dirty="0"/>
              <a:t> </a:t>
            </a:r>
            <a:r>
              <a:rPr kumimoji="1" lang="en-US" altLang="zh-CN" sz="1600" dirty="0"/>
              <a:t>can</a:t>
            </a:r>
            <a:r>
              <a:rPr kumimoji="1" lang="zh-CN" altLang="en-US" sz="1600" dirty="0"/>
              <a:t> </a:t>
            </a:r>
            <a:r>
              <a:rPr kumimoji="1" lang="en-US" altLang="zh-CN" sz="1600" dirty="0"/>
              <a:t>be</a:t>
            </a:r>
            <a:r>
              <a:rPr kumimoji="1" lang="zh-CN" altLang="en-US" sz="1600" dirty="0"/>
              <a:t> </a:t>
            </a:r>
            <a:r>
              <a:rPr kumimoji="1" lang="en-US" altLang="zh-CN" sz="1600" dirty="0"/>
              <a:t>checked</a:t>
            </a:r>
            <a:r>
              <a:rPr kumimoji="1" lang="zh-CN" altLang="en-US" sz="1600" dirty="0"/>
              <a:t> </a:t>
            </a:r>
            <a:endParaRPr kumimoji="1" lang="en-US" altLang="zh-CN" sz="1600" dirty="0"/>
          </a:p>
          <a:p>
            <a:r>
              <a:rPr kumimoji="1" lang="en-US" altLang="zh-CN" sz="1600" dirty="0"/>
              <a:t>//</a:t>
            </a:r>
            <a:r>
              <a:rPr kumimoji="1" lang="zh-CN" altLang="en-US" sz="1600" dirty="0"/>
              <a:t> </a:t>
            </a:r>
            <a:r>
              <a:rPr kumimoji="1" lang="en-US" altLang="zh-CN" sz="1600" dirty="0"/>
              <a:t>by</a:t>
            </a:r>
            <a:r>
              <a:rPr kumimoji="1" lang="zh-CN" altLang="en-US" sz="1600" dirty="0"/>
              <a:t> </a:t>
            </a:r>
            <a:r>
              <a:rPr kumimoji="1" lang="en-US" altLang="zh-CN" sz="1600" dirty="0"/>
              <a:t>another</a:t>
            </a:r>
            <a:r>
              <a:rPr kumimoji="1" lang="zh-CN" altLang="en-US" sz="1600" dirty="0"/>
              <a:t> </a:t>
            </a:r>
            <a:r>
              <a:rPr kumimoji="1" lang="en-US" altLang="zh-CN" sz="1600" dirty="0"/>
              <a:t>tool:</a:t>
            </a:r>
            <a:r>
              <a:rPr kumimoji="1" lang="zh-CN" altLang="en-US" sz="1600" dirty="0"/>
              <a:t> </a:t>
            </a:r>
            <a:r>
              <a:rPr kumimoji="1" lang="en-US" altLang="zh-CN" sz="1600" dirty="0" err="1"/>
              <a:t>klee.ktest</a:t>
            </a:r>
            <a:r>
              <a:rPr kumimoji="1" lang="en-US" altLang="zh-CN" sz="1600" dirty="0"/>
              <a:t>-tool:</a:t>
            </a:r>
          </a:p>
          <a:p>
            <a:r>
              <a:rPr kumimoji="1" lang="en-US" altLang="zh-CN" sz="1600" dirty="0">
                <a:solidFill>
                  <a:srgbClr val="FF0000"/>
                </a:solidFill>
              </a:rPr>
              <a:t>$</a:t>
            </a:r>
            <a:r>
              <a:rPr kumimoji="1" lang="zh-CN" altLang="en-US" sz="1600" dirty="0">
                <a:solidFill>
                  <a:srgbClr val="FF0000"/>
                </a:solidFill>
              </a:rPr>
              <a:t> </a:t>
            </a:r>
            <a:r>
              <a:rPr kumimoji="1" lang="en-US" altLang="zh-CN" sz="1600" dirty="0" err="1">
                <a:solidFill>
                  <a:srgbClr val="FF0000"/>
                </a:solidFill>
              </a:rPr>
              <a:t>klee.ktest</a:t>
            </a:r>
            <a:r>
              <a:rPr kumimoji="1" lang="en-US" altLang="zh-CN" sz="1600" dirty="0">
                <a:solidFill>
                  <a:srgbClr val="FF0000"/>
                </a:solidFill>
              </a:rPr>
              <a:t>-tool</a:t>
            </a:r>
            <a:r>
              <a:rPr kumimoji="1" lang="zh-CN" altLang="en-US" sz="1600" dirty="0">
                <a:solidFill>
                  <a:srgbClr val="FF0000"/>
                </a:solidFill>
              </a:rPr>
              <a:t> </a:t>
            </a:r>
            <a:r>
              <a:rPr kumimoji="1" lang="en-US" altLang="zh-CN" sz="1600" dirty="0">
                <a:solidFill>
                  <a:srgbClr val="FF0000"/>
                </a:solidFill>
              </a:rPr>
              <a:t>test000001.ktest</a:t>
            </a:r>
          </a:p>
          <a:p>
            <a:r>
              <a:rPr kumimoji="1" lang="en-US" altLang="zh-CN" sz="1600" dirty="0"/>
              <a:t>a</a:t>
            </a:r>
            <a:r>
              <a:rPr kumimoji="1" lang="zh-CN" altLang="en-US" sz="1600" dirty="0"/>
              <a:t> </a:t>
            </a:r>
            <a:r>
              <a:rPr kumimoji="1" lang="en-US" altLang="zh-CN" sz="1600" dirty="0"/>
              <a:t>==</a:t>
            </a:r>
            <a:r>
              <a:rPr kumimoji="1" lang="zh-CN" altLang="en-US" sz="1600" dirty="0"/>
              <a:t> </a:t>
            </a:r>
            <a:r>
              <a:rPr kumimoji="1" lang="en-US" altLang="zh-CN" sz="1600" dirty="0"/>
              <a:t>0</a:t>
            </a:r>
          </a:p>
          <a:p>
            <a:r>
              <a:rPr kumimoji="1" lang="en-US" altLang="zh-CN" sz="1600" dirty="0"/>
              <a:t>b</a:t>
            </a:r>
            <a:r>
              <a:rPr kumimoji="1" lang="zh-CN" altLang="en-US" sz="1600" dirty="0"/>
              <a:t> </a:t>
            </a:r>
            <a:r>
              <a:rPr kumimoji="1" lang="en-US" altLang="zh-CN" sz="1600" dirty="0"/>
              <a:t>==</a:t>
            </a:r>
            <a:r>
              <a:rPr kumimoji="1" lang="zh-CN" altLang="en-US" sz="1600" dirty="0"/>
              <a:t> </a:t>
            </a:r>
            <a:r>
              <a:rPr kumimoji="1" lang="en-US" altLang="zh-CN" sz="1600" dirty="0"/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159143955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941EAC-794C-E239-D310-C78AC3D175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A6F843B-C4CF-7B86-C414-31945E0EC4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Step #3:</a:t>
            </a:r>
            <a:r>
              <a:rPr kumimoji="1" lang="zh-CN" altLang="en-US" dirty="0"/>
              <a:t> </a:t>
            </a:r>
            <a:r>
              <a:rPr kumimoji="1" lang="en-US" altLang="zh-CN" dirty="0"/>
              <a:t>tests</a:t>
            </a:r>
            <a:r>
              <a:rPr kumimoji="1" lang="zh-CN" altLang="en-US" dirty="0"/>
              <a:t> </a:t>
            </a:r>
            <a:r>
              <a:rPr kumimoji="1" lang="en-US" altLang="zh-CN" dirty="0"/>
              <a:t>generation</a:t>
            </a:r>
            <a:endParaRPr kumimoji="1" lang="zh-CN" altLang="en-US" dirty="0"/>
          </a:p>
        </p:txBody>
      </p:sp>
      <p:sp>
        <p:nvSpPr>
          <p:cNvPr id="5" name="内容占位符 2">
            <a:extLst>
              <a:ext uri="{FF2B5EF4-FFF2-40B4-BE49-F238E27FC236}">
                <a16:creationId xmlns:a16="http://schemas.microsoft.com/office/drawing/2014/main" id="{CFFC207D-185A-2291-54DF-4C28EF1298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1905000"/>
            <a:ext cx="7772400" cy="4114800"/>
          </a:xfrm>
        </p:spPr>
        <p:txBody>
          <a:bodyPr/>
          <a:lstStyle/>
          <a:p>
            <a:pPr marL="0" indent="0">
              <a:buNone/>
            </a:pP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foo(int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x,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y){</a:t>
            </a:r>
            <a:endParaRPr kumimoji="1" lang="en-US" altLang="zh-CN" sz="2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z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 err="1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x+y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buNone/>
            </a:pP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if(x==32467289)</a:t>
            </a:r>
          </a:p>
          <a:p>
            <a:pPr marL="0" indent="0">
              <a:buNone/>
            </a:pP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x/y;</a:t>
            </a:r>
          </a:p>
          <a:p>
            <a:pPr marL="0" indent="0">
              <a:buNone/>
            </a:pP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else</a:t>
            </a:r>
          </a:p>
          <a:p>
            <a:pPr marL="0" indent="0">
              <a:buNone/>
            </a:pP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0;</a:t>
            </a:r>
          </a:p>
          <a:p>
            <a:pPr marL="0" indent="0">
              <a:buNone/>
            </a:pP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>
              <a:buNone/>
            </a:pP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 main(){</a:t>
            </a:r>
          </a:p>
          <a:p>
            <a:pPr marL="0" indent="0">
              <a:buNone/>
            </a:pP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int a=0, b=1;</a:t>
            </a:r>
            <a:endParaRPr kumimoji="1" lang="en-US" altLang="zh-CN" sz="2000" b="1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kumimoji="1" lang="en-US" altLang="zh-CN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kumimoji="1" lang="en-US" altLang="zh-CN" sz="20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klee_make_symbolic</a:t>
            </a:r>
            <a:r>
              <a:rPr kumimoji="1" lang="en-US" altLang="zh-CN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(&amp;a, </a:t>
            </a:r>
            <a:r>
              <a:rPr kumimoji="1" lang="en-US" altLang="zh-CN" sz="20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sizeof</a:t>
            </a:r>
            <a:r>
              <a:rPr kumimoji="1" lang="en-US" altLang="zh-CN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(a), "a");</a:t>
            </a:r>
          </a:p>
          <a:p>
            <a:pPr marL="0" indent="0">
              <a:buNone/>
            </a:pPr>
            <a:r>
              <a:rPr kumimoji="1" lang="en-US" altLang="zh-CN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kumimoji="1" lang="en-US" altLang="zh-CN" sz="20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klee_make_symbolic</a:t>
            </a:r>
            <a:r>
              <a:rPr kumimoji="1" lang="en-US" altLang="zh-CN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(&amp;b, </a:t>
            </a:r>
            <a:r>
              <a:rPr kumimoji="1" lang="en-US" altLang="zh-CN" sz="20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sizeof</a:t>
            </a:r>
            <a:r>
              <a:rPr kumimoji="1" lang="en-US" altLang="zh-CN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(b), "b");</a:t>
            </a:r>
          </a:p>
          <a:p>
            <a:pPr marL="0" indent="0">
              <a:buNone/>
            </a:pP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foo(a, b); </a:t>
            </a:r>
          </a:p>
          <a:p>
            <a:pPr marL="0" indent="0">
              <a:buNone/>
            </a:pP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return 0;</a:t>
            </a:r>
          </a:p>
          <a:p>
            <a:pPr marL="0" indent="0">
              <a:buNone/>
            </a:pP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59198CA-722E-E9A8-A510-9AEF156F48CB}"/>
              </a:ext>
            </a:extLst>
          </p:cNvPr>
          <p:cNvSpPr txBox="1"/>
          <p:nvPr/>
        </p:nvSpPr>
        <p:spPr>
          <a:xfrm>
            <a:off x="4724400" y="2209800"/>
            <a:ext cx="4219575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600" dirty="0">
                <a:solidFill>
                  <a:srgbClr val="FF0000"/>
                </a:solidFill>
              </a:rPr>
              <a:t>$</a:t>
            </a:r>
            <a:r>
              <a:rPr kumimoji="1" lang="zh-CN" altLang="en-US" sz="1600" dirty="0">
                <a:solidFill>
                  <a:srgbClr val="FF0000"/>
                </a:solidFill>
              </a:rPr>
              <a:t> </a:t>
            </a:r>
            <a:r>
              <a:rPr kumimoji="1" lang="en-US" altLang="zh-CN" sz="1600" dirty="0" err="1">
                <a:solidFill>
                  <a:srgbClr val="FF0000"/>
                </a:solidFill>
              </a:rPr>
              <a:t>klee.ktest</a:t>
            </a:r>
            <a:r>
              <a:rPr kumimoji="1" lang="en-US" altLang="zh-CN" sz="1600" dirty="0">
                <a:solidFill>
                  <a:srgbClr val="FF0000"/>
                </a:solidFill>
              </a:rPr>
              <a:t>-tool</a:t>
            </a:r>
            <a:r>
              <a:rPr kumimoji="1" lang="zh-CN" altLang="en-US" sz="1600" dirty="0">
                <a:solidFill>
                  <a:srgbClr val="FF0000"/>
                </a:solidFill>
              </a:rPr>
              <a:t> </a:t>
            </a:r>
            <a:r>
              <a:rPr kumimoji="1" lang="en-US" altLang="zh-CN" sz="1600" dirty="0">
                <a:solidFill>
                  <a:srgbClr val="FF0000"/>
                </a:solidFill>
              </a:rPr>
              <a:t>test000002.ktest</a:t>
            </a:r>
          </a:p>
          <a:p>
            <a:r>
              <a:rPr kumimoji="1" lang="en-US" altLang="zh-CN" sz="1600" dirty="0"/>
              <a:t>a</a:t>
            </a:r>
            <a:r>
              <a:rPr kumimoji="1" lang="zh-CN" altLang="en-US" sz="1600" dirty="0"/>
              <a:t> </a:t>
            </a:r>
            <a:r>
              <a:rPr kumimoji="1" lang="en-US" altLang="zh-CN" sz="1600" dirty="0"/>
              <a:t>==</a:t>
            </a:r>
            <a:r>
              <a:rPr kumimoji="1" lang="zh-CN" altLang="en-US" sz="1600" dirty="0"/>
              <a:t> </a:t>
            </a:r>
            <a:r>
              <a:rPr kumimoji="1" lang="en-US" altLang="zh-CN" sz="1600" dirty="0"/>
              <a:t>32467289</a:t>
            </a:r>
          </a:p>
          <a:p>
            <a:r>
              <a:rPr kumimoji="1" lang="en-US" altLang="zh-CN" sz="1600" dirty="0"/>
              <a:t>b</a:t>
            </a:r>
            <a:r>
              <a:rPr kumimoji="1" lang="zh-CN" altLang="en-US" sz="1600" dirty="0"/>
              <a:t> </a:t>
            </a:r>
            <a:r>
              <a:rPr kumimoji="1" lang="en-US" altLang="zh-CN" sz="1600" dirty="0"/>
              <a:t>==</a:t>
            </a:r>
            <a:r>
              <a:rPr kumimoji="1" lang="zh-CN" altLang="en-US" sz="1600" dirty="0"/>
              <a:t> </a:t>
            </a:r>
            <a:r>
              <a:rPr kumimoji="1" lang="en-US" altLang="zh-CN" sz="1600" dirty="0"/>
              <a:t>0</a:t>
            </a:r>
          </a:p>
          <a:p>
            <a:r>
              <a:rPr kumimoji="1" lang="en-US" altLang="zh-CN" sz="1600" dirty="0">
                <a:solidFill>
                  <a:srgbClr val="FF0000"/>
                </a:solidFill>
              </a:rPr>
              <a:t>//</a:t>
            </a:r>
            <a:r>
              <a:rPr kumimoji="1" lang="zh-CN" altLang="en-US" sz="1600" dirty="0">
                <a:solidFill>
                  <a:srgbClr val="FF0000"/>
                </a:solidFill>
              </a:rPr>
              <a:t> </a:t>
            </a:r>
            <a:r>
              <a:rPr kumimoji="1" lang="en-US" altLang="zh-CN" sz="1600" dirty="0">
                <a:solidFill>
                  <a:srgbClr val="FF0000"/>
                </a:solidFill>
              </a:rPr>
              <a:t>this</a:t>
            </a:r>
            <a:r>
              <a:rPr kumimoji="1" lang="zh-CN" altLang="en-US" sz="1600" dirty="0">
                <a:solidFill>
                  <a:srgbClr val="FF0000"/>
                </a:solidFill>
              </a:rPr>
              <a:t> </a:t>
            </a:r>
            <a:r>
              <a:rPr kumimoji="1" lang="en-US" altLang="zh-CN" sz="1600" dirty="0">
                <a:solidFill>
                  <a:srgbClr val="FF0000"/>
                </a:solidFill>
              </a:rPr>
              <a:t>triggers</a:t>
            </a:r>
            <a:r>
              <a:rPr kumimoji="1" lang="zh-CN" altLang="en-US" sz="1600" dirty="0">
                <a:solidFill>
                  <a:srgbClr val="FF0000"/>
                </a:solidFill>
              </a:rPr>
              <a:t> </a:t>
            </a:r>
            <a:r>
              <a:rPr kumimoji="1" lang="en-US" altLang="zh-CN" sz="1600" dirty="0">
                <a:solidFill>
                  <a:srgbClr val="FF0000"/>
                </a:solidFill>
              </a:rPr>
              <a:t>the</a:t>
            </a:r>
            <a:r>
              <a:rPr kumimoji="1" lang="zh-CN" altLang="en-US" sz="1600" dirty="0">
                <a:solidFill>
                  <a:srgbClr val="FF0000"/>
                </a:solidFill>
              </a:rPr>
              <a:t> </a:t>
            </a:r>
            <a:r>
              <a:rPr kumimoji="1" lang="en-US" altLang="zh-CN" sz="1600" dirty="0">
                <a:solidFill>
                  <a:srgbClr val="FF0000"/>
                </a:solidFill>
              </a:rPr>
              <a:t>bug!</a:t>
            </a:r>
          </a:p>
          <a:p>
            <a:endParaRPr kumimoji="1" lang="en-US" altLang="zh-CN" sz="1600" dirty="0"/>
          </a:p>
          <a:p>
            <a:r>
              <a:rPr kumimoji="1" lang="en-US" altLang="zh-CN" sz="1600" dirty="0">
                <a:solidFill>
                  <a:srgbClr val="FF0000"/>
                </a:solidFill>
              </a:rPr>
              <a:t>$</a:t>
            </a:r>
            <a:r>
              <a:rPr kumimoji="1" lang="zh-CN" altLang="en-US" sz="1600" dirty="0">
                <a:solidFill>
                  <a:srgbClr val="FF0000"/>
                </a:solidFill>
              </a:rPr>
              <a:t> </a:t>
            </a:r>
            <a:r>
              <a:rPr kumimoji="1" lang="en-US" altLang="zh-CN" sz="1600" dirty="0" err="1">
                <a:solidFill>
                  <a:srgbClr val="FF0000"/>
                </a:solidFill>
              </a:rPr>
              <a:t>klee.ktest</a:t>
            </a:r>
            <a:r>
              <a:rPr kumimoji="1" lang="en-US" altLang="zh-CN" sz="1600" dirty="0">
                <a:solidFill>
                  <a:srgbClr val="FF0000"/>
                </a:solidFill>
              </a:rPr>
              <a:t>-tool</a:t>
            </a:r>
            <a:r>
              <a:rPr kumimoji="1" lang="zh-CN" altLang="en-US" sz="1600" dirty="0">
                <a:solidFill>
                  <a:srgbClr val="FF0000"/>
                </a:solidFill>
              </a:rPr>
              <a:t> </a:t>
            </a:r>
            <a:r>
              <a:rPr kumimoji="1" lang="en-US" altLang="zh-CN" sz="1600" dirty="0">
                <a:solidFill>
                  <a:srgbClr val="FF0000"/>
                </a:solidFill>
              </a:rPr>
              <a:t>test000003.ktest</a:t>
            </a:r>
          </a:p>
          <a:p>
            <a:r>
              <a:rPr kumimoji="1" lang="en-US" altLang="zh-CN" sz="1600" dirty="0"/>
              <a:t>a</a:t>
            </a:r>
            <a:r>
              <a:rPr kumimoji="1" lang="zh-CN" altLang="en-US" sz="1600" dirty="0"/>
              <a:t> </a:t>
            </a:r>
            <a:r>
              <a:rPr kumimoji="1" lang="en-US" altLang="zh-CN" sz="1600" dirty="0"/>
              <a:t>==</a:t>
            </a:r>
            <a:r>
              <a:rPr kumimoji="1" lang="zh-CN" altLang="en-US" sz="1600" dirty="0"/>
              <a:t> </a:t>
            </a:r>
            <a:r>
              <a:rPr kumimoji="1" lang="en-US" altLang="zh-CN" sz="1600" dirty="0"/>
              <a:t>32467289</a:t>
            </a:r>
          </a:p>
          <a:p>
            <a:r>
              <a:rPr kumimoji="1" lang="en-US" altLang="zh-CN" sz="1600" dirty="0"/>
              <a:t>b</a:t>
            </a:r>
            <a:r>
              <a:rPr kumimoji="1" lang="zh-CN" altLang="en-US" sz="1600" dirty="0"/>
              <a:t> </a:t>
            </a:r>
            <a:r>
              <a:rPr kumimoji="1" lang="en-US" altLang="zh-CN" sz="1600" dirty="0"/>
              <a:t>==</a:t>
            </a:r>
            <a:r>
              <a:rPr kumimoji="1" lang="zh-CN" altLang="en-US" sz="1600" dirty="0"/>
              <a:t> </a:t>
            </a:r>
            <a:r>
              <a:rPr kumimoji="1" lang="en-US" altLang="zh-CN" sz="1600" dirty="0"/>
              <a:t>255</a:t>
            </a:r>
          </a:p>
        </p:txBody>
      </p:sp>
    </p:spTree>
    <p:extLst>
      <p:ext uri="{BB962C8B-B14F-4D97-AF65-F5344CB8AC3E}">
        <p14:creationId xmlns:p14="http://schemas.microsoft.com/office/powerpoint/2010/main" val="424588713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C403EF-57A7-D64F-0FF4-8698EF85C3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39995AC-24CD-EC7B-1870-D3D736752B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Step #4:</a:t>
            </a:r>
            <a:r>
              <a:rPr kumimoji="1" lang="zh-CN" altLang="en-US" dirty="0"/>
              <a:t> </a:t>
            </a:r>
            <a:r>
              <a:rPr kumimoji="1" lang="en-US" altLang="zh-CN" dirty="0"/>
              <a:t>tests replay</a:t>
            </a:r>
            <a:endParaRPr kumimoji="1" lang="zh-CN" altLang="en-US" dirty="0"/>
          </a:p>
        </p:txBody>
      </p:sp>
      <p:sp>
        <p:nvSpPr>
          <p:cNvPr id="5" name="内容占位符 2">
            <a:extLst>
              <a:ext uri="{FF2B5EF4-FFF2-40B4-BE49-F238E27FC236}">
                <a16:creationId xmlns:a16="http://schemas.microsoft.com/office/drawing/2014/main" id="{843DF63E-13D5-FA22-DFDB-C7F5D2A74E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1905000"/>
            <a:ext cx="7772400" cy="4114800"/>
          </a:xfrm>
        </p:spPr>
        <p:txBody>
          <a:bodyPr/>
          <a:lstStyle/>
          <a:p>
            <a:pPr marL="0" indent="0">
              <a:buNone/>
            </a:pP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foo(int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x,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y){</a:t>
            </a:r>
            <a:endParaRPr kumimoji="1" lang="en-US" altLang="zh-CN" sz="2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z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 err="1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x+y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buNone/>
            </a:pP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if(x==32467289)</a:t>
            </a:r>
          </a:p>
          <a:p>
            <a:pPr marL="0" indent="0">
              <a:buNone/>
            </a:pP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x/y;</a:t>
            </a:r>
          </a:p>
          <a:p>
            <a:pPr marL="0" indent="0">
              <a:buNone/>
            </a:pP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else</a:t>
            </a:r>
          </a:p>
          <a:p>
            <a:pPr marL="0" indent="0">
              <a:buNone/>
            </a:pP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0;</a:t>
            </a:r>
          </a:p>
          <a:p>
            <a:pPr marL="0" indent="0">
              <a:buNone/>
            </a:pP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>
              <a:buNone/>
            </a:pP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 main(){</a:t>
            </a:r>
          </a:p>
          <a:p>
            <a:pPr marL="0" indent="0">
              <a:buNone/>
            </a:pP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int a=0, b=1;</a:t>
            </a:r>
            <a:endParaRPr kumimoji="1" lang="en-US" altLang="zh-CN" sz="2000" b="1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kumimoji="1" lang="en-US" altLang="zh-CN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kumimoji="1" lang="en-US" altLang="zh-CN" sz="20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klee_make_symbolic</a:t>
            </a:r>
            <a:r>
              <a:rPr kumimoji="1" lang="en-US" altLang="zh-CN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(&amp;a, </a:t>
            </a:r>
            <a:r>
              <a:rPr kumimoji="1" lang="en-US" altLang="zh-CN" sz="20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sizeof</a:t>
            </a:r>
            <a:r>
              <a:rPr kumimoji="1" lang="en-US" altLang="zh-CN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(a), "a");</a:t>
            </a:r>
          </a:p>
          <a:p>
            <a:pPr marL="0" indent="0">
              <a:buNone/>
            </a:pPr>
            <a:r>
              <a:rPr kumimoji="1" lang="en-US" altLang="zh-CN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kumimoji="1" lang="en-US" altLang="zh-CN" sz="20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klee_make_symbolic</a:t>
            </a:r>
            <a:r>
              <a:rPr kumimoji="1" lang="en-US" altLang="zh-CN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(&amp;b, </a:t>
            </a:r>
            <a:r>
              <a:rPr kumimoji="1" lang="en-US" altLang="zh-CN" sz="20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sizeof</a:t>
            </a:r>
            <a:r>
              <a:rPr kumimoji="1" lang="en-US" altLang="zh-CN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(b), "b");</a:t>
            </a:r>
          </a:p>
          <a:p>
            <a:pPr marL="0" indent="0">
              <a:buNone/>
            </a:pP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foo(a, b); </a:t>
            </a:r>
          </a:p>
          <a:p>
            <a:pPr marL="0" indent="0">
              <a:buNone/>
            </a:pP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return 0;</a:t>
            </a:r>
          </a:p>
          <a:p>
            <a:pPr marL="0" indent="0">
              <a:buNone/>
            </a:pP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B8529595-BA4B-66FF-9CD7-13B1B25713B5}"/>
              </a:ext>
            </a:extLst>
          </p:cNvPr>
          <p:cNvSpPr txBox="1"/>
          <p:nvPr/>
        </p:nvSpPr>
        <p:spPr>
          <a:xfrm>
            <a:off x="4724400" y="1752600"/>
            <a:ext cx="4267200" cy="3293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600" dirty="0"/>
              <a:t>// compile the program:</a:t>
            </a:r>
          </a:p>
          <a:p>
            <a:r>
              <a:rPr kumimoji="1" lang="en-US" altLang="zh-CN" sz="1600" dirty="0">
                <a:solidFill>
                  <a:srgbClr val="FF0000"/>
                </a:solidFill>
              </a:rPr>
              <a:t>$ clang –L path/to/</a:t>
            </a:r>
            <a:r>
              <a:rPr kumimoji="1" lang="en-US" altLang="zh-CN" sz="1600" dirty="0" err="1">
                <a:solidFill>
                  <a:srgbClr val="FF0000"/>
                </a:solidFill>
              </a:rPr>
              <a:t>solib</a:t>
            </a:r>
            <a:r>
              <a:rPr kumimoji="1" lang="en-US" altLang="zh-CN" sz="1600" dirty="0">
                <a:solidFill>
                  <a:srgbClr val="FF0000"/>
                </a:solidFill>
              </a:rPr>
              <a:t> -</a:t>
            </a:r>
            <a:r>
              <a:rPr kumimoji="1" lang="en-US" altLang="zh-CN" sz="1600" dirty="0" err="1">
                <a:solidFill>
                  <a:srgbClr val="FF0000"/>
                </a:solidFill>
              </a:rPr>
              <a:t>lkleeRuntest</a:t>
            </a:r>
            <a:r>
              <a:rPr kumimoji="1" lang="en-US" altLang="zh-CN" sz="1600" dirty="0">
                <a:solidFill>
                  <a:srgbClr val="FF0000"/>
                </a:solidFill>
              </a:rPr>
              <a:t> case1.c</a:t>
            </a:r>
          </a:p>
          <a:p>
            <a:r>
              <a:rPr kumimoji="1" lang="en-US" altLang="zh-CN" sz="1600" dirty="0"/>
              <a:t>// generate “</a:t>
            </a:r>
            <a:r>
              <a:rPr kumimoji="1" lang="en-US" altLang="zh-CN" sz="1600" dirty="0" err="1"/>
              <a:t>a.out</a:t>
            </a:r>
            <a:r>
              <a:rPr kumimoji="1" lang="en-US" altLang="zh-CN" sz="1600" dirty="0"/>
              <a:t>”</a:t>
            </a:r>
          </a:p>
          <a:p>
            <a:endParaRPr kumimoji="1" lang="en-US" altLang="zh-CN" sz="1600" dirty="0"/>
          </a:p>
          <a:p>
            <a:r>
              <a:rPr kumimoji="1" lang="en-US" altLang="zh-CN" sz="1600" dirty="0"/>
              <a:t>// run the binaries, supply the test case:</a:t>
            </a:r>
          </a:p>
          <a:p>
            <a:r>
              <a:rPr kumimoji="1" lang="en-US" altLang="zh-CN" sz="1600" dirty="0">
                <a:solidFill>
                  <a:srgbClr val="FF0000"/>
                </a:solidFill>
              </a:rPr>
              <a:t>$</a:t>
            </a:r>
            <a:r>
              <a:rPr kumimoji="1" lang="zh-CN" altLang="en-US" sz="1600" dirty="0">
                <a:solidFill>
                  <a:srgbClr val="FF0000"/>
                </a:solidFill>
              </a:rPr>
              <a:t> </a:t>
            </a:r>
            <a:r>
              <a:rPr kumimoji="1" lang="en-US" altLang="zh-CN" sz="1600" dirty="0">
                <a:solidFill>
                  <a:srgbClr val="FF0000"/>
                </a:solidFill>
              </a:rPr>
              <a:t>./</a:t>
            </a:r>
            <a:r>
              <a:rPr kumimoji="1" lang="en-US" altLang="zh-CN" sz="1600" dirty="0" err="1">
                <a:solidFill>
                  <a:srgbClr val="FF0000"/>
                </a:solidFill>
              </a:rPr>
              <a:t>a.out</a:t>
            </a:r>
            <a:endParaRPr kumimoji="1" lang="en-US" altLang="zh-CN" sz="1600" dirty="0">
              <a:solidFill>
                <a:srgbClr val="FF0000"/>
              </a:solidFill>
            </a:endParaRPr>
          </a:p>
          <a:p>
            <a:r>
              <a:rPr kumimoji="1" lang="en-US" altLang="zh-CN" sz="1600" dirty="0">
                <a:solidFill>
                  <a:srgbClr val="FF0000"/>
                </a:solidFill>
              </a:rPr>
              <a:t>./</a:t>
            </a:r>
            <a:r>
              <a:rPr kumimoji="1" lang="en-US" altLang="zh-CN" sz="1600" dirty="0" err="1">
                <a:solidFill>
                  <a:srgbClr val="FF0000"/>
                </a:solidFill>
              </a:rPr>
              <a:t>klee</a:t>
            </a:r>
            <a:r>
              <a:rPr kumimoji="1" lang="en-US" altLang="zh-CN" sz="1600" dirty="0">
                <a:solidFill>
                  <a:srgbClr val="FF0000"/>
                </a:solidFill>
              </a:rPr>
              <a:t>-last/test000002.ktest</a:t>
            </a:r>
          </a:p>
          <a:p>
            <a:endParaRPr kumimoji="1" lang="en-US" altLang="zh-CN" sz="1600" dirty="0">
              <a:solidFill>
                <a:srgbClr val="FF0000"/>
              </a:solidFill>
            </a:endParaRPr>
          </a:p>
          <a:p>
            <a:r>
              <a:rPr kumimoji="1" lang="en-US" altLang="zh-CN" sz="1600" dirty="0"/>
              <a:t>32467289</a:t>
            </a:r>
          </a:p>
          <a:p>
            <a:r>
              <a:rPr kumimoji="1" lang="en-US" altLang="zh-CN" sz="1600" dirty="0"/>
              <a:t>Floating point exception (</a:t>
            </a:r>
            <a:r>
              <a:rPr kumimoji="1" lang="en-US" altLang="zh-CN" sz="1600" dirty="0">
                <a:solidFill>
                  <a:srgbClr val="0432FF"/>
                </a:solidFill>
              </a:rPr>
              <a:t>core dumped</a:t>
            </a:r>
            <a:r>
              <a:rPr kumimoji="1" lang="en-US" altLang="zh-CN" sz="1600" dirty="0"/>
              <a:t>)</a:t>
            </a:r>
          </a:p>
          <a:p>
            <a:endParaRPr kumimoji="1" lang="en-US" altLang="zh-CN" sz="1600" dirty="0">
              <a:solidFill>
                <a:srgbClr val="FF0000"/>
              </a:solidFill>
            </a:endParaRPr>
          </a:p>
          <a:p>
            <a:r>
              <a:rPr kumimoji="1" lang="en-US" altLang="zh-CN" sz="1600" dirty="0"/>
              <a:t>// to enable core-dump by disabling apport:</a:t>
            </a:r>
          </a:p>
          <a:p>
            <a:r>
              <a:rPr lang="en" altLang="zh-CN" sz="1600" b="1" dirty="0">
                <a:solidFill>
                  <a:srgbClr val="FF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$ </a:t>
            </a:r>
            <a:r>
              <a:rPr lang="en" altLang="zh-CN" sz="1600" b="1" dirty="0" err="1">
                <a:solidFill>
                  <a:srgbClr val="FF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sudo</a:t>
            </a:r>
            <a:r>
              <a:rPr lang="en" altLang="zh-CN" sz="1600" b="1" dirty="0">
                <a:solidFill>
                  <a:srgbClr val="FF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service apport stop</a:t>
            </a:r>
            <a:endParaRPr kumimoji="1" lang="en-US" altLang="zh-CN" sz="1600" b="1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4735883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5031ED-74A5-68E2-C372-D7999E7D6F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8D75769-99B8-D0FA-A8CA-302CECE9F7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Step #5:</a:t>
            </a:r>
            <a:r>
              <a:rPr kumimoji="1" lang="zh-CN" altLang="en-US" dirty="0"/>
              <a:t> </a:t>
            </a:r>
            <a:r>
              <a:rPr kumimoji="1" lang="en-US" altLang="zh-CN" dirty="0"/>
              <a:t>debug the core</a:t>
            </a:r>
            <a:endParaRPr kumimoji="1" lang="zh-CN" altLang="en-US" dirty="0"/>
          </a:p>
        </p:txBody>
      </p:sp>
      <p:sp>
        <p:nvSpPr>
          <p:cNvPr id="5" name="内容占位符 2">
            <a:extLst>
              <a:ext uri="{FF2B5EF4-FFF2-40B4-BE49-F238E27FC236}">
                <a16:creationId xmlns:a16="http://schemas.microsoft.com/office/drawing/2014/main" id="{816D82EB-9E70-3E50-158C-EE6756EA39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1905000"/>
            <a:ext cx="7772400" cy="4114800"/>
          </a:xfrm>
        </p:spPr>
        <p:txBody>
          <a:bodyPr/>
          <a:lstStyle/>
          <a:p>
            <a:pPr marL="0" indent="0">
              <a:buNone/>
            </a:pP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foo(int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x,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y){</a:t>
            </a:r>
            <a:endParaRPr kumimoji="1" lang="en-US" altLang="zh-CN" sz="2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z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 err="1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x+y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buNone/>
            </a:pP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if(x==32467289)</a:t>
            </a:r>
          </a:p>
          <a:p>
            <a:pPr marL="0" indent="0">
              <a:buNone/>
            </a:pP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x/y;</a:t>
            </a:r>
          </a:p>
          <a:p>
            <a:pPr marL="0" indent="0">
              <a:buNone/>
            </a:pP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else</a:t>
            </a:r>
          </a:p>
          <a:p>
            <a:pPr marL="0" indent="0">
              <a:buNone/>
            </a:pP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0;</a:t>
            </a:r>
          </a:p>
          <a:p>
            <a:pPr marL="0" indent="0">
              <a:buNone/>
            </a:pP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>
              <a:buNone/>
            </a:pP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 main(){</a:t>
            </a:r>
          </a:p>
          <a:p>
            <a:pPr marL="0" indent="0">
              <a:buNone/>
            </a:pP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int a=0, b=1;</a:t>
            </a:r>
            <a:endParaRPr kumimoji="1" lang="en-US" altLang="zh-CN" sz="2000" b="1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kumimoji="1" lang="en-US" altLang="zh-CN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kumimoji="1" lang="en-US" altLang="zh-CN" sz="20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klee_make_symbolic</a:t>
            </a:r>
            <a:r>
              <a:rPr kumimoji="1" lang="en-US" altLang="zh-CN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(&amp;a, </a:t>
            </a:r>
            <a:r>
              <a:rPr kumimoji="1" lang="en-US" altLang="zh-CN" sz="20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sizeof</a:t>
            </a:r>
            <a:r>
              <a:rPr kumimoji="1" lang="en-US" altLang="zh-CN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(a), "a");</a:t>
            </a:r>
          </a:p>
          <a:p>
            <a:pPr marL="0" indent="0">
              <a:buNone/>
            </a:pPr>
            <a:r>
              <a:rPr kumimoji="1" lang="en-US" altLang="zh-CN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kumimoji="1" lang="en-US" altLang="zh-CN" sz="20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klee_make_symbolic</a:t>
            </a:r>
            <a:r>
              <a:rPr kumimoji="1" lang="en-US" altLang="zh-CN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(&amp;b, </a:t>
            </a:r>
            <a:r>
              <a:rPr kumimoji="1" lang="en-US" altLang="zh-CN" sz="20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sizeof</a:t>
            </a:r>
            <a:r>
              <a:rPr kumimoji="1" lang="en-US" altLang="zh-CN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(b), "b");</a:t>
            </a:r>
          </a:p>
          <a:p>
            <a:pPr marL="0" indent="0">
              <a:buNone/>
            </a:pP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foo(a, b); </a:t>
            </a:r>
          </a:p>
          <a:p>
            <a:pPr marL="0" indent="0">
              <a:buNone/>
            </a:pP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return 0;</a:t>
            </a:r>
          </a:p>
          <a:p>
            <a:pPr marL="0" indent="0">
              <a:buNone/>
            </a:pP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92449314-34E8-19A1-D40C-EF0A3C9B4413}"/>
              </a:ext>
            </a:extLst>
          </p:cNvPr>
          <p:cNvSpPr txBox="1"/>
          <p:nvPr/>
        </p:nvSpPr>
        <p:spPr>
          <a:xfrm>
            <a:off x="4724400" y="2209800"/>
            <a:ext cx="42672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600" dirty="0"/>
              <a:t>// debug the generated core:</a:t>
            </a:r>
          </a:p>
          <a:p>
            <a:r>
              <a:rPr kumimoji="1" lang="en-US" altLang="zh-CN" sz="1600" dirty="0">
                <a:solidFill>
                  <a:srgbClr val="FF0000"/>
                </a:solidFill>
              </a:rPr>
              <a:t>$ </a:t>
            </a:r>
            <a:r>
              <a:rPr kumimoji="1" lang="en-US" altLang="zh-CN" sz="1600" dirty="0" err="1">
                <a:solidFill>
                  <a:srgbClr val="FF0000"/>
                </a:solidFill>
              </a:rPr>
              <a:t>gdb</a:t>
            </a:r>
            <a:r>
              <a:rPr kumimoji="1" lang="en-US" altLang="zh-CN" sz="1600" dirty="0">
                <a:solidFill>
                  <a:srgbClr val="FF0000"/>
                </a:solidFill>
              </a:rPr>
              <a:t> –-core=core&lt;</a:t>
            </a:r>
            <a:r>
              <a:rPr kumimoji="1" lang="en-US" altLang="zh-CN" sz="1600" dirty="0" err="1">
                <a:solidFill>
                  <a:srgbClr val="FF0000"/>
                </a:solidFill>
              </a:rPr>
              <a:t>pid</a:t>
            </a:r>
            <a:r>
              <a:rPr kumimoji="1" lang="en-US" altLang="zh-CN" sz="1600" dirty="0">
                <a:solidFill>
                  <a:srgbClr val="FF0000"/>
                </a:solidFill>
              </a:rPr>
              <a:t>&gt;</a:t>
            </a:r>
          </a:p>
          <a:p>
            <a:endParaRPr kumimoji="1" lang="en-US" altLang="zh-CN" sz="1600" dirty="0"/>
          </a:p>
          <a:p>
            <a:r>
              <a:rPr kumimoji="1" lang="en-US" altLang="zh-CN" sz="1600" dirty="0"/>
              <a:t>// and may supply the symbol table: </a:t>
            </a:r>
          </a:p>
          <a:p>
            <a:r>
              <a:rPr kumimoji="1" lang="en-US" altLang="zh-CN" sz="1600" dirty="0">
                <a:solidFill>
                  <a:srgbClr val="FF0000"/>
                </a:solidFill>
              </a:rPr>
              <a:t>(</a:t>
            </a:r>
            <a:r>
              <a:rPr kumimoji="1" lang="en-US" altLang="zh-CN" sz="1600" dirty="0" err="1">
                <a:solidFill>
                  <a:srgbClr val="FF0000"/>
                </a:solidFill>
              </a:rPr>
              <a:t>gdb</a:t>
            </a:r>
            <a:r>
              <a:rPr kumimoji="1" lang="en-US" altLang="zh-CN" sz="1600" dirty="0">
                <a:solidFill>
                  <a:srgbClr val="FF0000"/>
                </a:solidFill>
              </a:rPr>
              <a:t>) file </a:t>
            </a:r>
            <a:r>
              <a:rPr kumimoji="1" lang="en-US" altLang="zh-CN" sz="1600" dirty="0" err="1">
                <a:solidFill>
                  <a:srgbClr val="FF0000"/>
                </a:solidFill>
              </a:rPr>
              <a:t>a.out</a:t>
            </a:r>
            <a:endParaRPr kumimoji="1" lang="en-US" altLang="zh-CN" sz="1600" dirty="0">
              <a:solidFill>
                <a:srgbClr val="FF0000"/>
              </a:solidFill>
            </a:endParaRPr>
          </a:p>
          <a:p>
            <a:endParaRPr kumimoji="1" lang="en-US" altLang="zh-CN" sz="1600" dirty="0">
              <a:solidFill>
                <a:srgbClr val="FF0000"/>
              </a:solidFill>
            </a:endParaRPr>
          </a:p>
          <a:p>
            <a:r>
              <a:rPr kumimoji="1" lang="en-US" altLang="zh-CN" sz="1600" dirty="0"/>
              <a:t>// and debug happily </a:t>
            </a:r>
            <a:r>
              <a:rPr kumimoji="1" lang="en-US" altLang="zh-CN" sz="1600" dirty="0">
                <a:sym typeface="Wingdings" pitchFamily="2" charset="2"/>
              </a:rPr>
              <a:t></a:t>
            </a:r>
            <a:endParaRPr kumimoji="1" lang="en-US" altLang="zh-CN" sz="16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7639369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43CFBD-7477-3FF3-85D8-2B4C237663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DBE405D-9A13-3439-2972-80AE22E07B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Step #6:</a:t>
            </a:r>
            <a:r>
              <a:rPr kumimoji="1" lang="zh-CN" altLang="en-US" dirty="0"/>
              <a:t> </a:t>
            </a:r>
            <a:r>
              <a:rPr kumimoji="1" lang="en-US" altLang="zh-CN" dirty="0"/>
              <a:t>auxiliary information</a:t>
            </a:r>
            <a:endParaRPr kumimoji="1" lang="zh-CN" altLang="en-US" dirty="0"/>
          </a:p>
        </p:txBody>
      </p:sp>
      <p:sp>
        <p:nvSpPr>
          <p:cNvPr id="5" name="内容占位符 2">
            <a:extLst>
              <a:ext uri="{FF2B5EF4-FFF2-40B4-BE49-F238E27FC236}">
                <a16:creationId xmlns:a16="http://schemas.microsoft.com/office/drawing/2014/main" id="{BC546544-00FE-2D3C-C9B7-9EFC6D0E80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1905000"/>
            <a:ext cx="7772400" cy="4114800"/>
          </a:xfrm>
        </p:spPr>
        <p:txBody>
          <a:bodyPr/>
          <a:lstStyle/>
          <a:p>
            <a:pPr marL="0" indent="0">
              <a:buNone/>
            </a:pP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foo(int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x,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y){</a:t>
            </a:r>
            <a:endParaRPr kumimoji="1" lang="en-US" altLang="zh-CN" sz="2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z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 err="1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x+y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buNone/>
            </a:pP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if(x==32467289)</a:t>
            </a:r>
          </a:p>
          <a:p>
            <a:pPr marL="0" indent="0">
              <a:buNone/>
            </a:pP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x/y;</a:t>
            </a:r>
          </a:p>
          <a:p>
            <a:pPr marL="0" indent="0">
              <a:buNone/>
            </a:pP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else</a:t>
            </a:r>
          </a:p>
          <a:p>
            <a:pPr marL="0" indent="0">
              <a:buNone/>
            </a:pP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0;</a:t>
            </a:r>
          </a:p>
          <a:p>
            <a:pPr marL="0" indent="0">
              <a:buNone/>
            </a:pP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>
              <a:buNone/>
            </a:pP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 main(){</a:t>
            </a:r>
          </a:p>
          <a:p>
            <a:pPr marL="0" indent="0">
              <a:buNone/>
            </a:pP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int a=0, b=1;</a:t>
            </a:r>
            <a:endParaRPr kumimoji="1" lang="en-US" altLang="zh-CN" sz="2000" b="1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kumimoji="1" lang="en-US" altLang="zh-CN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kumimoji="1" lang="en-US" altLang="zh-CN" sz="20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klee_make_symbolic</a:t>
            </a:r>
            <a:r>
              <a:rPr kumimoji="1" lang="en-US" altLang="zh-CN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(&amp;a, </a:t>
            </a:r>
            <a:r>
              <a:rPr kumimoji="1" lang="en-US" altLang="zh-CN" sz="20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sizeof</a:t>
            </a:r>
            <a:r>
              <a:rPr kumimoji="1" lang="en-US" altLang="zh-CN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(a), "a");</a:t>
            </a:r>
          </a:p>
          <a:p>
            <a:pPr marL="0" indent="0">
              <a:buNone/>
            </a:pPr>
            <a:r>
              <a:rPr kumimoji="1" lang="en-US" altLang="zh-CN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kumimoji="1" lang="en-US" altLang="zh-CN" sz="20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klee_make_symbolic</a:t>
            </a:r>
            <a:r>
              <a:rPr kumimoji="1" lang="en-US" altLang="zh-CN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(&amp;b, </a:t>
            </a:r>
            <a:r>
              <a:rPr kumimoji="1" lang="en-US" altLang="zh-CN" sz="20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sizeof</a:t>
            </a:r>
            <a:r>
              <a:rPr kumimoji="1" lang="en-US" altLang="zh-CN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(b), "b");</a:t>
            </a:r>
          </a:p>
          <a:p>
            <a:pPr marL="0" indent="0">
              <a:buNone/>
            </a:pP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foo(a, b); </a:t>
            </a:r>
          </a:p>
          <a:p>
            <a:pPr marL="0" indent="0">
              <a:buNone/>
            </a:pP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return 0;</a:t>
            </a:r>
          </a:p>
          <a:p>
            <a:pPr marL="0" indent="0">
              <a:buNone/>
            </a:pP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BC7D5B1A-116A-3308-3637-6F2940794FBC}"/>
              </a:ext>
            </a:extLst>
          </p:cNvPr>
          <p:cNvSpPr txBox="1"/>
          <p:nvPr/>
        </p:nvSpPr>
        <p:spPr>
          <a:xfrm>
            <a:off x="4724400" y="2209800"/>
            <a:ext cx="4267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600" dirty="0"/>
              <a:t>// to</a:t>
            </a:r>
            <a:r>
              <a:rPr kumimoji="1" lang="zh-CN" altLang="en-US" sz="1600" dirty="0"/>
              <a:t> </a:t>
            </a:r>
            <a:r>
              <a:rPr kumimoji="1" lang="en-US" altLang="zh-CN" sz="1600" dirty="0"/>
              <a:t>display</a:t>
            </a:r>
            <a:r>
              <a:rPr kumimoji="1" lang="zh-CN" altLang="en-US" sz="1600" dirty="0"/>
              <a:t> </a:t>
            </a:r>
            <a:r>
              <a:rPr kumimoji="1" lang="en-US" altLang="zh-CN" sz="1600" dirty="0"/>
              <a:t>the</a:t>
            </a:r>
            <a:r>
              <a:rPr kumimoji="1" lang="zh-CN" altLang="en-US" sz="1600" dirty="0"/>
              <a:t> </a:t>
            </a:r>
            <a:r>
              <a:rPr kumimoji="1" lang="en-US" altLang="zh-CN" sz="1600" dirty="0"/>
              <a:t>statistics:</a:t>
            </a:r>
          </a:p>
          <a:p>
            <a:r>
              <a:rPr kumimoji="1" lang="en-US" altLang="zh-CN" sz="1600" dirty="0">
                <a:solidFill>
                  <a:srgbClr val="FF0000"/>
                </a:solidFill>
              </a:rPr>
              <a:t>$ </a:t>
            </a:r>
            <a:r>
              <a:rPr kumimoji="1" lang="en-US" altLang="zh-CN" sz="1600" dirty="0" err="1">
                <a:solidFill>
                  <a:srgbClr val="FF0000"/>
                </a:solidFill>
              </a:rPr>
              <a:t>klee.stats</a:t>
            </a:r>
            <a:r>
              <a:rPr kumimoji="1" lang="zh-CN" altLang="en-US" sz="1600" dirty="0">
                <a:solidFill>
                  <a:srgbClr val="FF0000"/>
                </a:solidFill>
              </a:rPr>
              <a:t> </a:t>
            </a:r>
            <a:r>
              <a:rPr kumimoji="1" lang="en-US" altLang="zh-CN" sz="1600" dirty="0">
                <a:solidFill>
                  <a:srgbClr val="FF0000"/>
                </a:solidFill>
              </a:rPr>
              <a:t>.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59859989-8E9B-2D96-D0A4-A7EB8A8803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66336" y="2819400"/>
            <a:ext cx="5401464" cy="2362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557247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8E3FE1-F589-E6A4-0E2A-5C20886061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0CD2E3D-8653-39E5-0412-75C45574CE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Case #2:</a:t>
            </a:r>
            <a:r>
              <a:rPr kumimoji="1" lang="zh-CN" altLang="en-US" dirty="0"/>
              <a:t> </a:t>
            </a:r>
            <a:r>
              <a:rPr kumimoji="1" lang="en-US" altLang="zh-CN" dirty="0"/>
              <a:t>bug</a:t>
            </a:r>
            <a:r>
              <a:rPr kumimoji="1" lang="zh-CN" altLang="en-US" dirty="0"/>
              <a:t> </a:t>
            </a:r>
            <a:r>
              <a:rPr kumimoji="1" lang="en-US" altLang="zh-CN" dirty="0"/>
              <a:t>detection</a:t>
            </a:r>
            <a:endParaRPr kumimoji="1" lang="zh-CN" altLang="en-US" dirty="0"/>
          </a:p>
        </p:txBody>
      </p:sp>
      <p:sp>
        <p:nvSpPr>
          <p:cNvPr id="9" name="内容占位符 2">
            <a:extLst>
              <a:ext uri="{FF2B5EF4-FFF2-40B4-BE49-F238E27FC236}">
                <a16:creationId xmlns:a16="http://schemas.microsoft.com/office/drawing/2014/main" id="{1C490A71-BC2D-D071-9A60-218BDF4E9F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1905000"/>
            <a:ext cx="7772400" cy="4114800"/>
          </a:xfrm>
        </p:spPr>
        <p:txBody>
          <a:bodyPr/>
          <a:lstStyle/>
          <a:p>
            <a:pPr marL="0" indent="0">
              <a:buNone/>
            </a:pP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 foo(int a, int b){</a:t>
            </a:r>
          </a:p>
          <a:p>
            <a:pPr marL="0" indent="0">
              <a:buNone/>
            </a:pP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 x = 1, y = 0;</a:t>
            </a:r>
          </a:p>
          <a:p>
            <a:pPr marL="0" indent="0">
              <a:buNone/>
            </a:pP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if(a != 0){</a:t>
            </a:r>
          </a:p>
          <a:p>
            <a:pPr marL="0" indent="0">
              <a:buNone/>
            </a:pP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y = 3+x;</a:t>
            </a:r>
          </a:p>
          <a:p>
            <a:pPr marL="0" indent="0">
              <a:buNone/>
            </a:pP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if(b == 0)</a:t>
            </a:r>
          </a:p>
          <a:p>
            <a:pPr marL="0" indent="0">
              <a:buNone/>
            </a:pP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 = 2*(</a:t>
            </a:r>
            <a:r>
              <a:rPr kumimoji="1" lang="en-US" altLang="zh-CN" sz="2000" b="1" dirty="0" err="1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a+b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marL="0" indent="0">
              <a:buNone/>
            </a:pP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>
              <a:buNone/>
            </a:pP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assert(x-y != 0);</a:t>
            </a:r>
          </a:p>
          <a:p>
            <a:pPr marL="0" indent="0">
              <a:buNone/>
            </a:pP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>
              <a:buNone/>
            </a:pPr>
            <a:endParaRPr kumimoji="1" lang="en-US" altLang="zh-CN" sz="2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F0B5F53C-5D14-5D13-9ECC-A18FEBB73597}"/>
              </a:ext>
            </a:extLst>
          </p:cNvPr>
          <p:cNvSpPr txBox="1"/>
          <p:nvPr/>
        </p:nvSpPr>
        <p:spPr>
          <a:xfrm>
            <a:off x="4724400" y="2209800"/>
            <a:ext cx="42195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Leave the analysis of this program as an exercise.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7105157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FC908B-CC59-9792-80C5-379CD25E88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7F9FEA3-CAF6-32E1-F6D2-656E1895A7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Case #3:</a:t>
            </a:r>
            <a:r>
              <a:rPr kumimoji="1" lang="zh-CN" altLang="en-US" dirty="0"/>
              <a:t> </a:t>
            </a:r>
            <a:r>
              <a:rPr kumimoji="1" lang="en-US" altLang="zh-CN" dirty="0"/>
              <a:t>crack password</a:t>
            </a:r>
            <a:endParaRPr kumimoji="1" lang="zh-CN" altLang="en-US" dirty="0"/>
          </a:p>
        </p:txBody>
      </p:sp>
      <p:sp>
        <p:nvSpPr>
          <p:cNvPr id="9" name="内容占位符 2">
            <a:extLst>
              <a:ext uri="{FF2B5EF4-FFF2-40B4-BE49-F238E27FC236}">
                <a16:creationId xmlns:a16="http://schemas.microsoft.com/office/drawing/2014/main" id="{A153405E-0398-8F28-364B-2CBFBF560D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905000"/>
            <a:ext cx="5029200" cy="4114800"/>
          </a:xfrm>
        </p:spPr>
        <p:txBody>
          <a:bodyPr/>
          <a:lstStyle/>
          <a:p>
            <a:pPr marL="0" indent="0">
              <a:buNone/>
            </a:pP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 main(){</a:t>
            </a:r>
          </a:p>
          <a:p>
            <a:pPr marL="0" indent="0">
              <a:buNone/>
            </a:pP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int password;</a:t>
            </a:r>
          </a:p>
          <a:p>
            <a:pPr marL="0" indent="0">
              <a:buNone/>
            </a:pP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kumimoji="1" lang="en-US" altLang="zh-CN" sz="2000" b="1" dirty="0" err="1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(“pls input passwd:”);</a:t>
            </a:r>
          </a:p>
          <a:p>
            <a:pPr marL="0" indent="0">
              <a:buNone/>
            </a:pP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kumimoji="1" lang="en-US" altLang="zh-CN" sz="2000" b="1" dirty="0" err="1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scanf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(”%d”, &amp;password);</a:t>
            </a:r>
          </a:p>
          <a:p>
            <a:pPr marL="0" indent="0">
              <a:buNone/>
            </a:pP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check(password);</a:t>
            </a:r>
          </a:p>
          <a:p>
            <a:pPr marL="0" indent="0">
              <a:buNone/>
            </a:pP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return 0;</a:t>
            </a:r>
          </a:p>
          <a:p>
            <a:pPr marL="0" indent="0">
              <a:buNone/>
            </a:pP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kumimoji="1" lang="en-US" altLang="zh-CN" sz="2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D9D5A55-1EF6-12D2-0A43-4A36B813BD81}"/>
              </a:ext>
            </a:extLst>
          </p:cNvPr>
          <p:cNvSpPr txBox="1">
            <a:spLocks/>
          </p:cNvSpPr>
          <p:nvPr/>
        </p:nvSpPr>
        <p:spPr bwMode="auto">
          <a:xfrm>
            <a:off x="4953000" y="1905000"/>
            <a:ext cx="41148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>
              <a:buFont typeface="Wingdings" pitchFamily="2" charset="2"/>
              <a:buNone/>
            </a:pPr>
            <a:r>
              <a:rPr kumimoji="1" lang="en-US" altLang="zh-CN" sz="2000" b="1" kern="0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 check(int pw){</a:t>
            </a:r>
          </a:p>
          <a:p>
            <a:pPr marL="0" indent="0">
              <a:buFont typeface="Wingdings" pitchFamily="2" charset="2"/>
              <a:buNone/>
            </a:pPr>
            <a:r>
              <a:rPr kumimoji="1" lang="en-US" altLang="zh-CN" sz="2000" b="1" kern="0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unsigned char *p = &amp;pw;</a:t>
            </a:r>
          </a:p>
          <a:p>
            <a:pPr marL="0" indent="0">
              <a:buFont typeface="Wingdings" pitchFamily="2" charset="2"/>
              <a:buNone/>
            </a:pPr>
            <a:r>
              <a:rPr kumimoji="1" lang="en-US" altLang="zh-CN" sz="2000" b="1" kern="0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if(p[0]==0)</a:t>
            </a:r>
          </a:p>
          <a:p>
            <a:pPr marL="0" indent="0">
              <a:buFont typeface="Wingdings" pitchFamily="2" charset="2"/>
              <a:buNone/>
            </a:pPr>
            <a:r>
              <a:rPr kumimoji="1" lang="en-US" altLang="zh-CN" sz="2000" b="1" kern="0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if(p[1]==1)</a:t>
            </a:r>
          </a:p>
          <a:p>
            <a:pPr marL="0" indent="0">
              <a:buFont typeface="Wingdings" pitchFamily="2" charset="2"/>
              <a:buNone/>
            </a:pPr>
            <a:r>
              <a:rPr kumimoji="1" lang="en-US" altLang="zh-CN" sz="2000" b="1" kern="0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if(p[2]==2)</a:t>
            </a:r>
          </a:p>
          <a:p>
            <a:pPr marL="0" indent="0">
              <a:buFont typeface="Wingdings" pitchFamily="2" charset="2"/>
              <a:buNone/>
            </a:pPr>
            <a:r>
              <a:rPr kumimoji="1" lang="en-US" altLang="zh-CN" sz="2000" b="1" kern="0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if(p[3]==3)</a:t>
            </a:r>
          </a:p>
          <a:p>
            <a:pPr marL="0" indent="0">
              <a:buFont typeface="Wingdings" pitchFamily="2" charset="2"/>
              <a:buNone/>
            </a:pPr>
            <a:r>
              <a:rPr kumimoji="1" lang="en-US" altLang="zh-CN" sz="2000" b="1" kern="0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assert(0);</a:t>
            </a:r>
          </a:p>
          <a:p>
            <a:pPr marL="0" indent="0">
              <a:buFont typeface="Wingdings" pitchFamily="2" charset="2"/>
              <a:buNone/>
            </a:pPr>
            <a:r>
              <a:rPr kumimoji="1" lang="en-US" altLang="zh-CN" sz="2000" b="1" kern="0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return;</a:t>
            </a:r>
          </a:p>
          <a:p>
            <a:pPr marL="0" indent="0">
              <a:buFont typeface="Wingdings" pitchFamily="2" charset="2"/>
              <a:buNone/>
            </a:pPr>
            <a:r>
              <a:rPr kumimoji="1" lang="en-US" altLang="zh-CN" sz="2000" b="1" kern="0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kumimoji="1" lang="en-US" altLang="zh-CN" sz="2000" b="1" kern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5769271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65AD16-E98C-C2BE-1909-6A5C25C540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BFDF74A-C245-26D3-98E7-497BD42D84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Case #4:</a:t>
            </a:r>
            <a:r>
              <a:rPr kumimoji="1" lang="zh-CN" altLang="en-US" dirty="0"/>
              <a:t> </a:t>
            </a:r>
            <a:r>
              <a:rPr kumimoji="1" lang="en-US" altLang="zh-CN" dirty="0"/>
              <a:t>vulnerability</a:t>
            </a:r>
            <a:endParaRPr kumimoji="1" lang="zh-CN" altLang="en-US" dirty="0"/>
          </a:p>
        </p:txBody>
      </p:sp>
      <p:sp>
        <p:nvSpPr>
          <p:cNvPr id="9" name="内容占位符 2">
            <a:extLst>
              <a:ext uri="{FF2B5EF4-FFF2-40B4-BE49-F238E27FC236}">
                <a16:creationId xmlns:a16="http://schemas.microsoft.com/office/drawing/2014/main" id="{1C034AE4-AADA-E9B0-AA74-388A96C144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905000"/>
            <a:ext cx="5029200" cy="4114800"/>
          </a:xfrm>
        </p:spPr>
        <p:txBody>
          <a:bodyPr/>
          <a:lstStyle/>
          <a:p>
            <a:pPr marL="0" indent="0">
              <a:buNone/>
            </a:pP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 main(){</a:t>
            </a:r>
          </a:p>
          <a:p>
            <a:pPr marL="0" indent="0">
              <a:buNone/>
            </a:pP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char name[128];</a:t>
            </a:r>
          </a:p>
          <a:p>
            <a:pPr marL="0" indent="0">
              <a:buNone/>
            </a:pP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kumimoji="1" lang="en-US" altLang="zh-CN" sz="2000" b="1" dirty="0" err="1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(“pls input name:”);</a:t>
            </a:r>
          </a:p>
          <a:p>
            <a:pPr marL="0" indent="0">
              <a:buNone/>
            </a:pP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kumimoji="1" lang="en-US" altLang="zh-CN" sz="2000" b="1" dirty="0" err="1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scanf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(”%s”, name);</a:t>
            </a:r>
          </a:p>
          <a:p>
            <a:pPr marL="0" indent="0">
              <a:buNone/>
            </a:pP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check(name);</a:t>
            </a:r>
          </a:p>
          <a:p>
            <a:pPr marL="0" indent="0">
              <a:buNone/>
            </a:pP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return 0;</a:t>
            </a:r>
          </a:p>
          <a:p>
            <a:pPr marL="0" indent="0">
              <a:buNone/>
            </a:pP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kumimoji="1" lang="en-US" altLang="zh-CN" sz="2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1734AA8-81DB-07C6-6D6F-5D9629A0186C}"/>
              </a:ext>
            </a:extLst>
          </p:cNvPr>
          <p:cNvSpPr txBox="1">
            <a:spLocks/>
          </p:cNvSpPr>
          <p:nvPr/>
        </p:nvSpPr>
        <p:spPr bwMode="auto">
          <a:xfrm>
            <a:off x="4953000" y="1905000"/>
            <a:ext cx="41148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>
              <a:buFont typeface="Wingdings" pitchFamily="2" charset="2"/>
              <a:buNone/>
            </a:pPr>
            <a:r>
              <a:rPr kumimoji="1" lang="en-US" altLang="zh-CN" sz="2000" b="1" kern="0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 check(char</a:t>
            </a:r>
            <a:r>
              <a:rPr kumimoji="1" lang="zh-CN" altLang="en-US" sz="2000" b="1" kern="0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*</a:t>
            </a:r>
            <a:r>
              <a:rPr kumimoji="1" lang="en-US" altLang="zh-CN" sz="2000" b="1" kern="0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name){</a:t>
            </a:r>
          </a:p>
          <a:p>
            <a:pPr marL="0" indent="0">
              <a:buFont typeface="Wingdings" pitchFamily="2" charset="2"/>
              <a:buNone/>
            </a:pPr>
            <a:r>
              <a:rPr kumimoji="1" lang="en-US" altLang="zh-CN" sz="2000" b="1" kern="0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char</a:t>
            </a:r>
            <a:r>
              <a:rPr kumimoji="1" lang="zh-CN" altLang="en-US" sz="2000" b="1" kern="0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kern="0" dirty="0" err="1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buf</a:t>
            </a:r>
            <a:r>
              <a:rPr kumimoji="1" lang="en-US" altLang="zh-CN" sz="2000" b="1" kern="0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[16];</a:t>
            </a:r>
          </a:p>
          <a:p>
            <a:pPr marL="0" indent="0">
              <a:buFont typeface="Wingdings" pitchFamily="2" charset="2"/>
              <a:buNone/>
            </a:pPr>
            <a:r>
              <a:rPr kumimoji="1" lang="zh-CN" altLang="en-US" sz="2000" b="1" kern="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kumimoji="1" lang="en-US" altLang="zh-CN" sz="2000" b="1" kern="0" dirty="0">
                <a:latin typeface="Courier New" panose="02070309020205020404" pitchFamily="49" charset="0"/>
                <a:cs typeface="Courier New" panose="02070309020205020404" pitchFamily="49" charset="0"/>
              </a:rPr>
              <a:t>//</a:t>
            </a:r>
            <a:r>
              <a:rPr kumimoji="1" lang="zh-CN" altLang="en-US" sz="2000" b="1" kern="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kern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ooops</a:t>
            </a:r>
            <a:r>
              <a:rPr kumimoji="1" lang="en-US" altLang="zh-CN" sz="2000" b="1" kern="0" dirty="0">
                <a:latin typeface="Courier New" panose="02070309020205020404" pitchFamily="49" charset="0"/>
                <a:cs typeface="Courier New" panose="02070309020205020404" pitchFamily="49" charset="0"/>
              </a:rPr>
              <a:t>...</a:t>
            </a:r>
          </a:p>
          <a:p>
            <a:pPr marL="0" indent="0">
              <a:buFont typeface="Wingdings" pitchFamily="2" charset="2"/>
              <a:buNone/>
            </a:pPr>
            <a:r>
              <a:rPr kumimoji="1" lang="zh-CN" altLang="en-US" sz="2000" b="1" kern="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kumimoji="1" lang="en-US" altLang="zh-CN" sz="2000" b="1" kern="0" dirty="0">
                <a:latin typeface="Courier New" panose="02070309020205020404" pitchFamily="49" charset="0"/>
                <a:cs typeface="Courier New" panose="02070309020205020404" pitchFamily="49" charset="0"/>
              </a:rPr>
              <a:t>//</a:t>
            </a:r>
            <a:r>
              <a:rPr kumimoji="1" lang="zh-CN" altLang="en-US" sz="2000" b="1" kern="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kern="0" dirty="0">
                <a:latin typeface="Courier New" panose="02070309020205020404" pitchFamily="49" charset="0"/>
                <a:cs typeface="Courier New" panose="02070309020205020404" pitchFamily="49" charset="0"/>
              </a:rPr>
              <a:t>stack-based</a:t>
            </a:r>
            <a:r>
              <a:rPr kumimoji="1" lang="zh-CN" altLang="en-US" sz="2000" b="1" kern="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kern="0" dirty="0">
                <a:latin typeface="Courier New" panose="02070309020205020404" pitchFamily="49" charset="0"/>
                <a:cs typeface="Courier New" panose="02070309020205020404" pitchFamily="49" charset="0"/>
              </a:rPr>
              <a:t>overflow</a:t>
            </a:r>
          </a:p>
          <a:p>
            <a:pPr marL="0" indent="0">
              <a:buFont typeface="Wingdings" pitchFamily="2" charset="2"/>
              <a:buNone/>
            </a:pPr>
            <a:r>
              <a:rPr kumimoji="1" lang="zh-CN" altLang="en-US" sz="2000" b="1" kern="0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kumimoji="1" lang="en-US" altLang="zh-CN" sz="2000" b="1" kern="0" dirty="0" err="1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strcpy</a:t>
            </a:r>
            <a:r>
              <a:rPr kumimoji="1" lang="en-US" altLang="zh-CN" sz="2000" b="1" kern="0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kumimoji="1" lang="en-US" altLang="zh-CN" sz="2000" b="1" kern="0" dirty="0" err="1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buf</a:t>
            </a:r>
            <a:r>
              <a:rPr kumimoji="1" lang="en-US" altLang="zh-CN" sz="2000" b="1" kern="0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kumimoji="1" lang="zh-CN" altLang="en-US" sz="2000" b="1" kern="0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kern="0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name);</a:t>
            </a:r>
          </a:p>
          <a:p>
            <a:pPr marL="0" indent="0">
              <a:buFont typeface="Wingdings" pitchFamily="2" charset="2"/>
              <a:buNone/>
            </a:pPr>
            <a:r>
              <a:rPr kumimoji="1" lang="zh-CN" altLang="en-US" sz="2000" b="1" kern="0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kumimoji="1" lang="en-US" altLang="zh-CN" sz="2000" b="1" kern="0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return;</a:t>
            </a:r>
          </a:p>
          <a:p>
            <a:pPr marL="0" indent="0">
              <a:buFont typeface="Wingdings" pitchFamily="2" charset="2"/>
              <a:buNone/>
            </a:pPr>
            <a:r>
              <a:rPr kumimoji="1" lang="en-US" altLang="zh-CN" sz="2000" b="1" kern="0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kumimoji="1" lang="en-US" altLang="zh-CN" sz="2000" b="1" kern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101588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7D7E36-5C13-A39C-7ECF-7548B7CC16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03C3CE7-1A22-FE42-C971-E0259B611E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Summary</a:t>
            </a:r>
            <a:r>
              <a:rPr kumimoji="1" lang="zh-CN" altLang="en-US" dirty="0"/>
              <a:t> </a:t>
            </a:r>
            <a:r>
              <a:rPr kumimoji="1" lang="en-US" altLang="zh-CN" dirty="0"/>
              <a:t>for</a:t>
            </a:r>
            <a:r>
              <a:rPr kumimoji="1" lang="zh-CN" altLang="en-US" dirty="0"/>
              <a:t> </a:t>
            </a:r>
            <a:r>
              <a:rPr kumimoji="1" lang="en-US" altLang="zh-CN" dirty="0"/>
              <a:t>Klee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637EBEC-BFA7-FC48-8D68-3609B27A4D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/>
              <a:t>Pros:</a:t>
            </a:r>
          </a:p>
          <a:p>
            <a:pPr lvl="1"/>
            <a:r>
              <a:rPr kumimoji="1" lang="en-US" altLang="zh-CN" dirty="0"/>
              <a:t>high</a:t>
            </a:r>
            <a:r>
              <a:rPr kumimoji="1" lang="zh-CN" altLang="en-US" dirty="0"/>
              <a:t> </a:t>
            </a:r>
            <a:r>
              <a:rPr kumimoji="1" lang="en-US" altLang="zh-CN" dirty="0"/>
              <a:t>coverage</a:t>
            </a:r>
            <a:r>
              <a:rPr kumimoji="1" lang="zh-CN" altLang="en-US" dirty="0"/>
              <a:t> </a:t>
            </a:r>
            <a:r>
              <a:rPr kumimoji="1" lang="en-US" altLang="zh-CN" dirty="0"/>
              <a:t>(read</a:t>
            </a:r>
            <a:r>
              <a:rPr kumimoji="1" lang="zh-CN" altLang="en-US" dirty="0"/>
              <a:t> </a:t>
            </a:r>
            <a:r>
              <a:rPr kumimoji="1" lang="en-US" altLang="zh-CN" dirty="0"/>
              <a:t>the</a:t>
            </a:r>
            <a:r>
              <a:rPr kumimoji="1" lang="zh-CN" altLang="en-US" dirty="0"/>
              <a:t> </a:t>
            </a:r>
            <a:r>
              <a:rPr kumimoji="1" lang="en-US" altLang="zh-CN" dirty="0"/>
              <a:t>paper)</a:t>
            </a:r>
          </a:p>
          <a:p>
            <a:pPr lvl="1"/>
            <a:r>
              <a:rPr kumimoji="1" lang="en-US" altLang="zh-CN" dirty="0"/>
              <a:t>(mostly)</a:t>
            </a:r>
            <a:r>
              <a:rPr kumimoji="1" lang="zh-CN" altLang="en-US" dirty="0"/>
              <a:t> </a:t>
            </a:r>
            <a:r>
              <a:rPr kumimoji="1" lang="en-US" altLang="zh-CN" dirty="0"/>
              <a:t>automated</a:t>
            </a:r>
          </a:p>
          <a:p>
            <a:pPr lvl="1"/>
            <a:r>
              <a:rPr kumimoji="1" lang="en-US" altLang="zh-CN" dirty="0"/>
              <a:t>high</a:t>
            </a:r>
            <a:r>
              <a:rPr kumimoji="1" lang="zh-CN" altLang="en-US" dirty="0"/>
              <a:t> </a:t>
            </a:r>
            <a:r>
              <a:rPr kumimoji="1" lang="en-US" altLang="zh-CN" dirty="0"/>
              <a:t>effectiveness</a:t>
            </a:r>
            <a:r>
              <a:rPr kumimoji="1" lang="zh-CN" altLang="en-US" dirty="0"/>
              <a:t> </a:t>
            </a:r>
            <a:r>
              <a:rPr kumimoji="1" lang="en-US" altLang="zh-CN" dirty="0"/>
              <a:t>(even</a:t>
            </a:r>
            <a:r>
              <a:rPr kumimoji="1" lang="zh-CN" altLang="en-US" dirty="0"/>
              <a:t> </a:t>
            </a:r>
            <a:r>
              <a:rPr kumimoji="1" lang="en-US" altLang="zh-CN" dirty="0"/>
              <a:t>for</a:t>
            </a:r>
            <a:r>
              <a:rPr kumimoji="1" lang="zh-CN" altLang="en-US" dirty="0"/>
              <a:t> </a:t>
            </a:r>
            <a:r>
              <a:rPr kumimoji="1" lang="en-US" altLang="zh-CN" dirty="0"/>
              <a:t>programs</a:t>
            </a:r>
            <a:r>
              <a:rPr kumimoji="1" lang="zh-CN" altLang="en-US" dirty="0"/>
              <a:t> </a:t>
            </a:r>
            <a:r>
              <a:rPr kumimoji="1" lang="en-US" altLang="zh-CN" dirty="0"/>
              <a:t>heavily</a:t>
            </a:r>
            <a:r>
              <a:rPr kumimoji="1" lang="zh-CN" altLang="en-US" dirty="0"/>
              <a:t> </a:t>
            </a:r>
            <a:r>
              <a:rPr kumimoji="1" lang="en-US" altLang="zh-CN" dirty="0"/>
              <a:t>tested)</a:t>
            </a:r>
          </a:p>
          <a:p>
            <a:r>
              <a:rPr kumimoji="1" lang="en-US" altLang="zh-CN" dirty="0"/>
              <a:t>Cons:</a:t>
            </a:r>
          </a:p>
          <a:p>
            <a:pPr lvl="1"/>
            <a:r>
              <a:rPr kumimoji="1" lang="en-US" altLang="zh-CN" dirty="0"/>
              <a:t>expensive</a:t>
            </a:r>
          </a:p>
          <a:p>
            <a:pPr lvl="1"/>
            <a:r>
              <a:rPr kumimoji="1" lang="en-US" altLang="zh-CN" dirty="0"/>
              <a:t>white-box</a:t>
            </a:r>
            <a:r>
              <a:rPr kumimoji="1" lang="zh-CN" altLang="en-US" dirty="0"/>
              <a:t> </a:t>
            </a:r>
            <a:r>
              <a:rPr kumimoji="1" lang="en-US" altLang="zh-CN" dirty="0"/>
              <a:t>(i.e.,</a:t>
            </a:r>
            <a:r>
              <a:rPr kumimoji="1" lang="zh-CN" altLang="en-US" dirty="0"/>
              <a:t> </a:t>
            </a:r>
            <a:r>
              <a:rPr kumimoji="1" lang="en-US" altLang="zh-CN" dirty="0"/>
              <a:t>source</a:t>
            </a:r>
            <a:r>
              <a:rPr kumimoji="1" lang="zh-CN" altLang="en-US" dirty="0"/>
              <a:t> </a:t>
            </a:r>
            <a:r>
              <a:rPr kumimoji="1" lang="en-US" altLang="zh-CN" dirty="0"/>
              <a:t>code</a:t>
            </a:r>
            <a:r>
              <a:rPr kumimoji="1" lang="zh-CN" altLang="en-US" dirty="0"/>
              <a:t> </a:t>
            </a:r>
            <a:r>
              <a:rPr kumimoji="1" lang="en-US" altLang="zh-CN" dirty="0"/>
              <a:t>needed)</a:t>
            </a:r>
          </a:p>
          <a:p>
            <a:pPr lvl="1"/>
            <a:r>
              <a:rPr kumimoji="1" lang="en-US" altLang="zh-CN" dirty="0"/>
              <a:t>tied</a:t>
            </a:r>
            <a:r>
              <a:rPr kumimoji="1" lang="zh-CN" altLang="en-US" dirty="0"/>
              <a:t> </a:t>
            </a:r>
            <a:r>
              <a:rPr kumimoji="1" lang="en-US" altLang="zh-CN" dirty="0"/>
              <a:t>to</a:t>
            </a:r>
            <a:r>
              <a:rPr kumimoji="1" lang="zh-CN" altLang="en-US" dirty="0"/>
              <a:t> </a:t>
            </a:r>
            <a:r>
              <a:rPr kumimoji="1" lang="en-US" altLang="zh-CN" dirty="0"/>
              <a:t>specific</a:t>
            </a:r>
            <a:r>
              <a:rPr kumimoji="1" lang="zh-CN" altLang="en-US" dirty="0"/>
              <a:t> </a:t>
            </a:r>
            <a:r>
              <a:rPr kumimoji="1" lang="en-US" altLang="zh-CN" dirty="0"/>
              <a:t>tools</a:t>
            </a:r>
            <a:r>
              <a:rPr kumimoji="1" lang="zh-CN" altLang="en-US" dirty="0"/>
              <a:t> </a:t>
            </a:r>
            <a:r>
              <a:rPr kumimoji="1" lang="en-US" altLang="zh-CN" dirty="0"/>
              <a:t>(clang)</a:t>
            </a:r>
          </a:p>
        </p:txBody>
      </p:sp>
    </p:spTree>
    <p:extLst>
      <p:ext uri="{BB962C8B-B14F-4D97-AF65-F5344CB8AC3E}">
        <p14:creationId xmlns:p14="http://schemas.microsoft.com/office/powerpoint/2010/main" val="105755597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B2F974A-C3E5-564C-85A5-2F90494588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 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A6508BC-8322-B943-9711-A9D5A8E372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kumimoji="1" lang="en-US" altLang="zh-CN" dirty="0"/>
          </a:p>
          <a:p>
            <a:pPr marL="0" indent="0">
              <a:buNone/>
            </a:pPr>
            <a:endParaRPr kumimoji="1" lang="en-US" altLang="zh-CN" dirty="0"/>
          </a:p>
          <a:p>
            <a:pPr marL="0" indent="0" algn="ctr">
              <a:buNone/>
            </a:pPr>
            <a:r>
              <a:rPr kumimoji="1" lang="en-US" altLang="zh-CN" i="1" dirty="0"/>
              <a:t>Practical Issues with Symbolic</a:t>
            </a:r>
            <a:r>
              <a:rPr kumimoji="1" lang="zh-CN" altLang="en-US" i="1" dirty="0"/>
              <a:t> </a:t>
            </a:r>
            <a:r>
              <a:rPr kumimoji="1" lang="en-US" altLang="zh-CN" i="1" dirty="0"/>
              <a:t>Execution</a:t>
            </a:r>
            <a:endParaRPr kumimoji="1" lang="zh-CN" altLang="en-US" i="1" dirty="0"/>
          </a:p>
        </p:txBody>
      </p:sp>
    </p:spTree>
    <p:extLst>
      <p:ext uri="{BB962C8B-B14F-4D97-AF65-F5344CB8AC3E}">
        <p14:creationId xmlns:p14="http://schemas.microsoft.com/office/powerpoint/2010/main" val="176147988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9E1E0E9-1173-A145-9EAE-68F0143450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Practical issues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E2A02E0-DBE4-2549-997D-39A830D713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/>
              <a:t>Path explosion</a:t>
            </a:r>
          </a:p>
          <a:p>
            <a:r>
              <a:rPr kumimoji="1" lang="en-US" altLang="zh-CN" dirty="0"/>
              <a:t>Loops and recursions</a:t>
            </a:r>
          </a:p>
          <a:p>
            <a:r>
              <a:rPr kumimoji="1" lang="en-US" altLang="zh-CN" dirty="0"/>
              <a:t>Heap modeling</a:t>
            </a:r>
          </a:p>
          <a:p>
            <a:r>
              <a:rPr kumimoji="1" lang="en-US" altLang="zh-CN" dirty="0"/>
              <a:t>Environment modeling</a:t>
            </a:r>
          </a:p>
          <a:p>
            <a:r>
              <a:rPr kumimoji="1" lang="en-US" altLang="zh-CN" dirty="0"/>
              <a:t>Constraint solving</a:t>
            </a:r>
          </a:p>
          <a:p>
            <a:endParaRPr kumimoji="1"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69503751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83B1A98-5D2E-F84C-8A75-A8FC62CA10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#1: Path explosion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EA67DCE-2389-6343-AFC1-54E1B9454D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//</a:t>
            </a:r>
            <a:r>
              <a: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The program:</a:t>
            </a:r>
          </a:p>
          <a:p>
            <a:pPr marL="0" indent="0">
              <a:buNone/>
            </a:pPr>
            <a:r>
              <a:rPr kumimoji="1" lang="en-US" altLang="zh-CN" sz="2000" b="1" dirty="0" err="1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foo(){</a:t>
            </a:r>
          </a:p>
          <a:p>
            <a:pPr marL="0" indent="0">
              <a:buNone/>
            </a:pP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if(e1)</a:t>
            </a:r>
          </a:p>
          <a:p>
            <a:pPr marL="0" indent="0">
              <a:buNone/>
            </a:pP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if(e11)</a:t>
            </a:r>
          </a:p>
          <a:p>
            <a:pPr marL="0" indent="0">
              <a:buNone/>
            </a:pP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…;</a:t>
            </a:r>
          </a:p>
          <a:p>
            <a:pPr marL="0" indent="0">
              <a:buNone/>
            </a:pP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else</a:t>
            </a:r>
          </a:p>
          <a:p>
            <a:pPr marL="0" indent="0">
              <a:buNone/>
            </a:pP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…;</a:t>
            </a:r>
          </a:p>
          <a:p>
            <a:pPr marL="0" indent="0">
              <a:buNone/>
            </a:pP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else</a:t>
            </a:r>
          </a:p>
          <a:p>
            <a:pPr marL="0" indent="0">
              <a:buNone/>
            </a:pP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if(e21)</a:t>
            </a:r>
          </a:p>
          <a:p>
            <a:pPr marL="0" indent="0">
              <a:buNone/>
            </a:pP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…;</a:t>
            </a:r>
          </a:p>
          <a:p>
            <a:pPr marL="0" indent="0">
              <a:buNone/>
            </a:pP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else</a:t>
            </a:r>
          </a:p>
          <a:p>
            <a:pPr marL="0" indent="0">
              <a:buNone/>
            </a:pP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…;</a:t>
            </a:r>
          </a:p>
          <a:p>
            <a:pPr marL="0" indent="0">
              <a:buNone/>
            </a:pP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97711026-C053-4649-A693-302DE3A71D19}"/>
              </a:ext>
            </a:extLst>
          </p:cNvPr>
          <p:cNvSpPr/>
          <p:nvPr/>
        </p:nvSpPr>
        <p:spPr>
          <a:xfrm>
            <a:off x="5791200" y="2438400"/>
            <a:ext cx="609600" cy="47167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</a:rPr>
              <a:t>e1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68B10703-3303-AB4C-B3C6-E57135DCCD3B}"/>
              </a:ext>
            </a:extLst>
          </p:cNvPr>
          <p:cNvSpPr/>
          <p:nvPr/>
        </p:nvSpPr>
        <p:spPr>
          <a:xfrm>
            <a:off x="4782344" y="3414522"/>
            <a:ext cx="809917" cy="47167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</a:rPr>
              <a:t>e11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F958ECE9-2EA8-5C4D-B3FF-8932D9B07E1D}"/>
              </a:ext>
            </a:extLst>
          </p:cNvPr>
          <p:cNvSpPr/>
          <p:nvPr/>
        </p:nvSpPr>
        <p:spPr>
          <a:xfrm>
            <a:off x="6629400" y="3414522"/>
            <a:ext cx="914400" cy="47167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</a:rPr>
              <a:t>e21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  <p:cxnSp>
        <p:nvCxnSpPr>
          <p:cNvPr id="7" name="直线箭头连接符 6">
            <a:extLst>
              <a:ext uri="{FF2B5EF4-FFF2-40B4-BE49-F238E27FC236}">
                <a16:creationId xmlns:a16="http://schemas.microsoft.com/office/drawing/2014/main" id="{A61DF5BE-6E2D-5D4C-9AC1-1E544ED28970}"/>
              </a:ext>
            </a:extLst>
          </p:cNvPr>
          <p:cNvCxnSpPr>
            <a:cxnSpLocks/>
            <a:endCxn id="5" idx="7"/>
          </p:cNvCxnSpPr>
          <p:nvPr/>
        </p:nvCxnSpPr>
        <p:spPr>
          <a:xfrm flipH="1">
            <a:off x="5473651" y="2877915"/>
            <a:ext cx="413594" cy="60568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线箭头连接符 7">
            <a:extLst>
              <a:ext uri="{FF2B5EF4-FFF2-40B4-BE49-F238E27FC236}">
                <a16:creationId xmlns:a16="http://schemas.microsoft.com/office/drawing/2014/main" id="{C830BFE5-3832-D740-A1C1-D75E8D54637E}"/>
              </a:ext>
            </a:extLst>
          </p:cNvPr>
          <p:cNvCxnSpPr>
            <a:cxnSpLocks/>
            <a:stCxn id="4" idx="5"/>
            <a:endCxn id="6" idx="1"/>
          </p:cNvCxnSpPr>
          <p:nvPr/>
        </p:nvCxnSpPr>
        <p:spPr>
          <a:xfrm>
            <a:off x="6311526" y="2841002"/>
            <a:ext cx="451785" cy="64259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EB0E44DE-0BAA-F04C-A2FF-9C4DC1932F25}"/>
              </a:ext>
            </a:extLst>
          </p:cNvPr>
          <p:cNvSpPr txBox="1"/>
          <p:nvPr/>
        </p:nvSpPr>
        <p:spPr>
          <a:xfrm>
            <a:off x="5280118" y="2930571"/>
            <a:ext cx="8158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>
                <a:solidFill>
                  <a:srgbClr val="FF0000"/>
                </a:solidFill>
              </a:rPr>
              <a:t>e1</a:t>
            </a:r>
            <a:endParaRPr kumimoji="1" lang="zh-CN" altLang="en-US" dirty="0">
              <a:solidFill>
                <a:srgbClr val="FF0000"/>
              </a:solidFill>
            </a:endParaRP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91A81CAF-25EA-5F42-99FE-75445F1789BC}"/>
              </a:ext>
            </a:extLst>
          </p:cNvPr>
          <p:cNvSpPr/>
          <p:nvPr/>
        </p:nvSpPr>
        <p:spPr>
          <a:xfrm>
            <a:off x="3886200" y="5014722"/>
            <a:ext cx="809917" cy="47167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</a:rPr>
              <a:t>e…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  <p:cxnSp>
        <p:nvCxnSpPr>
          <p:cNvPr id="13" name="直线箭头连接符 12">
            <a:extLst>
              <a:ext uri="{FF2B5EF4-FFF2-40B4-BE49-F238E27FC236}">
                <a16:creationId xmlns:a16="http://schemas.microsoft.com/office/drawing/2014/main" id="{A9CC638E-2AA0-0345-BBBC-736C07CAA79D}"/>
              </a:ext>
            </a:extLst>
          </p:cNvPr>
          <p:cNvCxnSpPr>
            <a:cxnSpLocks/>
            <a:endCxn id="12" idx="7"/>
          </p:cNvCxnSpPr>
          <p:nvPr/>
        </p:nvCxnSpPr>
        <p:spPr>
          <a:xfrm flipH="1">
            <a:off x="4577507" y="4648200"/>
            <a:ext cx="299293" cy="43559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闪电形 13">
            <a:extLst>
              <a:ext uri="{FF2B5EF4-FFF2-40B4-BE49-F238E27FC236}">
                <a16:creationId xmlns:a16="http://schemas.microsoft.com/office/drawing/2014/main" id="{A75AF1EB-E229-5D4F-A283-973552EA3430}"/>
              </a:ext>
            </a:extLst>
          </p:cNvPr>
          <p:cNvSpPr/>
          <p:nvPr/>
        </p:nvSpPr>
        <p:spPr>
          <a:xfrm>
            <a:off x="4648200" y="4114800"/>
            <a:ext cx="381000" cy="533400"/>
          </a:xfrm>
          <a:prstGeom prst="lightningBol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15" name="直线箭头连接符 14">
            <a:extLst>
              <a:ext uri="{FF2B5EF4-FFF2-40B4-BE49-F238E27FC236}">
                <a16:creationId xmlns:a16="http://schemas.microsoft.com/office/drawing/2014/main" id="{F98A1AA5-219C-F149-9B5A-502F78F17EC5}"/>
              </a:ext>
            </a:extLst>
          </p:cNvPr>
          <p:cNvCxnSpPr>
            <a:cxnSpLocks/>
          </p:cNvCxnSpPr>
          <p:nvPr/>
        </p:nvCxnSpPr>
        <p:spPr>
          <a:xfrm flipH="1">
            <a:off x="4969895" y="3886200"/>
            <a:ext cx="220028" cy="4393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椭圆 17">
            <a:extLst>
              <a:ext uri="{FF2B5EF4-FFF2-40B4-BE49-F238E27FC236}">
                <a16:creationId xmlns:a16="http://schemas.microsoft.com/office/drawing/2014/main" id="{72A51D4E-4363-834D-9F91-CF8E38D519AA}"/>
              </a:ext>
            </a:extLst>
          </p:cNvPr>
          <p:cNvSpPr/>
          <p:nvPr/>
        </p:nvSpPr>
        <p:spPr>
          <a:xfrm>
            <a:off x="5187302" y="5014722"/>
            <a:ext cx="809917" cy="47167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</a:rPr>
              <a:t>e…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  <p:cxnSp>
        <p:nvCxnSpPr>
          <p:cNvPr id="19" name="直线箭头连接符 18">
            <a:extLst>
              <a:ext uri="{FF2B5EF4-FFF2-40B4-BE49-F238E27FC236}">
                <a16:creationId xmlns:a16="http://schemas.microsoft.com/office/drawing/2014/main" id="{8A94112A-048F-5946-9682-A9EDFEE75ADB}"/>
              </a:ext>
            </a:extLst>
          </p:cNvPr>
          <p:cNvCxnSpPr>
            <a:cxnSpLocks/>
          </p:cNvCxnSpPr>
          <p:nvPr/>
        </p:nvCxnSpPr>
        <p:spPr>
          <a:xfrm>
            <a:off x="5099893" y="4648200"/>
            <a:ext cx="271894" cy="4136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椭圆 20">
            <a:extLst>
              <a:ext uri="{FF2B5EF4-FFF2-40B4-BE49-F238E27FC236}">
                <a16:creationId xmlns:a16="http://schemas.microsoft.com/office/drawing/2014/main" id="{367EEFFB-DCD1-F84C-945E-62EA139FF240}"/>
              </a:ext>
            </a:extLst>
          </p:cNvPr>
          <p:cNvSpPr/>
          <p:nvPr/>
        </p:nvSpPr>
        <p:spPr>
          <a:xfrm>
            <a:off x="6370212" y="5014722"/>
            <a:ext cx="809917" cy="47167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</a:rPr>
              <a:t>e…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  <p:cxnSp>
        <p:nvCxnSpPr>
          <p:cNvPr id="22" name="直线箭头连接符 21">
            <a:extLst>
              <a:ext uri="{FF2B5EF4-FFF2-40B4-BE49-F238E27FC236}">
                <a16:creationId xmlns:a16="http://schemas.microsoft.com/office/drawing/2014/main" id="{BA557CF5-5852-7047-9380-B34C51289926}"/>
              </a:ext>
            </a:extLst>
          </p:cNvPr>
          <p:cNvCxnSpPr>
            <a:cxnSpLocks/>
            <a:endCxn id="21" idx="7"/>
          </p:cNvCxnSpPr>
          <p:nvPr/>
        </p:nvCxnSpPr>
        <p:spPr>
          <a:xfrm flipH="1">
            <a:off x="7061519" y="4648200"/>
            <a:ext cx="299293" cy="43559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闪电形 22">
            <a:extLst>
              <a:ext uri="{FF2B5EF4-FFF2-40B4-BE49-F238E27FC236}">
                <a16:creationId xmlns:a16="http://schemas.microsoft.com/office/drawing/2014/main" id="{D7BDDDF9-F7C6-DB46-A7C2-3ED679EDF07B}"/>
              </a:ext>
            </a:extLst>
          </p:cNvPr>
          <p:cNvSpPr/>
          <p:nvPr/>
        </p:nvSpPr>
        <p:spPr>
          <a:xfrm>
            <a:off x="7314155" y="4276708"/>
            <a:ext cx="381000" cy="533400"/>
          </a:xfrm>
          <a:prstGeom prst="lightningBol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24" name="直线箭头连接符 23">
            <a:extLst>
              <a:ext uri="{FF2B5EF4-FFF2-40B4-BE49-F238E27FC236}">
                <a16:creationId xmlns:a16="http://schemas.microsoft.com/office/drawing/2014/main" id="{E61C648C-C6E9-CD46-AD76-A12399D2521C}"/>
              </a:ext>
            </a:extLst>
          </p:cNvPr>
          <p:cNvCxnSpPr>
            <a:cxnSpLocks/>
          </p:cNvCxnSpPr>
          <p:nvPr/>
        </p:nvCxnSpPr>
        <p:spPr>
          <a:xfrm>
            <a:off x="7093603" y="3887540"/>
            <a:ext cx="211544" cy="37015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椭圆 25">
            <a:extLst>
              <a:ext uri="{FF2B5EF4-FFF2-40B4-BE49-F238E27FC236}">
                <a16:creationId xmlns:a16="http://schemas.microsoft.com/office/drawing/2014/main" id="{5B479FEF-9640-194D-BBAC-7983109167CC}"/>
              </a:ext>
            </a:extLst>
          </p:cNvPr>
          <p:cNvSpPr/>
          <p:nvPr/>
        </p:nvSpPr>
        <p:spPr>
          <a:xfrm>
            <a:off x="7878948" y="5017696"/>
            <a:ext cx="809917" cy="47167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</a:rPr>
              <a:t>e…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  <p:cxnSp>
        <p:nvCxnSpPr>
          <p:cNvPr id="27" name="直线箭头连接符 26">
            <a:extLst>
              <a:ext uri="{FF2B5EF4-FFF2-40B4-BE49-F238E27FC236}">
                <a16:creationId xmlns:a16="http://schemas.microsoft.com/office/drawing/2014/main" id="{3B03921D-2365-2E43-ABD9-AC09B5D62D3D}"/>
              </a:ext>
            </a:extLst>
          </p:cNvPr>
          <p:cNvCxnSpPr>
            <a:cxnSpLocks/>
          </p:cNvCxnSpPr>
          <p:nvPr/>
        </p:nvCxnSpPr>
        <p:spPr>
          <a:xfrm>
            <a:off x="7695155" y="4676383"/>
            <a:ext cx="384388" cy="3722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文本框 28">
                <a:extLst>
                  <a:ext uri="{FF2B5EF4-FFF2-40B4-BE49-F238E27FC236}">
                    <a16:creationId xmlns:a16="http://schemas.microsoft.com/office/drawing/2014/main" id="{D56240FF-C7B4-094F-B010-FAA194EEB6A8}"/>
                  </a:ext>
                </a:extLst>
              </p:cNvPr>
              <p:cNvSpPr txBox="1"/>
              <p:nvPr/>
            </p:nvSpPr>
            <p:spPr>
              <a:xfrm>
                <a:off x="6575192" y="2888543"/>
                <a:ext cx="81588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kumimoji="1" lang="en-US" altLang="zh-CN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¬</m:t>
                    </m:r>
                  </m:oMath>
                </a14:m>
                <a:r>
                  <a:rPr kumimoji="1" lang="en-US" altLang="zh-CN" dirty="0">
                    <a:solidFill>
                      <a:srgbClr val="FF0000"/>
                    </a:solidFill>
                  </a:rPr>
                  <a:t>e1</a:t>
                </a:r>
                <a:endParaRPr kumimoji="1" lang="zh-CN" alt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9" name="文本框 28">
                <a:extLst>
                  <a:ext uri="{FF2B5EF4-FFF2-40B4-BE49-F238E27FC236}">
                    <a16:creationId xmlns:a16="http://schemas.microsoft.com/office/drawing/2014/main" id="{D56240FF-C7B4-094F-B010-FAA194EEB6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75192" y="2888543"/>
                <a:ext cx="815882" cy="369332"/>
              </a:xfrm>
              <a:prstGeom prst="rect">
                <a:avLst/>
              </a:prstGeom>
              <a:blipFill>
                <a:blip r:embed="rId2"/>
                <a:stretch>
                  <a:fillRect t="-3226" b="-2258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3219BFE4-BE67-D14E-8966-B94987A6644A}"/>
                  </a:ext>
                </a:extLst>
              </p:cNvPr>
              <p:cNvSpPr txBox="1"/>
              <p:nvPr/>
            </p:nvSpPr>
            <p:spPr>
              <a:xfrm>
                <a:off x="4240258" y="3816153"/>
                <a:ext cx="120340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dirty="0">
                    <a:solidFill>
                      <a:srgbClr val="FF0000"/>
                    </a:solidFill>
                  </a:rPr>
                  <a:t>e1</a:t>
                </a:r>
                <a:r>
                  <a:rPr kumimoji="1" lang="zh-CN" altLang="en-US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kumimoji="1" lang="zh-CN" altLang="en-US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∧ </m:t>
                    </m:r>
                  </m:oMath>
                </a14:m>
                <a:r>
                  <a:rPr kumimoji="1" lang="en-US" altLang="zh-CN" dirty="0">
                    <a:solidFill>
                      <a:srgbClr val="FF0000"/>
                    </a:solidFill>
                  </a:rPr>
                  <a:t>e11</a:t>
                </a:r>
                <a:endParaRPr kumimoji="1" lang="zh-CN" alt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3219BFE4-BE67-D14E-8966-B94987A664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40258" y="3816153"/>
                <a:ext cx="1203403" cy="369332"/>
              </a:xfrm>
              <a:prstGeom prst="rect">
                <a:avLst/>
              </a:prstGeom>
              <a:blipFill>
                <a:blip r:embed="rId3"/>
                <a:stretch>
                  <a:fillRect l="-4167" t="-6667" b="-23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文本框 30">
                <a:extLst>
                  <a:ext uri="{FF2B5EF4-FFF2-40B4-BE49-F238E27FC236}">
                    <a16:creationId xmlns:a16="http://schemas.microsoft.com/office/drawing/2014/main" id="{BDE9DFF2-C6EF-F14D-8930-D5CFA78E4E4A}"/>
                  </a:ext>
                </a:extLst>
              </p:cNvPr>
              <p:cNvSpPr txBox="1"/>
              <p:nvPr/>
            </p:nvSpPr>
            <p:spPr>
              <a:xfrm>
                <a:off x="7211165" y="3796100"/>
                <a:ext cx="141769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kumimoji="1" lang="en-US" altLang="zh-CN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¬</m:t>
                    </m:r>
                  </m:oMath>
                </a14:m>
                <a:r>
                  <a:rPr kumimoji="1" lang="en-US" altLang="zh-CN" dirty="0">
                    <a:solidFill>
                      <a:srgbClr val="FF0000"/>
                    </a:solidFill>
                  </a:rPr>
                  <a:t>e1</a:t>
                </a:r>
                <a:r>
                  <a:rPr kumimoji="1" lang="zh-CN" altLang="en-US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kumimoji="1" lang="zh-CN" altLang="en-US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kumimoji="1" lang="en-US" altLang="zh-CN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¬</m:t>
                    </m:r>
                  </m:oMath>
                </a14:m>
                <a:r>
                  <a:rPr kumimoji="1" lang="en-US" altLang="zh-CN" dirty="0">
                    <a:solidFill>
                      <a:srgbClr val="FF0000"/>
                    </a:solidFill>
                  </a:rPr>
                  <a:t>e21</a:t>
                </a:r>
                <a:endParaRPr kumimoji="1" lang="zh-CN" alt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1" name="文本框 30">
                <a:extLst>
                  <a:ext uri="{FF2B5EF4-FFF2-40B4-BE49-F238E27FC236}">
                    <a16:creationId xmlns:a16="http://schemas.microsoft.com/office/drawing/2014/main" id="{BDE9DFF2-C6EF-F14D-8930-D5CFA78E4E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11165" y="3796100"/>
                <a:ext cx="1417691" cy="369332"/>
              </a:xfrm>
              <a:prstGeom prst="rect">
                <a:avLst/>
              </a:prstGeom>
              <a:blipFill>
                <a:blip r:embed="rId4"/>
                <a:stretch>
                  <a:fillRect t="-6667" r="-2679" b="-23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2" name="直线箭头连接符 31">
            <a:extLst>
              <a:ext uri="{FF2B5EF4-FFF2-40B4-BE49-F238E27FC236}">
                <a16:creationId xmlns:a16="http://schemas.microsoft.com/office/drawing/2014/main" id="{E817423F-B00A-054E-8446-5B9B2E871BC0}"/>
              </a:ext>
            </a:extLst>
          </p:cNvPr>
          <p:cNvCxnSpPr>
            <a:cxnSpLocks/>
          </p:cNvCxnSpPr>
          <p:nvPr/>
        </p:nvCxnSpPr>
        <p:spPr>
          <a:xfrm>
            <a:off x="5307485" y="3897900"/>
            <a:ext cx="344553" cy="4276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闪电形 34">
            <a:extLst>
              <a:ext uri="{FF2B5EF4-FFF2-40B4-BE49-F238E27FC236}">
                <a16:creationId xmlns:a16="http://schemas.microsoft.com/office/drawing/2014/main" id="{61398BDF-8A28-8144-AA6F-E1CF708D11BD}"/>
              </a:ext>
            </a:extLst>
          </p:cNvPr>
          <p:cNvSpPr/>
          <p:nvPr/>
        </p:nvSpPr>
        <p:spPr>
          <a:xfrm>
            <a:off x="5654604" y="4109346"/>
            <a:ext cx="381000" cy="533400"/>
          </a:xfrm>
          <a:prstGeom prst="lightningBol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37" name="直线箭头连接符 36">
            <a:extLst>
              <a:ext uri="{FF2B5EF4-FFF2-40B4-BE49-F238E27FC236}">
                <a16:creationId xmlns:a16="http://schemas.microsoft.com/office/drawing/2014/main" id="{EC9597DE-725D-1240-A94F-1BDFF141DDFA}"/>
              </a:ext>
            </a:extLst>
          </p:cNvPr>
          <p:cNvCxnSpPr>
            <a:cxnSpLocks/>
          </p:cNvCxnSpPr>
          <p:nvPr/>
        </p:nvCxnSpPr>
        <p:spPr>
          <a:xfrm flipH="1">
            <a:off x="6760798" y="3852958"/>
            <a:ext cx="220028" cy="4393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闪电形 37">
            <a:extLst>
              <a:ext uri="{FF2B5EF4-FFF2-40B4-BE49-F238E27FC236}">
                <a16:creationId xmlns:a16="http://schemas.microsoft.com/office/drawing/2014/main" id="{96B2BA0F-BA0E-1041-90F4-EC77B1826736}"/>
              </a:ext>
            </a:extLst>
          </p:cNvPr>
          <p:cNvSpPr/>
          <p:nvPr/>
        </p:nvSpPr>
        <p:spPr>
          <a:xfrm>
            <a:off x="6457521" y="4142983"/>
            <a:ext cx="381000" cy="533400"/>
          </a:xfrm>
          <a:prstGeom prst="lightningBol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文本框 38">
                <a:extLst>
                  <a:ext uri="{FF2B5EF4-FFF2-40B4-BE49-F238E27FC236}">
                    <a16:creationId xmlns:a16="http://schemas.microsoft.com/office/drawing/2014/main" id="{490FFCB9-0499-8040-BF17-136D826FC94E}"/>
                  </a:ext>
                </a:extLst>
              </p:cNvPr>
              <p:cNvSpPr txBox="1"/>
              <p:nvPr/>
            </p:nvSpPr>
            <p:spPr>
              <a:xfrm>
                <a:off x="6035597" y="3974068"/>
                <a:ext cx="120340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kumimoji="1" lang="en-US" altLang="zh-CN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¬</m:t>
                    </m:r>
                  </m:oMath>
                </a14:m>
                <a:r>
                  <a:rPr kumimoji="1" lang="en-US" altLang="zh-CN" dirty="0">
                    <a:solidFill>
                      <a:srgbClr val="FF0000"/>
                    </a:solidFill>
                  </a:rPr>
                  <a:t>e1</a:t>
                </a:r>
                <a:r>
                  <a:rPr kumimoji="1" lang="zh-CN" altLang="en-US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kumimoji="1" lang="zh-CN" altLang="en-US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∧</m:t>
                    </m:r>
                  </m:oMath>
                </a14:m>
                <a:r>
                  <a:rPr kumimoji="1" lang="en-US" altLang="zh-CN" dirty="0">
                    <a:solidFill>
                      <a:srgbClr val="FF0000"/>
                    </a:solidFill>
                  </a:rPr>
                  <a:t>e21</a:t>
                </a:r>
                <a:endParaRPr kumimoji="1" lang="zh-CN" alt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9" name="文本框 38">
                <a:extLst>
                  <a:ext uri="{FF2B5EF4-FFF2-40B4-BE49-F238E27FC236}">
                    <a16:creationId xmlns:a16="http://schemas.microsoft.com/office/drawing/2014/main" id="{490FFCB9-0499-8040-BF17-136D826FC9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35597" y="3974068"/>
                <a:ext cx="1203403" cy="369332"/>
              </a:xfrm>
              <a:prstGeom prst="rect">
                <a:avLst/>
              </a:prstGeom>
              <a:blipFill>
                <a:blip r:embed="rId5"/>
                <a:stretch>
                  <a:fillRect t="-6667" r="-2083" b="-23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文本框 39">
                <a:extLst>
                  <a:ext uri="{FF2B5EF4-FFF2-40B4-BE49-F238E27FC236}">
                    <a16:creationId xmlns:a16="http://schemas.microsoft.com/office/drawing/2014/main" id="{671D5650-4EA4-A641-AB37-168B14F7F640}"/>
                  </a:ext>
                </a:extLst>
              </p:cNvPr>
              <p:cNvSpPr txBox="1"/>
              <p:nvPr/>
            </p:nvSpPr>
            <p:spPr>
              <a:xfrm>
                <a:off x="5332929" y="3680268"/>
                <a:ext cx="120340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dirty="0">
                    <a:solidFill>
                      <a:srgbClr val="FF0000"/>
                    </a:solidFill>
                  </a:rPr>
                  <a:t>e1</a:t>
                </a:r>
                <a14:m>
                  <m:oMath xmlns:m="http://schemas.openxmlformats.org/officeDocument/2006/math">
                    <m:r>
                      <a:rPr kumimoji="1" lang="zh-CN" altLang="en-US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kumimoji="1" lang="en-US" altLang="zh-CN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¬</m:t>
                    </m:r>
                  </m:oMath>
                </a14:m>
                <a:r>
                  <a:rPr kumimoji="1" lang="en-US" altLang="zh-CN" dirty="0">
                    <a:solidFill>
                      <a:srgbClr val="FF0000"/>
                    </a:solidFill>
                  </a:rPr>
                  <a:t>e11</a:t>
                </a:r>
                <a:endParaRPr kumimoji="1" lang="zh-CN" alt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40" name="文本框 39">
                <a:extLst>
                  <a:ext uri="{FF2B5EF4-FFF2-40B4-BE49-F238E27FC236}">
                    <a16:creationId xmlns:a16="http://schemas.microsoft.com/office/drawing/2014/main" id="{671D5650-4EA4-A641-AB37-168B14F7F6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32929" y="3680268"/>
                <a:ext cx="1203403" cy="369332"/>
              </a:xfrm>
              <a:prstGeom prst="rect">
                <a:avLst/>
              </a:prstGeom>
              <a:blipFill>
                <a:blip r:embed="rId6"/>
                <a:stretch>
                  <a:fillRect l="-5263" t="-6667" b="-23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文本框 40">
                <a:extLst>
                  <a:ext uri="{FF2B5EF4-FFF2-40B4-BE49-F238E27FC236}">
                    <a16:creationId xmlns:a16="http://schemas.microsoft.com/office/drawing/2014/main" id="{B89E1323-992F-6F47-969E-0FBEC8A2A56B}"/>
                  </a:ext>
                </a:extLst>
              </p:cNvPr>
              <p:cNvSpPr txBox="1"/>
              <p:nvPr/>
            </p:nvSpPr>
            <p:spPr>
              <a:xfrm>
                <a:off x="3733800" y="5791200"/>
                <a:ext cx="4955065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dirty="0"/>
                  <a:t>With nested ‘if’ statements of depth </a:t>
                </a:r>
                <a:r>
                  <a:rPr kumimoji="1" lang="en-US" altLang="zh-CN" dirty="0">
                    <a:solidFill>
                      <a:srgbClr val="0432FF"/>
                    </a:solidFill>
                  </a:rPr>
                  <a:t>N</a:t>
                </a:r>
                <a:r>
                  <a:rPr kumimoji="1" lang="en-US" altLang="zh-CN" dirty="0"/>
                  <a:t>, the number of possible paths are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1" lang="en-US" altLang="zh-CN" b="0" i="1" smtClean="0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zh-CN" b="0" i="1" smtClean="0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  <m:r>
                          <a:rPr kumimoji="1" lang="en-US" altLang="zh-CN" b="0" i="1" smtClean="0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</a:rPr>
                          <m:t>(2</m:t>
                        </m:r>
                      </m:e>
                      <m:sup>
                        <m:r>
                          <a:rPr kumimoji="1" lang="en-US" altLang="zh-CN" b="0" i="1" smtClean="0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</m:sSup>
                    <m:r>
                      <a:rPr kumimoji="1" lang="en-US" altLang="zh-CN" b="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).</m:t>
                    </m:r>
                  </m:oMath>
                </a14:m>
                <a:endParaRPr kumimoji="1" lang="zh-CN" altLang="en-US" dirty="0"/>
              </a:p>
            </p:txBody>
          </p:sp>
        </mc:Choice>
        <mc:Fallback xmlns="">
          <p:sp>
            <p:nvSpPr>
              <p:cNvPr id="41" name="文本框 40">
                <a:extLst>
                  <a:ext uri="{FF2B5EF4-FFF2-40B4-BE49-F238E27FC236}">
                    <a16:creationId xmlns:a16="http://schemas.microsoft.com/office/drawing/2014/main" id="{B89E1323-992F-6F47-969E-0FBEC8A2A5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33800" y="5791200"/>
                <a:ext cx="4955065" cy="646331"/>
              </a:xfrm>
              <a:prstGeom prst="rect">
                <a:avLst/>
              </a:prstGeom>
              <a:blipFill>
                <a:blip r:embed="rId7"/>
                <a:stretch>
                  <a:fillRect l="-1023" t="-3922" b="-1176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463609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29" grpId="0"/>
      <p:bldP spid="30" grpId="0"/>
      <p:bldP spid="31" grpId="0"/>
      <p:bldP spid="39" grpId="0"/>
      <p:bldP spid="40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824D9FE-F439-6A49-9DBB-B634541E41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#1: Path explosion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10EBF09-4B98-D942-BD79-7E351135D7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/>
              <a:t>Approach #1: randomly select some path when branching</a:t>
            </a:r>
          </a:p>
          <a:p>
            <a:pPr lvl="1"/>
            <a:r>
              <a:rPr kumimoji="1" lang="en-US" altLang="zh-CN" dirty="0"/>
              <a:t>sacrifice completeness, but still better than ad-hoc testing/fuzzing</a:t>
            </a:r>
          </a:p>
          <a:p>
            <a:r>
              <a:rPr kumimoji="1" lang="en-US" altLang="zh-CN" dirty="0"/>
              <a:t>Approach #2: select path according to coverage info’</a:t>
            </a:r>
          </a:p>
          <a:p>
            <a:r>
              <a:rPr kumimoji="1" lang="en-US" altLang="zh-CN" dirty="0"/>
              <a:t>Approach #3: combine symbolic execution with testing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1952693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83B1A98-5D2E-F84C-8A75-A8FC62CA10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#2: Loops and recursions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EA67DCE-2389-6343-AFC1-54E1B9454D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//</a:t>
            </a:r>
            <a:r>
              <a: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Loops introduce non-termination:</a:t>
            </a:r>
          </a:p>
          <a:p>
            <a:pPr marL="0" indent="0">
              <a:buNone/>
            </a:pPr>
            <a:r>
              <a:rPr kumimoji="1" lang="en-US" altLang="zh-CN" sz="2000" b="1" dirty="0" err="1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sum(</a:t>
            </a:r>
            <a:r>
              <a:rPr kumimoji="1" lang="en-US" altLang="zh-CN" sz="2000" b="1" dirty="0" err="1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n){</a:t>
            </a:r>
          </a:p>
          <a:p>
            <a:pPr marL="0" indent="0">
              <a:buNone/>
            </a:pP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kumimoji="1" lang="en-US" altLang="zh-CN" sz="2000" b="1" dirty="0" err="1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s = 0, </a:t>
            </a:r>
            <a:r>
              <a:rPr kumimoji="1" lang="en-US" altLang="zh-CN" sz="2000" b="1" dirty="0" err="1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0;</a:t>
            </a:r>
          </a:p>
          <a:p>
            <a:pPr marL="0" indent="0">
              <a:buNone/>
            </a:pP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while(</a:t>
            </a:r>
            <a:r>
              <a:rPr kumimoji="1" lang="en-US" altLang="zh-CN" sz="2000" b="1" dirty="0" err="1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&lt;=n){</a:t>
            </a:r>
          </a:p>
          <a:p>
            <a:pPr marL="0" indent="0">
              <a:buNone/>
            </a:pP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s = </a:t>
            </a:r>
            <a:r>
              <a:rPr kumimoji="1" lang="en-US" altLang="zh-CN" sz="2000" b="1" dirty="0" err="1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s+i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buNone/>
            </a:pP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kumimoji="1" lang="en-US" altLang="zh-CN" sz="2000" b="1" dirty="0" err="1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i+1;</a:t>
            </a:r>
          </a:p>
          <a:p>
            <a:pPr marL="0" indent="0">
              <a:buNone/>
            </a:pP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</a:p>
          <a:p>
            <a:pPr marL="0" indent="0">
              <a:buNone/>
            </a:pP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return s;</a:t>
            </a:r>
          </a:p>
          <a:p>
            <a:pPr marL="0" indent="0">
              <a:buNone/>
            </a:pP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97711026-C053-4649-A693-302DE3A71D19}"/>
              </a:ext>
            </a:extLst>
          </p:cNvPr>
          <p:cNvSpPr/>
          <p:nvPr/>
        </p:nvSpPr>
        <p:spPr>
          <a:xfrm>
            <a:off x="5592261" y="2438400"/>
            <a:ext cx="1168537" cy="47167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 err="1">
                <a:solidFill>
                  <a:schemeClr val="tx1"/>
                </a:solidFill>
              </a:rPr>
              <a:t>i</a:t>
            </a:r>
            <a:r>
              <a:rPr kumimoji="1" lang="en-US" altLang="zh-CN" dirty="0">
                <a:solidFill>
                  <a:schemeClr val="tx1"/>
                </a:solidFill>
              </a:rPr>
              <a:t>&lt;=n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68B10703-3303-AB4C-B3C6-E57135DCCD3B}"/>
              </a:ext>
            </a:extLst>
          </p:cNvPr>
          <p:cNvSpPr/>
          <p:nvPr/>
        </p:nvSpPr>
        <p:spPr>
          <a:xfrm>
            <a:off x="4739913" y="3299903"/>
            <a:ext cx="809917" cy="47167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</a:rPr>
              <a:t>e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  <p:cxnSp>
        <p:nvCxnSpPr>
          <p:cNvPr id="7" name="直线箭头连接符 6">
            <a:extLst>
              <a:ext uri="{FF2B5EF4-FFF2-40B4-BE49-F238E27FC236}">
                <a16:creationId xmlns:a16="http://schemas.microsoft.com/office/drawing/2014/main" id="{A61DF5BE-6E2D-5D4C-9AC1-1E544ED28970}"/>
              </a:ext>
            </a:extLst>
          </p:cNvPr>
          <p:cNvCxnSpPr>
            <a:cxnSpLocks/>
            <a:endCxn id="5" idx="7"/>
          </p:cNvCxnSpPr>
          <p:nvPr/>
        </p:nvCxnSpPr>
        <p:spPr>
          <a:xfrm flipH="1">
            <a:off x="5431220" y="2910078"/>
            <a:ext cx="452949" cy="45890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线箭头连接符 7">
            <a:extLst>
              <a:ext uri="{FF2B5EF4-FFF2-40B4-BE49-F238E27FC236}">
                <a16:creationId xmlns:a16="http://schemas.microsoft.com/office/drawing/2014/main" id="{C830BFE5-3832-D740-A1C1-D75E8D54637E}"/>
              </a:ext>
            </a:extLst>
          </p:cNvPr>
          <p:cNvCxnSpPr>
            <a:cxnSpLocks/>
            <a:stCxn id="4" idx="5"/>
            <a:endCxn id="42" idx="1"/>
          </p:cNvCxnSpPr>
          <p:nvPr/>
        </p:nvCxnSpPr>
        <p:spPr>
          <a:xfrm>
            <a:off x="6589670" y="2841002"/>
            <a:ext cx="650673" cy="58069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EB0E44DE-0BAA-F04C-A2FF-9C4DC1932F25}"/>
              </a:ext>
            </a:extLst>
          </p:cNvPr>
          <p:cNvSpPr txBox="1"/>
          <p:nvPr/>
        </p:nvSpPr>
        <p:spPr>
          <a:xfrm>
            <a:off x="5280118" y="2930571"/>
            <a:ext cx="8158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>
                <a:solidFill>
                  <a:srgbClr val="FF0000"/>
                </a:solidFill>
              </a:rPr>
              <a:t>e</a:t>
            </a:r>
            <a:endParaRPr kumimoji="1" lang="zh-CN" altLang="en-US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文本框 28">
                <a:extLst>
                  <a:ext uri="{FF2B5EF4-FFF2-40B4-BE49-F238E27FC236}">
                    <a16:creationId xmlns:a16="http://schemas.microsoft.com/office/drawing/2014/main" id="{D56240FF-C7B4-094F-B010-FAA194EEB6A8}"/>
                  </a:ext>
                </a:extLst>
              </p:cNvPr>
              <p:cNvSpPr txBox="1"/>
              <p:nvPr/>
            </p:nvSpPr>
            <p:spPr>
              <a:xfrm>
                <a:off x="6659681" y="2877812"/>
                <a:ext cx="81588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kumimoji="1" lang="en-US" altLang="zh-CN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¬</m:t>
                    </m:r>
                  </m:oMath>
                </a14:m>
                <a:r>
                  <a:rPr kumimoji="1" lang="en-US" altLang="zh-CN" dirty="0">
                    <a:solidFill>
                      <a:srgbClr val="FF0000"/>
                    </a:solidFill>
                  </a:rPr>
                  <a:t>e</a:t>
                </a:r>
                <a:endParaRPr kumimoji="1" lang="zh-CN" alt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9" name="文本框 28">
                <a:extLst>
                  <a:ext uri="{FF2B5EF4-FFF2-40B4-BE49-F238E27FC236}">
                    <a16:creationId xmlns:a16="http://schemas.microsoft.com/office/drawing/2014/main" id="{D56240FF-C7B4-094F-B010-FAA194EEB6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59681" y="2877812"/>
                <a:ext cx="815882" cy="369332"/>
              </a:xfrm>
              <a:prstGeom prst="rect">
                <a:avLst/>
              </a:prstGeom>
              <a:blipFill>
                <a:blip r:embed="rId2"/>
                <a:stretch>
                  <a:fillRect t="-6667" b="-23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文本框 40">
                <a:extLst>
                  <a:ext uri="{FF2B5EF4-FFF2-40B4-BE49-F238E27FC236}">
                    <a16:creationId xmlns:a16="http://schemas.microsoft.com/office/drawing/2014/main" id="{B89E1323-992F-6F47-969E-0FBEC8A2A56B}"/>
                  </a:ext>
                </a:extLst>
              </p:cNvPr>
              <p:cNvSpPr txBox="1"/>
              <p:nvPr/>
            </p:nvSpPr>
            <p:spPr>
              <a:xfrm>
                <a:off x="6910994" y="2049393"/>
                <a:ext cx="869554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dirty="0" err="1"/>
                  <a:t>i</a:t>
                </a:r>
                <a:r>
                  <a:rPr kumimoji="1" lang="zh-CN" altLang="en-US" dirty="0">
                    <a:solidFill>
                      <a:srgbClr val="0432FF"/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zh-CN" altLang="en-US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↦</m:t>
                    </m:r>
                    <m:r>
                      <a:rPr kumimoji="1" lang="zh-CN" altLang="en-US" i="1" dirty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kumimoji="1" lang="en-US" altLang="zh-CN" dirty="0"/>
                  <a:t>0</a:t>
                </a:r>
              </a:p>
              <a:p>
                <a:r>
                  <a:rPr kumimoji="1" lang="en-US" altLang="zh-CN" dirty="0"/>
                  <a:t>s</a:t>
                </a:r>
                <a:r>
                  <a:rPr kumimoji="1" lang="zh-CN" altLang="en-US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zh-CN" altLang="en-US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↦</m:t>
                    </m:r>
                  </m:oMath>
                </a14:m>
                <a:r>
                  <a:rPr kumimoji="1" lang="en-US" altLang="zh-CN" dirty="0"/>
                  <a:t> 0</a:t>
                </a:r>
              </a:p>
              <a:p>
                <a:r>
                  <a:rPr kumimoji="1" lang="en-US" altLang="zh-CN" dirty="0"/>
                  <a:t>n</a:t>
                </a:r>
                <a:r>
                  <a:rPr kumimoji="1" lang="zh-CN" altLang="en-US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zh-CN" altLang="en-US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↦ </m:t>
                    </m:r>
                  </m:oMath>
                </a14:m>
                <a:r>
                  <a:rPr kumimoji="1" lang="en-US" altLang="zh-CN" dirty="0"/>
                  <a:t>n</a:t>
                </a:r>
                <a:endParaRPr kumimoji="1" lang="zh-CN" altLang="en-US" dirty="0"/>
              </a:p>
            </p:txBody>
          </p:sp>
        </mc:Choice>
        <mc:Fallback xmlns="">
          <p:sp>
            <p:nvSpPr>
              <p:cNvPr id="41" name="文本框 40">
                <a:extLst>
                  <a:ext uri="{FF2B5EF4-FFF2-40B4-BE49-F238E27FC236}">
                    <a16:creationId xmlns:a16="http://schemas.microsoft.com/office/drawing/2014/main" id="{B89E1323-992F-6F47-969E-0FBEC8A2A5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10994" y="2049393"/>
                <a:ext cx="869554" cy="923330"/>
              </a:xfrm>
              <a:prstGeom prst="rect">
                <a:avLst/>
              </a:prstGeom>
              <a:blipFill>
                <a:blip r:embed="rId3"/>
                <a:stretch>
                  <a:fillRect l="-4286" t="-1351" b="-945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2" name="椭圆 41">
            <a:extLst>
              <a:ext uri="{FF2B5EF4-FFF2-40B4-BE49-F238E27FC236}">
                <a16:creationId xmlns:a16="http://schemas.microsoft.com/office/drawing/2014/main" id="{7D1506A3-F2C4-1D43-8AFF-E1364CA65E78}"/>
              </a:ext>
            </a:extLst>
          </p:cNvPr>
          <p:cNvSpPr/>
          <p:nvPr/>
        </p:nvSpPr>
        <p:spPr>
          <a:xfrm>
            <a:off x="7121733" y="3352618"/>
            <a:ext cx="809917" cy="47167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</a:rPr>
              <a:t>s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097810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29" grpId="0"/>
      <p:bldP spid="41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83B1A98-5D2E-F84C-8A75-A8FC62CA10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#2: Loops and recursions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EA67DCE-2389-6343-AFC1-54E1B9454D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//</a:t>
            </a:r>
            <a:r>
              <a: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Loops introduce non-termination:</a:t>
            </a:r>
          </a:p>
          <a:p>
            <a:pPr marL="0" indent="0">
              <a:buNone/>
            </a:pPr>
            <a:r>
              <a:rPr kumimoji="1" lang="en-US" altLang="zh-CN" sz="2000" b="1" dirty="0" err="1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sum(</a:t>
            </a:r>
            <a:r>
              <a:rPr kumimoji="1" lang="en-US" altLang="zh-CN" sz="2000" b="1" dirty="0" err="1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n){</a:t>
            </a:r>
          </a:p>
          <a:p>
            <a:pPr marL="0" indent="0">
              <a:buNone/>
            </a:pP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kumimoji="1" lang="en-US" altLang="zh-CN" sz="2000" b="1" dirty="0" err="1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s = 0, </a:t>
            </a:r>
            <a:r>
              <a:rPr kumimoji="1" lang="en-US" altLang="zh-CN" sz="2000" b="1" dirty="0" err="1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0;</a:t>
            </a:r>
          </a:p>
          <a:p>
            <a:pPr marL="0" indent="0">
              <a:buNone/>
            </a:pP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while(</a:t>
            </a:r>
            <a:r>
              <a:rPr kumimoji="1" lang="en-US" altLang="zh-CN" sz="2000" b="1" dirty="0" err="1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&lt;=n){</a:t>
            </a:r>
          </a:p>
          <a:p>
            <a:pPr marL="0" indent="0">
              <a:buNone/>
            </a:pP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s = </a:t>
            </a:r>
            <a:r>
              <a:rPr kumimoji="1" lang="en-US" altLang="zh-CN" sz="2000" b="1" dirty="0" err="1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s+i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buNone/>
            </a:pP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kumimoji="1" lang="en-US" altLang="zh-CN" sz="2000" b="1" dirty="0" err="1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i+1;</a:t>
            </a:r>
          </a:p>
          <a:p>
            <a:pPr marL="0" indent="0">
              <a:buNone/>
            </a:pP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</a:p>
          <a:p>
            <a:pPr marL="0" indent="0">
              <a:buNone/>
            </a:pP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return s;</a:t>
            </a:r>
          </a:p>
          <a:p>
            <a:pPr marL="0" indent="0">
              <a:buNone/>
            </a:pP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97711026-C053-4649-A693-302DE3A71D19}"/>
              </a:ext>
            </a:extLst>
          </p:cNvPr>
          <p:cNvSpPr/>
          <p:nvPr/>
        </p:nvSpPr>
        <p:spPr>
          <a:xfrm>
            <a:off x="5592261" y="2438400"/>
            <a:ext cx="1168537" cy="47167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 err="1">
                <a:solidFill>
                  <a:schemeClr val="tx1"/>
                </a:solidFill>
              </a:rPr>
              <a:t>i</a:t>
            </a:r>
            <a:r>
              <a:rPr kumimoji="1" lang="en-US" altLang="zh-CN" dirty="0">
                <a:solidFill>
                  <a:schemeClr val="tx1"/>
                </a:solidFill>
              </a:rPr>
              <a:t>&lt;=n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68B10703-3303-AB4C-B3C6-E57135DCCD3B}"/>
              </a:ext>
            </a:extLst>
          </p:cNvPr>
          <p:cNvSpPr/>
          <p:nvPr/>
        </p:nvSpPr>
        <p:spPr>
          <a:xfrm>
            <a:off x="4420058" y="3414522"/>
            <a:ext cx="1172204" cy="47167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 err="1">
                <a:solidFill>
                  <a:schemeClr val="tx1"/>
                </a:solidFill>
              </a:rPr>
              <a:t>i</a:t>
            </a:r>
            <a:r>
              <a:rPr kumimoji="1" lang="en-US" altLang="zh-CN" dirty="0">
                <a:solidFill>
                  <a:schemeClr val="tx1"/>
                </a:solidFill>
              </a:rPr>
              <a:t>&lt;=n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  <p:cxnSp>
        <p:nvCxnSpPr>
          <p:cNvPr id="7" name="直线箭头连接符 6">
            <a:extLst>
              <a:ext uri="{FF2B5EF4-FFF2-40B4-BE49-F238E27FC236}">
                <a16:creationId xmlns:a16="http://schemas.microsoft.com/office/drawing/2014/main" id="{A61DF5BE-6E2D-5D4C-9AC1-1E544ED28970}"/>
              </a:ext>
            </a:extLst>
          </p:cNvPr>
          <p:cNvCxnSpPr>
            <a:cxnSpLocks/>
            <a:endCxn id="5" idx="7"/>
          </p:cNvCxnSpPr>
          <p:nvPr/>
        </p:nvCxnSpPr>
        <p:spPr>
          <a:xfrm flipH="1">
            <a:off x="5420597" y="2877915"/>
            <a:ext cx="466648" cy="60568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线箭头连接符 7">
            <a:extLst>
              <a:ext uri="{FF2B5EF4-FFF2-40B4-BE49-F238E27FC236}">
                <a16:creationId xmlns:a16="http://schemas.microsoft.com/office/drawing/2014/main" id="{C830BFE5-3832-D740-A1C1-D75E8D54637E}"/>
              </a:ext>
            </a:extLst>
          </p:cNvPr>
          <p:cNvCxnSpPr>
            <a:cxnSpLocks/>
            <a:stCxn id="4" idx="5"/>
          </p:cNvCxnSpPr>
          <p:nvPr/>
        </p:nvCxnSpPr>
        <p:spPr>
          <a:xfrm>
            <a:off x="6589670" y="2841002"/>
            <a:ext cx="774179" cy="27052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EB0E44DE-0BAA-F04C-A2FF-9C4DC1932F25}"/>
              </a:ext>
            </a:extLst>
          </p:cNvPr>
          <p:cNvSpPr txBox="1"/>
          <p:nvPr/>
        </p:nvSpPr>
        <p:spPr>
          <a:xfrm>
            <a:off x="5280118" y="2930571"/>
            <a:ext cx="8158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>
                <a:solidFill>
                  <a:srgbClr val="FF0000"/>
                </a:solidFill>
              </a:rPr>
              <a:t>0&lt;=n</a:t>
            </a:r>
            <a:endParaRPr kumimoji="1" lang="zh-CN" altLang="en-US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文本框 28">
                <a:extLst>
                  <a:ext uri="{FF2B5EF4-FFF2-40B4-BE49-F238E27FC236}">
                    <a16:creationId xmlns:a16="http://schemas.microsoft.com/office/drawing/2014/main" id="{D56240FF-C7B4-094F-B010-FAA194EEB6A8}"/>
                  </a:ext>
                </a:extLst>
              </p:cNvPr>
              <p:cNvSpPr txBox="1"/>
              <p:nvPr/>
            </p:nvSpPr>
            <p:spPr>
              <a:xfrm>
                <a:off x="6659681" y="2877812"/>
                <a:ext cx="81588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kumimoji="1" lang="en-US" altLang="zh-CN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¬</m:t>
                    </m:r>
                  </m:oMath>
                </a14:m>
                <a:r>
                  <a:rPr kumimoji="1" lang="en-US" altLang="zh-CN" dirty="0">
                    <a:solidFill>
                      <a:srgbClr val="FF0000"/>
                    </a:solidFill>
                  </a:rPr>
                  <a:t>e</a:t>
                </a:r>
                <a:endParaRPr kumimoji="1" lang="zh-CN" alt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9" name="文本框 28">
                <a:extLst>
                  <a:ext uri="{FF2B5EF4-FFF2-40B4-BE49-F238E27FC236}">
                    <a16:creationId xmlns:a16="http://schemas.microsoft.com/office/drawing/2014/main" id="{D56240FF-C7B4-094F-B010-FAA194EEB6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59681" y="2877812"/>
                <a:ext cx="815882" cy="369332"/>
              </a:xfrm>
              <a:prstGeom prst="rect">
                <a:avLst/>
              </a:prstGeom>
              <a:blipFill>
                <a:blip r:embed="rId2"/>
                <a:stretch>
                  <a:fillRect t="-6667" b="-23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文本框 40">
                <a:extLst>
                  <a:ext uri="{FF2B5EF4-FFF2-40B4-BE49-F238E27FC236}">
                    <a16:creationId xmlns:a16="http://schemas.microsoft.com/office/drawing/2014/main" id="{B89E1323-992F-6F47-969E-0FBEC8A2A56B}"/>
                  </a:ext>
                </a:extLst>
              </p:cNvPr>
              <p:cNvSpPr txBox="1"/>
              <p:nvPr/>
            </p:nvSpPr>
            <p:spPr>
              <a:xfrm>
                <a:off x="7034138" y="2161911"/>
                <a:ext cx="869554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dirty="0" err="1"/>
                  <a:t>i</a:t>
                </a:r>
                <a:r>
                  <a:rPr kumimoji="1" lang="zh-CN" altLang="en-US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zh-CN" altLang="en-US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↦</m:t>
                    </m:r>
                  </m:oMath>
                </a14:m>
                <a:r>
                  <a:rPr kumimoji="1" lang="en-US" altLang="zh-CN" dirty="0"/>
                  <a:t> 0</a:t>
                </a:r>
              </a:p>
              <a:p>
                <a:r>
                  <a:rPr kumimoji="1" lang="en-US" altLang="zh-CN" dirty="0"/>
                  <a:t>s</a:t>
                </a:r>
                <a:r>
                  <a:rPr kumimoji="1" lang="zh-CN" altLang="en-US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zh-CN" altLang="en-US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↦</m:t>
                    </m:r>
                  </m:oMath>
                </a14:m>
                <a:r>
                  <a:rPr kumimoji="1" lang="en-US" altLang="zh-CN" dirty="0"/>
                  <a:t> 0</a:t>
                </a:r>
              </a:p>
              <a:p>
                <a:r>
                  <a:rPr kumimoji="1" lang="en-US" altLang="zh-CN" dirty="0"/>
                  <a:t>n</a:t>
                </a:r>
                <a:r>
                  <a:rPr kumimoji="1" lang="zh-CN" altLang="en-US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zh-CN" altLang="en-US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↦ </m:t>
                    </m:r>
                  </m:oMath>
                </a14:m>
                <a:r>
                  <a:rPr kumimoji="1" lang="en-US" altLang="zh-CN" dirty="0"/>
                  <a:t>n</a:t>
                </a:r>
                <a:endParaRPr kumimoji="1" lang="zh-CN" altLang="en-US" dirty="0"/>
              </a:p>
            </p:txBody>
          </p:sp>
        </mc:Choice>
        <mc:Fallback xmlns="">
          <p:sp>
            <p:nvSpPr>
              <p:cNvPr id="41" name="文本框 40">
                <a:extLst>
                  <a:ext uri="{FF2B5EF4-FFF2-40B4-BE49-F238E27FC236}">
                    <a16:creationId xmlns:a16="http://schemas.microsoft.com/office/drawing/2014/main" id="{B89E1323-992F-6F47-969E-0FBEC8A2A5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34138" y="2161911"/>
                <a:ext cx="869554" cy="923330"/>
              </a:xfrm>
              <a:prstGeom prst="rect">
                <a:avLst/>
              </a:prstGeom>
              <a:blipFill>
                <a:blip r:embed="rId3"/>
                <a:stretch>
                  <a:fillRect l="-5797" t="-1351" b="-945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椭圆 24">
            <a:extLst>
              <a:ext uri="{FF2B5EF4-FFF2-40B4-BE49-F238E27FC236}">
                <a16:creationId xmlns:a16="http://schemas.microsoft.com/office/drawing/2014/main" id="{95EEC447-8970-4541-B749-3CD998892BEB}"/>
              </a:ext>
            </a:extLst>
          </p:cNvPr>
          <p:cNvSpPr/>
          <p:nvPr/>
        </p:nvSpPr>
        <p:spPr>
          <a:xfrm>
            <a:off x="3657600" y="4252722"/>
            <a:ext cx="1038517" cy="47167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 err="1">
                <a:solidFill>
                  <a:schemeClr val="tx1"/>
                </a:solidFill>
              </a:rPr>
              <a:t>i</a:t>
            </a:r>
            <a:r>
              <a:rPr kumimoji="1" lang="en-US" altLang="zh-CN" dirty="0">
                <a:solidFill>
                  <a:schemeClr val="tx1"/>
                </a:solidFill>
              </a:rPr>
              <a:t>&lt;=n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  <p:cxnSp>
        <p:nvCxnSpPr>
          <p:cNvPr id="28" name="直线箭头连接符 27">
            <a:extLst>
              <a:ext uri="{FF2B5EF4-FFF2-40B4-BE49-F238E27FC236}">
                <a16:creationId xmlns:a16="http://schemas.microsoft.com/office/drawing/2014/main" id="{9D881620-F5FF-5547-A626-52D7E9EA7822}"/>
              </a:ext>
            </a:extLst>
          </p:cNvPr>
          <p:cNvCxnSpPr>
            <a:cxnSpLocks/>
            <a:endCxn id="25" idx="7"/>
          </p:cNvCxnSpPr>
          <p:nvPr/>
        </p:nvCxnSpPr>
        <p:spPr>
          <a:xfrm flipH="1">
            <a:off x="4544030" y="3886200"/>
            <a:ext cx="332772" cy="43559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椭圆 29">
            <a:extLst>
              <a:ext uri="{FF2B5EF4-FFF2-40B4-BE49-F238E27FC236}">
                <a16:creationId xmlns:a16="http://schemas.microsoft.com/office/drawing/2014/main" id="{E5B06E46-6675-9A47-A3C5-AFBE3EDF7072}"/>
              </a:ext>
            </a:extLst>
          </p:cNvPr>
          <p:cNvSpPr/>
          <p:nvPr/>
        </p:nvSpPr>
        <p:spPr>
          <a:xfrm>
            <a:off x="5991956" y="4285456"/>
            <a:ext cx="809917" cy="47167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</a:rPr>
              <a:t>s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  <p:cxnSp>
        <p:nvCxnSpPr>
          <p:cNvPr id="32" name="直线箭头连接符 31">
            <a:extLst>
              <a:ext uri="{FF2B5EF4-FFF2-40B4-BE49-F238E27FC236}">
                <a16:creationId xmlns:a16="http://schemas.microsoft.com/office/drawing/2014/main" id="{52F59D97-F92A-4147-B782-FA0498CFD710}"/>
              </a:ext>
            </a:extLst>
          </p:cNvPr>
          <p:cNvCxnSpPr>
            <a:cxnSpLocks/>
            <a:endCxn id="30" idx="1"/>
          </p:cNvCxnSpPr>
          <p:nvPr/>
        </p:nvCxnSpPr>
        <p:spPr>
          <a:xfrm>
            <a:off x="5099893" y="3886200"/>
            <a:ext cx="1010673" cy="4683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文本框 32">
                <a:extLst>
                  <a:ext uri="{FF2B5EF4-FFF2-40B4-BE49-F238E27FC236}">
                    <a16:creationId xmlns:a16="http://schemas.microsoft.com/office/drawing/2014/main" id="{D4B50C6E-A53E-D640-A12A-047ED4930C92}"/>
                  </a:ext>
                </a:extLst>
              </p:cNvPr>
              <p:cNvSpPr txBox="1"/>
              <p:nvPr/>
            </p:nvSpPr>
            <p:spPr>
              <a:xfrm>
                <a:off x="5651154" y="3180669"/>
                <a:ext cx="1160613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dirty="0" err="1"/>
                  <a:t>i</a:t>
                </a:r>
                <a:r>
                  <a:rPr kumimoji="1" lang="zh-CN" altLang="en-US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zh-CN" altLang="en-US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↦ </m:t>
                    </m:r>
                  </m:oMath>
                </a14:m>
                <a:r>
                  <a:rPr kumimoji="1" lang="en-US" altLang="zh-CN" dirty="0"/>
                  <a:t>0+1</a:t>
                </a:r>
              </a:p>
              <a:p>
                <a:r>
                  <a:rPr kumimoji="1" lang="en-US" altLang="zh-CN" dirty="0"/>
                  <a:t>s</a:t>
                </a:r>
                <a:r>
                  <a:rPr kumimoji="1" lang="zh-CN" altLang="en-US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zh-CN" altLang="en-US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↦ </m:t>
                    </m:r>
                  </m:oMath>
                </a14:m>
                <a:r>
                  <a:rPr kumimoji="1" lang="en-US" altLang="zh-CN" dirty="0"/>
                  <a:t>0+0</a:t>
                </a:r>
              </a:p>
              <a:p>
                <a:r>
                  <a:rPr kumimoji="1" lang="en-US" altLang="zh-CN" dirty="0"/>
                  <a:t>n</a:t>
                </a:r>
                <a:r>
                  <a:rPr kumimoji="1" lang="zh-CN" altLang="en-US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zh-CN" altLang="en-US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↦ </m:t>
                    </m:r>
                  </m:oMath>
                </a14:m>
                <a:r>
                  <a:rPr kumimoji="1" lang="en-US" altLang="zh-CN" dirty="0"/>
                  <a:t>n</a:t>
                </a:r>
                <a:endParaRPr kumimoji="1" lang="zh-CN" altLang="en-US" dirty="0"/>
              </a:p>
            </p:txBody>
          </p:sp>
        </mc:Choice>
        <mc:Fallback xmlns="">
          <p:sp>
            <p:nvSpPr>
              <p:cNvPr id="33" name="文本框 32">
                <a:extLst>
                  <a:ext uri="{FF2B5EF4-FFF2-40B4-BE49-F238E27FC236}">
                    <a16:creationId xmlns:a16="http://schemas.microsoft.com/office/drawing/2014/main" id="{D4B50C6E-A53E-D640-A12A-047ED4930C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51154" y="3180669"/>
                <a:ext cx="1160613" cy="923330"/>
              </a:xfrm>
              <a:prstGeom prst="rect">
                <a:avLst/>
              </a:prstGeom>
              <a:blipFill>
                <a:blip r:embed="rId4"/>
                <a:stretch>
                  <a:fillRect l="-3261" t="-1351" b="-945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文本框 33">
            <a:extLst>
              <a:ext uri="{FF2B5EF4-FFF2-40B4-BE49-F238E27FC236}">
                <a16:creationId xmlns:a16="http://schemas.microsoft.com/office/drawing/2014/main" id="{33C89395-EFFC-CB4A-95A4-F0FF20503B86}"/>
              </a:ext>
            </a:extLst>
          </p:cNvPr>
          <p:cNvSpPr txBox="1"/>
          <p:nvPr/>
        </p:nvSpPr>
        <p:spPr>
          <a:xfrm>
            <a:off x="3657600" y="3883390"/>
            <a:ext cx="13270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>
                <a:solidFill>
                  <a:srgbClr val="FF0000"/>
                </a:solidFill>
              </a:rPr>
              <a:t>0+1&lt;=n</a:t>
            </a:r>
            <a:endParaRPr kumimoji="1" lang="zh-CN" altLang="en-US" dirty="0">
              <a:solidFill>
                <a:srgbClr val="FF0000"/>
              </a:solidFill>
            </a:endParaRPr>
          </a:p>
        </p:txBody>
      </p:sp>
      <p:cxnSp>
        <p:nvCxnSpPr>
          <p:cNvPr id="35" name="直线箭头连接符 34">
            <a:extLst>
              <a:ext uri="{FF2B5EF4-FFF2-40B4-BE49-F238E27FC236}">
                <a16:creationId xmlns:a16="http://schemas.microsoft.com/office/drawing/2014/main" id="{D8BF9897-E4D3-7448-B6A5-7E3F9FD5F280}"/>
              </a:ext>
            </a:extLst>
          </p:cNvPr>
          <p:cNvCxnSpPr>
            <a:cxnSpLocks/>
          </p:cNvCxnSpPr>
          <p:nvPr/>
        </p:nvCxnSpPr>
        <p:spPr>
          <a:xfrm flipH="1">
            <a:off x="3857402" y="4714150"/>
            <a:ext cx="332772" cy="43559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闪电形 35">
            <a:extLst>
              <a:ext uri="{FF2B5EF4-FFF2-40B4-BE49-F238E27FC236}">
                <a16:creationId xmlns:a16="http://schemas.microsoft.com/office/drawing/2014/main" id="{242FE372-ED56-A242-9676-84AD73A6EB54}"/>
              </a:ext>
            </a:extLst>
          </p:cNvPr>
          <p:cNvSpPr/>
          <p:nvPr/>
        </p:nvSpPr>
        <p:spPr>
          <a:xfrm>
            <a:off x="3476402" y="5185828"/>
            <a:ext cx="381000" cy="533400"/>
          </a:xfrm>
          <a:prstGeom prst="lightningBol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94AEA7A3-A897-BE48-B753-50C2445BAABC}"/>
              </a:ext>
            </a:extLst>
          </p:cNvPr>
          <p:cNvSpPr txBox="1"/>
          <p:nvPr/>
        </p:nvSpPr>
        <p:spPr>
          <a:xfrm>
            <a:off x="3124200" y="4733587"/>
            <a:ext cx="16792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>
                <a:solidFill>
                  <a:srgbClr val="FF0000"/>
                </a:solidFill>
              </a:rPr>
              <a:t>0+1+2&lt;=n</a:t>
            </a:r>
            <a:endParaRPr kumimoji="1" lang="zh-CN" altLang="en-US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文本框 38">
                <a:extLst>
                  <a:ext uri="{FF2B5EF4-FFF2-40B4-BE49-F238E27FC236}">
                    <a16:creationId xmlns:a16="http://schemas.microsoft.com/office/drawing/2014/main" id="{44DAB865-704B-3E4C-A5F7-826FDE2409AA}"/>
                  </a:ext>
                </a:extLst>
              </p:cNvPr>
              <p:cNvSpPr txBox="1"/>
              <p:nvPr/>
            </p:nvSpPr>
            <p:spPr>
              <a:xfrm>
                <a:off x="4696117" y="4130066"/>
                <a:ext cx="1963564" cy="7386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sz="1400" dirty="0" err="1"/>
                  <a:t>i</a:t>
                </a:r>
                <a:r>
                  <a:rPr kumimoji="1" lang="zh-CN" altLang="en-US" sz="14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zh-CN" altLang="en-US" sz="1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↦</m:t>
                    </m:r>
                  </m:oMath>
                </a14:m>
                <a:r>
                  <a:rPr kumimoji="1" lang="en-US" altLang="zh-CN" sz="1400" dirty="0"/>
                  <a:t> 0+1+2</a:t>
                </a:r>
              </a:p>
              <a:p>
                <a:r>
                  <a:rPr kumimoji="1" lang="en-US" altLang="zh-CN" sz="1400" dirty="0"/>
                  <a:t>s</a:t>
                </a:r>
                <a:r>
                  <a:rPr kumimoji="1" lang="zh-CN" altLang="en-US" sz="14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zh-CN" altLang="en-US" sz="1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↦</m:t>
                    </m:r>
                  </m:oMath>
                </a14:m>
                <a:r>
                  <a:rPr kumimoji="1" lang="en-US" altLang="zh-CN" sz="1400" dirty="0"/>
                  <a:t> 0+0+(0+1)</a:t>
                </a:r>
              </a:p>
              <a:p>
                <a:r>
                  <a:rPr kumimoji="1" lang="en-US" altLang="zh-CN" sz="1400" dirty="0"/>
                  <a:t>n</a:t>
                </a:r>
                <a:r>
                  <a:rPr kumimoji="1" lang="zh-CN" altLang="en-US" sz="14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zh-CN" altLang="en-US" sz="1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↦ </m:t>
                    </m:r>
                  </m:oMath>
                </a14:m>
                <a:r>
                  <a:rPr kumimoji="1" lang="en-US" altLang="zh-CN" sz="1400"/>
                  <a:t>n</a:t>
                </a:r>
                <a:endParaRPr kumimoji="1" lang="zh-CN" altLang="en-US" sz="1400" dirty="0"/>
              </a:p>
            </p:txBody>
          </p:sp>
        </mc:Choice>
        <mc:Fallback xmlns="">
          <p:sp>
            <p:nvSpPr>
              <p:cNvPr id="39" name="文本框 38">
                <a:extLst>
                  <a:ext uri="{FF2B5EF4-FFF2-40B4-BE49-F238E27FC236}">
                    <a16:creationId xmlns:a16="http://schemas.microsoft.com/office/drawing/2014/main" id="{44DAB865-704B-3E4C-A5F7-826FDE2409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96117" y="4130066"/>
                <a:ext cx="1963564" cy="738664"/>
              </a:xfrm>
              <a:prstGeom prst="rect">
                <a:avLst/>
              </a:prstGeom>
              <a:blipFill>
                <a:blip r:embed="rId5"/>
                <a:stretch>
                  <a:fillRect l="-645" b="-678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0" name="直线箭头连接符 39">
            <a:extLst>
              <a:ext uri="{FF2B5EF4-FFF2-40B4-BE49-F238E27FC236}">
                <a16:creationId xmlns:a16="http://schemas.microsoft.com/office/drawing/2014/main" id="{8329B451-21E5-D647-9518-894867F2BF50}"/>
              </a:ext>
            </a:extLst>
          </p:cNvPr>
          <p:cNvCxnSpPr>
            <a:cxnSpLocks/>
          </p:cNvCxnSpPr>
          <p:nvPr/>
        </p:nvCxnSpPr>
        <p:spPr>
          <a:xfrm>
            <a:off x="4518576" y="4648200"/>
            <a:ext cx="1010673" cy="4683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椭圆 42">
            <a:extLst>
              <a:ext uri="{FF2B5EF4-FFF2-40B4-BE49-F238E27FC236}">
                <a16:creationId xmlns:a16="http://schemas.microsoft.com/office/drawing/2014/main" id="{5E596844-45C6-114F-B333-D7BB9EB35971}"/>
              </a:ext>
            </a:extLst>
          </p:cNvPr>
          <p:cNvSpPr/>
          <p:nvPr/>
        </p:nvSpPr>
        <p:spPr>
          <a:xfrm>
            <a:off x="5486400" y="5014722"/>
            <a:ext cx="809917" cy="47167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</a:rPr>
              <a:t>s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  <p:sp>
        <p:nvSpPr>
          <p:cNvPr id="44" name="椭圆 43">
            <a:extLst>
              <a:ext uri="{FF2B5EF4-FFF2-40B4-BE49-F238E27FC236}">
                <a16:creationId xmlns:a16="http://schemas.microsoft.com/office/drawing/2014/main" id="{756AD190-11D9-2A41-B5CF-64351729FC83}"/>
              </a:ext>
            </a:extLst>
          </p:cNvPr>
          <p:cNvSpPr/>
          <p:nvPr/>
        </p:nvSpPr>
        <p:spPr>
          <a:xfrm>
            <a:off x="7293694" y="2993600"/>
            <a:ext cx="809917" cy="47167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</a:rPr>
              <a:t>s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08600838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577C46B-AB93-A648-A78F-AF1A3720C0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#2: Loops and recursion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6BD1D89-38B8-1448-A0F7-0C550D9BB1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82688" y="2017713"/>
            <a:ext cx="7772400" cy="1385428"/>
          </a:xfrm>
        </p:spPr>
        <p:txBody>
          <a:bodyPr/>
          <a:lstStyle/>
          <a:p>
            <a:r>
              <a:rPr kumimoji="1" lang="en-US" altLang="zh-CN" dirty="0"/>
              <a:t>Bounded symbolic execution</a:t>
            </a:r>
          </a:p>
          <a:p>
            <a:pPr lvl="1"/>
            <a:r>
              <a:rPr kumimoji="1" lang="en-US" altLang="zh-CN" dirty="0"/>
              <a:t>finitize the loops</a:t>
            </a: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2B9EC47E-5FF2-4F44-9EBF-C22F39085E7A}"/>
              </a:ext>
            </a:extLst>
          </p:cNvPr>
          <p:cNvSpPr txBox="1">
            <a:spLocks/>
          </p:cNvSpPr>
          <p:nvPr/>
        </p:nvSpPr>
        <p:spPr bwMode="auto">
          <a:xfrm>
            <a:off x="414881" y="3657600"/>
            <a:ext cx="3547519" cy="304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>
              <a:buFont typeface="Wingdings" pitchFamily="2" charset="2"/>
              <a:buNone/>
            </a:pPr>
            <a:r>
              <a:rPr kumimoji="1" lang="en-US" altLang="zh-CN" sz="2000" b="1" kern="0" dirty="0">
                <a:latin typeface="Courier New" panose="02070309020205020404" pitchFamily="49" charset="0"/>
                <a:cs typeface="Courier New" panose="02070309020205020404" pitchFamily="49" charset="0"/>
              </a:rPr>
              <a:t>//</a:t>
            </a:r>
            <a:r>
              <a:rPr kumimoji="1" lang="zh-CN" altLang="en-US" sz="2000" b="1" kern="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kern="0" dirty="0">
                <a:latin typeface="Courier New" panose="02070309020205020404" pitchFamily="49" charset="0"/>
                <a:cs typeface="Courier New" panose="02070309020205020404" pitchFamily="49" charset="0"/>
              </a:rPr>
              <a:t>Original:</a:t>
            </a:r>
          </a:p>
          <a:p>
            <a:pPr marL="0" indent="0">
              <a:buFont typeface="Wingdings" pitchFamily="2" charset="2"/>
              <a:buNone/>
            </a:pPr>
            <a:r>
              <a:rPr kumimoji="1" lang="en-US" altLang="zh-CN" sz="2000" b="1" kern="0" dirty="0" err="1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kumimoji="1" lang="en-US" altLang="zh-CN" sz="2000" b="1" kern="0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sum(</a:t>
            </a:r>
            <a:r>
              <a:rPr kumimoji="1" lang="en-US" altLang="zh-CN" sz="2000" b="1" kern="0" dirty="0" err="1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kumimoji="1" lang="en-US" altLang="zh-CN" sz="2000" b="1" kern="0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n){</a:t>
            </a:r>
          </a:p>
          <a:p>
            <a:pPr marL="0" indent="0">
              <a:buFont typeface="Wingdings" pitchFamily="2" charset="2"/>
              <a:buNone/>
            </a:pPr>
            <a:r>
              <a:rPr kumimoji="1" lang="en-US" altLang="zh-CN" sz="2000" b="1" kern="0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kumimoji="1" lang="en-US" altLang="zh-CN" sz="2000" b="1" kern="0" dirty="0" err="1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kumimoji="1" lang="en-US" altLang="zh-CN" sz="2000" b="1" kern="0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s = 0, </a:t>
            </a:r>
            <a:r>
              <a:rPr kumimoji="1" lang="en-US" altLang="zh-CN" sz="2000" b="1" kern="0" dirty="0" err="1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kumimoji="1" lang="en-US" altLang="zh-CN" sz="2000" b="1" kern="0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0;</a:t>
            </a:r>
          </a:p>
          <a:p>
            <a:pPr marL="0" indent="0">
              <a:buFont typeface="Wingdings" pitchFamily="2" charset="2"/>
              <a:buNone/>
            </a:pPr>
            <a:r>
              <a:rPr kumimoji="1" lang="en-US" altLang="zh-CN" sz="2000" b="1" kern="0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while(e){</a:t>
            </a:r>
          </a:p>
          <a:p>
            <a:pPr marL="0" indent="0">
              <a:buFont typeface="Wingdings" pitchFamily="2" charset="2"/>
              <a:buNone/>
            </a:pPr>
            <a:r>
              <a:rPr kumimoji="1" lang="en-US" altLang="zh-CN" sz="2000" b="1" kern="0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S;</a:t>
            </a:r>
          </a:p>
          <a:p>
            <a:pPr marL="0" indent="0">
              <a:buFont typeface="Wingdings" pitchFamily="2" charset="2"/>
              <a:buNone/>
            </a:pPr>
            <a:r>
              <a:rPr kumimoji="1" lang="en-US" altLang="zh-CN" sz="2000" b="1" kern="0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</a:p>
          <a:p>
            <a:pPr marL="0" indent="0">
              <a:buFont typeface="Wingdings" pitchFamily="2" charset="2"/>
              <a:buNone/>
            </a:pPr>
            <a:r>
              <a:rPr kumimoji="1" lang="en-US" altLang="zh-CN" sz="2000" b="1" kern="0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return s;</a:t>
            </a:r>
          </a:p>
          <a:p>
            <a:pPr marL="0" indent="0">
              <a:buFont typeface="Wingdings" pitchFamily="2" charset="2"/>
              <a:buNone/>
            </a:pPr>
            <a:r>
              <a:rPr kumimoji="1" lang="en-US" altLang="zh-CN" sz="2000" b="1" kern="0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5" name="内容占位符 2">
            <a:extLst>
              <a:ext uri="{FF2B5EF4-FFF2-40B4-BE49-F238E27FC236}">
                <a16:creationId xmlns:a16="http://schemas.microsoft.com/office/drawing/2014/main" id="{3987E9BF-373B-8740-B17B-336F197B649F}"/>
              </a:ext>
            </a:extLst>
          </p:cNvPr>
          <p:cNvSpPr txBox="1">
            <a:spLocks/>
          </p:cNvSpPr>
          <p:nvPr/>
        </p:nvSpPr>
        <p:spPr bwMode="auto">
          <a:xfrm>
            <a:off x="5047456" y="3641558"/>
            <a:ext cx="3547519" cy="304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>
              <a:buFont typeface="Wingdings" pitchFamily="2" charset="2"/>
              <a:buNone/>
            </a:pPr>
            <a:r>
              <a:rPr kumimoji="1" lang="en-US" altLang="zh-CN" sz="2000" b="1" kern="0" dirty="0">
                <a:latin typeface="Courier New" panose="02070309020205020404" pitchFamily="49" charset="0"/>
                <a:cs typeface="Courier New" panose="02070309020205020404" pitchFamily="49" charset="0"/>
              </a:rPr>
              <a:t>//</a:t>
            </a:r>
            <a:r>
              <a:rPr kumimoji="1" lang="zh-CN" altLang="en-US" sz="2000" b="1" kern="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kern="0" dirty="0">
                <a:latin typeface="Courier New" panose="02070309020205020404" pitchFamily="49" charset="0"/>
                <a:cs typeface="Courier New" panose="02070309020205020404" pitchFamily="49" charset="0"/>
              </a:rPr>
              <a:t>New:</a:t>
            </a:r>
          </a:p>
          <a:p>
            <a:pPr marL="0" indent="0">
              <a:buFont typeface="Wingdings" pitchFamily="2" charset="2"/>
              <a:buNone/>
            </a:pPr>
            <a:r>
              <a:rPr kumimoji="1" lang="en-US" altLang="zh-CN" sz="2000" b="1" kern="0" dirty="0" err="1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kumimoji="1" lang="en-US" altLang="zh-CN" sz="2000" b="1" kern="0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sum(</a:t>
            </a:r>
            <a:r>
              <a:rPr kumimoji="1" lang="en-US" altLang="zh-CN" sz="2000" b="1" kern="0" dirty="0" err="1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kumimoji="1" lang="en-US" altLang="zh-CN" sz="2000" b="1" kern="0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n){</a:t>
            </a:r>
          </a:p>
          <a:p>
            <a:pPr marL="0" indent="0">
              <a:buFont typeface="Wingdings" pitchFamily="2" charset="2"/>
              <a:buNone/>
            </a:pPr>
            <a:r>
              <a:rPr kumimoji="1" lang="en-US" altLang="zh-CN" sz="2000" b="1" kern="0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kumimoji="1" lang="en-US" altLang="zh-CN" sz="2000" b="1" kern="0" dirty="0" err="1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kumimoji="1" lang="en-US" altLang="zh-CN" sz="2000" b="1" kern="0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s = 0, </a:t>
            </a:r>
            <a:r>
              <a:rPr kumimoji="1" lang="en-US" altLang="zh-CN" sz="2000" b="1" kern="0" dirty="0" err="1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kumimoji="1" lang="en-US" altLang="zh-CN" sz="2000" b="1" kern="0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0;</a:t>
            </a:r>
          </a:p>
          <a:p>
            <a:pPr marL="0" indent="0">
              <a:buFont typeface="Wingdings" pitchFamily="2" charset="2"/>
              <a:buNone/>
            </a:pPr>
            <a:r>
              <a:rPr kumimoji="1" lang="en-US" altLang="zh-CN" sz="2000" b="1" kern="0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if(e){</a:t>
            </a:r>
          </a:p>
          <a:p>
            <a:pPr marL="0" indent="0">
              <a:buFont typeface="Wingdings" pitchFamily="2" charset="2"/>
              <a:buNone/>
            </a:pPr>
            <a:r>
              <a:rPr kumimoji="1" lang="en-US" altLang="zh-CN" sz="2000" b="1" kern="0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S;</a:t>
            </a:r>
          </a:p>
          <a:p>
            <a:pPr marL="0" indent="0">
              <a:buFont typeface="Wingdings" pitchFamily="2" charset="2"/>
              <a:buNone/>
            </a:pPr>
            <a:r>
              <a:rPr kumimoji="1" lang="en-US" altLang="zh-CN" sz="2000" b="1" kern="0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</a:p>
          <a:p>
            <a:pPr marL="0" indent="0">
              <a:buFont typeface="Wingdings" pitchFamily="2" charset="2"/>
              <a:buNone/>
            </a:pPr>
            <a:r>
              <a:rPr kumimoji="1" lang="en-US" altLang="zh-CN" sz="2000" b="1" kern="0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return s;</a:t>
            </a:r>
          </a:p>
          <a:p>
            <a:pPr marL="0" indent="0">
              <a:buFont typeface="Wingdings" pitchFamily="2" charset="2"/>
              <a:buNone/>
            </a:pPr>
            <a:r>
              <a:rPr kumimoji="1" lang="en-US" altLang="zh-CN" sz="2000" b="1" kern="0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6" name="右箭头 5">
            <a:extLst>
              <a:ext uri="{FF2B5EF4-FFF2-40B4-BE49-F238E27FC236}">
                <a16:creationId xmlns:a16="http://schemas.microsoft.com/office/drawing/2014/main" id="{D52B9623-5D54-0644-B7DA-2488555594B2}"/>
              </a:ext>
            </a:extLst>
          </p:cNvPr>
          <p:cNvSpPr/>
          <p:nvPr/>
        </p:nvSpPr>
        <p:spPr>
          <a:xfrm>
            <a:off x="3581400" y="4895057"/>
            <a:ext cx="1487488" cy="28654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83C9DA9-9D88-E54B-BA02-CF9B3D2A0FE4}"/>
              </a:ext>
            </a:extLst>
          </p:cNvPr>
          <p:cNvSpPr txBox="1"/>
          <p:nvPr/>
        </p:nvSpPr>
        <p:spPr>
          <a:xfrm>
            <a:off x="3514601" y="4280810"/>
            <a:ext cx="15542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One possible conversion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38635796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83B1A98-5D2E-F84C-8A75-A8FC62CA10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#3: Heap modeling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EA67DCE-2389-6343-AFC1-54E1B9454D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//</a:t>
            </a:r>
            <a:r>
              <a: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The program:</a:t>
            </a:r>
          </a:p>
          <a:p>
            <a:pPr marL="0" indent="0">
              <a:buNone/>
            </a:pP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 </a:t>
            </a:r>
            <a:r>
              <a:rPr kumimoji="1" lang="en-US" altLang="zh-CN" sz="2000" b="1" dirty="0" err="1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foobar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kumimoji="1" lang="en-US" altLang="zh-CN" sz="2000" b="1" dirty="0" err="1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 err="1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kumimoji="1" lang="en-US" altLang="zh-CN" sz="2000" b="1" dirty="0" err="1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j){</a:t>
            </a:r>
          </a:p>
          <a:p>
            <a:pPr marL="0" indent="0">
              <a:buNone/>
            </a:pP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kumimoji="1" lang="en-US" altLang="zh-CN" sz="2000" b="1" dirty="0" err="1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a[2] = {0};</a:t>
            </a:r>
          </a:p>
          <a:p>
            <a:pPr marL="0" indent="0">
              <a:buNone/>
            </a:pP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if(</a:t>
            </a:r>
            <a:r>
              <a:rPr kumimoji="1" lang="en-US" altLang="zh-CN" sz="2000" b="1" dirty="0" err="1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&gt;1 || j&gt;1)</a:t>
            </a:r>
          </a:p>
          <a:p>
            <a:pPr marL="0" indent="0">
              <a:buNone/>
            </a:pP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return;</a:t>
            </a:r>
          </a:p>
          <a:p>
            <a:pPr marL="0" indent="0">
              <a:buNone/>
            </a:pP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a[</a:t>
            </a:r>
            <a:r>
              <a:rPr kumimoji="1" lang="en-US" altLang="zh-CN" sz="2000" b="1" dirty="0" err="1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 = 5;</a:t>
            </a:r>
          </a:p>
          <a:p>
            <a:pPr marL="0" indent="0">
              <a:buNone/>
            </a:pP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assert(a[j] != 5);</a:t>
            </a:r>
          </a:p>
          <a:p>
            <a:pPr marL="0" indent="0">
              <a:buNone/>
            </a:pP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>
              <a:buNone/>
            </a:pPr>
            <a:endParaRPr kumimoji="1" lang="en-US" altLang="zh-CN" sz="2000" b="1" dirty="0">
              <a:solidFill>
                <a:srgbClr val="0432FF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864D15C6-F2FE-8D4E-86A7-6B8A02FCFA93}"/>
              </a:ext>
            </a:extLst>
          </p:cNvPr>
          <p:cNvSpPr txBox="1"/>
          <p:nvPr/>
        </p:nvSpPr>
        <p:spPr>
          <a:xfrm>
            <a:off x="3505200" y="4876800"/>
            <a:ext cx="5181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What values of </a:t>
            </a:r>
            <a:r>
              <a:rPr kumimoji="1" lang="en-US" altLang="zh-CN" dirty="0" err="1"/>
              <a:t>i</a:t>
            </a:r>
            <a:r>
              <a:rPr kumimoji="1" lang="en-US" altLang="zh-CN" dirty="0"/>
              <a:t> and j to make the assert() fail?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63900909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577C46B-AB93-A648-A78F-AF1A3720C0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#3: Heap modeling</a:t>
            </a:r>
            <a:endParaRPr kumimoji="1"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B6BD1D89-38B8-1448-A0F7-0C550D9BB17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kumimoji="1" lang="en-US" altLang="zh-CN" dirty="0"/>
                  <a:t>Option #1: full symbolic heap</a:t>
                </a:r>
              </a:p>
              <a:p>
                <a:pPr lvl="1"/>
                <a:r>
                  <a:rPr kumimoji="1" lang="en-US" altLang="zh-CN" dirty="0"/>
                  <a:t>modeling the heap: </a:t>
                </a:r>
              </a:p>
              <a:p>
                <a:pPr lvl="2"/>
                <a:r>
                  <a:rPr kumimoji="1" lang="en-US" altLang="zh-CN" dirty="0"/>
                  <a:t>H: l </a:t>
                </a:r>
                <a14:m>
                  <m:oMath xmlns:m="http://schemas.openxmlformats.org/officeDocument/2006/math">
                    <m:r>
                      <a:rPr kumimoji="1" lang="en-US" altLang="zh-CN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kumimoji="1" lang="en-US" altLang="zh-CN" dirty="0"/>
                  <a:t> </a:t>
                </a:r>
                <a:r>
                  <a:rPr kumimoji="1" lang="en-US" altLang="zh-CN" dirty="0" err="1"/>
                  <a:t>symValue</a:t>
                </a:r>
                <a:endParaRPr kumimoji="1" lang="en-US" altLang="zh-CN" dirty="0"/>
              </a:p>
              <a:p>
                <a:pPr lvl="1"/>
                <a:r>
                  <a:rPr kumimoji="1" lang="en-US" altLang="zh-CN" dirty="0"/>
                  <a:t>heap accesses incur state duplications</a:t>
                </a:r>
              </a:p>
              <a:p>
                <a:r>
                  <a:rPr kumimoji="1" lang="en-US" altLang="zh-CN" dirty="0"/>
                  <a:t>Option #2: use theory of arrays and pointers</a:t>
                </a:r>
              </a:p>
              <a:p>
                <a:pPr lvl="1"/>
                <a:r>
                  <a:rPr kumimoji="1" lang="en-US" altLang="zh-CN" dirty="0">
                    <a:ea typeface="Cambria Math" panose="02040503050406030204" pitchFamily="18" charset="0"/>
                  </a:rPr>
                  <a:t>as we discussed in previous lectures</a:t>
                </a:r>
                <a:endParaRPr kumimoji="1" lang="zh-CN" altLang="en-US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B6BD1D89-38B8-1448-A0F7-0C550D9BB17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489" t="-184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45370080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577C46B-AB93-A648-A78F-AF1A3720C0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#4: Environment modeling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6BD1D89-38B8-1448-A0F7-0C550D9BB1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/>
              <a:t>The software components must interact with the external environments</a:t>
            </a:r>
          </a:p>
          <a:p>
            <a:pPr lvl="1"/>
            <a:r>
              <a:rPr kumimoji="1" lang="en-US" altLang="zh-CN" dirty="0"/>
              <a:t>invoke libraries, system calls, </a:t>
            </a:r>
            <a:r>
              <a:rPr kumimoji="1" lang="en-US" altLang="zh-CN" dirty="0" err="1"/>
              <a:t>env</a:t>
            </a:r>
            <a:r>
              <a:rPr kumimoji="1" lang="en-US" altLang="zh-CN" dirty="0"/>
              <a:t>. </a:t>
            </a:r>
            <a:r>
              <a:rPr kumimoji="1" lang="en-US" altLang="zh-CN" dirty="0" err="1"/>
              <a:t>vars</a:t>
            </a:r>
            <a:r>
              <a:rPr kumimoji="1" lang="en-US" altLang="zh-CN" dirty="0"/>
              <a:t>, …</a:t>
            </a:r>
          </a:p>
          <a:p>
            <a:r>
              <a:rPr kumimoji="1" lang="en-US" altLang="zh-CN" dirty="0"/>
              <a:t>The symbolic executor must model the environment</a:t>
            </a:r>
          </a:p>
          <a:p>
            <a:pPr lvl="1"/>
            <a:r>
              <a:rPr kumimoji="1" lang="en-US" altLang="zh-CN" dirty="0"/>
              <a:t>the whole software stack!</a:t>
            </a:r>
          </a:p>
          <a:p>
            <a:pPr lvl="1"/>
            <a:r>
              <a:rPr kumimoji="1" lang="en-US" altLang="zh-CN" dirty="0"/>
              <a:t>tedious</a:t>
            </a:r>
            <a:r>
              <a:rPr kumimoji="1" lang="zh-CN" altLang="en-US" dirty="0"/>
              <a:t> </a:t>
            </a:r>
            <a:r>
              <a:rPr kumimoji="1" lang="en-US" altLang="zh-CN" dirty="0"/>
              <a:t>and</a:t>
            </a:r>
            <a:r>
              <a:rPr kumimoji="1" lang="zh-CN" altLang="en-US" dirty="0"/>
              <a:t> </a:t>
            </a:r>
            <a:r>
              <a:rPr kumimoji="1" lang="en-US" altLang="zh-CN" dirty="0"/>
              <a:t>error-prone</a:t>
            </a:r>
          </a:p>
        </p:txBody>
      </p:sp>
    </p:spTree>
    <p:extLst>
      <p:ext uri="{BB962C8B-B14F-4D97-AF65-F5344CB8AC3E}">
        <p14:creationId xmlns:p14="http://schemas.microsoft.com/office/powerpoint/2010/main" val="1869969264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577C46B-AB93-A648-A78F-AF1A3720C0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#4: Environment modeling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6BD1D89-38B8-1448-A0F7-0C550D9BB1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/>
              <a:t>Option #1: combine concrete execution</a:t>
            </a:r>
          </a:p>
          <a:p>
            <a:pPr lvl="1"/>
            <a:r>
              <a:rPr kumimoji="1" lang="en-US" altLang="zh-CN" dirty="0"/>
              <a:t>thus ignore the current path</a:t>
            </a:r>
          </a:p>
          <a:p>
            <a:r>
              <a:rPr kumimoji="1" lang="en-US" altLang="zh-CN" dirty="0"/>
              <a:t>Option #2: build model</a:t>
            </a:r>
          </a:p>
          <a:p>
            <a:pPr lvl="1"/>
            <a:r>
              <a:rPr kumimoji="1" lang="en-US" altLang="zh-CN" dirty="0"/>
              <a:t>file systems</a:t>
            </a:r>
          </a:p>
          <a:p>
            <a:pPr lvl="1"/>
            <a:r>
              <a:rPr kumimoji="1" lang="en-US" altLang="zh-CN" dirty="0"/>
              <a:t>network stack</a:t>
            </a:r>
          </a:p>
          <a:p>
            <a:pPr lvl="1"/>
            <a:r>
              <a:rPr kumimoji="1" lang="en-US" altLang="zh-CN" dirty="0"/>
              <a:t>…</a:t>
            </a:r>
          </a:p>
          <a:p>
            <a:pPr lvl="1"/>
            <a:r>
              <a:rPr kumimoji="1" lang="en-US" altLang="zh-CN" dirty="0"/>
              <a:t>approach</a:t>
            </a:r>
            <a:r>
              <a:rPr kumimoji="1" lang="zh-CN" altLang="en-US" dirty="0"/>
              <a:t> </a:t>
            </a:r>
            <a:r>
              <a:rPr kumimoji="1" lang="en-US" altLang="zh-CN" dirty="0"/>
              <a:t>used</a:t>
            </a:r>
            <a:r>
              <a:rPr kumimoji="1" lang="zh-CN" altLang="en-US" dirty="0"/>
              <a:t> </a:t>
            </a:r>
            <a:r>
              <a:rPr kumimoji="1" lang="en-US" altLang="zh-CN" dirty="0"/>
              <a:t>in</a:t>
            </a:r>
            <a:r>
              <a:rPr kumimoji="1" lang="zh-CN" altLang="en-US" dirty="0"/>
              <a:t> </a:t>
            </a:r>
            <a:r>
              <a:rPr kumimoji="1" lang="en-US" altLang="zh-CN" dirty="0"/>
              <a:t>KLEE</a:t>
            </a:r>
            <a:r>
              <a:rPr kumimoji="1" lang="zh-CN" altLang="en-US" dirty="0"/>
              <a:t> </a:t>
            </a:r>
            <a:r>
              <a:rPr kumimoji="1" lang="en-US" altLang="zh-CN" dirty="0"/>
              <a:t>etc.</a:t>
            </a:r>
          </a:p>
        </p:txBody>
      </p:sp>
    </p:spTree>
    <p:extLst>
      <p:ext uri="{BB962C8B-B14F-4D97-AF65-F5344CB8AC3E}">
        <p14:creationId xmlns:p14="http://schemas.microsoft.com/office/powerpoint/2010/main" val="2514974263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83B1A98-5D2E-F84C-8A75-A8FC62CA10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#5: constraint solving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EA67DCE-2389-6343-AFC1-54E1B9454D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//</a:t>
            </a:r>
            <a:r>
              <a: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The program:</a:t>
            </a:r>
          </a:p>
          <a:p>
            <a:pPr marL="0" indent="0">
              <a:buNone/>
            </a:pP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 foo(</a:t>
            </a:r>
            <a:r>
              <a:rPr kumimoji="1" lang="en-US" altLang="zh-CN" sz="2000" b="1" dirty="0" err="1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 err="1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kumimoji="1" lang="en-US" altLang="zh-CN" sz="2000" b="1" dirty="0" err="1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j){</a:t>
            </a:r>
          </a:p>
          <a:p>
            <a:pPr marL="0" indent="0">
              <a:buNone/>
            </a:pP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kumimoji="1" lang="en-US" altLang="zh-CN" sz="2000" b="1" dirty="0" err="1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a = </a:t>
            </a:r>
            <a:r>
              <a:rPr kumimoji="1" lang="en-US" altLang="zh-CN" sz="2000" b="1" dirty="0" err="1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*</a:t>
            </a:r>
            <a:r>
              <a:rPr kumimoji="1" lang="en-US" altLang="zh-CN" sz="2000" b="1" dirty="0" err="1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*</a:t>
            </a:r>
            <a:r>
              <a:rPr kumimoji="1" lang="en-US" altLang="zh-CN" sz="2000" b="1" dirty="0" err="1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buNone/>
            </a:pP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kumimoji="1" lang="en-US" altLang="zh-CN" sz="2000" b="1" dirty="0" err="1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b = j*j*j;</a:t>
            </a:r>
          </a:p>
          <a:p>
            <a:pPr marL="0" indent="0">
              <a:buNone/>
            </a:pP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1/(</a:t>
            </a:r>
            <a:r>
              <a:rPr kumimoji="1" lang="en-US" altLang="zh-CN" sz="2000" b="1" dirty="0" err="1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a+b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marL="0" indent="0">
              <a:buNone/>
            </a:pP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>
              <a:buNone/>
            </a:pPr>
            <a:endParaRPr kumimoji="1" lang="en-US" altLang="zh-CN" sz="2000" b="1" dirty="0">
              <a:solidFill>
                <a:srgbClr val="0432FF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864D15C6-F2FE-8D4E-86A7-6B8A02FCFA93}"/>
              </a:ext>
            </a:extLst>
          </p:cNvPr>
          <p:cNvSpPr txBox="1"/>
          <p:nvPr/>
        </p:nvSpPr>
        <p:spPr>
          <a:xfrm>
            <a:off x="2133600" y="4419600"/>
            <a:ext cx="59436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The generated obligation is:</a:t>
            </a:r>
          </a:p>
          <a:p>
            <a:r>
              <a:rPr kumimoji="1" lang="en-US" altLang="zh-CN" b="1" dirty="0" err="1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kumimoji="1" lang="en-US" altLang="zh-CN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*</a:t>
            </a:r>
            <a:r>
              <a:rPr kumimoji="1" lang="en-US" altLang="zh-CN" b="1" dirty="0" err="1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kumimoji="1" lang="en-US" altLang="zh-CN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*</a:t>
            </a:r>
            <a:r>
              <a:rPr kumimoji="1" lang="en-US" altLang="zh-CN" b="1" dirty="0" err="1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i+j</a:t>
            </a:r>
            <a:r>
              <a:rPr kumimoji="1" lang="en-US" altLang="zh-CN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*j*j==0</a:t>
            </a:r>
          </a:p>
          <a:p>
            <a:endParaRPr kumimoji="1" lang="en-US" altLang="zh-CN" b="1" dirty="0">
              <a:solidFill>
                <a:srgbClr val="0432FF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kumimoji="1" lang="en-US" altLang="zh-CN" dirty="0"/>
              <a:t>which may be beyond the capability of some SMT solvers (recall</a:t>
            </a:r>
            <a:r>
              <a:rPr kumimoji="1" lang="zh-CN" altLang="en-US" dirty="0"/>
              <a:t> </a:t>
            </a:r>
            <a:r>
              <a:rPr kumimoji="1" lang="en-US" altLang="zh-CN" dirty="0"/>
              <a:t>that</a:t>
            </a:r>
            <a:r>
              <a:rPr kumimoji="1" lang="zh-CN" altLang="en-US" dirty="0"/>
              <a:t> </a:t>
            </a:r>
            <a:r>
              <a:rPr kumimoji="1" lang="en-US" altLang="zh-CN" dirty="0"/>
              <a:t>the general</a:t>
            </a:r>
            <a:r>
              <a:rPr kumimoji="1" lang="zh-CN" altLang="en-US" dirty="0"/>
              <a:t> </a:t>
            </a:r>
            <a:r>
              <a:rPr kumimoji="1" lang="en-US" altLang="zh-CN" dirty="0"/>
              <a:t>non-linear</a:t>
            </a:r>
            <a:r>
              <a:rPr kumimoji="1" lang="zh-CN" altLang="en-US" dirty="0"/>
              <a:t> </a:t>
            </a:r>
            <a:r>
              <a:rPr kumimoji="1" lang="en-US" altLang="zh-CN" dirty="0"/>
              <a:t>theory, in theory, is undecidable).</a:t>
            </a:r>
          </a:p>
        </p:txBody>
      </p:sp>
    </p:spTree>
    <p:extLst>
      <p:ext uri="{BB962C8B-B14F-4D97-AF65-F5344CB8AC3E}">
        <p14:creationId xmlns:p14="http://schemas.microsoft.com/office/powerpoint/2010/main" val="219160866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577C46B-AB93-A648-A78F-AF1A3720C0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#5: constraint solving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6BD1D89-38B8-1448-A0F7-0C550D9BB1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/>
              <a:t>Option #1: constraint simplification</a:t>
            </a:r>
          </a:p>
          <a:p>
            <a:pPr lvl="1"/>
            <a:r>
              <a:rPr kumimoji="1" lang="en-US" altLang="zh-CN" dirty="0"/>
              <a:t>optimize</a:t>
            </a:r>
            <a:r>
              <a:rPr kumimoji="1" lang="zh-CN" altLang="en-US" dirty="0"/>
              <a:t> </a:t>
            </a:r>
            <a:r>
              <a:rPr kumimoji="1" lang="en-US" altLang="zh-CN" dirty="0"/>
              <a:t>the</a:t>
            </a:r>
            <a:r>
              <a:rPr kumimoji="1" lang="zh-CN" altLang="en-US" dirty="0"/>
              <a:t> </a:t>
            </a:r>
            <a:r>
              <a:rPr kumimoji="1" lang="en-US" altLang="zh-CN" dirty="0"/>
              <a:t>constraints</a:t>
            </a:r>
            <a:r>
              <a:rPr kumimoji="1" lang="zh-CN" altLang="en-US" dirty="0"/>
              <a:t> </a:t>
            </a:r>
            <a:r>
              <a:rPr kumimoji="1" lang="en-US" altLang="zh-CN" dirty="0"/>
              <a:t>online</a:t>
            </a:r>
          </a:p>
          <a:p>
            <a:pPr lvl="2"/>
            <a:r>
              <a:rPr kumimoji="1" lang="en-US" altLang="zh-CN" dirty="0"/>
              <a:t>much</a:t>
            </a:r>
            <a:r>
              <a:rPr kumimoji="1" lang="zh-CN" altLang="en-US" dirty="0"/>
              <a:t> </a:t>
            </a:r>
            <a:r>
              <a:rPr kumimoji="1" lang="en-US" altLang="zh-CN" dirty="0"/>
              <a:t>like optimizations in traditional</a:t>
            </a:r>
            <a:r>
              <a:rPr kumimoji="1" lang="zh-CN" altLang="en-US" dirty="0"/>
              <a:t> </a:t>
            </a:r>
            <a:r>
              <a:rPr kumimoji="1" lang="en-US" altLang="zh-CN" dirty="0"/>
              <a:t>compilers</a:t>
            </a:r>
          </a:p>
          <a:p>
            <a:r>
              <a:rPr kumimoji="1" lang="en-US" altLang="zh-CN" dirty="0"/>
              <a:t>Option #2: solver caching and reuse</a:t>
            </a:r>
          </a:p>
          <a:p>
            <a:pPr lvl="1"/>
            <a:r>
              <a:rPr kumimoji="1" lang="en-US" altLang="zh-CN" dirty="0"/>
              <a:t>incremental</a:t>
            </a:r>
            <a:r>
              <a:rPr kumimoji="1" lang="zh-CN" altLang="en-US" dirty="0"/>
              <a:t> </a:t>
            </a:r>
            <a:r>
              <a:rPr kumimoji="1" lang="en-US" altLang="zh-CN" dirty="0"/>
              <a:t>solving</a:t>
            </a:r>
          </a:p>
        </p:txBody>
      </p:sp>
    </p:spTree>
    <p:extLst>
      <p:ext uri="{BB962C8B-B14F-4D97-AF65-F5344CB8AC3E}">
        <p14:creationId xmlns:p14="http://schemas.microsoft.com/office/powerpoint/2010/main" val="2143971354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B2F974A-C3E5-564C-85A5-2F90494588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 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A6508BC-8322-B943-9711-A9D5A8E372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kumimoji="1" lang="en-US" altLang="zh-CN" dirty="0"/>
          </a:p>
          <a:p>
            <a:pPr marL="0" indent="0">
              <a:buNone/>
            </a:pPr>
            <a:endParaRPr kumimoji="1" lang="en-US" altLang="zh-CN" dirty="0"/>
          </a:p>
          <a:p>
            <a:pPr marL="0" indent="0" algn="ctr">
              <a:buNone/>
            </a:pPr>
            <a:r>
              <a:rPr kumimoji="1" lang="en-US" altLang="zh-CN" i="1" dirty="0"/>
              <a:t>Concolic</a:t>
            </a:r>
            <a:r>
              <a:rPr kumimoji="1" lang="zh-CN" altLang="en-US" i="1" dirty="0"/>
              <a:t> </a:t>
            </a:r>
            <a:r>
              <a:rPr kumimoji="1" lang="en-US" altLang="zh-CN" i="1" dirty="0"/>
              <a:t>Execution</a:t>
            </a:r>
            <a:endParaRPr kumimoji="1" lang="zh-CN" altLang="en-US" i="1" dirty="0"/>
          </a:p>
        </p:txBody>
      </p:sp>
    </p:spTree>
    <p:extLst>
      <p:ext uri="{BB962C8B-B14F-4D97-AF65-F5344CB8AC3E}">
        <p14:creationId xmlns:p14="http://schemas.microsoft.com/office/powerpoint/2010/main" val="3535547794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AE3A8E4-6958-404F-9A7A-4D41ABD018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Concolic</a:t>
            </a:r>
            <a:r>
              <a:rPr kumimoji="1" lang="zh-CN" altLang="en-US" dirty="0"/>
              <a:t> </a:t>
            </a:r>
            <a:r>
              <a:rPr kumimoji="1" lang="en-US" altLang="zh-CN" dirty="0"/>
              <a:t>Execution</a:t>
            </a:r>
            <a:r>
              <a:rPr kumimoji="1" lang="zh-CN" altLang="en-US" dirty="0"/>
              <a:t> </a:t>
            </a:r>
            <a:r>
              <a:rPr kumimoji="1" lang="en-US" altLang="zh-CN" dirty="0"/>
              <a:t>Steps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BEA3992-C8F2-2844-808F-3ED1AC5B8C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2800" dirty="0"/>
              <a:t>Step #1: generate random </a:t>
            </a:r>
            <a:r>
              <a:rPr lang="en-US" altLang="zh-CN" sz="2800" dirty="0">
                <a:solidFill>
                  <a:srgbClr val="0432FF"/>
                </a:solidFill>
              </a:rPr>
              <a:t>concrete</a:t>
            </a:r>
            <a:r>
              <a:rPr lang="zh-CN" altLang="en-US" sz="2800" dirty="0"/>
              <a:t> </a:t>
            </a:r>
            <a:r>
              <a:rPr lang="en-US" altLang="zh-CN" sz="2800" dirty="0"/>
              <a:t>input</a:t>
            </a:r>
            <a:r>
              <a:rPr lang="zh-CN" altLang="en-US" sz="2800" dirty="0"/>
              <a:t> </a:t>
            </a:r>
            <a:r>
              <a:rPr lang="en-US" altLang="zh-CN" sz="2800" dirty="0"/>
              <a:t>and</a:t>
            </a:r>
            <a:r>
              <a:rPr lang="zh-CN" altLang="en-US" sz="2800" dirty="0"/>
              <a:t> </a:t>
            </a:r>
            <a:r>
              <a:rPr lang="en-US" altLang="zh-CN" sz="2800" dirty="0">
                <a:solidFill>
                  <a:srgbClr val="0432FF"/>
                </a:solidFill>
              </a:rPr>
              <a:t>symbolic</a:t>
            </a:r>
            <a:r>
              <a:rPr lang="zh-CN" altLang="en-US" sz="2800" dirty="0"/>
              <a:t> </a:t>
            </a:r>
            <a:r>
              <a:rPr lang="en-US" altLang="zh-CN" sz="2800" dirty="0"/>
              <a:t>input</a:t>
            </a:r>
          </a:p>
          <a:p>
            <a:r>
              <a:rPr lang="en-US" altLang="zh-CN" sz="2800" dirty="0"/>
              <a:t>Step #2, run program with</a:t>
            </a:r>
            <a:r>
              <a:rPr lang="zh-CN" altLang="en-US" sz="2800" dirty="0"/>
              <a:t> </a:t>
            </a:r>
            <a:r>
              <a:rPr lang="en-US" altLang="zh-CN" sz="2800" dirty="0"/>
              <a:t>the </a:t>
            </a:r>
            <a:r>
              <a:rPr lang="en-US" altLang="zh-CN" sz="2800" i="1" dirty="0">
                <a:solidFill>
                  <a:srgbClr val="0432FF"/>
                </a:solidFill>
              </a:rPr>
              <a:t>two</a:t>
            </a:r>
            <a:r>
              <a:rPr lang="en-US" altLang="zh-CN" sz="2800" dirty="0"/>
              <a:t> inputs</a:t>
            </a:r>
          </a:p>
          <a:p>
            <a:pPr lvl="1"/>
            <a:r>
              <a:rPr lang="en-US" altLang="zh-CN" sz="2400" dirty="0"/>
              <a:t>maintain</a:t>
            </a:r>
            <a:r>
              <a:rPr lang="zh-CN" altLang="en-US" sz="2400" dirty="0"/>
              <a:t> </a:t>
            </a:r>
            <a:r>
              <a:rPr lang="en-US" altLang="zh-CN" sz="2400" dirty="0"/>
              <a:t>the</a:t>
            </a:r>
            <a:r>
              <a:rPr lang="zh-CN" altLang="en-US" sz="2400" dirty="0"/>
              <a:t> </a:t>
            </a:r>
            <a:r>
              <a:rPr lang="en-US" altLang="zh-CN" sz="2400" dirty="0" err="1">
                <a:solidFill>
                  <a:srgbClr val="0432FF"/>
                </a:solidFill>
              </a:rPr>
              <a:t>concrete+symbolic</a:t>
            </a:r>
            <a:r>
              <a:rPr lang="zh-CN" altLang="en-US" sz="2400" dirty="0">
                <a:solidFill>
                  <a:srgbClr val="0432FF"/>
                </a:solidFill>
              </a:rPr>
              <a:t> </a:t>
            </a:r>
            <a:r>
              <a:rPr lang="en-US" altLang="zh-CN" sz="2400" dirty="0"/>
              <a:t>states</a:t>
            </a:r>
          </a:p>
          <a:p>
            <a:r>
              <a:rPr lang="en-US" altLang="zh-CN" sz="2800" dirty="0"/>
              <a:t>For</a:t>
            </a:r>
            <a:r>
              <a:rPr lang="zh-CN" altLang="en-US" sz="2800" dirty="0"/>
              <a:t> </a:t>
            </a:r>
            <a:r>
              <a:rPr lang="en-US" altLang="zh-CN" sz="2800" dirty="0"/>
              <a:t>branching, generate path conditions</a:t>
            </a:r>
            <a:endParaRPr kumimoji="1" lang="en-US" altLang="zh-CN" sz="2400" dirty="0"/>
          </a:p>
          <a:p>
            <a:pPr lvl="1"/>
            <a:r>
              <a:rPr lang="en-US" altLang="zh-CN" sz="2400" dirty="0"/>
              <a:t>just</a:t>
            </a:r>
            <a:r>
              <a:rPr lang="zh-CN" altLang="en-US" sz="2400" dirty="0"/>
              <a:t> </a:t>
            </a:r>
            <a:r>
              <a:rPr lang="en-US" altLang="zh-CN" sz="2400" dirty="0"/>
              <a:t>like</a:t>
            </a:r>
            <a:r>
              <a:rPr lang="zh-CN" altLang="en-US" sz="2400" dirty="0"/>
              <a:t> </a:t>
            </a:r>
            <a:r>
              <a:rPr lang="en-US" altLang="zh-CN" sz="2400" dirty="0"/>
              <a:t>in</a:t>
            </a:r>
            <a:r>
              <a:rPr lang="zh-CN" altLang="en-US" sz="2400" dirty="0"/>
              <a:t> </a:t>
            </a:r>
            <a:r>
              <a:rPr lang="en-US" altLang="zh-CN" sz="2400" dirty="0"/>
              <a:t>the</a:t>
            </a:r>
            <a:r>
              <a:rPr lang="zh-CN" altLang="en-US" sz="2400" dirty="0"/>
              <a:t> </a:t>
            </a:r>
            <a:r>
              <a:rPr lang="en-US" altLang="zh-CN" sz="2400" dirty="0">
                <a:solidFill>
                  <a:srgbClr val="0432FF"/>
                </a:solidFill>
              </a:rPr>
              <a:t>symbolic</a:t>
            </a:r>
            <a:r>
              <a:rPr lang="en-US" altLang="zh-CN" sz="2400" dirty="0"/>
              <a:t> execution</a:t>
            </a:r>
          </a:p>
          <a:p>
            <a:pPr lvl="1"/>
            <a:r>
              <a:rPr lang="en-US" altLang="zh-CN" sz="2400" dirty="0"/>
              <a:t>but</a:t>
            </a:r>
            <a:r>
              <a:rPr lang="zh-CN" altLang="en-US" sz="2400" dirty="0"/>
              <a:t> </a:t>
            </a:r>
            <a:r>
              <a:rPr lang="en-US" altLang="zh-CN" sz="2400" dirty="0"/>
              <a:t>don’t</a:t>
            </a:r>
            <a:r>
              <a:rPr lang="zh-CN" altLang="en-US" sz="2400" dirty="0"/>
              <a:t> </a:t>
            </a:r>
            <a:r>
              <a:rPr lang="en-US" altLang="zh-CN" sz="2400" dirty="0"/>
              <a:t>fork(),</a:t>
            </a:r>
            <a:r>
              <a:rPr lang="zh-CN" altLang="en-US" sz="2400" dirty="0"/>
              <a:t> </a:t>
            </a:r>
            <a:r>
              <a:rPr lang="en-US" altLang="zh-CN" sz="2400" dirty="0"/>
              <a:t>only</a:t>
            </a:r>
            <a:r>
              <a:rPr lang="zh-CN" altLang="en-US" sz="2400" dirty="0"/>
              <a:t> </a:t>
            </a:r>
            <a:r>
              <a:rPr lang="en-US" altLang="zh-CN" sz="2400" dirty="0"/>
              <a:t>go</a:t>
            </a:r>
            <a:r>
              <a:rPr lang="zh-CN" altLang="en-US" sz="2400" dirty="0"/>
              <a:t> </a:t>
            </a:r>
            <a:r>
              <a:rPr lang="en-US" altLang="zh-CN" sz="2400" dirty="0"/>
              <a:t>to</a:t>
            </a:r>
            <a:r>
              <a:rPr lang="zh-CN" altLang="en-US" sz="2400" dirty="0"/>
              <a:t> </a:t>
            </a:r>
            <a:r>
              <a:rPr lang="en-US" altLang="zh-CN" sz="2400" dirty="0"/>
              <a:t>feasible</a:t>
            </a:r>
            <a:r>
              <a:rPr lang="zh-CN" altLang="en-US" sz="2400" dirty="0"/>
              <a:t> </a:t>
            </a:r>
            <a:r>
              <a:rPr lang="en-US" altLang="zh-CN" sz="2400" dirty="0"/>
              <a:t>path</a:t>
            </a:r>
          </a:p>
          <a:p>
            <a:r>
              <a:rPr lang="en-US" altLang="zh-CN" sz="2800" dirty="0"/>
              <a:t>After one run, negate the result PCs, send them to solver,</a:t>
            </a:r>
            <a:r>
              <a:rPr lang="zh-CN" altLang="en-US" sz="2800" dirty="0"/>
              <a:t> </a:t>
            </a:r>
            <a:r>
              <a:rPr lang="en-US" altLang="zh-CN" sz="2800" dirty="0"/>
              <a:t>to</a:t>
            </a:r>
            <a:r>
              <a:rPr lang="zh-CN" altLang="en-US" sz="2800" dirty="0"/>
              <a:t> </a:t>
            </a:r>
            <a:r>
              <a:rPr lang="en-US" altLang="zh-CN" sz="2800" dirty="0"/>
              <a:t>get</a:t>
            </a:r>
            <a:r>
              <a:rPr lang="zh-CN" altLang="en-US" sz="2800" dirty="0"/>
              <a:t> </a:t>
            </a:r>
            <a:r>
              <a:rPr lang="en-US" altLang="zh-CN" sz="2800" dirty="0"/>
              <a:t>other concreate input</a:t>
            </a:r>
          </a:p>
          <a:p>
            <a:r>
              <a:rPr lang="en-US" altLang="zh-CN" sz="2800" dirty="0"/>
              <a:t>Go to step #2, re-run the program</a:t>
            </a:r>
          </a:p>
        </p:txBody>
      </p:sp>
    </p:spTree>
    <p:extLst>
      <p:ext uri="{BB962C8B-B14F-4D97-AF65-F5344CB8AC3E}">
        <p14:creationId xmlns:p14="http://schemas.microsoft.com/office/powerpoint/2010/main" val="1770002605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603FE81-F250-B74D-8CD8-B01DFE0A74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Architecture</a:t>
            </a:r>
            <a:endParaRPr kumimoji="1" lang="zh-CN" altLang="en-US" dirty="0"/>
          </a:p>
        </p:txBody>
      </p:sp>
      <p:sp>
        <p:nvSpPr>
          <p:cNvPr id="4" name="圆角矩形 3">
            <a:extLst>
              <a:ext uri="{FF2B5EF4-FFF2-40B4-BE49-F238E27FC236}">
                <a16:creationId xmlns:a16="http://schemas.microsoft.com/office/drawing/2014/main" id="{03767781-B157-4049-BCB7-5F17666786F1}"/>
              </a:ext>
            </a:extLst>
          </p:cNvPr>
          <p:cNvSpPr/>
          <p:nvPr/>
        </p:nvSpPr>
        <p:spPr>
          <a:xfrm>
            <a:off x="1905000" y="2971800"/>
            <a:ext cx="1828800" cy="6858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</a:rPr>
              <a:t>concolic</a:t>
            </a:r>
            <a:r>
              <a:rPr kumimoji="1" lang="zh-CN" altLang="en-US" dirty="0">
                <a:solidFill>
                  <a:schemeClr val="tx1"/>
                </a:solidFill>
              </a:rPr>
              <a:t> </a:t>
            </a:r>
            <a:r>
              <a:rPr kumimoji="1" lang="en-US" altLang="zh-CN" dirty="0">
                <a:solidFill>
                  <a:schemeClr val="tx1"/>
                </a:solidFill>
              </a:rPr>
              <a:t>executor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  <p:cxnSp>
        <p:nvCxnSpPr>
          <p:cNvPr id="6" name="直线箭头连接符 5">
            <a:extLst>
              <a:ext uri="{FF2B5EF4-FFF2-40B4-BE49-F238E27FC236}">
                <a16:creationId xmlns:a16="http://schemas.microsoft.com/office/drawing/2014/main" id="{70F9ACAD-1A1F-424B-90EE-EB751E576BA0}"/>
              </a:ext>
            </a:extLst>
          </p:cNvPr>
          <p:cNvCxnSpPr>
            <a:endCxn id="4" idx="0"/>
          </p:cNvCxnSpPr>
          <p:nvPr/>
        </p:nvCxnSpPr>
        <p:spPr>
          <a:xfrm>
            <a:off x="2819400" y="2438400"/>
            <a:ext cx="0" cy="53340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圆角矩形 7">
            <a:extLst>
              <a:ext uri="{FF2B5EF4-FFF2-40B4-BE49-F238E27FC236}">
                <a16:creationId xmlns:a16="http://schemas.microsoft.com/office/drawing/2014/main" id="{AB9FE6DE-A05B-1448-BC04-9922F9AFA937}"/>
              </a:ext>
            </a:extLst>
          </p:cNvPr>
          <p:cNvSpPr/>
          <p:nvPr/>
        </p:nvSpPr>
        <p:spPr>
          <a:xfrm>
            <a:off x="4419600" y="4267200"/>
            <a:ext cx="1828800" cy="6858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</a:rPr>
              <a:t>solver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9BA704E6-C80F-D849-92DB-71AA540A7BD5}"/>
              </a:ext>
            </a:extLst>
          </p:cNvPr>
          <p:cNvSpPr txBox="1"/>
          <p:nvPr/>
        </p:nvSpPr>
        <p:spPr>
          <a:xfrm>
            <a:off x="1828800" y="1743670"/>
            <a:ext cx="2362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programs</a:t>
            </a:r>
          </a:p>
          <a:p>
            <a:r>
              <a:rPr kumimoji="1" lang="en-US" altLang="zh-CN" dirty="0"/>
              <a:t>with</a:t>
            </a:r>
            <a:r>
              <a:rPr kumimoji="1" lang="zh-CN" altLang="en-US" dirty="0"/>
              <a:t> </a:t>
            </a:r>
            <a:r>
              <a:rPr kumimoji="1" lang="en-US" altLang="zh-CN" dirty="0">
                <a:solidFill>
                  <a:srgbClr val="0432FF"/>
                </a:solidFill>
              </a:rPr>
              <a:t>concrete</a:t>
            </a:r>
            <a:r>
              <a:rPr kumimoji="1" lang="zh-CN" altLang="en-US" dirty="0">
                <a:solidFill>
                  <a:srgbClr val="0432FF"/>
                </a:solidFill>
              </a:rPr>
              <a:t> </a:t>
            </a:r>
            <a:r>
              <a:rPr kumimoji="1" lang="en-US" altLang="zh-CN" dirty="0">
                <a:solidFill>
                  <a:srgbClr val="0432FF"/>
                </a:solidFill>
              </a:rPr>
              <a:t>+</a:t>
            </a:r>
            <a:r>
              <a:rPr kumimoji="1" lang="zh-CN" altLang="en-US" dirty="0">
                <a:solidFill>
                  <a:srgbClr val="0432FF"/>
                </a:solidFill>
              </a:rPr>
              <a:t> </a:t>
            </a:r>
            <a:r>
              <a:rPr kumimoji="1" lang="en-US" altLang="zh-CN" dirty="0">
                <a:solidFill>
                  <a:srgbClr val="0432FF"/>
                </a:solidFill>
              </a:rPr>
              <a:t>symbolic</a:t>
            </a:r>
            <a:r>
              <a:rPr kumimoji="1" lang="zh-CN" altLang="en-US" dirty="0">
                <a:solidFill>
                  <a:srgbClr val="0432FF"/>
                </a:solidFill>
              </a:rPr>
              <a:t> </a:t>
            </a:r>
            <a:r>
              <a:rPr kumimoji="1" lang="en-US" altLang="zh-CN" dirty="0"/>
              <a:t>inputs</a:t>
            </a:r>
            <a:endParaRPr kumimoji="1" lang="zh-CN" altLang="en-US" dirty="0"/>
          </a:p>
        </p:txBody>
      </p:sp>
      <p:cxnSp>
        <p:nvCxnSpPr>
          <p:cNvPr id="10" name="直线箭头连接符 9">
            <a:extLst>
              <a:ext uri="{FF2B5EF4-FFF2-40B4-BE49-F238E27FC236}">
                <a16:creationId xmlns:a16="http://schemas.microsoft.com/office/drawing/2014/main" id="{28F0718D-97D8-1946-8548-08817CFA0832}"/>
              </a:ext>
            </a:extLst>
          </p:cNvPr>
          <p:cNvCxnSpPr/>
          <p:nvPr/>
        </p:nvCxnSpPr>
        <p:spPr>
          <a:xfrm>
            <a:off x="2819400" y="3645932"/>
            <a:ext cx="0" cy="53340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本框 10">
            <a:extLst>
              <a:ext uri="{FF2B5EF4-FFF2-40B4-BE49-F238E27FC236}">
                <a16:creationId xmlns:a16="http://schemas.microsoft.com/office/drawing/2014/main" id="{C9DEFBC3-EB08-D344-BA57-4994B523089D}"/>
              </a:ext>
            </a:extLst>
          </p:cNvPr>
          <p:cNvSpPr txBox="1"/>
          <p:nvPr/>
        </p:nvSpPr>
        <p:spPr>
          <a:xfrm>
            <a:off x="2209800" y="4142325"/>
            <a:ext cx="12954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path conditions/obligations</a:t>
            </a:r>
            <a:endParaRPr kumimoji="1" lang="zh-CN" altLang="en-US" dirty="0"/>
          </a:p>
        </p:txBody>
      </p:sp>
      <p:cxnSp>
        <p:nvCxnSpPr>
          <p:cNvPr id="12" name="直线箭头连接符 11">
            <a:extLst>
              <a:ext uri="{FF2B5EF4-FFF2-40B4-BE49-F238E27FC236}">
                <a16:creationId xmlns:a16="http://schemas.microsoft.com/office/drawing/2014/main" id="{FFB774CF-2BBA-CE46-8CEE-C8F54EE31F4D}"/>
              </a:ext>
            </a:extLst>
          </p:cNvPr>
          <p:cNvCxnSpPr>
            <a:cxnSpLocks/>
            <a:stCxn id="11" idx="3"/>
            <a:endCxn id="8" idx="1"/>
          </p:cNvCxnSpPr>
          <p:nvPr/>
        </p:nvCxnSpPr>
        <p:spPr>
          <a:xfrm>
            <a:off x="3505200" y="4603990"/>
            <a:ext cx="914400" cy="611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线箭头连接符 15">
            <a:extLst>
              <a:ext uri="{FF2B5EF4-FFF2-40B4-BE49-F238E27FC236}">
                <a16:creationId xmlns:a16="http://schemas.microsoft.com/office/drawing/2014/main" id="{815FC9B0-73E0-BA43-929B-5240F3BDD625}"/>
              </a:ext>
            </a:extLst>
          </p:cNvPr>
          <p:cNvCxnSpPr>
            <a:cxnSpLocks/>
            <a:stCxn id="8" idx="0"/>
          </p:cNvCxnSpPr>
          <p:nvPr/>
        </p:nvCxnSpPr>
        <p:spPr>
          <a:xfrm flipV="1">
            <a:off x="5334000" y="2955529"/>
            <a:ext cx="0" cy="131167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文本框 18">
            <a:extLst>
              <a:ext uri="{FF2B5EF4-FFF2-40B4-BE49-F238E27FC236}">
                <a16:creationId xmlns:a16="http://schemas.microsoft.com/office/drawing/2014/main" id="{2392BF16-4AE8-6B45-AFF7-460651F0278E}"/>
              </a:ext>
            </a:extLst>
          </p:cNvPr>
          <p:cNvSpPr txBox="1"/>
          <p:nvPr/>
        </p:nvSpPr>
        <p:spPr>
          <a:xfrm>
            <a:off x="4852737" y="2586197"/>
            <a:ext cx="1295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model</a:t>
            </a:r>
            <a:endParaRPr kumimoji="1" lang="zh-CN" altLang="en-US" dirty="0"/>
          </a:p>
        </p:txBody>
      </p:sp>
      <p:cxnSp>
        <p:nvCxnSpPr>
          <p:cNvPr id="20" name="直线箭头连接符 19">
            <a:extLst>
              <a:ext uri="{FF2B5EF4-FFF2-40B4-BE49-F238E27FC236}">
                <a16:creationId xmlns:a16="http://schemas.microsoft.com/office/drawing/2014/main" id="{85951958-1ED2-174A-B780-10A6F541F9B2}"/>
              </a:ext>
            </a:extLst>
          </p:cNvPr>
          <p:cNvCxnSpPr>
            <a:cxnSpLocks/>
            <a:stCxn id="19" idx="1"/>
          </p:cNvCxnSpPr>
          <p:nvPr/>
        </p:nvCxnSpPr>
        <p:spPr>
          <a:xfrm flipH="1">
            <a:off x="2819400" y="2770863"/>
            <a:ext cx="2033337" cy="2447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77867668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83B1A98-5D2E-F84C-8A75-A8FC62CA10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Concolic</a:t>
            </a:r>
            <a:r>
              <a:rPr kumimoji="1" lang="zh-CN" altLang="en-US" dirty="0"/>
              <a:t> </a:t>
            </a:r>
            <a:r>
              <a:rPr kumimoji="1" lang="en-US" altLang="zh-CN" dirty="0"/>
              <a:t>execution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EA67DCE-2389-6343-AFC1-54E1B9454D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//</a:t>
            </a:r>
            <a:r>
              <a: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Step</a:t>
            </a:r>
            <a:r>
              <a: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#1:</a:t>
            </a:r>
            <a:r>
              <a: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construct</a:t>
            </a:r>
            <a:r>
              <a: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random</a:t>
            </a:r>
            <a:r>
              <a: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values</a:t>
            </a:r>
            <a:r>
              <a: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as</a:t>
            </a:r>
            <a:r>
              <a: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endParaRPr kumimoji="1" lang="en-US" altLang="zh-CN" sz="2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//</a:t>
            </a:r>
            <a:r>
              <a: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initial</a:t>
            </a:r>
            <a:r>
              <a: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input:</a:t>
            </a:r>
          </a:p>
          <a:p>
            <a:pPr marL="0" indent="0">
              <a:buNone/>
            </a:pPr>
            <a:r>
              <a:rPr kumimoji="1" lang="en-US" altLang="zh-CN" sz="2000" b="1" dirty="0" err="1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foo(</a:t>
            </a:r>
            <a:r>
              <a:rPr kumimoji="1" lang="en-US" altLang="zh-CN" sz="2000" b="1" dirty="0" err="1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x,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 err="1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y){</a:t>
            </a:r>
          </a:p>
          <a:p>
            <a:pPr marL="0" indent="0">
              <a:buNone/>
            </a:pP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kumimoji="1" lang="en-US" altLang="zh-CN" sz="2000" b="1" dirty="0" err="1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z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 err="1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x+y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buNone/>
            </a:pP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if(x==32467289)</a:t>
            </a:r>
          </a:p>
          <a:p>
            <a:pPr marL="0" indent="0">
              <a:buNone/>
            </a:pP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x/y;</a:t>
            </a:r>
          </a:p>
          <a:p>
            <a:pPr marL="0" indent="0">
              <a:buNone/>
            </a:pP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else</a:t>
            </a:r>
          </a:p>
          <a:p>
            <a:pPr marL="0" indent="0">
              <a:buNone/>
            </a:pP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0;</a:t>
            </a:r>
          </a:p>
          <a:p>
            <a:pPr marL="0" indent="0">
              <a:buNone/>
            </a:pP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>
              <a:buNone/>
            </a:pPr>
            <a:endParaRPr kumimoji="1" lang="en-US" altLang="zh-CN" sz="2000" b="1" dirty="0">
              <a:solidFill>
                <a:srgbClr val="0432FF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kumimoji="1" lang="en-US" altLang="zh-CN" sz="2000" b="1" dirty="0">
              <a:solidFill>
                <a:srgbClr val="0432FF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kumimoji="1" lang="en-US" altLang="zh-CN" sz="2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B4966FAB-BFE4-F74B-8081-12BE3984772C}"/>
              </a:ext>
            </a:extLst>
          </p:cNvPr>
          <p:cNvGraphicFramePr>
            <a:graphicFrameLocks noGrp="1"/>
          </p:cNvGraphicFramePr>
          <p:nvPr/>
        </p:nvGraphicFramePr>
        <p:xfrm>
          <a:off x="6096000" y="2438400"/>
          <a:ext cx="2514600" cy="138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2412">
                  <a:extLst>
                    <a:ext uri="{9D8B030D-6E8A-4147-A177-3AD203B41FA5}">
                      <a16:colId xmlns:a16="http://schemas.microsoft.com/office/drawing/2014/main" val="978326069"/>
                    </a:ext>
                  </a:extLst>
                </a:gridCol>
                <a:gridCol w="821094">
                  <a:extLst>
                    <a:ext uri="{9D8B030D-6E8A-4147-A177-3AD203B41FA5}">
                      <a16:colId xmlns:a16="http://schemas.microsoft.com/office/drawing/2014/main" val="1209235749"/>
                    </a:ext>
                  </a:extLst>
                </a:gridCol>
                <a:gridCol w="821094">
                  <a:extLst>
                    <a:ext uri="{9D8B030D-6E8A-4147-A177-3AD203B41FA5}">
                      <a16:colId xmlns:a16="http://schemas.microsoft.com/office/drawing/2014/main" val="296810847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Variable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value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err="1">
                          <a:solidFill>
                            <a:schemeClr val="tx1"/>
                          </a:solidFill>
                        </a:rPr>
                        <a:t>sym.value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09143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x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rgbClr val="FF0000"/>
                          </a:solidFill>
                        </a:rPr>
                        <a:t>x</a:t>
                      </a:r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086531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y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rgbClr val="FF0000"/>
                          </a:solidFill>
                        </a:rPr>
                        <a:t>y</a:t>
                      </a:r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269589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116307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83B1A98-5D2E-F84C-8A75-A8FC62CA10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Concolic</a:t>
            </a:r>
            <a:r>
              <a:rPr kumimoji="1" lang="zh-CN" altLang="en-US" dirty="0"/>
              <a:t> </a:t>
            </a:r>
            <a:r>
              <a:rPr kumimoji="1" lang="en-US" altLang="zh-CN" dirty="0"/>
              <a:t>execution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EA67DCE-2389-6343-AFC1-54E1B9454D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//</a:t>
            </a:r>
            <a:r>
              <a: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Step</a:t>
            </a:r>
            <a:r>
              <a: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#2:</a:t>
            </a:r>
            <a:r>
              <a: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execute</a:t>
            </a:r>
            <a:r>
              <a: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the</a:t>
            </a:r>
            <a:r>
              <a: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program</a:t>
            </a:r>
            <a:r>
              <a: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with</a:t>
            </a:r>
            <a:r>
              <a: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both</a:t>
            </a:r>
            <a:r>
              <a: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the</a:t>
            </a:r>
          </a:p>
          <a:p>
            <a:pPr marL="0" indent="0">
              <a:buNone/>
            </a:pP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//</a:t>
            </a:r>
            <a:r>
              <a: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concrete and symbolic</a:t>
            </a:r>
            <a:r>
              <a: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values,</a:t>
            </a:r>
            <a:r>
              <a: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maintaining</a:t>
            </a:r>
            <a:r>
              <a: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the</a:t>
            </a:r>
            <a:r>
              <a: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// program</a:t>
            </a:r>
            <a:r>
              <a: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state:</a:t>
            </a:r>
          </a:p>
          <a:p>
            <a:pPr marL="0" indent="0">
              <a:buNone/>
            </a:pPr>
            <a:r>
              <a:rPr kumimoji="1" lang="en-US" altLang="zh-CN" sz="2000" b="1" dirty="0" err="1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foo(</a:t>
            </a:r>
            <a:r>
              <a:rPr kumimoji="1" lang="en-US" altLang="zh-CN" sz="2000" b="1" dirty="0" err="1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x,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 err="1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y){</a:t>
            </a:r>
          </a:p>
          <a:p>
            <a:pPr marL="0" indent="0">
              <a:buNone/>
            </a:pP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kumimoji="1" lang="en-US" altLang="zh-CN" sz="2000" b="1" dirty="0" err="1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z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 err="1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x+y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buNone/>
            </a:pP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if(x==32467289)</a:t>
            </a:r>
          </a:p>
          <a:p>
            <a:pPr marL="0" indent="0">
              <a:buNone/>
            </a:pP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x/y;</a:t>
            </a:r>
          </a:p>
          <a:p>
            <a:pPr marL="0" indent="0">
              <a:buNone/>
            </a:pP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else</a:t>
            </a:r>
          </a:p>
          <a:p>
            <a:pPr marL="0" indent="0">
              <a:buNone/>
            </a:pP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0;</a:t>
            </a:r>
          </a:p>
          <a:p>
            <a:pPr marL="0" indent="0">
              <a:buNone/>
            </a:pP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E14E1718-0599-294A-9DB5-FE4801E40FB9}"/>
              </a:ext>
            </a:extLst>
          </p:cNvPr>
          <p:cNvGraphicFramePr>
            <a:graphicFrameLocks noGrp="1"/>
          </p:cNvGraphicFramePr>
          <p:nvPr/>
        </p:nvGraphicFramePr>
        <p:xfrm>
          <a:off x="5715000" y="3048000"/>
          <a:ext cx="2514600" cy="1752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2412">
                  <a:extLst>
                    <a:ext uri="{9D8B030D-6E8A-4147-A177-3AD203B41FA5}">
                      <a16:colId xmlns:a16="http://schemas.microsoft.com/office/drawing/2014/main" val="978326069"/>
                    </a:ext>
                  </a:extLst>
                </a:gridCol>
                <a:gridCol w="821094">
                  <a:extLst>
                    <a:ext uri="{9D8B030D-6E8A-4147-A177-3AD203B41FA5}">
                      <a16:colId xmlns:a16="http://schemas.microsoft.com/office/drawing/2014/main" val="1209235749"/>
                    </a:ext>
                  </a:extLst>
                </a:gridCol>
                <a:gridCol w="821094">
                  <a:extLst>
                    <a:ext uri="{9D8B030D-6E8A-4147-A177-3AD203B41FA5}">
                      <a16:colId xmlns:a16="http://schemas.microsoft.com/office/drawing/2014/main" val="296810847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Variable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value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err="1">
                          <a:solidFill>
                            <a:schemeClr val="tx1"/>
                          </a:solidFill>
                        </a:rPr>
                        <a:t>sym.value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09143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x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rgbClr val="FF0000"/>
                          </a:solidFill>
                        </a:rPr>
                        <a:t>x</a:t>
                      </a:r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086531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y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rgbClr val="FF0000"/>
                          </a:solidFill>
                        </a:rPr>
                        <a:t>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269589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z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rgbClr val="FF0000"/>
                          </a:solidFill>
                        </a:rPr>
                        <a:t>2</a:t>
                      </a:r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err="1">
                          <a:solidFill>
                            <a:srgbClr val="FF0000"/>
                          </a:solidFill>
                        </a:rPr>
                        <a:t>x+y</a:t>
                      </a:r>
                      <a:endParaRPr lang="en-US" altLang="zh-CN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47218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565216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83B1A98-5D2E-F84C-8A75-A8FC62CA10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Concolic</a:t>
            </a:r>
            <a:r>
              <a:rPr kumimoji="1" lang="zh-CN" altLang="en-US" dirty="0"/>
              <a:t> </a:t>
            </a:r>
            <a:r>
              <a:rPr kumimoji="1" lang="en-US" altLang="zh-CN" dirty="0"/>
              <a:t>execution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EA67DCE-2389-6343-AFC1-54E1B9454D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//</a:t>
            </a:r>
            <a:r>
              <a: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branch,</a:t>
            </a:r>
            <a:r>
              <a: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the executor branches according to</a:t>
            </a:r>
          </a:p>
          <a:p>
            <a:pPr marL="0" indent="0">
              <a:buNone/>
            </a:pP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// the </a:t>
            </a:r>
            <a:r>
              <a:rPr kumimoji="1" lang="en-US" altLang="zh-CN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concreate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values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, and we</a:t>
            </a:r>
            <a:r>
              <a: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add</a:t>
            </a:r>
            <a:r>
              <a: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“path</a:t>
            </a:r>
            <a:r>
              <a: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endParaRPr kumimoji="1" lang="en-US" altLang="zh-CN" sz="2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// condition”</a:t>
            </a:r>
            <a:r>
              <a: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to</a:t>
            </a:r>
            <a:r>
              <a: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the</a:t>
            </a:r>
            <a:r>
              <a: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endParaRPr kumimoji="1" lang="en-US" altLang="zh-CN" sz="2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//</a:t>
            </a:r>
            <a:r>
              <a: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target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branch:</a:t>
            </a:r>
          </a:p>
          <a:p>
            <a:pPr marL="0" indent="0">
              <a:buNone/>
            </a:pPr>
            <a:r>
              <a:rPr kumimoji="1" lang="en-US" altLang="zh-CN" sz="2000" b="1" dirty="0" err="1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foo(</a:t>
            </a:r>
            <a:r>
              <a:rPr kumimoji="1" lang="en-US" altLang="zh-CN" sz="2000" b="1" dirty="0" err="1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x,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 err="1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y){</a:t>
            </a:r>
          </a:p>
          <a:p>
            <a:pPr marL="0" indent="0">
              <a:buNone/>
            </a:pP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kumimoji="1" lang="en-US" altLang="zh-CN" sz="2000" b="1" dirty="0" err="1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z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 err="1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x+y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buNone/>
            </a:pP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if(x==32467289)</a:t>
            </a:r>
          </a:p>
          <a:p>
            <a:pPr marL="0" indent="0">
              <a:buNone/>
            </a:pP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x/y;</a:t>
            </a:r>
          </a:p>
          <a:p>
            <a:pPr marL="0" indent="0">
              <a:buNone/>
            </a:pP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else</a:t>
            </a:r>
          </a:p>
          <a:p>
            <a:pPr marL="0" indent="0">
              <a:buNone/>
            </a:pP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0;</a:t>
            </a:r>
          </a:p>
          <a:p>
            <a:pPr marL="0" indent="0">
              <a:buNone/>
            </a:pP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>
              <a:buNone/>
            </a:pPr>
            <a:endParaRPr kumimoji="1" lang="en-US" altLang="zh-CN" sz="2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53962435-670A-9246-8F8F-9CB704043B35}"/>
              </a:ext>
            </a:extLst>
          </p:cNvPr>
          <p:cNvSpPr txBox="1"/>
          <p:nvPr/>
        </p:nvSpPr>
        <p:spPr>
          <a:xfrm>
            <a:off x="2378033" y="4964668"/>
            <a:ext cx="2514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>
                <a:solidFill>
                  <a:srgbClr val="FF0000"/>
                </a:solidFill>
              </a:rPr>
              <a:t>x</a:t>
            </a:r>
            <a:r>
              <a:rPr kumimoji="1" lang="zh-CN" altLang="en-US" dirty="0">
                <a:solidFill>
                  <a:srgbClr val="FF0000"/>
                </a:solidFill>
              </a:rPr>
              <a:t> </a:t>
            </a:r>
            <a:r>
              <a:rPr kumimoji="1" lang="en-US" altLang="zh-CN" dirty="0">
                <a:solidFill>
                  <a:srgbClr val="FF0000"/>
                </a:solidFill>
              </a:rPr>
              <a:t>!=</a:t>
            </a:r>
            <a:r>
              <a:rPr kumimoji="1" lang="zh-CN" altLang="en-US" dirty="0">
                <a:solidFill>
                  <a:srgbClr val="FF0000"/>
                </a:solidFill>
              </a:rPr>
              <a:t> </a:t>
            </a:r>
            <a:r>
              <a:rPr kumimoji="1" lang="en-US" altLang="zh-CN" dirty="0">
                <a:solidFill>
                  <a:srgbClr val="FF0000"/>
                </a:solidFill>
              </a:rPr>
              <a:t>32467289</a:t>
            </a:r>
            <a:endParaRPr kumimoji="1" lang="zh-CN" altLang="en-US" dirty="0">
              <a:solidFill>
                <a:srgbClr val="FF0000"/>
              </a:solidFill>
            </a:endParaRPr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4702C8FA-F8FA-F444-BA6B-BDE112AFD3F1}"/>
              </a:ext>
            </a:extLst>
          </p:cNvPr>
          <p:cNvSpPr/>
          <p:nvPr/>
        </p:nvSpPr>
        <p:spPr>
          <a:xfrm>
            <a:off x="5047456" y="5334000"/>
            <a:ext cx="515144" cy="47167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</a:rPr>
              <a:t>if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43540515-0931-6E4D-87FE-971D0ED01997}"/>
              </a:ext>
            </a:extLst>
          </p:cNvPr>
          <p:cNvSpPr/>
          <p:nvPr/>
        </p:nvSpPr>
        <p:spPr>
          <a:xfrm>
            <a:off x="4038600" y="6310122"/>
            <a:ext cx="809917" cy="47167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</a:rPr>
              <a:t>x/y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670EC692-9AD1-8D42-BB84-06850F4BCD90}"/>
              </a:ext>
            </a:extLst>
          </p:cNvPr>
          <p:cNvSpPr/>
          <p:nvPr/>
        </p:nvSpPr>
        <p:spPr>
          <a:xfrm>
            <a:off x="5885656" y="6310122"/>
            <a:ext cx="743744" cy="47167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</a:rPr>
              <a:t>0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  <p:cxnSp>
        <p:nvCxnSpPr>
          <p:cNvPr id="11" name="直线箭头连接符 10">
            <a:extLst>
              <a:ext uri="{FF2B5EF4-FFF2-40B4-BE49-F238E27FC236}">
                <a16:creationId xmlns:a16="http://schemas.microsoft.com/office/drawing/2014/main" id="{C787FA67-125E-CB40-A90A-212309E1EBC2}"/>
              </a:ext>
            </a:extLst>
          </p:cNvPr>
          <p:cNvCxnSpPr>
            <a:cxnSpLocks/>
            <a:endCxn id="8" idx="7"/>
          </p:cNvCxnSpPr>
          <p:nvPr/>
        </p:nvCxnSpPr>
        <p:spPr>
          <a:xfrm flipH="1">
            <a:off x="4729907" y="5773515"/>
            <a:ext cx="413594" cy="60568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线箭头连接符 12">
            <a:extLst>
              <a:ext uri="{FF2B5EF4-FFF2-40B4-BE49-F238E27FC236}">
                <a16:creationId xmlns:a16="http://schemas.microsoft.com/office/drawing/2014/main" id="{BDDF3804-50E1-6A47-81B6-917D66AB53A6}"/>
              </a:ext>
            </a:extLst>
          </p:cNvPr>
          <p:cNvCxnSpPr>
            <a:cxnSpLocks/>
            <a:stCxn id="7" idx="5"/>
            <a:endCxn id="9" idx="1"/>
          </p:cNvCxnSpPr>
          <p:nvPr/>
        </p:nvCxnSpPr>
        <p:spPr>
          <a:xfrm>
            <a:off x="5487159" y="5736602"/>
            <a:ext cx="507416" cy="64259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文本框 18">
            <a:extLst>
              <a:ext uri="{FF2B5EF4-FFF2-40B4-BE49-F238E27FC236}">
                <a16:creationId xmlns:a16="http://schemas.microsoft.com/office/drawing/2014/main" id="{9068B14A-1066-8441-BA2E-E52C34050E02}"/>
              </a:ext>
            </a:extLst>
          </p:cNvPr>
          <p:cNvSpPr txBox="1"/>
          <p:nvPr/>
        </p:nvSpPr>
        <p:spPr>
          <a:xfrm>
            <a:off x="5715000" y="5802868"/>
            <a:ext cx="2514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>
                <a:solidFill>
                  <a:srgbClr val="FF0000"/>
                </a:solidFill>
              </a:rPr>
              <a:t>x</a:t>
            </a:r>
            <a:r>
              <a:rPr kumimoji="1" lang="zh-CN" altLang="en-US" dirty="0">
                <a:solidFill>
                  <a:srgbClr val="FF0000"/>
                </a:solidFill>
              </a:rPr>
              <a:t> </a:t>
            </a:r>
            <a:r>
              <a:rPr kumimoji="1" lang="en-US" altLang="zh-CN" dirty="0">
                <a:solidFill>
                  <a:srgbClr val="FF0000"/>
                </a:solidFill>
              </a:rPr>
              <a:t>!=</a:t>
            </a:r>
            <a:r>
              <a:rPr kumimoji="1" lang="zh-CN" altLang="en-US" dirty="0">
                <a:solidFill>
                  <a:srgbClr val="FF0000"/>
                </a:solidFill>
              </a:rPr>
              <a:t> </a:t>
            </a:r>
            <a:r>
              <a:rPr kumimoji="1" lang="en-US" altLang="zh-CN" dirty="0">
                <a:solidFill>
                  <a:srgbClr val="FF0000"/>
                </a:solidFill>
              </a:rPr>
              <a:t>32467289</a:t>
            </a:r>
            <a:endParaRPr kumimoji="1" lang="zh-CN" altLang="en-US" dirty="0">
              <a:solidFill>
                <a:srgbClr val="FF0000"/>
              </a:solidFill>
            </a:endParaRPr>
          </a:p>
        </p:txBody>
      </p:sp>
      <p:graphicFrame>
        <p:nvGraphicFramePr>
          <p:cNvPr id="14" name="表格 13">
            <a:extLst>
              <a:ext uri="{FF2B5EF4-FFF2-40B4-BE49-F238E27FC236}">
                <a16:creationId xmlns:a16="http://schemas.microsoft.com/office/drawing/2014/main" id="{0E7B39D2-3398-1949-A511-46352FBE74CF}"/>
              </a:ext>
            </a:extLst>
          </p:cNvPr>
          <p:cNvGraphicFramePr>
            <a:graphicFrameLocks noGrp="1"/>
          </p:cNvGraphicFramePr>
          <p:nvPr/>
        </p:nvGraphicFramePr>
        <p:xfrm>
          <a:off x="6400800" y="2743200"/>
          <a:ext cx="2514600" cy="1752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2412">
                  <a:extLst>
                    <a:ext uri="{9D8B030D-6E8A-4147-A177-3AD203B41FA5}">
                      <a16:colId xmlns:a16="http://schemas.microsoft.com/office/drawing/2014/main" val="978326069"/>
                    </a:ext>
                  </a:extLst>
                </a:gridCol>
                <a:gridCol w="821094">
                  <a:extLst>
                    <a:ext uri="{9D8B030D-6E8A-4147-A177-3AD203B41FA5}">
                      <a16:colId xmlns:a16="http://schemas.microsoft.com/office/drawing/2014/main" val="1209235749"/>
                    </a:ext>
                  </a:extLst>
                </a:gridCol>
                <a:gridCol w="821094">
                  <a:extLst>
                    <a:ext uri="{9D8B030D-6E8A-4147-A177-3AD203B41FA5}">
                      <a16:colId xmlns:a16="http://schemas.microsoft.com/office/drawing/2014/main" val="296810847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Variable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value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err="1">
                          <a:solidFill>
                            <a:schemeClr val="tx1"/>
                          </a:solidFill>
                        </a:rPr>
                        <a:t>sym.value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09143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x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rgbClr val="FF0000"/>
                          </a:solidFill>
                        </a:rPr>
                        <a:t>x</a:t>
                      </a:r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086531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y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rgbClr val="FF0000"/>
                          </a:solidFill>
                        </a:rPr>
                        <a:t>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269589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z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rgbClr val="FF0000"/>
                          </a:solidFill>
                        </a:rPr>
                        <a:t>2</a:t>
                      </a:r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err="1">
                          <a:solidFill>
                            <a:srgbClr val="FF0000"/>
                          </a:solidFill>
                        </a:rPr>
                        <a:t>x+y</a:t>
                      </a:r>
                      <a:endParaRPr lang="en-US" altLang="zh-CN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47218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461522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 animBg="1"/>
      <p:bldP spid="8" grpId="0" animBg="1"/>
      <p:bldP spid="9" grpId="0" animBg="1"/>
      <p:bldP spid="19" grpId="0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83B1A98-5D2E-F84C-8A75-A8FC62CA10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Concolic</a:t>
            </a:r>
            <a:r>
              <a:rPr kumimoji="1" lang="zh-CN" altLang="en-US" dirty="0"/>
              <a:t> </a:t>
            </a:r>
            <a:r>
              <a:rPr kumimoji="1" lang="en-US" altLang="zh-CN" dirty="0"/>
              <a:t>execution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EA67DCE-2389-6343-AFC1-54E1B9454D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//</a:t>
            </a:r>
            <a:r>
              <a: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When</a:t>
            </a:r>
            <a:r>
              <a: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finish</a:t>
            </a:r>
            <a:r>
              <a: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and get the PCs, we negate the PCs </a:t>
            </a:r>
          </a:p>
          <a:p>
            <a:pPr marL="0" indent="0">
              <a:buNone/>
            </a:pP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// and send it to solver, to get new inputs:</a:t>
            </a:r>
          </a:p>
          <a:p>
            <a:pPr marL="0" indent="0">
              <a:buNone/>
            </a:pPr>
            <a:r>
              <a:rPr kumimoji="1" lang="en-US" altLang="zh-CN" sz="2000" b="1" dirty="0" err="1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foo(</a:t>
            </a:r>
            <a:r>
              <a:rPr kumimoji="1" lang="en-US" altLang="zh-CN" sz="2000" b="1" dirty="0" err="1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x,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 err="1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y){</a:t>
            </a:r>
          </a:p>
          <a:p>
            <a:pPr marL="0" indent="0">
              <a:buNone/>
            </a:pP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kumimoji="1" lang="en-US" altLang="zh-CN" sz="2000" b="1" dirty="0" err="1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z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 err="1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x+y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buNone/>
            </a:pP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if(x==32467289)</a:t>
            </a:r>
          </a:p>
          <a:p>
            <a:pPr marL="0" indent="0">
              <a:buNone/>
            </a:pP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x/y;</a:t>
            </a:r>
          </a:p>
          <a:p>
            <a:pPr marL="0" indent="0">
              <a:buNone/>
            </a:pP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else</a:t>
            </a:r>
          </a:p>
          <a:p>
            <a:pPr marL="0" indent="0">
              <a:buNone/>
            </a:pP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0;</a:t>
            </a:r>
          </a:p>
          <a:p>
            <a:pPr marL="0" indent="0">
              <a:buNone/>
            </a:pP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>
              <a:buNone/>
            </a:pPr>
            <a:endParaRPr kumimoji="1" lang="en-US" altLang="zh-CN" sz="2000" b="1" dirty="0">
              <a:solidFill>
                <a:srgbClr val="0432FF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kumimoji="1" lang="en-US" altLang="zh-CN" sz="2000" b="1" dirty="0">
              <a:solidFill>
                <a:srgbClr val="0432FF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kumimoji="1" lang="en-US" altLang="zh-CN" sz="2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16CC8A92-33CB-1441-ACDE-CAE708E66302}"/>
              </a:ext>
            </a:extLst>
          </p:cNvPr>
          <p:cNvSpPr txBox="1"/>
          <p:nvPr/>
        </p:nvSpPr>
        <p:spPr>
          <a:xfrm>
            <a:off x="3886200" y="3465513"/>
            <a:ext cx="2514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>
                <a:solidFill>
                  <a:srgbClr val="FF0000"/>
                </a:solidFill>
              </a:rPr>
              <a:t>x</a:t>
            </a:r>
            <a:r>
              <a:rPr kumimoji="1" lang="zh-CN" altLang="en-US" dirty="0">
                <a:solidFill>
                  <a:srgbClr val="FF0000"/>
                </a:solidFill>
              </a:rPr>
              <a:t> </a:t>
            </a:r>
            <a:r>
              <a:rPr kumimoji="1" lang="en-US" altLang="zh-CN" dirty="0">
                <a:solidFill>
                  <a:srgbClr val="FF0000"/>
                </a:solidFill>
              </a:rPr>
              <a:t>==</a:t>
            </a:r>
            <a:r>
              <a:rPr kumimoji="1" lang="zh-CN" altLang="en-US" dirty="0">
                <a:solidFill>
                  <a:srgbClr val="FF0000"/>
                </a:solidFill>
              </a:rPr>
              <a:t> </a:t>
            </a:r>
            <a:r>
              <a:rPr kumimoji="1" lang="en-US" altLang="zh-CN" dirty="0">
                <a:solidFill>
                  <a:srgbClr val="FF0000"/>
                </a:solidFill>
              </a:rPr>
              <a:t>32467289</a:t>
            </a:r>
            <a:endParaRPr kumimoji="1" lang="zh-CN" altLang="en-US" dirty="0">
              <a:solidFill>
                <a:srgbClr val="FF0000"/>
              </a:solidFill>
            </a:endParaRPr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4702C8FA-F8FA-F444-BA6B-BDE112AFD3F1}"/>
              </a:ext>
            </a:extLst>
          </p:cNvPr>
          <p:cNvSpPr/>
          <p:nvPr/>
        </p:nvSpPr>
        <p:spPr>
          <a:xfrm>
            <a:off x="5047456" y="4557522"/>
            <a:ext cx="515144" cy="47167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</a:rPr>
              <a:t>if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43540515-0931-6E4D-87FE-971D0ED01997}"/>
              </a:ext>
            </a:extLst>
          </p:cNvPr>
          <p:cNvSpPr/>
          <p:nvPr/>
        </p:nvSpPr>
        <p:spPr>
          <a:xfrm>
            <a:off x="4038600" y="5533644"/>
            <a:ext cx="809917" cy="47167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</a:rPr>
              <a:t>x/y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670EC692-9AD1-8D42-BB84-06850F4BCD90}"/>
              </a:ext>
            </a:extLst>
          </p:cNvPr>
          <p:cNvSpPr/>
          <p:nvPr/>
        </p:nvSpPr>
        <p:spPr>
          <a:xfrm>
            <a:off x="5885656" y="5533644"/>
            <a:ext cx="743744" cy="47167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</a:rPr>
              <a:t>0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  <p:cxnSp>
        <p:nvCxnSpPr>
          <p:cNvPr id="11" name="直线箭头连接符 10">
            <a:extLst>
              <a:ext uri="{FF2B5EF4-FFF2-40B4-BE49-F238E27FC236}">
                <a16:creationId xmlns:a16="http://schemas.microsoft.com/office/drawing/2014/main" id="{C787FA67-125E-CB40-A90A-212309E1EBC2}"/>
              </a:ext>
            </a:extLst>
          </p:cNvPr>
          <p:cNvCxnSpPr>
            <a:cxnSpLocks/>
            <a:endCxn id="8" idx="7"/>
          </p:cNvCxnSpPr>
          <p:nvPr/>
        </p:nvCxnSpPr>
        <p:spPr>
          <a:xfrm flipH="1">
            <a:off x="4729907" y="4997037"/>
            <a:ext cx="413594" cy="60568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线箭头连接符 12">
            <a:extLst>
              <a:ext uri="{FF2B5EF4-FFF2-40B4-BE49-F238E27FC236}">
                <a16:creationId xmlns:a16="http://schemas.microsoft.com/office/drawing/2014/main" id="{BDDF3804-50E1-6A47-81B6-917D66AB53A6}"/>
              </a:ext>
            </a:extLst>
          </p:cNvPr>
          <p:cNvCxnSpPr>
            <a:cxnSpLocks/>
            <a:stCxn id="7" idx="5"/>
            <a:endCxn id="9" idx="1"/>
          </p:cNvCxnSpPr>
          <p:nvPr/>
        </p:nvCxnSpPr>
        <p:spPr>
          <a:xfrm>
            <a:off x="5487159" y="4960124"/>
            <a:ext cx="507416" cy="64259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文本框 18">
            <a:extLst>
              <a:ext uri="{FF2B5EF4-FFF2-40B4-BE49-F238E27FC236}">
                <a16:creationId xmlns:a16="http://schemas.microsoft.com/office/drawing/2014/main" id="{9068B14A-1066-8441-BA2E-E52C34050E02}"/>
              </a:ext>
            </a:extLst>
          </p:cNvPr>
          <p:cNvSpPr txBox="1"/>
          <p:nvPr/>
        </p:nvSpPr>
        <p:spPr>
          <a:xfrm>
            <a:off x="5715000" y="5037121"/>
            <a:ext cx="2514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>
                <a:solidFill>
                  <a:srgbClr val="FF0000"/>
                </a:solidFill>
              </a:rPr>
              <a:t>x</a:t>
            </a:r>
            <a:r>
              <a:rPr kumimoji="1" lang="zh-CN" altLang="en-US" dirty="0">
                <a:solidFill>
                  <a:srgbClr val="FF0000"/>
                </a:solidFill>
              </a:rPr>
              <a:t> </a:t>
            </a:r>
            <a:r>
              <a:rPr kumimoji="1" lang="en-US" altLang="zh-CN" dirty="0">
                <a:solidFill>
                  <a:srgbClr val="FF0000"/>
                </a:solidFill>
              </a:rPr>
              <a:t>!=</a:t>
            </a:r>
            <a:r>
              <a:rPr kumimoji="1" lang="zh-CN" altLang="en-US" dirty="0">
                <a:solidFill>
                  <a:srgbClr val="FF0000"/>
                </a:solidFill>
              </a:rPr>
              <a:t> </a:t>
            </a:r>
            <a:r>
              <a:rPr kumimoji="1" lang="en-US" altLang="zh-CN" dirty="0">
                <a:solidFill>
                  <a:srgbClr val="FF0000"/>
                </a:solidFill>
              </a:rPr>
              <a:t>32467289</a:t>
            </a:r>
            <a:endParaRPr kumimoji="1" lang="zh-CN" altLang="en-US" dirty="0">
              <a:solidFill>
                <a:srgbClr val="FF0000"/>
              </a:solidFill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882A3B29-562C-B442-B920-715D123070BC}"/>
              </a:ext>
            </a:extLst>
          </p:cNvPr>
          <p:cNvSpPr txBox="1"/>
          <p:nvPr/>
        </p:nvSpPr>
        <p:spPr>
          <a:xfrm>
            <a:off x="3563560" y="3846877"/>
            <a:ext cx="2514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>
                <a:solidFill>
                  <a:srgbClr val="FF0000"/>
                </a:solidFill>
              </a:rPr>
              <a:t>y==1</a:t>
            </a:r>
            <a:endParaRPr kumimoji="1" lang="zh-CN" altLang="en-US" dirty="0">
              <a:solidFill>
                <a:srgbClr val="FF0000"/>
              </a:solidFill>
            </a:endParaRPr>
          </a:p>
        </p:txBody>
      </p:sp>
      <p:graphicFrame>
        <p:nvGraphicFramePr>
          <p:cNvPr id="16" name="表格 15">
            <a:extLst>
              <a:ext uri="{FF2B5EF4-FFF2-40B4-BE49-F238E27FC236}">
                <a16:creationId xmlns:a16="http://schemas.microsoft.com/office/drawing/2014/main" id="{67309014-1BD1-5D4D-BEF2-739D31A0DF40}"/>
              </a:ext>
            </a:extLst>
          </p:cNvPr>
          <p:cNvGraphicFramePr>
            <a:graphicFrameLocks noGrp="1"/>
          </p:cNvGraphicFramePr>
          <p:nvPr/>
        </p:nvGraphicFramePr>
        <p:xfrm>
          <a:off x="5715000" y="2743200"/>
          <a:ext cx="3200401" cy="1752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>
                  <a:extLst>
                    <a:ext uri="{9D8B030D-6E8A-4147-A177-3AD203B41FA5}">
                      <a16:colId xmlns:a16="http://schemas.microsoft.com/office/drawing/2014/main" val="978326069"/>
                    </a:ext>
                  </a:extLst>
                </a:gridCol>
                <a:gridCol w="1240972">
                  <a:extLst>
                    <a:ext uri="{9D8B030D-6E8A-4147-A177-3AD203B41FA5}">
                      <a16:colId xmlns:a16="http://schemas.microsoft.com/office/drawing/2014/main" val="1209235749"/>
                    </a:ext>
                  </a:extLst>
                </a:gridCol>
                <a:gridCol w="1045029">
                  <a:extLst>
                    <a:ext uri="{9D8B030D-6E8A-4147-A177-3AD203B41FA5}">
                      <a16:colId xmlns:a16="http://schemas.microsoft.com/office/drawing/2014/main" val="296810847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Variable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value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sym.</a:t>
                      </a:r>
                    </a:p>
                    <a:p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value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09143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x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rgbClr val="FF0000"/>
                          </a:solidFill>
                        </a:rPr>
                        <a:t>32467289</a:t>
                      </a:r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rgbClr val="FF0000"/>
                          </a:solidFill>
                        </a:rPr>
                        <a:t>x</a:t>
                      </a:r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086531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y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rgbClr val="FF0000"/>
                          </a:solidFill>
                        </a:rPr>
                        <a:t>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269589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z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rgbClr val="FF0000"/>
                          </a:solidFill>
                        </a:rPr>
                        <a:t>32467290</a:t>
                      </a:r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err="1">
                          <a:solidFill>
                            <a:srgbClr val="FF0000"/>
                          </a:solidFill>
                        </a:rPr>
                        <a:t>x+y</a:t>
                      </a:r>
                      <a:endParaRPr lang="en-US" altLang="zh-CN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492084"/>
                  </a:ext>
                </a:extLst>
              </a:tr>
            </a:tbl>
          </a:graphicData>
        </a:graphic>
      </p:graphicFrame>
      <p:sp>
        <p:nvSpPr>
          <p:cNvPr id="17" name="文本框 16">
            <a:extLst>
              <a:ext uri="{FF2B5EF4-FFF2-40B4-BE49-F238E27FC236}">
                <a16:creationId xmlns:a16="http://schemas.microsoft.com/office/drawing/2014/main" id="{50C92350-DCB0-4046-9EEB-FBCD4A548F04}"/>
              </a:ext>
            </a:extLst>
          </p:cNvPr>
          <p:cNvSpPr txBox="1"/>
          <p:nvPr/>
        </p:nvSpPr>
        <p:spPr>
          <a:xfrm>
            <a:off x="3581400" y="5089187"/>
            <a:ext cx="2514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>
                <a:solidFill>
                  <a:srgbClr val="FF0000"/>
                </a:solidFill>
              </a:rPr>
              <a:t>x</a:t>
            </a:r>
            <a:r>
              <a:rPr kumimoji="1" lang="zh-CN" altLang="en-US" dirty="0">
                <a:solidFill>
                  <a:srgbClr val="FF0000"/>
                </a:solidFill>
              </a:rPr>
              <a:t> </a:t>
            </a:r>
            <a:r>
              <a:rPr kumimoji="1" lang="en-US" altLang="zh-CN" dirty="0">
                <a:solidFill>
                  <a:srgbClr val="FF0000"/>
                </a:solidFill>
              </a:rPr>
              <a:t>==</a:t>
            </a:r>
            <a:r>
              <a:rPr kumimoji="1" lang="zh-CN" altLang="en-US" dirty="0">
                <a:solidFill>
                  <a:srgbClr val="FF0000"/>
                </a:solidFill>
              </a:rPr>
              <a:t> </a:t>
            </a:r>
            <a:r>
              <a:rPr kumimoji="1" lang="en-US" altLang="zh-CN" dirty="0">
                <a:solidFill>
                  <a:srgbClr val="FF0000"/>
                </a:solidFill>
              </a:rPr>
              <a:t>32467289</a:t>
            </a:r>
            <a:endParaRPr kumimoji="1" lang="zh-CN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40032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83B1A98-5D2E-F84C-8A75-A8FC62CA10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Concolic</a:t>
            </a:r>
            <a:r>
              <a:rPr kumimoji="1" lang="zh-CN" altLang="en-US" dirty="0"/>
              <a:t> </a:t>
            </a:r>
            <a:r>
              <a:rPr kumimoji="1" lang="en-US" altLang="zh-CN" dirty="0"/>
              <a:t>execution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EA67DCE-2389-6343-AFC1-54E1B9454D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//</a:t>
            </a:r>
            <a:r>
              <a: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With</a:t>
            </a:r>
            <a:r>
              <a: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the</a:t>
            </a:r>
            <a:r>
              <a: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new path</a:t>
            </a:r>
            <a:r>
              <a: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condition</a:t>
            </a:r>
            <a:r>
              <a: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and</a:t>
            </a:r>
            <a:r>
              <a: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obligations,</a:t>
            </a:r>
            <a:r>
              <a: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endParaRPr kumimoji="1" lang="en-US" altLang="zh-CN" sz="2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// we</a:t>
            </a:r>
            <a:r>
              <a: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can</a:t>
            </a:r>
            <a:r>
              <a: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generate</a:t>
            </a:r>
            <a:r>
              <a: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final constraints:</a:t>
            </a:r>
          </a:p>
          <a:p>
            <a:pPr marL="0" indent="0">
              <a:buNone/>
            </a:pPr>
            <a:r>
              <a:rPr kumimoji="1" lang="en-US" altLang="zh-CN" sz="2000" b="1" dirty="0" err="1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foo(</a:t>
            </a:r>
            <a:r>
              <a:rPr kumimoji="1" lang="en-US" altLang="zh-CN" sz="2000" b="1" dirty="0" err="1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x,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 err="1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y){</a:t>
            </a:r>
          </a:p>
          <a:p>
            <a:pPr marL="0" indent="0">
              <a:buNone/>
            </a:pP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kumimoji="1" lang="en-US" altLang="zh-CN" sz="2000" b="1" dirty="0" err="1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z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 err="1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x+y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buNone/>
            </a:pP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if(x==32467289)</a:t>
            </a:r>
          </a:p>
          <a:p>
            <a:pPr marL="0" indent="0">
              <a:buNone/>
            </a:pP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x/y;</a:t>
            </a:r>
          </a:p>
          <a:p>
            <a:pPr marL="0" indent="0">
              <a:buNone/>
            </a:pP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else</a:t>
            </a:r>
          </a:p>
          <a:p>
            <a:pPr marL="0" indent="0">
              <a:buNone/>
            </a:pP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0;</a:t>
            </a:r>
          </a:p>
          <a:p>
            <a:pPr marL="0" indent="0">
              <a:buNone/>
            </a:pP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>
              <a:buNone/>
            </a:pPr>
            <a:endParaRPr kumimoji="1" lang="en-US" altLang="zh-CN" sz="2000" b="1" dirty="0">
              <a:solidFill>
                <a:srgbClr val="0432FF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kumimoji="1" lang="en-US" altLang="zh-CN" sz="2000" b="1" dirty="0">
              <a:solidFill>
                <a:srgbClr val="0432FF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kumimoji="1" lang="en-US" altLang="zh-CN" sz="2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16CC8A92-33CB-1441-ACDE-CAE708E66302}"/>
              </a:ext>
            </a:extLst>
          </p:cNvPr>
          <p:cNvSpPr txBox="1"/>
          <p:nvPr/>
        </p:nvSpPr>
        <p:spPr>
          <a:xfrm>
            <a:off x="3886200" y="3465513"/>
            <a:ext cx="2514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>
                <a:solidFill>
                  <a:srgbClr val="FF0000"/>
                </a:solidFill>
              </a:rPr>
              <a:t>x</a:t>
            </a:r>
            <a:r>
              <a:rPr kumimoji="1" lang="zh-CN" altLang="en-US" dirty="0">
                <a:solidFill>
                  <a:srgbClr val="FF0000"/>
                </a:solidFill>
              </a:rPr>
              <a:t> </a:t>
            </a:r>
            <a:r>
              <a:rPr kumimoji="1" lang="en-US" altLang="zh-CN" dirty="0">
                <a:solidFill>
                  <a:srgbClr val="FF0000"/>
                </a:solidFill>
              </a:rPr>
              <a:t>==</a:t>
            </a:r>
            <a:r>
              <a:rPr kumimoji="1" lang="zh-CN" altLang="en-US" dirty="0">
                <a:solidFill>
                  <a:srgbClr val="FF0000"/>
                </a:solidFill>
              </a:rPr>
              <a:t> </a:t>
            </a:r>
            <a:r>
              <a:rPr kumimoji="1" lang="en-US" altLang="zh-CN" dirty="0">
                <a:solidFill>
                  <a:srgbClr val="FF0000"/>
                </a:solidFill>
              </a:rPr>
              <a:t>32467289</a:t>
            </a:r>
            <a:endParaRPr kumimoji="1" lang="zh-CN" altLang="en-US" dirty="0">
              <a:solidFill>
                <a:srgbClr val="FF0000"/>
              </a:solidFill>
            </a:endParaRPr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4702C8FA-F8FA-F444-BA6B-BDE112AFD3F1}"/>
              </a:ext>
            </a:extLst>
          </p:cNvPr>
          <p:cNvSpPr/>
          <p:nvPr/>
        </p:nvSpPr>
        <p:spPr>
          <a:xfrm>
            <a:off x="5047456" y="4557522"/>
            <a:ext cx="515144" cy="47167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</a:rPr>
              <a:t>if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43540515-0931-6E4D-87FE-971D0ED01997}"/>
              </a:ext>
            </a:extLst>
          </p:cNvPr>
          <p:cNvSpPr/>
          <p:nvPr/>
        </p:nvSpPr>
        <p:spPr>
          <a:xfrm>
            <a:off x="4038600" y="5533644"/>
            <a:ext cx="809917" cy="47167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</a:rPr>
              <a:t>x/y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670EC692-9AD1-8D42-BB84-06850F4BCD90}"/>
              </a:ext>
            </a:extLst>
          </p:cNvPr>
          <p:cNvSpPr/>
          <p:nvPr/>
        </p:nvSpPr>
        <p:spPr>
          <a:xfrm>
            <a:off x="5885656" y="5533644"/>
            <a:ext cx="743744" cy="47167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</a:rPr>
              <a:t>0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  <p:cxnSp>
        <p:nvCxnSpPr>
          <p:cNvPr id="11" name="直线箭头连接符 10">
            <a:extLst>
              <a:ext uri="{FF2B5EF4-FFF2-40B4-BE49-F238E27FC236}">
                <a16:creationId xmlns:a16="http://schemas.microsoft.com/office/drawing/2014/main" id="{C787FA67-125E-CB40-A90A-212309E1EBC2}"/>
              </a:ext>
            </a:extLst>
          </p:cNvPr>
          <p:cNvCxnSpPr>
            <a:cxnSpLocks/>
            <a:endCxn id="8" idx="7"/>
          </p:cNvCxnSpPr>
          <p:nvPr/>
        </p:nvCxnSpPr>
        <p:spPr>
          <a:xfrm flipH="1">
            <a:off x="4729907" y="4997037"/>
            <a:ext cx="413594" cy="60568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线箭头连接符 12">
            <a:extLst>
              <a:ext uri="{FF2B5EF4-FFF2-40B4-BE49-F238E27FC236}">
                <a16:creationId xmlns:a16="http://schemas.microsoft.com/office/drawing/2014/main" id="{BDDF3804-50E1-6A47-81B6-917D66AB53A6}"/>
              </a:ext>
            </a:extLst>
          </p:cNvPr>
          <p:cNvCxnSpPr>
            <a:cxnSpLocks/>
            <a:stCxn id="7" idx="5"/>
            <a:endCxn id="9" idx="1"/>
          </p:cNvCxnSpPr>
          <p:nvPr/>
        </p:nvCxnSpPr>
        <p:spPr>
          <a:xfrm>
            <a:off x="5487159" y="4960124"/>
            <a:ext cx="507416" cy="64259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文本框 17">
            <a:extLst>
              <a:ext uri="{FF2B5EF4-FFF2-40B4-BE49-F238E27FC236}">
                <a16:creationId xmlns:a16="http://schemas.microsoft.com/office/drawing/2014/main" id="{2228E79C-56AB-624B-976A-73916E626B48}"/>
              </a:ext>
            </a:extLst>
          </p:cNvPr>
          <p:cNvSpPr txBox="1"/>
          <p:nvPr/>
        </p:nvSpPr>
        <p:spPr>
          <a:xfrm>
            <a:off x="3581400" y="5089187"/>
            <a:ext cx="2514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>
                <a:solidFill>
                  <a:srgbClr val="FF0000"/>
                </a:solidFill>
              </a:rPr>
              <a:t>x</a:t>
            </a:r>
            <a:r>
              <a:rPr kumimoji="1" lang="zh-CN" altLang="en-US" dirty="0">
                <a:solidFill>
                  <a:srgbClr val="FF0000"/>
                </a:solidFill>
              </a:rPr>
              <a:t> </a:t>
            </a:r>
            <a:r>
              <a:rPr kumimoji="1" lang="en-US" altLang="zh-CN" dirty="0">
                <a:solidFill>
                  <a:srgbClr val="FF0000"/>
                </a:solidFill>
              </a:rPr>
              <a:t>==</a:t>
            </a:r>
            <a:r>
              <a:rPr kumimoji="1" lang="zh-CN" altLang="en-US" dirty="0">
                <a:solidFill>
                  <a:srgbClr val="FF0000"/>
                </a:solidFill>
              </a:rPr>
              <a:t> </a:t>
            </a:r>
            <a:r>
              <a:rPr kumimoji="1" lang="en-US" altLang="zh-CN" dirty="0">
                <a:solidFill>
                  <a:srgbClr val="FF0000"/>
                </a:solidFill>
              </a:rPr>
              <a:t>32467289</a:t>
            </a:r>
            <a:endParaRPr kumimoji="1" lang="zh-CN" altLang="en-US" dirty="0">
              <a:solidFill>
                <a:srgbClr val="FF0000"/>
              </a:solidFill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882A3B29-562C-B442-B920-715D123070BC}"/>
              </a:ext>
            </a:extLst>
          </p:cNvPr>
          <p:cNvSpPr txBox="1"/>
          <p:nvPr/>
        </p:nvSpPr>
        <p:spPr>
          <a:xfrm>
            <a:off x="3563560" y="3846877"/>
            <a:ext cx="2514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>
                <a:solidFill>
                  <a:srgbClr val="FF0000"/>
                </a:solidFill>
              </a:rPr>
              <a:t>y==1</a:t>
            </a:r>
            <a:endParaRPr kumimoji="1" lang="zh-CN" altLang="en-US" dirty="0">
              <a:solidFill>
                <a:srgbClr val="FF0000"/>
              </a:solidFill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0F4A69B8-8E61-6842-95BC-E8F86FA5D007}"/>
              </a:ext>
            </a:extLst>
          </p:cNvPr>
          <p:cNvSpPr txBox="1"/>
          <p:nvPr/>
        </p:nvSpPr>
        <p:spPr>
          <a:xfrm>
            <a:off x="4008312" y="5999705"/>
            <a:ext cx="2514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>
                <a:solidFill>
                  <a:srgbClr val="FF0000"/>
                </a:solidFill>
              </a:rPr>
              <a:t>y==0</a:t>
            </a:r>
            <a:endParaRPr kumimoji="1" lang="zh-CN" altLang="en-US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E22C4A97-FB1B-1D4F-8C71-5874BAAAB5D2}"/>
                  </a:ext>
                </a:extLst>
              </p:cNvPr>
              <p:cNvSpPr txBox="1"/>
              <p:nvPr/>
            </p:nvSpPr>
            <p:spPr>
              <a:xfrm>
                <a:off x="234276" y="5440577"/>
                <a:ext cx="344462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dirty="0">
                    <a:solidFill>
                      <a:srgbClr val="FF0000"/>
                    </a:solidFill>
                  </a:rPr>
                  <a:t>x</a:t>
                </a:r>
                <a:r>
                  <a:rPr kumimoji="1" lang="zh-CN" altLang="en-US" dirty="0">
                    <a:solidFill>
                      <a:srgbClr val="FF0000"/>
                    </a:solidFill>
                  </a:rPr>
                  <a:t> </a:t>
                </a:r>
                <a:r>
                  <a:rPr kumimoji="1" lang="en-US" altLang="zh-CN" dirty="0">
                    <a:solidFill>
                      <a:srgbClr val="FF0000"/>
                    </a:solidFill>
                  </a:rPr>
                  <a:t>==</a:t>
                </a:r>
                <a:r>
                  <a:rPr kumimoji="1" lang="zh-CN" altLang="en-US" dirty="0">
                    <a:solidFill>
                      <a:srgbClr val="FF0000"/>
                    </a:solidFill>
                  </a:rPr>
                  <a:t> </a:t>
                </a:r>
                <a:r>
                  <a:rPr kumimoji="1" lang="en-US" altLang="zh-CN" dirty="0">
                    <a:solidFill>
                      <a:srgbClr val="FF0000"/>
                    </a:solidFill>
                  </a:rPr>
                  <a:t>32467289</a:t>
                </a:r>
                <a:r>
                  <a:rPr kumimoji="1" lang="zh-CN" altLang="en-US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zh-CN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∧</m:t>
                    </m:r>
                  </m:oMath>
                </a14:m>
                <a:r>
                  <a:rPr kumimoji="1" lang="zh-CN" altLang="en-US" dirty="0">
                    <a:solidFill>
                      <a:srgbClr val="FF0000"/>
                    </a:solidFill>
                  </a:rPr>
                  <a:t> </a:t>
                </a:r>
                <a:r>
                  <a:rPr kumimoji="1" lang="en-US" altLang="zh-CN" dirty="0">
                    <a:solidFill>
                      <a:srgbClr val="FF0000"/>
                    </a:solidFill>
                  </a:rPr>
                  <a:t>y==0</a:t>
                </a:r>
                <a:endParaRPr kumimoji="1" lang="zh-CN" alt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E22C4A97-FB1B-1D4F-8C71-5874BAAAB5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4276" y="5440577"/>
                <a:ext cx="3444624" cy="369332"/>
              </a:xfrm>
              <a:prstGeom prst="rect">
                <a:avLst/>
              </a:prstGeom>
              <a:blipFill>
                <a:blip r:embed="rId2"/>
                <a:stretch>
                  <a:fillRect l="-1099" t="-3333" b="-2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7" name="表格 16">
            <a:extLst>
              <a:ext uri="{FF2B5EF4-FFF2-40B4-BE49-F238E27FC236}">
                <a16:creationId xmlns:a16="http://schemas.microsoft.com/office/drawing/2014/main" id="{024CE89A-605F-A44D-B61B-78B286DFEE10}"/>
              </a:ext>
            </a:extLst>
          </p:cNvPr>
          <p:cNvGraphicFramePr>
            <a:graphicFrameLocks noGrp="1"/>
          </p:cNvGraphicFramePr>
          <p:nvPr/>
        </p:nvGraphicFramePr>
        <p:xfrm>
          <a:off x="5715000" y="2743200"/>
          <a:ext cx="3200401" cy="1752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>
                  <a:extLst>
                    <a:ext uri="{9D8B030D-6E8A-4147-A177-3AD203B41FA5}">
                      <a16:colId xmlns:a16="http://schemas.microsoft.com/office/drawing/2014/main" val="978326069"/>
                    </a:ext>
                  </a:extLst>
                </a:gridCol>
                <a:gridCol w="1240972">
                  <a:extLst>
                    <a:ext uri="{9D8B030D-6E8A-4147-A177-3AD203B41FA5}">
                      <a16:colId xmlns:a16="http://schemas.microsoft.com/office/drawing/2014/main" val="1209235749"/>
                    </a:ext>
                  </a:extLst>
                </a:gridCol>
                <a:gridCol w="1045029">
                  <a:extLst>
                    <a:ext uri="{9D8B030D-6E8A-4147-A177-3AD203B41FA5}">
                      <a16:colId xmlns:a16="http://schemas.microsoft.com/office/drawing/2014/main" val="296810847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Variable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value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sym.</a:t>
                      </a:r>
                    </a:p>
                    <a:p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value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09143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x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rgbClr val="FF0000"/>
                          </a:solidFill>
                        </a:rPr>
                        <a:t>32467289</a:t>
                      </a:r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rgbClr val="FF0000"/>
                          </a:solidFill>
                        </a:rPr>
                        <a:t>x</a:t>
                      </a:r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086531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y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rgbClr val="FF0000"/>
                          </a:solidFill>
                        </a:rPr>
                        <a:t>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269589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z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rgbClr val="FF0000"/>
                          </a:solidFill>
                        </a:rPr>
                        <a:t>32467290</a:t>
                      </a:r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err="1">
                          <a:solidFill>
                            <a:srgbClr val="FF0000"/>
                          </a:solidFill>
                        </a:rPr>
                        <a:t>x+y</a:t>
                      </a:r>
                      <a:endParaRPr lang="en-US" altLang="zh-CN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86846452"/>
                  </a:ext>
                </a:extLst>
              </a:tr>
            </a:tbl>
          </a:graphicData>
        </a:graphic>
      </p:graphicFrame>
      <p:sp>
        <p:nvSpPr>
          <p:cNvPr id="19" name="文本框 18">
            <a:extLst>
              <a:ext uri="{FF2B5EF4-FFF2-40B4-BE49-F238E27FC236}">
                <a16:creationId xmlns:a16="http://schemas.microsoft.com/office/drawing/2014/main" id="{8C7419A8-FB74-D04C-A2C6-B24AE6D07323}"/>
              </a:ext>
            </a:extLst>
          </p:cNvPr>
          <p:cNvSpPr txBox="1"/>
          <p:nvPr/>
        </p:nvSpPr>
        <p:spPr>
          <a:xfrm>
            <a:off x="222899" y="5867240"/>
            <a:ext cx="34446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And</a:t>
            </a:r>
            <a:r>
              <a:rPr kumimoji="1" lang="zh-CN" altLang="en-US" dirty="0"/>
              <a:t> </a:t>
            </a:r>
            <a:r>
              <a:rPr kumimoji="1" lang="en-US" altLang="zh-CN" dirty="0"/>
              <a:t>the</a:t>
            </a:r>
            <a:r>
              <a:rPr kumimoji="1" lang="zh-CN" altLang="en-US" dirty="0"/>
              <a:t> </a:t>
            </a:r>
            <a:r>
              <a:rPr kumimoji="1" lang="en-US" altLang="zh-CN" dirty="0"/>
              <a:t>model:</a:t>
            </a:r>
          </a:p>
          <a:p>
            <a:r>
              <a:rPr kumimoji="1" lang="en-US" altLang="zh-CN" dirty="0">
                <a:solidFill>
                  <a:srgbClr val="FF0000"/>
                </a:solidFill>
              </a:rPr>
              <a:t>[x</a:t>
            </a:r>
            <a:r>
              <a:rPr kumimoji="1" lang="zh-CN" altLang="en-US" dirty="0">
                <a:solidFill>
                  <a:srgbClr val="FF0000"/>
                </a:solidFill>
              </a:rPr>
              <a:t> </a:t>
            </a:r>
            <a:r>
              <a:rPr kumimoji="1" lang="en-US" altLang="zh-CN" dirty="0">
                <a:solidFill>
                  <a:srgbClr val="FF0000"/>
                </a:solidFill>
              </a:rPr>
              <a:t>==</a:t>
            </a:r>
            <a:r>
              <a:rPr kumimoji="1" lang="zh-CN" altLang="en-US" dirty="0">
                <a:solidFill>
                  <a:srgbClr val="FF0000"/>
                </a:solidFill>
              </a:rPr>
              <a:t> </a:t>
            </a:r>
            <a:r>
              <a:rPr kumimoji="1" lang="en-US" altLang="zh-CN" dirty="0">
                <a:solidFill>
                  <a:srgbClr val="FF0000"/>
                </a:solidFill>
              </a:rPr>
              <a:t>32467289,</a:t>
            </a:r>
            <a:r>
              <a:rPr kumimoji="1" lang="zh-CN" altLang="en-US" dirty="0">
                <a:solidFill>
                  <a:srgbClr val="FF0000"/>
                </a:solidFill>
              </a:rPr>
              <a:t> </a:t>
            </a:r>
            <a:r>
              <a:rPr kumimoji="1" lang="en-US" altLang="zh-CN" dirty="0">
                <a:solidFill>
                  <a:srgbClr val="FF0000"/>
                </a:solidFill>
              </a:rPr>
              <a:t>y==0]</a:t>
            </a:r>
            <a:endParaRPr kumimoji="1" lang="zh-CN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808478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9" grpId="0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83B1A98-5D2E-F84C-8A75-A8FC62CA10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Concolic</a:t>
            </a:r>
            <a:r>
              <a:rPr kumimoji="1" lang="zh-CN" altLang="en-US" dirty="0"/>
              <a:t> </a:t>
            </a:r>
            <a:r>
              <a:rPr kumimoji="1" lang="en-US" altLang="zh-CN" dirty="0"/>
              <a:t>execution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EA67DCE-2389-6343-AFC1-54E1B9454D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//</a:t>
            </a:r>
            <a:r>
              <a: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Generate</a:t>
            </a:r>
            <a:r>
              <a: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new</a:t>
            </a:r>
            <a:r>
              <a: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input,</a:t>
            </a:r>
            <a:r>
              <a: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and</a:t>
            </a:r>
            <a:r>
              <a: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rerun</a:t>
            </a:r>
            <a:r>
              <a: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the</a:t>
            </a:r>
            <a:r>
              <a: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program:</a:t>
            </a:r>
          </a:p>
          <a:p>
            <a:pPr marL="0" indent="0">
              <a:buNone/>
            </a:pPr>
            <a:r>
              <a:rPr kumimoji="1" lang="en-US" altLang="zh-CN" sz="2000" b="1" dirty="0" err="1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foo(</a:t>
            </a:r>
            <a:r>
              <a:rPr kumimoji="1" lang="en-US" altLang="zh-CN" sz="2000" b="1" dirty="0" err="1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x,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 err="1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y){</a:t>
            </a:r>
          </a:p>
          <a:p>
            <a:pPr marL="0" indent="0">
              <a:buNone/>
            </a:pP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kumimoji="1" lang="en-US" altLang="zh-CN" sz="2000" b="1" dirty="0" err="1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z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 err="1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x+y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buNone/>
            </a:pP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if(x==32467289)</a:t>
            </a:r>
          </a:p>
          <a:p>
            <a:pPr marL="0" indent="0">
              <a:buNone/>
            </a:pP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x/y;</a:t>
            </a:r>
          </a:p>
          <a:p>
            <a:pPr marL="0" indent="0">
              <a:buNone/>
            </a:pP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else</a:t>
            </a:r>
          </a:p>
          <a:p>
            <a:pPr marL="0" indent="0">
              <a:buNone/>
            </a:pP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0;</a:t>
            </a:r>
          </a:p>
          <a:p>
            <a:pPr marL="0" indent="0">
              <a:buNone/>
            </a:pP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>
              <a:buNone/>
            </a:pPr>
            <a:endParaRPr kumimoji="1" lang="en-US" altLang="zh-CN" sz="2000" b="1" dirty="0">
              <a:solidFill>
                <a:srgbClr val="0432FF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kumimoji="1" lang="en-US" altLang="zh-CN" sz="2000" b="1" dirty="0">
              <a:solidFill>
                <a:srgbClr val="0432FF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kumimoji="1" lang="en-US" altLang="zh-CN" sz="2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16CC8A92-33CB-1441-ACDE-CAE708E66302}"/>
              </a:ext>
            </a:extLst>
          </p:cNvPr>
          <p:cNvSpPr txBox="1"/>
          <p:nvPr/>
        </p:nvSpPr>
        <p:spPr>
          <a:xfrm>
            <a:off x="3886200" y="3124200"/>
            <a:ext cx="2514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>
                <a:solidFill>
                  <a:srgbClr val="FF0000"/>
                </a:solidFill>
              </a:rPr>
              <a:t>x</a:t>
            </a:r>
            <a:r>
              <a:rPr kumimoji="1" lang="zh-CN" altLang="en-US" dirty="0">
                <a:solidFill>
                  <a:srgbClr val="FF0000"/>
                </a:solidFill>
              </a:rPr>
              <a:t> </a:t>
            </a:r>
            <a:r>
              <a:rPr kumimoji="1" lang="en-US" altLang="zh-CN" dirty="0">
                <a:solidFill>
                  <a:srgbClr val="FF0000"/>
                </a:solidFill>
              </a:rPr>
              <a:t>==</a:t>
            </a:r>
            <a:r>
              <a:rPr kumimoji="1" lang="zh-CN" altLang="en-US" dirty="0">
                <a:solidFill>
                  <a:srgbClr val="FF0000"/>
                </a:solidFill>
              </a:rPr>
              <a:t> </a:t>
            </a:r>
            <a:r>
              <a:rPr kumimoji="1" lang="en-US" altLang="zh-CN" dirty="0">
                <a:solidFill>
                  <a:srgbClr val="FF0000"/>
                </a:solidFill>
              </a:rPr>
              <a:t>32467289</a:t>
            </a:r>
            <a:endParaRPr kumimoji="1" lang="zh-CN" altLang="en-US" dirty="0">
              <a:solidFill>
                <a:srgbClr val="FF0000"/>
              </a:solidFill>
            </a:endParaRPr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4702C8FA-F8FA-F444-BA6B-BDE112AFD3F1}"/>
              </a:ext>
            </a:extLst>
          </p:cNvPr>
          <p:cNvSpPr/>
          <p:nvPr/>
        </p:nvSpPr>
        <p:spPr>
          <a:xfrm>
            <a:off x="5047456" y="4557522"/>
            <a:ext cx="515144" cy="47167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</a:rPr>
              <a:t>if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43540515-0931-6E4D-87FE-971D0ED01997}"/>
              </a:ext>
            </a:extLst>
          </p:cNvPr>
          <p:cNvSpPr/>
          <p:nvPr/>
        </p:nvSpPr>
        <p:spPr>
          <a:xfrm>
            <a:off x="4038600" y="5533644"/>
            <a:ext cx="809917" cy="47167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</a:rPr>
              <a:t>x/y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670EC692-9AD1-8D42-BB84-06850F4BCD90}"/>
              </a:ext>
            </a:extLst>
          </p:cNvPr>
          <p:cNvSpPr/>
          <p:nvPr/>
        </p:nvSpPr>
        <p:spPr>
          <a:xfrm>
            <a:off x="5885656" y="5533644"/>
            <a:ext cx="743744" cy="47167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</a:rPr>
              <a:t>0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  <p:cxnSp>
        <p:nvCxnSpPr>
          <p:cNvPr id="11" name="直线箭头连接符 10">
            <a:extLst>
              <a:ext uri="{FF2B5EF4-FFF2-40B4-BE49-F238E27FC236}">
                <a16:creationId xmlns:a16="http://schemas.microsoft.com/office/drawing/2014/main" id="{C787FA67-125E-CB40-A90A-212309E1EBC2}"/>
              </a:ext>
            </a:extLst>
          </p:cNvPr>
          <p:cNvCxnSpPr>
            <a:cxnSpLocks/>
            <a:endCxn id="8" idx="7"/>
          </p:cNvCxnSpPr>
          <p:nvPr/>
        </p:nvCxnSpPr>
        <p:spPr>
          <a:xfrm flipH="1">
            <a:off x="4729907" y="4997037"/>
            <a:ext cx="413594" cy="60568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线箭头连接符 12">
            <a:extLst>
              <a:ext uri="{FF2B5EF4-FFF2-40B4-BE49-F238E27FC236}">
                <a16:creationId xmlns:a16="http://schemas.microsoft.com/office/drawing/2014/main" id="{BDDF3804-50E1-6A47-81B6-917D66AB53A6}"/>
              </a:ext>
            </a:extLst>
          </p:cNvPr>
          <p:cNvCxnSpPr>
            <a:cxnSpLocks/>
            <a:stCxn id="7" idx="5"/>
            <a:endCxn id="9" idx="1"/>
          </p:cNvCxnSpPr>
          <p:nvPr/>
        </p:nvCxnSpPr>
        <p:spPr>
          <a:xfrm>
            <a:off x="5487159" y="4960124"/>
            <a:ext cx="507416" cy="64259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文本框 17">
            <a:extLst>
              <a:ext uri="{FF2B5EF4-FFF2-40B4-BE49-F238E27FC236}">
                <a16:creationId xmlns:a16="http://schemas.microsoft.com/office/drawing/2014/main" id="{2228E79C-56AB-624B-976A-73916E626B48}"/>
              </a:ext>
            </a:extLst>
          </p:cNvPr>
          <p:cNvSpPr txBox="1"/>
          <p:nvPr/>
        </p:nvSpPr>
        <p:spPr>
          <a:xfrm>
            <a:off x="3581400" y="5089187"/>
            <a:ext cx="2514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>
                <a:solidFill>
                  <a:srgbClr val="FF0000"/>
                </a:solidFill>
              </a:rPr>
              <a:t>x</a:t>
            </a:r>
            <a:r>
              <a:rPr kumimoji="1" lang="zh-CN" altLang="en-US" dirty="0">
                <a:solidFill>
                  <a:srgbClr val="FF0000"/>
                </a:solidFill>
              </a:rPr>
              <a:t> </a:t>
            </a:r>
            <a:r>
              <a:rPr kumimoji="1" lang="en-US" altLang="zh-CN" dirty="0">
                <a:solidFill>
                  <a:srgbClr val="FF0000"/>
                </a:solidFill>
              </a:rPr>
              <a:t>==</a:t>
            </a:r>
            <a:r>
              <a:rPr kumimoji="1" lang="zh-CN" altLang="en-US" dirty="0">
                <a:solidFill>
                  <a:srgbClr val="FF0000"/>
                </a:solidFill>
              </a:rPr>
              <a:t> </a:t>
            </a:r>
            <a:r>
              <a:rPr kumimoji="1" lang="en-US" altLang="zh-CN" dirty="0">
                <a:solidFill>
                  <a:srgbClr val="FF0000"/>
                </a:solidFill>
              </a:rPr>
              <a:t>32467289</a:t>
            </a:r>
            <a:endParaRPr kumimoji="1" lang="zh-CN" altLang="en-US" dirty="0">
              <a:solidFill>
                <a:srgbClr val="FF0000"/>
              </a:solidFill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882A3B29-562C-B442-B920-715D123070BC}"/>
              </a:ext>
            </a:extLst>
          </p:cNvPr>
          <p:cNvSpPr txBox="1"/>
          <p:nvPr/>
        </p:nvSpPr>
        <p:spPr>
          <a:xfrm>
            <a:off x="3563560" y="3505564"/>
            <a:ext cx="2514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>
                <a:solidFill>
                  <a:srgbClr val="FF0000"/>
                </a:solidFill>
              </a:rPr>
              <a:t>y==0</a:t>
            </a:r>
            <a:endParaRPr kumimoji="1" lang="zh-CN" altLang="en-US" dirty="0">
              <a:solidFill>
                <a:srgbClr val="FF0000"/>
              </a:solidFill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0F4A69B8-8E61-6842-95BC-E8F86FA5D007}"/>
              </a:ext>
            </a:extLst>
          </p:cNvPr>
          <p:cNvSpPr txBox="1"/>
          <p:nvPr/>
        </p:nvSpPr>
        <p:spPr>
          <a:xfrm>
            <a:off x="4008312" y="5999705"/>
            <a:ext cx="2514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>
                <a:solidFill>
                  <a:srgbClr val="FF0000"/>
                </a:solidFill>
              </a:rPr>
              <a:t>y==0</a:t>
            </a:r>
            <a:endParaRPr kumimoji="1" lang="zh-CN" altLang="en-US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E22C4A97-FB1B-1D4F-8C71-5874BAAAB5D2}"/>
                  </a:ext>
                </a:extLst>
              </p:cNvPr>
              <p:cNvSpPr txBox="1"/>
              <p:nvPr/>
            </p:nvSpPr>
            <p:spPr>
              <a:xfrm>
                <a:off x="234276" y="5440577"/>
                <a:ext cx="344462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dirty="0">
                    <a:solidFill>
                      <a:srgbClr val="FF0000"/>
                    </a:solidFill>
                  </a:rPr>
                  <a:t>x</a:t>
                </a:r>
                <a:r>
                  <a:rPr kumimoji="1" lang="zh-CN" altLang="en-US" dirty="0">
                    <a:solidFill>
                      <a:srgbClr val="FF0000"/>
                    </a:solidFill>
                  </a:rPr>
                  <a:t> </a:t>
                </a:r>
                <a:r>
                  <a:rPr kumimoji="1" lang="en-US" altLang="zh-CN" dirty="0">
                    <a:solidFill>
                      <a:srgbClr val="FF0000"/>
                    </a:solidFill>
                  </a:rPr>
                  <a:t>==</a:t>
                </a:r>
                <a:r>
                  <a:rPr kumimoji="1" lang="zh-CN" altLang="en-US" dirty="0">
                    <a:solidFill>
                      <a:srgbClr val="FF0000"/>
                    </a:solidFill>
                  </a:rPr>
                  <a:t> </a:t>
                </a:r>
                <a:r>
                  <a:rPr kumimoji="1" lang="en-US" altLang="zh-CN" dirty="0">
                    <a:solidFill>
                      <a:srgbClr val="FF0000"/>
                    </a:solidFill>
                  </a:rPr>
                  <a:t>32467289</a:t>
                </a:r>
                <a:r>
                  <a:rPr kumimoji="1" lang="zh-CN" altLang="en-US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zh-CN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∧</m:t>
                    </m:r>
                  </m:oMath>
                </a14:m>
                <a:r>
                  <a:rPr kumimoji="1" lang="zh-CN" altLang="en-US" dirty="0">
                    <a:solidFill>
                      <a:srgbClr val="FF0000"/>
                    </a:solidFill>
                  </a:rPr>
                  <a:t> </a:t>
                </a:r>
                <a:r>
                  <a:rPr kumimoji="1" lang="en-US" altLang="zh-CN" dirty="0">
                    <a:solidFill>
                      <a:srgbClr val="FF0000"/>
                    </a:solidFill>
                  </a:rPr>
                  <a:t>y==0</a:t>
                </a:r>
                <a:endParaRPr kumimoji="1" lang="zh-CN" alt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E22C4A97-FB1B-1D4F-8C71-5874BAAAB5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4276" y="5440577"/>
                <a:ext cx="3444624" cy="369332"/>
              </a:xfrm>
              <a:prstGeom prst="rect">
                <a:avLst/>
              </a:prstGeom>
              <a:blipFill>
                <a:blip r:embed="rId2"/>
                <a:stretch>
                  <a:fillRect l="-1099" t="-3333" b="-2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7" name="表格 16">
            <a:extLst>
              <a:ext uri="{FF2B5EF4-FFF2-40B4-BE49-F238E27FC236}">
                <a16:creationId xmlns:a16="http://schemas.microsoft.com/office/drawing/2014/main" id="{024CE89A-605F-A44D-B61B-78B286DFEE10}"/>
              </a:ext>
            </a:extLst>
          </p:cNvPr>
          <p:cNvGraphicFramePr>
            <a:graphicFrameLocks noGrp="1"/>
          </p:cNvGraphicFramePr>
          <p:nvPr/>
        </p:nvGraphicFramePr>
        <p:xfrm>
          <a:off x="5715000" y="2743200"/>
          <a:ext cx="3200401" cy="1752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>
                  <a:extLst>
                    <a:ext uri="{9D8B030D-6E8A-4147-A177-3AD203B41FA5}">
                      <a16:colId xmlns:a16="http://schemas.microsoft.com/office/drawing/2014/main" val="978326069"/>
                    </a:ext>
                  </a:extLst>
                </a:gridCol>
                <a:gridCol w="1240972">
                  <a:extLst>
                    <a:ext uri="{9D8B030D-6E8A-4147-A177-3AD203B41FA5}">
                      <a16:colId xmlns:a16="http://schemas.microsoft.com/office/drawing/2014/main" val="1209235749"/>
                    </a:ext>
                  </a:extLst>
                </a:gridCol>
                <a:gridCol w="1045029">
                  <a:extLst>
                    <a:ext uri="{9D8B030D-6E8A-4147-A177-3AD203B41FA5}">
                      <a16:colId xmlns:a16="http://schemas.microsoft.com/office/drawing/2014/main" val="296810847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Variable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value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sym.</a:t>
                      </a:r>
                    </a:p>
                    <a:p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value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09143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x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rgbClr val="FF0000"/>
                          </a:solidFill>
                        </a:rPr>
                        <a:t>32467289</a:t>
                      </a:r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rgbClr val="FF0000"/>
                          </a:solidFill>
                        </a:rPr>
                        <a:t>x</a:t>
                      </a:r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086531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y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rgbClr val="FF0000"/>
                          </a:solidFill>
                        </a:rPr>
                        <a:t>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269589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z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rgbClr val="FF0000"/>
                          </a:solidFill>
                        </a:rPr>
                        <a:t>32467289</a:t>
                      </a:r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err="1">
                          <a:solidFill>
                            <a:srgbClr val="FF0000"/>
                          </a:solidFill>
                        </a:rPr>
                        <a:t>x+y</a:t>
                      </a:r>
                      <a:endParaRPr lang="en-US" altLang="zh-CN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86846452"/>
                  </a:ext>
                </a:extLst>
              </a:tr>
            </a:tbl>
          </a:graphicData>
        </a:graphic>
      </p:graphicFrame>
      <p:sp>
        <p:nvSpPr>
          <p:cNvPr id="19" name="文本框 18">
            <a:extLst>
              <a:ext uri="{FF2B5EF4-FFF2-40B4-BE49-F238E27FC236}">
                <a16:creationId xmlns:a16="http://schemas.microsoft.com/office/drawing/2014/main" id="{8C7419A8-FB74-D04C-A2C6-B24AE6D07323}"/>
              </a:ext>
            </a:extLst>
          </p:cNvPr>
          <p:cNvSpPr txBox="1"/>
          <p:nvPr/>
        </p:nvSpPr>
        <p:spPr>
          <a:xfrm>
            <a:off x="222899" y="5867240"/>
            <a:ext cx="34446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Trigger</a:t>
            </a:r>
            <a:r>
              <a:rPr kumimoji="1" lang="zh-CN" altLang="en-US" dirty="0"/>
              <a:t> </a:t>
            </a:r>
            <a:r>
              <a:rPr kumimoji="1" lang="en-US" altLang="zh-CN" dirty="0"/>
              <a:t>the</a:t>
            </a:r>
            <a:r>
              <a:rPr kumimoji="1" lang="zh-CN" altLang="en-US" dirty="0"/>
              <a:t> </a:t>
            </a:r>
            <a:r>
              <a:rPr kumimoji="1" lang="en-US" altLang="zh-CN" dirty="0"/>
              <a:t>“</a:t>
            </a:r>
            <a:r>
              <a:rPr kumimoji="1" lang="en-US" altLang="zh-CN" dirty="0" err="1"/>
              <a:t>DivideByZero</a:t>
            </a:r>
            <a:r>
              <a:rPr kumimoji="1" lang="en-US" altLang="zh-CN" dirty="0"/>
              <a:t>”!</a:t>
            </a:r>
            <a:endParaRPr kumimoji="1" lang="zh-CN" altLang="en-US" dirty="0">
              <a:solidFill>
                <a:srgbClr val="FF0000"/>
              </a:solidFill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045B4131-1BEA-0843-825D-01B81E8236D6}"/>
              </a:ext>
            </a:extLst>
          </p:cNvPr>
          <p:cNvSpPr txBox="1"/>
          <p:nvPr/>
        </p:nvSpPr>
        <p:spPr>
          <a:xfrm>
            <a:off x="6772400" y="4760158"/>
            <a:ext cx="22358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We</a:t>
            </a:r>
            <a:r>
              <a:rPr kumimoji="1" lang="zh-CN" altLang="en-US" dirty="0"/>
              <a:t> </a:t>
            </a:r>
            <a:r>
              <a:rPr kumimoji="1" lang="en-US" altLang="zh-CN" dirty="0"/>
              <a:t>run</a:t>
            </a:r>
            <a:r>
              <a:rPr kumimoji="1" lang="zh-CN" altLang="en-US" dirty="0"/>
              <a:t> </a:t>
            </a:r>
            <a:r>
              <a:rPr kumimoji="1" lang="en-US" altLang="zh-CN" dirty="0"/>
              <a:t>the</a:t>
            </a:r>
            <a:r>
              <a:rPr kumimoji="1" lang="zh-CN" altLang="en-US" dirty="0"/>
              <a:t> </a:t>
            </a:r>
            <a:r>
              <a:rPr kumimoji="1" lang="en-US" altLang="zh-CN" dirty="0"/>
              <a:t>program</a:t>
            </a:r>
            <a:r>
              <a:rPr kumimoji="1" lang="zh-CN" altLang="en-US" dirty="0"/>
              <a:t> </a:t>
            </a:r>
            <a:r>
              <a:rPr kumimoji="1" lang="en-US" altLang="zh-CN" dirty="0"/>
              <a:t>3</a:t>
            </a:r>
            <a:r>
              <a:rPr kumimoji="1" lang="zh-CN" altLang="en-US" dirty="0"/>
              <a:t> </a:t>
            </a:r>
            <a:r>
              <a:rPr kumimoji="1" lang="en-US" altLang="zh-CN" dirty="0"/>
              <a:t>rounds</a:t>
            </a:r>
            <a:r>
              <a:rPr kumimoji="1" lang="zh-CN" altLang="en-US" dirty="0"/>
              <a:t> </a:t>
            </a:r>
            <a:r>
              <a:rPr kumimoji="1" lang="en-US" altLang="zh-CN" dirty="0"/>
              <a:t>in</a:t>
            </a:r>
            <a:r>
              <a:rPr kumimoji="1" lang="zh-CN" altLang="en-US" dirty="0"/>
              <a:t> </a:t>
            </a:r>
            <a:r>
              <a:rPr kumimoji="1" lang="en-US" altLang="zh-CN" dirty="0"/>
              <a:t>total!</a:t>
            </a:r>
            <a:endParaRPr kumimoji="1" lang="zh-CN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351096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83B1A98-5D2E-F84C-8A75-A8FC62CA10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The</a:t>
            </a:r>
            <a:r>
              <a:rPr kumimoji="1" lang="zh-CN" altLang="en-US" dirty="0"/>
              <a:t> </a:t>
            </a:r>
            <a:r>
              <a:rPr kumimoji="1" lang="en-US" altLang="zh-CN" dirty="0"/>
              <a:t>general</a:t>
            </a:r>
            <a:r>
              <a:rPr kumimoji="1" lang="zh-CN" altLang="en-US" dirty="0"/>
              <a:t> </a:t>
            </a:r>
            <a:r>
              <a:rPr kumimoji="1" lang="en-US" altLang="zh-CN" dirty="0"/>
              <a:t>form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EA67DCE-2389-6343-AFC1-54E1B9454D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0500" y="2025134"/>
            <a:ext cx="7772400" cy="4114800"/>
          </a:xfrm>
        </p:spPr>
        <p:txBody>
          <a:bodyPr/>
          <a:lstStyle/>
          <a:p>
            <a:pPr marL="0" indent="0">
              <a:buNone/>
            </a:pP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// Conceptually, we</a:t>
            </a:r>
            <a:r>
              <a: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negate</a:t>
            </a:r>
            <a:r>
              <a: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one</a:t>
            </a:r>
            <a:r>
              <a: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of</a:t>
            </a:r>
            <a:r>
              <a: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PCs</a:t>
            </a:r>
            <a:r>
              <a: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one</a:t>
            </a:r>
            <a:r>
              <a: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time:</a:t>
            </a:r>
          </a:p>
          <a:p>
            <a:pPr marL="0" indent="0">
              <a:buNone/>
            </a:pPr>
            <a:r>
              <a:rPr kumimoji="1" lang="en-US" altLang="zh-CN" sz="2000" b="1" dirty="0" err="1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foo(</a:t>
            </a:r>
            <a:r>
              <a:rPr kumimoji="1" lang="en-US" altLang="zh-CN" sz="2000" b="1" dirty="0" err="1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x,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 err="1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y){</a:t>
            </a:r>
          </a:p>
          <a:p>
            <a:pPr marL="0" indent="0">
              <a:buNone/>
            </a:pP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if(b1)</a:t>
            </a:r>
          </a:p>
          <a:p>
            <a:pPr marL="0" indent="0">
              <a:buNone/>
            </a:pP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if(b2)</a:t>
            </a:r>
          </a:p>
          <a:p>
            <a:pPr marL="0" indent="0">
              <a:buNone/>
            </a:pP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if(…)</a:t>
            </a:r>
          </a:p>
          <a:p>
            <a:pPr marL="0" indent="0">
              <a:buNone/>
            </a:pP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if(</a:t>
            </a:r>
            <a:r>
              <a:rPr kumimoji="1" lang="en-US" altLang="zh-CN" sz="2000" b="1" dirty="0" err="1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bn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>
              <a:buNone/>
            </a:pP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x/y;</a:t>
            </a:r>
          </a:p>
          <a:p>
            <a:pPr marL="0" indent="0">
              <a:buNone/>
            </a:pP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else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…;</a:t>
            </a:r>
          </a:p>
          <a:p>
            <a:pPr marL="0" indent="0">
              <a:buNone/>
            </a:pP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else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…;</a:t>
            </a:r>
          </a:p>
          <a:p>
            <a:pPr marL="0" indent="0">
              <a:buNone/>
            </a:pP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else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…;</a:t>
            </a:r>
          </a:p>
          <a:p>
            <a:pPr marL="0" indent="0">
              <a:buNone/>
            </a:pP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else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0;</a:t>
            </a:r>
          </a:p>
          <a:p>
            <a:pPr marL="0" indent="0">
              <a:buNone/>
            </a:pP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3CAB474-848C-174C-A1B2-CAE97B6BBDBB}"/>
              </a:ext>
            </a:extLst>
          </p:cNvPr>
          <p:cNvSpPr txBox="1"/>
          <p:nvPr/>
        </p:nvSpPr>
        <p:spPr>
          <a:xfrm>
            <a:off x="1524000" y="2743200"/>
            <a:ext cx="2514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>
                <a:solidFill>
                  <a:srgbClr val="FF0000"/>
                </a:solidFill>
              </a:rPr>
              <a:t>b1</a:t>
            </a:r>
            <a:endParaRPr kumimoji="1" lang="zh-CN" altLang="en-US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4A2103AA-E32F-804E-B059-CA67B953088B}"/>
                  </a:ext>
                </a:extLst>
              </p:cNvPr>
              <p:cNvSpPr txBox="1"/>
              <p:nvPr/>
            </p:nvSpPr>
            <p:spPr>
              <a:xfrm>
                <a:off x="1676400" y="3135868"/>
                <a:ext cx="25146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dirty="0">
                    <a:solidFill>
                      <a:srgbClr val="FF0000"/>
                    </a:solidFill>
                  </a:rPr>
                  <a:t>b1</a:t>
                </a:r>
                <a:r>
                  <a:rPr kumimoji="1" lang="en-US" altLang="zh-CN" dirty="0">
                    <a:solidFill>
                      <a:srgbClr val="FF0000"/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zh-CN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∧ </m:t>
                    </m:r>
                  </m:oMath>
                </a14:m>
                <a:r>
                  <a:rPr kumimoji="1" lang="en-US" altLang="zh-CN" dirty="0">
                    <a:solidFill>
                      <a:srgbClr val="FF0000"/>
                    </a:solidFill>
                  </a:rPr>
                  <a:t>b2</a:t>
                </a:r>
                <a:endParaRPr kumimoji="1" lang="zh-CN" alt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4A2103AA-E32F-804E-B059-CA67B95308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76400" y="3135868"/>
                <a:ext cx="2514600" cy="369332"/>
              </a:xfrm>
              <a:prstGeom prst="rect">
                <a:avLst/>
              </a:prstGeom>
              <a:blipFill>
                <a:blip r:embed="rId2"/>
                <a:stretch>
                  <a:fillRect l="-2020" t="-6667" b="-23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D78926F9-7193-5D4A-9239-5B28AB5A5968}"/>
                  </a:ext>
                </a:extLst>
              </p:cNvPr>
              <p:cNvSpPr txBox="1"/>
              <p:nvPr/>
            </p:nvSpPr>
            <p:spPr>
              <a:xfrm>
                <a:off x="1828800" y="3516868"/>
                <a:ext cx="25146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dirty="0">
                    <a:solidFill>
                      <a:srgbClr val="FF0000"/>
                    </a:solidFill>
                  </a:rPr>
                  <a:t>b1</a:t>
                </a:r>
                <a:r>
                  <a:rPr kumimoji="1" lang="en-US" altLang="zh-CN" dirty="0">
                    <a:solidFill>
                      <a:srgbClr val="FF0000"/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zh-CN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∧ </m:t>
                    </m:r>
                  </m:oMath>
                </a14:m>
                <a:r>
                  <a:rPr kumimoji="1" lang="en-US" altLang="zh-CN" dirty="0">
                    <a:solidFill>
                      <a:srgbClr val="FF0000"/>
                    </a:solidFill>
                  </a:rPr>
                  <a:t>b2</a:t>
                </a:r>
                <a:r>
                  <a:rPr kumimoji="1" lang="en-US" altLang="zh-CN" dirty="0">
                    <a:solidFill>
                      <a:srgbClr val="FF0000"/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zh-CN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∧</m:t>
                    </m:r>
                  </m:oMath>
                </a14:m>
                <a:r>
                  <a:rPr kumimoji="1" lang="en-US" altLang="zh-CN" dirty="0">
                    <a:solidFill>
                      <a:srgbClr val="FF0000"/>
                    </a:solidFill>
                  </a:rPr>
                  <a:t> ...</a:t>
                </a:r>
                <a:endParaRPr kumimoji="1" lang="zh-CN" alt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D78926F9-7193-5D4A-9239-5B28AB5A59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28800" y="3516868"/>
                <a:ext cx="2514600" cy="369332"/>
              </a:xfrm>
              <a:prstGeom prst="rect">
                <a:avLst/>
              </a:prstGeom>
              <a:blipFill>
                <a:blip r:embed="rId3"/>
                <a:stretch>
                  <a:fillRect l="-2020" t="-6667" b="-23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9B8A85D3-A4C5-4843-BA42-2523CDC0C651}"/>
                  </a:ext>
                </a:extLst>
              </p:cNvPr>
              <p:cNvSpPr txBox="1"/>
              <p:nvPr/>
            </p:nvSpPr>
            <p:spPr>
              <a:xfrm>
                <a:off x="2286000" y="3897868"/>
                <a:ext cx="25146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dirty="0">
                    <a:solidFill>
                      <a:srgbClr val="FF0000"/>
                    </a:solidFill>
                  </a:rPr>
                  <a:t>b1</a:t>
                </a:r>
                <a:r>
                  <a:rPr kumimoji="1" lang="en-US" altLang="zh-CN" dirty="0">
                    <a:solidFill>
                      <a:srgbClr val="FF0000"/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zh-CN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∧ </m:t>
                    </m:r>
                  </m:oMath>
                </a14:m>
                <a:r>
                  <a:rPr kumimoji="1" lang="en-US" altLang="zh-CN" dirty="0">
                    <a:solidFill>
                      <a:srgbClr val="FF0000"/>
                    </a:solidFill>
                  </a:rPr>
                  <a:t>b2</a:t>
                </a:r>
                <a:r>
                  <a:rPr kumimoji="1" lang="en-US" altLang="zh-CN" dirty="0">
                    <a:solidFill>
                      <a:srgbClr val="FF0000"/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zh-CN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∧</m:t>
                    </m:r>
                  </m:oMath>
                </a14:m>
                <a:r>
                  <a:rPr kumimoji="1" lang="en-US" altLang="zh-CN" dirty="0">
                    <a:solidFill>
                      <a:srgbClr val="FF0000"/>
                    </a:solidFill>
                  </a:rPr>
                  <a:t> ...</a:t>
                </a:r>
                <a:r>
                  <a:rPr kumimoji="1" lang="en-US" altLang="zh-CN" dirty="0">
                    <a:solidFill>
                      <a:srgbClr val="FF0000"/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zh-CN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∧ </m:t>
                    </m:r>
                  </m:oMath>
                </a14:m>
                <a:r>
                  <a:rPr kumimoji="1" lang="en-US" altLang="zh-CN" dirty="0">
                    <a:solidFill>
                      <a:srgbClr val="FF0000"/>
                    </a:solidFill>
                  </a:rPr>
                  <a:t>bn</a:t>
                </a:r>
                <a:endParaRPr kumimoji="1" lang="zh-CN" alt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9B8A85D3-A4C5-4843-BA42-2523CDC0C6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6000" y="3897868"/>
                <a:ext cx="2514600" cy="369332"/>
              </a:xfrm>
              <a:prstGeom prst="rect">
                <a:avLst/>
              </a:prstGeom>
              <a:blipFill>
                <a:blip r:embed="rId4"/>
                <a:stretch>
                  <a:fillRect l="-2020" t="-6667" b="-23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6951C529-A491-4C4E-80DF-569B195872A9}"/>
                  </a:ext>
                </a:extLst>
              </p:cNvPr>
              <p:cNvSpPr txBox="1"/>
              <p:nvPr/>
            </p:nvSpPr>
            <p:spPr>
              <a:xfrm>
                <a:off x="2155493" y="4431268"/>
                <a:ext cx="310024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dirty="0">
                    <a:solidFill>
                      <a:srgbClr val="FF0000"/>
                    </a:solidFill>
                  </a:rPr>
                  <a:t>b1</a:t>
                </a:r>
                <a:r>
                  <a:rPr kumimoji="1" lang="en-US" altLang="zh-CN" dirty="0">
                    <a:solidFill>
                      <a:srgbClr val="FF0000"/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zh-CN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∧ </m:t>
                    </m:r>
                  </m:oMath>
                </a14:m>
                <a:r>
                  <a:rPr kumimoji="1" lang="en-US" altLang="zh-CN" dirty="0">
                    <a:solidFill>
                      <a:srgbClr val="FF0000"/>
                    </a:solidFill>
                  </a:rPr>
                  <a:t>b2</a:t>
                </a:r>
                <a:r>
                  <a:rPr kumimoji="1" lang="en-US" altLang="zh-CN" dirty="0">
                    <a:solidFill>
                      <a:srgbClr val="FF0000"/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zh-CN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∧</m:t>
                    </m:r>
                  </m:oMath>
                </a14:m>
                <a:r>
                  <a:rPr kumimoji="1" lang="en-US" altLang="zh-CN" dirty="0">
                    <a:solidFill>
                      <a:srgbClr val="FF0000"/>
                    </a:solidFill>
                  </a:rPr>
                  <a:t> ... </a:t>
                </a:r>
                <a14:m>
                  <m:oMath xmlns:m="http://schemas.openxmlformats.org/officeDocument/2006/math">
                    <m:r>
                      <a:rPr kumimoji="1" lang="en-US" altLang="zh-CN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∧ </m:t>
                    </m:r>
                  </m:oMath>
                </a14:m>
                <a:r>
                  <a:rPr kumimoji="1" lang="en-US" altLang="zh-CN" dirty="0" err="1">
                    <a:solidFill>
                      <a:srgbClr val="FF0000"/>
                    </a:solidFill>
                  </a:rPr>
                  <a:t>bn</a:t>
                </a:r>
                <a:r>
                  <a:rPr kumimoji="1" lang="en-US" altLang="zh-CN" dirty="0">
                    <a:solidFill>
                      <a:srgbClr val="FF0000"/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zh-CN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∧ </m:t>
                    </m:r>
                  </m:oMath>
                </a14:m>
                <a:r>
                  <a:rPr kumimoji="1" lang="en-US" altLang="zh-CN" dirty="0">
                    <a:solidFill>
                      <a:srgbClr val="FF0000"/>
                    </a:solidFill>
                  </a:rPr>
                  <a:t>y==0</a:t>
                </a:r>
                <a:endParaRPr kumimoji="1" lang="zh-CN" alt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6951C529-A491-4C4E-80DF-569B195872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55493" y="4431268"/>
                <a:ext cx="3100242" cy="369332"/>
              </a:xfrm>
              <a:prstGeom prst="rect">
                <a:avLst/>
              </a:prstGeom>
              <a:blipFill>
                <a:blip r:embed="rId5"/>
                <a:stretch>
                  <a:fillRect l="-1633" t="-6667" b="-23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5" name="椭圆 44">
            <a:extLst>
              <a:ext uri="{FF2B5EF4-FFF2-40B4-BE49-F238E27FC236}">
                <a16:creationId xmlns:a16="http://schemas.microsoft.com/office/drawing/2014/main" id="{C61B24EF-CA0C-D440-8DE1-F2620F05E316}"/>
              </a:ext>
            </a:extLst>
          </p:cNvPr>
          <p:cNvSpPr/>
          <p:nvPr/>
        </p:nvSpPr>
        <p:spPr>
          <a:xfrm>
            <a:off x="6170134" y="3730826"/>
            <a:ext cx="725965" cy="47167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</a:rPr>
              <a:t>b1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  <p:sp>
        <p:nvSpPr>
          <p:cNvPr id="46" name="椭圆 45">
            <a:extLst>
              <a:ext uri="{FF2B5EF4-FFF2-40B4-BE49-F238E27FC236}">
                <a16:creationId xmlns:a16="http://schemas.microsoft.com/office/drawing/2014/main" id="{A49CA915-E4EB-F249-9CA9-BC52946B8726}"/>
              </a:ext>
            </a:extLst>
          </p:cNvPr>
          <p:cNvSpPr/>
          <p:nvPr/>
        </p:nvSpPr>
        <p:spPr>
          <a:xfrm>
            <a:off x="5161279" y="4706948"/>
            <a:ext cx="809917" cy="47167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</a:rPr>
              <a:t>b2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  <p:sp>
        <p:nvSpPr>
          <p:cNvPr id="47" name="椭圆 46">
            <a:extLst>
              <a:ext uri="{FF2B5EF4-FFF2-40B4-BE49-F238E27FC236}">
                <a16:creationId xmlns:a16="http://schemas.microsoft.com/office/drawing/2014/main" id="{8A774730-4727-1540-8B97-FA2FEBAD6968}"/>
              </a:ext>
            </a:extLst>
          </p:cNvPr>
          <p:cNvSpPr/>
          <p:nvPr/>
        </p:nvSpPr>
        <p:spPr>
          <a:xfrm>
            <a:off x="7008335" y="4706948"/>
            <a:ext cx="914400" cy="47167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</a:rPr>
              <a:t>b…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  <p:cxnSp>
        <p:nvCxnSpPr>
          <p:cNvPr id="48" name="直线箭头连接符 47">
            <a:extLst>
              <a:ext uri="{FF2B5EF4-FFF2-40B4-BE49-F238E27FC236}">
                <a16:creationId xmlns:a16="http://schemas.microsoft.com/office/drawing/2014/main" id="{90196587-C504-FB4D-84B2-D0E8E8FFE7DA}"/>
              </a:ext>
            </a:extLst>
          </p:cNvPr>
          <p:cNvCxnSpPr>
            <a:cxnSpLocks/>
            <a:endCxn id="46" idx="7"/>
          </p:cNvCxnSpPr>
          <p:nvPr/>
        </p:nvCxnSpPr>
        <p:spPr>
          <a:xfrm flipH="1">
            <a:off x="5852586" y="4170341"/>
            <a:ext cx="413594" cy="60568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线箭头连接符 48">
            <a:extLst>
              <a:ext uri="{FF2B5EF4-FFF2-40B4-BE49-F238E27FC236}">
                <a16:creationId xmlns:a16="http://schemas.microsoft.com/office/drawing/2014/main" id="{900DFDB7-A771-944E-A5D6-4DC5ADBC86F3}"/>
              </a:ext>
            </a:extLst>
          </p:cNvPr>
          <p:cNvCxnSpPr>
            <a:cxnSpLocks/>
            <a:stCxn id="45" idx="5"/>
            <a:endCxn id="47" idx="1"/>
          </p:cNvCxnSpPr>
          <p:nvPr/>
        </p:nvCxnSpPr>
        <p:spPr>
          <a:xfrm>
            <a:off x="6789784" y="4133428"/>
            <a:ext cx="352462" cy="64259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文本框 49">
            <a:extLst>
              <a:ext uri="{FF2B5EF4-FFF2-40B4-BE49-F238E27FC236}">
                <a16:creationId xmlns:a16="http://schemas.microsoft.com/office/drawing/2014/main" id="{E8D77079-E462-0841-963F-E5101F3C133E}"/>
              </a:ext>
            </a:extLst>
          </p:cNvPr>
          <p:cNvSpPr txBox="1"/>
          <p:nvPr/>
        </p:nvSpPr>
        <p:spPr>
          <a:xfrm>
            <a:off x="5659053" y="4222997"/>
            <a:ext cx="8158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>
                <a:solidFill>
                  <a:srgbClr val="FF0000"/>
                </a:solidFill>
              </a:rPr>
              <a:t>b1</a:t>
            </a:r>
            <a:endParaRPr kumimoji="1" lang="zh-CN" altLang="en-US" dirty="0">
              <a:solidFill>
                <a:srgbClr val="FF0000"/>
              </a:solidFill>
            </a:endParaRPr>
          </a:p>
        </p:txBody>
      </p:sp>
      <p:sp>
        <p:nvSpPr>
          <p:cNvPr id="51" name="椭圆 50">
            <a:extLst>
              <a:ext uri="{FF2B5EF4-FFF2-40B4-BE49-F238E27FC236}">
                <a16:creationId xmlns:a16="http://schemas.microsoft.com/office/drawing/2014/main" id="{0B062261-80B3-C84F-A626-697A528C25CC}"/>
              </a:ext>
            </a:extLst>
          </p:cNvPr>
          <p:cNvSpPr/>
          <p:nvPr/>
        </p:nvSpPr>
        <p:spPr>
          <a:xfrm>
            <a:off x="4265135" y="6307148"/>
            <a:ext cx="809917" cy="47167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</a:rPr>
              <a:t>x/y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  <p:cxnSp>
        <p:nvCxnSpPr>
          <p:cNvPr id="52" name="直线箭头连接符 51">
            <a:extLst>
              <a:ext uri="{FF2B5EF4-FFF2-40B4-BE49-F238E27FC236}">
                <a16:creationId xmlns:a16="http://schemas.microsoft.com/office/drawing/2014/main" id="{9C168345-6D0A-4F42-92F3-83BACA6A3C6A}"/>
              </a:ext>
            </a:extLst>
          </p:cNvPr>
          <p:cNvCxnSpPr>
            <a:cxnSpLocks/>
            <a:endCxn id="51" idx="7"/>
          </p:cNvCxnSpPr>
          <p:nvPr/>
        </p:nvCxnSpPr>
        <p:spPr>
          <a:xfrm flipH="1">
            <a:off x="4956442" y="5940626"/>
            <a:ext cx="299293" cy="43559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闪电形 52">
            <a:extLst>
              <a:ext uri="{FF2B5EF4-FFF2-40B4-BE49-F238E27FC236}">
                <a16:creationId xmlns:a16="http://schemas.microsoft.com/office/drawing/2014/main" id="{1755760C-C019-B649-9CDF-418807E35E3E}"/>
              </a:ext>
            </a:extLst>
          </p:cNvPr>
          <p:cNvSpPr/>
          <p:nvPr/>
        </p:nvSpPr>
        <p:spPr>
          <a:xfrm>
            <a:off x="5027135" y="5407226"/>
            <a:ext cx="381000" cy="533400"/>
          </a:xfrm>
          <a:prstGeom prst="lightningBol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54" name="直线箭头连接符 53">
            <a:extLst>
              <a:ext uri="{FF2B5EF4-FFF2-40B4-BE49-F238E27FC236}">
                <a16:creationId xmlns:a16="http://schemas.microsoft.com/office/drawing/2014/main" id="{5267E254-8781-B84D-A6DF-FD0F011B82DC}"/>
              </a:ext>
            </a:extLst>
          </p:cNvPr>
          <p:cNvCxnSpPr>
            <a:cxnSpLocks/>
          </p:cNvCxnSpPr>
          <p:nvPr/>
        </p:nvCxnSpPr>
        <p:spPr>
          <a:xfrm flipH="1">
            <a:off x="5348830" y="5178626"/>
            <a:ext cx="220028" cy="43931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椭圆 54">
            <a:extLst>
              <a:ext uri="{FF2B5EF4-FFF2-40B4-BE49-F238E27FC236}">
                <a16:creationId xmlns:a16="http://schemas.microsoft.com/office/drawing/2014/main" id="{9F5A910F-DB70-534B-AD87-ABBB5A39FE9E}"/>
              </a:ext>
            </a:extLst>
          </p:cNvPr>
          <p:cNvSpPr/>
          <p:nvPr/>
        </p:nvSpPr>
        <p:spPr>
          <a:xfrm>
            <a:off x="5566237" y="6307148"/>
            <a:ext cx="809917" cy="47167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</a:rPr>
              <a:t>b…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  <p:cxnSp>
        <p:nvCxnSpPr>
          <p:cNvPr id="56" name="直线箭头连接符 55">
            <a:extLst>
              <a:ext uri="{FF2B5EF4-FFF2-40B4-BE49-F238E27FC236}">
                <a16:creationId xmlns:a16="http://schemas.microsoft.com/office/drawing/2014/main" id="{F05B2E86-17B6-AD40-9DDA-4E5B66EFADD6}"/>
              </a:ext>
            </a:extLst>
          </p:cNvPr>
          <p:cNvCxnSpPr>
            <a:cxnSpLocks/>
          </p:cNvCxnSpPr>
          <p:nvPr/>
        </p:nvCxnSpPr>
        <p:spPr>
          <a:xfrm>
            <a:off x="5478828" y="5940626"/>
            <a:ext cx="271894" cy="41366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椭圆 56">
            <a:extLst>
              <a:ext uri="{FF2B5EF4-FFF2-40B4-BE49-F238E27FC236}">
                <a16:creationId xmlns:a16="http://schemas.microsoft.com/office/drawing/2014/main" id="{2C7D955D-99AE-E646-9C9E-9FE6549C4685}"/>
              </a:ext>
            </a:extLst>
          </p:cNvPr>
          <p:cNvSpPr/>
          <p:nvPr/>
        </p:nvSpPr>
        <p:spPr>
          <a:xfrm>
            <a:off x="6749147" y="6307148"/>
            <a:ext cx="809917" cy="47167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</a:rPr>
              <a:t>b…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  <p:cxnSp>
        <p:nvCxnSpPr>
          <p:cNvPr id="58" name="直线箭头连接符 57">
            <a:extLst>
              <a:ext uri="{FF2B5EF4-FFF2-40B4-BE49-F238E27FC236}">
                <a16:creationId xmlns:a16="http://schemas.microsoft.com/office/drawing/2014/main" id="{BFF9F5A2-D4F2-C443-B676-A075E1D73FE7}"/>
              </a:ext>
            </a:extLst>
          </p:cNvPr>
          <p:cNvCxnSpPr>
            <a:cxnSpLocks/>
            <a:endCxn id="57" idx="7"/>
          </p:cNvCxnSpPr>
          <p:nvPr/>
        </p:nvCxnSpPr>
        <p:spPr>
          <a:xfrm flipH="1">
            <a:off x="7440454" y="5940626"/>
            <a:ext cx="299293" cy="43559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闪电形 58">
            <a:extLst>
              <a:ext uri="{FF2B5EF4-FFF2-40B4-BE49-F238E27FC236}">
                <a16:creationId xmlns:a16="http://schemas.microsoft.com/office/drawing/2014/main" id="{6426EA97-F2BA-CE4A-83D5-9DE5EA5601FF}"/>
              </a:ext>
            </a:extLst>
          </p:cNvPr>
          <p:cNvSpPr/>
          <p:nvPr/>
        </p:nvSpPr>
        <p:spPr>
          <a:xfrm>
            <a:off x="7693090" y="5569134"/>
            <a:ext cx="381000" cy="533400"/>
          </a:xfrm>
          <a:prstGeom prst="lightningBol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60" name="直线箭头连接符 59">
            <a:extLst>
              <a:ext uri="{FF2B5EF4-FFF2-40B4-BE49-F238E27FC236}">
                <a16:creationId xmlns:a16="http://schemas.microsoft.com/office/drawing/2014/main" id="{5D067FC5-B251-F040-BF65-49B6F010515E}"/>
              </a:ext>
            </a:extLst>
          </p:cNvPr>
          <p:cNvCxnSpPr>
            <a:cxnSpLocks/>
          </p:cNvCxnSpPr>
          <p:nvPr/>
        </p:nvCxnSpPr>
        <p:spPr>
          <a:xfrm>
            <a:off x="7472538" y="5179966"/>
            <a:ext cx="211544" cy="37015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椭圆 60">
            <a:extLst>
              <a:ext uri="{FF2B5EF4-FFF2-40B4-BE49-F238E27FC236}">
                <a16:creationId xmlns:a16="http://schemas.microsoft.com/office/drawing/2014/main" id="{716C9F92-61F9-5243-A366-78969064C6C6}"/>
              </a:ext>
            </a:extLst>
          </p:cNvPr>
          <p:cNvSpPr/>
          <p:nvPr/>
        </p:nvSpPr>
        <p:spPr>
          <a:xfrm>
            <a:off x="8257883" y="6310122"/>
            <a:ext cx="809917" cy="47167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</a:rPr>
              <a:t>b…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  <p:cxnSp>
        <p:nvCxnSpPr>
          <p:cNvPr id="62" name="直线箭头连接符 61">
            <a:extLst>
              <a:ext uri="{FF2B5EF4-FFF2-40B4-BE49-F238E27FC236}">
                <a16:creationId xmlns:a16="http://schemas.microsoft.com/office/drawing/2014/main" id="{C17CE324-3EF0-364B-AF06-30FAED1BDD72}"/>
              </a:ext>
            </a:extLst>
          </p:cNvPr>
          <p:cNvCxnSpPr>
            <a:cxnSpLocks/>
          </p:cNvCxnSpPr>
          <p:nvPr/>
        </p:nvCxnSpPr>
        <p:spPr>
          <a:xfrm>
            <a:off x="8074090" y="5968809"/>
            <a:ext cx="384388" cy="37228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4" name="文本框 63">
                <a:extLst>
                  <a:ext uri="{FF2B5EF4-FFF2-40B4-BE49-F238E27FC236}">
                    <a16:creationId xmlns:a16="http://schemas.microsoft.com/office/drawing/2014/main" id="{25D01102-ACA8-5544-A00F-8221D7782CA2}"/>
                  </a:ext>
                </a:extLst>
              </p:cNvPr>
              <p:cNvSpPr txBox="1"/>
              <p:nvPr/>
            </p:nvSpPr>
            <p:spPr>
              <a:xfrm>
                <a:off x="4619193" y="5108579"/>
                <a:ext cx="120340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dirty="0">
                    <a:solidFill>
                      <a:srgbClr val="FF0000"/>
                    </a:solidFill>
                  </a:rPr>
                  <a:t>b1</a:t>
                </a:r>
                <a:r>
                  <a:rPr kumimoji="1" lang="en-US" altLang="zh-CN" dirty="0">
                    <a:solidFill>
                      <a:srgbClr val="FF0000"/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zh-CN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∧ </m:t>
                    </m:r>
                  </m:oMath>
                </a14:m>
                <a:r>
                  <a:rPr kumimoji="1" lang="en-US" altLang="zh-CN" dirty="0">
                    <a:solidFill>
                      <a:srgbClr val="FF0000"/>
                    </a:solidFill>
                  </a:rPr>
                  <a:t>b2</a:t>
                </a:r>
                <a:endParaRPr kumimoji="1" lang="zh-CN" alt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64" name="文本框 63">
                <a:extLst>
                  <a:ext uri="{FF2B5EF4-FFF2-40B4-BE49-F238E27FC236}">
                    <a16:creationId xmlns:a16="http://schemas.microsoft.com/office/drawing/2014/main" id="{25D01102-ACA8-5544-A00F-8221D7782C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19193" y="5108579"/>
                <a:ext cx="1203403" cy="369332"/>
              </a:xfrm>
              <a:prstGeom prst="rect">
                <a:avLst/>
              </a:prstGeom>
              <a:blipFill>
                <a:blip r:embed="rId6"/>
                <a:stretch>
                  <a:fillRect l="-4211" t="-3333" b="-2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6" name="直线箭头连接符 65">
            <a:extLst>
              <a:ext uri="{FF2B5EF4-FFF2-40B4-BE49-F238E27FC236}">
                <a16:creationId xmlns:a16="http://schemas.microsoft.com/office/drawing/2014/main" id="{CA9FD3C3-205B-BA45-A0B0-4D3ED1D7FEA0}"/>
              </a:ext>
            </a:extLst>
          </p:cNvPr>
          <p:cNvCxnSpPr>
            <a:cxnSpLocks/>
          </p:cNvCxnSpPr>
          <p:nvPr/>
        </p:nvCxnSpPr>
        <p:spPr>
          <a:xfrm>
            <a:off x="5686420" y="5190326"/>
            <a:ext cx="344553" cy="42761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闪电形 66">
            <a:extLst>
              <a:ext uri="{FF2B5EF4-FFF2-40B4-BE49-F238E27FC236}">
                <a16:creationId xmlns:a16="http://schemas.microsoft.com/office/drawing/2014/main" id="{082FB8D1-CDB1-CA4E-9126-B9BA6DC13996}"/>
              </a:ext>
            </a:extLst>
          </p:cNvPr>
          <p:cNvSpPr/>
          <p:nvPr/>
        </p:nvSpPr>
        <p:spPr>
          <a:xfrm>
            <a:off x="6033539" y="5401772"/>
            <a:ext cx="381000" cy="533400"/>
          </a:xfrm>
          <a:prstGeom prst="lightningBol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68" name="直线箭头连接符 67">
            <a:extLst>
              <a:ext uri="{FF2B5EF4-FFF2-40B4-BE49-F238E27FC236}">
                <a16:creationId xmlns:a16="http://schemas.microsoft.com/office/drawing/2014/main" id="{009ECD99-F62A-3943-B885-9BEE694B3D8D}"/>
              </a:ext>
            </a:extLst>
          </p:cNvPr>
          <p:cNvCxnSpPr>
            <a:cxnSpLocks/>
          </p:cNvCxnSpPr>
          <p:nvPr/>
        </p:nvCxnSpPr>
        <p:spPr>
          <a:xfrm flipH="1">
            <a:off x="7139733" y="5145384"/>
            <a:ext cx="220028" cy="43931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闪电形 68">
            <a:extLst>
              <a:ext uri="{FF2B5EF4-FFF2-40B4-BE49-F238E27FC236}">
                <a16:creationId xmlns:a16="http://schemas.microsoft.com/office/drawing/2014/main" id="{CE92002A-9063-8242-9C7C-58877429E057}"/>
              </a:ext>
            </a:extLst>
          </p:cNvPr>
          <p:cNvSpPr/>
          <p:nvPr/>
        </p:nvSpPr>
        <p:spPr>
          <a:xfrm>
            <a:off x="6836456" y="5435409"/>
            <a:ext cx="381000" cy="533400"/>
          </a:xfrm>
          <a:prstGeom prst="lightningBol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3" name="文本框 72">
                <a:extLst>
                  <a:ext uri="{FF2B5EF4-FFF2-40B4-BE49-F238E27FC236}">
                    <a16:creationId xmlns:a16="http://schemas.microsoft.com/office/drawing/2014/main" id="{663A7493-F4BC-1743-8792-1852F596B639}"/>
                  </a:ext>
                </a:extLst>
              </p:cNvPr>
              <p:cNvSpPr txBox="1"/>
              <p:nvPr/>
            </p:nvSpPr>
            <p:spPr>
              <a:xfrm>
                <a:off x="3657600" y="5879068"/>
                <a:ext cx="266072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dirty="0">
                    <a:solidFill>
                      <a:srgbClr val="FF0000"/>
                    </a:solidFill>
                  </a:rPr>
                  <a:t>b1</a:t>
                </a:r>
                <a:r>
                  <a:rPr kumimoji="1" lang="en-US" altLang="zh-CN" dirty="0">
                    <a:solidFill>
                      <a:srgbClr val="FF0000"/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zh-CN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∧ </m:t>
                    </m:r>
                  </m:oMath>
                </a14:m>
                <a:r>
                  <a:rPr kumimoji="1" lang="en-US" altLang="zh-CN" dirty="0">
                    <a:solidFill>
                      <a:srgbClr val="FF0000"/>
                    </a:solidFill>
                  </a:rPr>
                  <a:t>b2</a:t>
                </a:r>
                <a:r>
                  <a:rPr kumimoji="1" lang="en-US" altLang="zh-CN" dirty="0">
                    <a:solidFill>
                      <a:srgbClr val="FF0000"/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zh-CN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∧</m:t>
                    </m:r>
                  </m:oMath>
                </a14:m>
                <a:r>
                  <a:rPr kumimoji="1" lang="en-US" altLang="zh-CN" dirty="0">
                    <a:solidFill>
                      <a:srgbClr val="FF0000"/>
                    </a:solidFill>
                  </a:rPr>
                  <a:t> ...</a:t>
                </a:r>
                <a:r>
                  <a:rPr kumimoji="1" lang="en-US" altLang="zh-CN" dirty="0">
                    <a:solidFill>
                      <a:srgbClr val="FF0000"/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zh-CN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∧ </m:t>
                    </m:r>
                  </m:oMath>
                </a14:m>
                <a:r>
                  <a:rPr kumimoji="1" lang="en-US" altLang="zh-CN" dirty="0">
                    <a:solidFill>
                      <a:srgbClr val="FF0000"/>
                    </a:solidFill>
                  </a:rPr>
                  <a:t>bn</a:t>
                </a:r>
                <a:endParaRPr kumimoji="1" lang="zh-CN" alt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73" name="文本框 72">
                <a:extLst>
                  <a:ext uri="{FF2B5EF4-FFF2-40B4-BE49-F238E27FC236}">
                    <a16:creationId xmlns:a16="http://schemas.microsoft.com/office/drawing/2014/main" id="{663A7493-F4BC-1743-8792-1852F596B6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57600" y="5879068"/>
                <a:ext cx="2660720" cy="369332"/>
              </a:xfrm>
              <a:prstGeom prst="rect">
                <a:avLst/>
              </a:prstGeom>
              <a:blipFill>
                <a:blip r:embed="rId7"/>
                <a:stretch>
                  <a:fillRect l="-1905" t="-6452" b="-2258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123263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9" grpId="0"/>
      <p:bldP spid="10" grpId="0"/>
      <p:bldP spid="11" grpId="0"/>
      <p:bldP spid="12" grpId="0"/>
      <p:bldP spid="50" grpId="0"/>
      <p:bldP spid="64" grpId="0"/>
      <p:bldP spid="73" grpId="0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83B1A98-5D2E-F84C-8A75-A8FC62CA10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Example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EA67DCE-2389-6343-AFC1-54E1B9454D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//</a:t>
            </a:r>
            <a:r>
              <a: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sample</a:t>
            </a:r>
            <a:r>
              <a: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function:</a:t>
            </a:r>
          </a:p>
          <a:p>
            <a:pPr marL="0" indent="0">
              <a:buNone/>
            </a:pPr>
            <a:r>
              <a:rPr kumimoji="1" lang="en-US" altLang="zh-CN" sz="2000" b="1" dirty="0" err="1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foo(</a:t>
            </a:r>
            <a:r>
              <a:rPr kumimoji="1" lang="en-US" altLang="zh-CN" sz="2000" b="1" dirty="0" err="1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x,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 err="1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y){</a:t>
            </a:r>
          </a:p>
          <a:p>
            <a:pPr marL="0" indent="0">
              <a:buNone/>
            </a:pP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*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*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x;</a:t>
            </a:r>
          </a:p>
          <a:p>
            <a:pPr marL="0" indent="0">
              <a:buNone/>
            </a:pP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if(m==y){</a:t>
            </a:r>
          </a:p>
          <a:p>
            <a:pPr marL="0" indent="0">
              <a:buNone/>
            </a:pP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assert(…);</a:t>
            </a:r>
          </a:p>
          <a:p>
            <a:pPr marL="0" indent="0">
              <a:buNone/>
            </a:pP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}else{</a:t>
            </a:r>
          </a:p>
          <a:p>
            <a:pPr marL="0" indent="0">
              <a:buNone/>
            </a:pP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…;</a:t>
            </a:r>
          </a:p>
          <a:p>
            <a:pPr marL="0" indent="0">
              <a:buNone/>
            </a:pP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>
              <a:buNone/>
            </a:pP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return 1;</a:t>
            </a:r>
          </a:p>
          <a:p>
            <a:pPr marL="0" indent="0">
              <a:buNone/>
            </a:pP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graphicFrame>
        <p:nvGraphicFramePr>
          <p:cNvPr id="12" name="表格 11">
            <a:extLst>
              <a:ext uri="{FF2B5EF4-FFF2-40B4-BE49-F238E27FC236}">
                <a16:creationId xmlns:a16="http://schemas.microsoft.com/office/drawing/2014/main" id="{11986A89-30EC-5749-A8BF-BC646F718761}"/>
              </a:ext>
            </a:extLst>
          </p:cNvPr>
          <p:cNvGraphicFramePr>
            <a:graphicFrameLocks noGrp="1"/>
          </p:cNvGraphicFramePr>
          <p:nvPr/>
        </p:nvGraphicFramePr>
        <p:xfrm>
          <a:off x="5867400" y="292577"/>
          <a:ext cx="1828801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1501">
                  <a:extLst>
                    <a:ext uri="{9D8B030D-6E8A-4147-A177-3AD203B41FA5}">
                      <a16:colId xmlns:a16="http://schemas.microsoft.com/office/drawing/2014/main" val="978326069"/>
                    </a:ext>
                  </a:extLst>
                </a:gridCol>
                <a:gridCol w="628650">
                  <a:extLst>
                    <a:ext uri="{9D8B030D-6E8A-4147-A177-3AD203B41FA5}">
                      <a16:colId xmlns:a16="http://schemas.microsoft.com/office/drawing/2014/main" val="1209235749"/>
                    </a:ext>
                  </a:extLst>
                </a:gridCol>
                <a:gridCol w="628650">
                  <a:extLst>
                    <a:ext uri="{9D8B030D-6E8A-4147-A177-3AD203B41FA5}">
                      <a16:colId xmlns:a16="http://schemas.microsoft.com/office/drawing/2014/main" val="1143399693"/>
                    </a:ext>
                  </a:extLst>
                </a:gridCol>
              </a:tblGrid>
              <a:tr h="224118">
                <a:tc>
                  <a:txBody>
                    <a:bodyPr/>
                    <a:lstStyle/>
                    <a:p>
                      <a:r>
                        <a:rPr lang="en-US" altLang="zh-CN" sz="1200" dirty="0">
                          <a:solidFill>
                            <a:schemeClr val="tx1"/>
                          </a:solidFill>
                        </a:rPr>
                        <a:t>Variable</a:t>
                      </a:r>
                      <a:endParaRPr lang="zh-CN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>
                          <a:solidFill>
                            <a:schemeClr val="tx1"/>
                          </a:solidFill>
                        </a:rPr>
                        <a:t>value</a:t>
                      </a:r>
                      <a:endParaRPr lang="zh-CN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 err="1">
                          <a:solidFill>
                            <a:schemeClr val="tx1"/>
                          </a:solidFill>
                        </a:rPr>
                        <a:t>sym.value</a:t>
                      </a:r>
                      <a:endParaRPr lang="zh-CN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0914343"/>
                  </a:ext>
                </a:extLst>
              </a:tr>
              <a:tr h="134471"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x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2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x</a:t>
                      </a:r>
                      <a:endParaRPr lang="zh-CN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08653192"/>
                  </a:ext>
                </a:extLst>
              </a:tr>
              <a:tr h="134471"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y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2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y</a:t>
                      </a:r>
                      <a:endParaRPr lang="zh-CN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26958939"/>
                  </a:ext>
                </a:extLst>
              </a:tr>
              <a:tr h="134471"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m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8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x</a:t>
                      </a:r>
                      <a:r>
                        <a:rPr lang="zh-CN" altLang="en-US" sz="1200" dirty="0"/>
                        <a:t>*</a:t>
                      </a:r>
                      <a:r>
                        <a:rPr lang="en-US" altLang="zh-CN" sz="1200" dirty="0"/>
                        <a:t>x</a:t>
                      </a:r>
                      <a:r>
                        <a:rPr lang="zh-CN" altLang="en-US" sz="1200" dirty="0"/>
                        <a:t>*</a:t>
                      </a:r>
                      <a:r>
                        <a:rPr lang="en-US" altLang="zh-CN" sz="1200" dirty="0"/>
                        <a:t>x</a:t>
                      </a:r>
                      <a:endParaRPr lang="zh-CN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4837483"/>
                  </a:ext>
                </a:extLst>
              </a:tr>
            </a:tbl>
          </a:graphicData>
        </a:graphic>
      </p:graphicFrame>
      <p:cxnSp>
        <p:nvCxnSpPr>
          <p:cNvPr id="17" name="直线箭头连接符 16">
            <a:extLst>
              <a:ext uri="{FF2B5EF4-FFF2-40B4-BE49-F238E27FC236}">
                <a16:creationId xmlns:a16="http://schemas.microsoft.com/office/drawing/2014/main" id="{D9C6ED30-F650-F446-8A10-9A86DC519184}"/>
              </a:ext>
            </a:extLst>
          </p:cNvPr>
          <p:cNvCxnSpPr>
            <a:cxnSpLocks/>
            <a:stCxn id="12" idx="2"/>
          </p:cNvCxnSpPr>
          <p:nvPr/>
        </p:nvCxnSpPr>
        <p:spPr>
          <a:xfrm>
            <a:off x="6781800" y="1572737"/>
            <a:ext cx="1181099" cy="63706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文本框 17">
            <a:extLst>
              <a:ext uri="{FF2B5EF4-FFF2-40B4-BE49-F238E27FC236}">
                <a16:creationId xmlns:a16="http://schemas.microsoft.com/office/drawing/2014/main" id="{A1681004-B994-8141-967F-C6B124B8A722}"/>
              </a:ext>
            </a:extLst>
          </p:cNvPr>
          <p:cNvSpPr txBox="1"/>
          <p:nvPr/>
        </p:nvSpPr>
        <p:spPr>
          <a:xfrm>
            <a:off x="7696200" y="1847056"/>
            <a:ext cx="1143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m!=y</a:t>
            </a:r>
            <a:endParaRPr kumimoji="1" lang="zh-CN" altLang="en-US" sz="1200" dirty="0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45101435-9AE2-2F46-A5DF-72215A222FF4}"/>
              </a:ext>
            </a:extLst>
          </p:cNvPr>
          <p:cNvSpPr txBox="1"/>
          <p:nvPr/>
        </p:nvSpPr>
        <p:spPr>
          <a:xfrm>
            <a:off x="7000054" y="3666487"/>
            <a:ext cx="1955034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600" dirty="0"/>
              <a:t>The</a:t>
            </a:r>
            <a:r>
              <a:rPr kumimoji="1" lang="zh-CN" altLang="en-US" sz="1600" dirty="0"/>
              <a:t> </a:t>
            </a:r>
            <a:r>
              <a:rPr kumimoji="1" lang="en-US" altLang="zh-CN" sz="1600" dirty="0"/>
              <a:t>path</a:t>
            </a:r>
            <a:r>
              <a:rPr kumimoji="1" lang="zh-CN" altLang="en-US" sz="1600" dirty="0"/>
              <a:t> </a:t>
            </a:r>
            <a:r>
              <a:rPr kumimoji="1" lang="en-US" altLang="zh-CN" sz="1600" dirty="0" err="1"/>
              <a:t>cond</a:t>
            </a:r>
            <a:r>
              <a:rPr kumimoji="1" lang="en-US" altLang="zh-CN" sz="1600" dirty="0"/>
              <a:t>:</a:t>
            </a:r>
          </a:p>
          <a:p>
            <a:r>
              <a:rPr kumimoji="1" lang="en-US" altLang="zh-CN" sz="1600" dirty="0">
                <a:solidFill>
                  <a:srgbClr val="0432FF"/>
                </a:solidFill>
              </a:rPr>
              <a:t>x</a:t>
            </a:r>
            <a:r>
              <a:rPr kumimoji="1" lang="zh-CN" altLang="en-US" sz="1600" dirty="0">
                <a:solidFill>
                  <a:srgbClr val="0432FF"/>
                </a:solidFill>
              </a:rPr>
              <a:t>*</a:t>
            </a:r>
            <a:r>
              <a:rPr kumimoji="1" lang="en-US" altLang="zh-CN" sz="1600" dirty="0">
                <a:solidFill>
                  <a:srgbClr val="0432FF"/>
                </a:solidFill>
              </a:rPr>
              <a:t>x</a:t>
            </a:r>
            <a:r>
              <a:rPr kumimoji="1" lang="zh-CN" altLang="en-US" sz="1600" dirty="0">
                <a:solidFill>
                  <a:srgbClr val="0432FF"/>
                </a:solidFill>
              </a:rPr>
              <a:t>*</a:t>
            </a:r>
            <a:r>
              <a:rPr kumimoji="1" lang="en-US" altLang="zh-CN" sz="1600" dirty="0">
                <a:solidFill>
                  <a:srgbClr val="0432FF"/>
                </a:solidFill>
              </a:rPr>
              <a:t>x!=y</a:t>
            </a:r>
          </a:p>
          <a:p>
            <a:r>
              <a:rPr kumimoji="1" lang="en-US" altLang="zh-CN" sz="1600" dirty="0"/>
              <a:t>we</a:t>
            </a:r>
            <a:r>
              <a:rPr kumimoji="1" lang="zh-CN" altLang="en-US" sz="1600" dirty="0"/>
              <a:t> </a:t>
            </a:r>
            <a:r>
              <a:rPr kumimoji="1" lang="en-US" altLang="zh-CN" sz="1600" dirty="0"/>
              <a:t>negate</a:t>
            </a:r>
            <a:r>
              <a:rPr kumimoji="1" lang="zh-CN" altLang="en-US" sz="1600" dirty="0"/>
              <a:t> </a:t>
            </a:r>
            <a:r>
              <a:rPr kumimoji="1" lang="en-US" altLang="zh-CN" sz="1600" dirty="0"/>
              <a:t>it</a:t>
            </a:r>
            <a:r>
              <a:rPr kumimoji="1" lang="zh-CN" altLang="en-US" sz="1600" dirty="0"/>
              <a:t> </a:t>
            </a:r>
            <a:r>
              <a:rPr kumimoji="1" lang="en-US" altLang="zh-CN" sz="1600" dirty="0"/>
              <a:t>and</a:t>
            </a:r>
            <a:r>
              <a:rPr kumimoji="1" lang="zh-CN" altLang="en-US" sz="1600" dirty="0"/>
              <a:t> </a:t>
            </a:r>
            <a:r>
              <a:rPr kumimoji="1" lang="en-US" altLang="zh-CN" sz="1600" dirty="0"/>
              <a:t>send</a:t>
            </a:r>
            <a:r>
              <a:rPr kumimoji="1" lang="zh-CN" altLang="en-US" sz="1600" dirty="0"/>
              <a:t> </a:t>
            </a:r>
            <a:r>
              <a:rPr kumimoji="1" lang="en-US" altLang="zh-CN" sz="1600" dirty="0"/>
              <a:t>to</a:t>
            </a:r>
            <a:r>
              <a:rPr kumimoji="1" lang="zh-CN" altLang="en-US" sz="1600" dirty="0"/>
              <a:t> </a:t>
            </a:r>
            <a:r>
              <a:rPr kumimoji="1" lang="en-US" altLang="zh-CN" sz="1600" dirty="0"/>
              <a:t>solver</a:t>
            </a:r>
            <a:r>
              <a:rPr kumimoji="1" lang="zh-CN" altLang="en-US" sz="1600" dirty="0"/>
              <a:t> </a:t>
            </a:r>
            <a:r>
              <a:rPr kumimoji="1" lang="en-US" altLang="zh-CN" sz="1600" dirty="0"/>
              <a:t>(Z3):</a:t>
            </a:r>
          </a:p>
          <a:p>
            <a:r>
              <a:rPr kumimoji="1" lang="en-US" altLang="zh-CN" sz="1600" dirty="0">
                <a:solidFill>
                  <a:srgbClr val="0432FF"/>
                </a:solidFill>
              </a:rPr>
              <a:t>x</a:t>
            </a:r>
            <a:r>
              <a:rPr kumimoji="1" lang="zh-CN" altLang="en-US" sz="1600" dirty="0">
                <a:solidFill>
                  <a:srgbClr val="0432FF"/>
                </a:solidFill>
              </a:rPr>
              <a:t>*</a:t>
            </a:r>
            <a:r>
              <a:rPr kumimoji="1" lang="en-US" altLang="zh-CN" sz="1600" dirty="0">
                <a:solidFill>
                  <a:srgbClr val="0432FF"/>
                </a:solidFill>
              </a:rPr>
              <a:t>x</a:t>
            </a:r>
            <a:r>
              <a:rPr kumimoji="1" lang="zh-CN" altLang="en-US" sz="1600" dirty="0">
                <a:solidFill>
                  <a:srgbClr val="0432FF"/>
                </a:solidFill>
              </a:rPr>
              <a:t>*</a:t>
            </a:r>
            <a:r>
              <a:rPr kumimoji="1" lang="en-US" altLang="zh-CN" sz="1600" dirty="0">
                <a:solidFill>
                  <a:srgbClr val="0432FF"/>
                </a:solidFill>
              </a:rPr>
              <a:t>x==y</a:t>
            </a:r>
          </a:p>
          <a:p>
            <a:r>
              <a:rPr kumimoji="1" lang="en-US" altLang="zh-CN" sz="1600" dirty="0"/>
              <a:t>but</a:t>
            </a:r>
            <a:r>
              <a:rPr kumimoji="1" lang="zh-CN" altLang="en-US" sz="1600" dirty="0"/>
              <a:t> </a:t>
            </a:r>
            <a:r>
              <a:rPr kumimoji="1" lang="en-US" altLang="zh-CN" sz="1600" dirty="0"/>
              <a:t>if</a:t>
            </a:r>
            <a:r>
              <a:rPr kumimoji="1" lang="zh-CN" altLang="en-US" sz="1600" dirty="0"/>
              <a:t> </a:t>
            </a:r>
            <a:r>
              <a:rPr kumimoji="1" lang="en-US" altLang="zh-CN" sz="1600" dirty="0"/>
              <a:t>we</a:t>
            </a:r>
            <a:r>
              <a:rPr kumimoji="1" lang="zh-CN" altLang="en-US" sz="1600" dirty="0"/>
              <a:t> </a:t>
            </a:r>
            <a:r>
              <a:rPr kumimoji="1" lang="en-US" altLang="zh-CN" sz="1600" dirty="0"/>
              <a:t>found</a:t>
            </a:r>
            <a:r>
              <a:rPr kumimoji="1" lang="zh-CN" altLang="en-US" sz="1600" dirty="0"/>
              <a:t> </a:t>
            </a:r>
            <a:r>
              <a:rPr kumimoji="1" lang="en-US" altLang="zh-CN" sz="1600" dirty="0"/>
              <a:t>this</a:t>
            </a:r>
            <a:r>
              <a:rPr kumimoji="1" lang="zh-CN" altLang="en-US" sz="1600" dirty="0"/>
              <a:t> </a:t>
            </a:r>
            <a:r>
              <a:rPr kumimoji="1" lang="en-US" altLang="zh-CN" sz="1600" dirty="0"/>
              <a:t>is</a:t>
            </a:r>
            <a:r>
              <a:rPr kumimoji="1" lang="zh-CN" altLang="en-US" sz="1600" dirty="0"/>
              <a:t> </a:t>
            </a:r>
            <a:r>
              <a:rPr kumimoji="1" lang="en-US" altLang="zh-CN" sz="1600" dirty="0"/>
              <a:t>unsolvable,</a:t>
            </a:r>
            <a:r>
              <a:rPr kumimoji="1" lang="zh-CN" altLang="en-US" sz="1600" dirty="0"/>
              <a:t> </a:t>
            </a:r>
            <a:r>
              <a:rPr kumimoji="1" lang="en-US" altLang="zh-CN" sz="1600" dirty="0"/>
              <a:t>we</a:t>
            </a:r>
            <a:r>
              <a:rPr kumimoji="1" lang="zh-CN" altLang="en-US" sz="1600" dirty="0"/>
              <a:t> </a:t>
            </a:r>
            <a:r>
              <a:rPr kumimoji="1" lang="en-US" altLang="zh-CN" sz="1600" dirty="0"/>
              <a:t>can</a:t>
            </a:r>
            <a:r>
              <a:rPr kumimoji="1" lang="zh-CN" altLang="en-US" sz="1600" dirty="0"/>
              <a:t> </a:t>
            </a:r>
            <a:r>
              <a:rPr kumimoji="1" lang="en-US" altLang="zh-CN" sz="1600" dirty="0"/>
              <a:t>weaken</a:t>
            </a:r>
            <a:r>
              <a:rPr kumimoji="1" lang="zh-CN" altLang="en-US" sz="1600" dirty="0"/>
              <a:t> </a:t>
            </a:r>
            <a:r>
              <a:rPr kumimoji="1" lang="en-US" altLang="zh-CN" sz="1600" dirty="0"/>
              <a:t>this</a:t>
            </a:r>
            <a:r>
              <a:rPr kumimoji="1" lang="zh-CN" altLang="en-US" sz="1600" dirty="0"/>
              <a:t> </a:t>
            </a:r>
            <a:r>
              <a:rPr kumimoji="1" lang="en-US" altLang="zh-CN" sz="1600" dirty="0"/>
              <a:t>by</a:t>
            </a:r>
            <a:r>
              <a:rPr kumimoji="1" lang="zh-CN" altLang="en-US" sz="1600" dirty="0"/>
              <a:t> </a:t>
            </a:r>
            <a:r>
              <a:rPr kumimoji="1" lang="en-US" altLang="zh-CN" sz="1600" dirty="0"/>
              <a:t>replace</a:t>
            </a:r>
            <a:r>
              <a:rPr kumimoji="1" lang="zh-CN" altLang="en-US" sz="1600" dirty="0"/>
              <a:t> </a:t>
            </a:r>
            <a:r>
              <a:rPr kumimoji="1" lang="en-US" altLang="zh-CN" sz="1600" dirty="0"/>
              <a:t>the</a:t>
            </a:r>
            <a:r>
              <a:rPr kumimoji="1" lang="zh-CN" altLang="en-US" sz="1600" dirty="0"/>
              <a:t> </a:t>
            </a:r>
            <a:r>
              <a:rPr kumimoji="1" lang="en-US" altLang="zh-CN" sz="1600" dirty="0"/>
              <a:t>symbolic</a:t>
            </a:r>
            <a:r>
              <a:rPr kumimoji="1" lang="zh-CN" altLang="en-US" sz="1600" dirty="0"/>
              <a:t> </a:t>
            </a:r>
            <a:r>
              <a:rPr kumimoji="1" lang="en-US" altLang="zh-CN" sz="1600" dirty="0"/>
              <a:t>value</a:t>
            </a:r>
            <a:r>
              <a:rPr kumimoji="1" lang="zh-CN" altLang="en-US" sz="1600" dirty="0"/>
              <a:t> </a:t>
            </a:r>
            <a:r>
              <a:rPr kumimoji="1" lang="en-US" altLang="zh-CN" sz="1600" dirty="0"/>
              <a:t>of</a:t>
            </a:r>
            <a:r>
              <a:rPr kumimoji="1" lang="zh-CN" altLang="en-US" sz="1600" dirty="0"/>
              <a:t> </a:t>
            </a:r>
            <a:r>
              <a:rPr kumimoji="1" lang="en-US" altLang="zh-CN" sz="1600" dirty="0"/>
              <a:t>m</a:t>
            </a:r>
            <a:r>
              <a:rPr kumimoji="1" lang="zh-CN" altLang="en-US" sz="1600" dirty="0"/>
              <a:t> </a:t>
            </a:r>
            <a:r>
              <a:rPr kumimoji="1" lang="en-US" altLang="zh-CN" sz="1600" dirty="0"/>
              <a:t>with</a:t>
            </a:r>
            <a:r>
              <a:rPr kumimoji="1" lang="zh-CN" altLang="en-US" sz="1600" dirty="0"/>
              <a:t> </a:t>
            </a:r>
            <a:r>
              <a:rPr kumimoji="1" lang="en-US" altLang="zh-CN" sz="1600" dirty="0"/>
              <a:t>its</a:t>
            </a:r>
            <a:r>
              <a:rPr kumimoji="1" lang="zh-CN" altLang="en-US" sz="1600" dirty="0"/>
              <a:t> </a:t>
            </a:r>
            <a:r>
              <a:rPr kumimoji="1" lang="en-US" altLang="zh-CN" sz="1600" dirty="0"/>
              <a:t>concreate</a:t>
            </a:r>
            <a:r>
              <a:rPr kumimoji="1" lang="zh-CN" altLang="en-US" sz="1600" dirty="0"/>
              <a:t> </a:t>
            </a:r>
            <a:r>
              <a:rPr kumimoji="1" lang="en-US" altLang="zh-CN" sz="1600" dirty="0"/>
              <a:t>value!</a:t>
            </a:r>
          </a:p>
        </p:txBody>
      </p:sp>
      <p:graphicFrame>
        <p:nvGraphicFramePr>
          <p:cNvPr id="30" name="表格 29">
            <a:extLst>
              <a:ext uri="{FF2B5EF4-FFF2-40B4-BE49-F238E27FC236}">
                <a16:creationId xmlns:a16="http://schemas.microsoft.com/office/drawing/2014/main" id="{45513BBD-91F9-9345-B94B-B4107E490815}"/>
              </a:ext>
            </a:extLst>
          </p:cNvPr>
          <p:cNvGraphicFramePr>
            <a:graphicFrameLocks noGrp="1"/>
          </p:cNvGraphicFramePr>
          <p:nvPr/>
        </p:nvGraphicFramePr>
        <p:xfrm>
          <a:off x="7103142" y="2215670"/>
          <a:ext cx="1828801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1501">
                  <a:extLst>
                    <a:ext uri="{9D8B030D-6E8A-4147-A177-3AD203B41FA5}">
                      <a16:colId xmlns:a16="http://schemas.microsoft.com/office/drawing/2014/main" val="978326069"/>
                    </a:ext>
                  </a:extLst>
                </a:gridCol>
                <a:gridCol w="628650">
                  <a:extLst>
                    <a:ext uri="{9D8B030D-6E8A-4147-A177-3AD203B41FA5}">
                      <a16:colId xmlns:a16="http://schemas.microsoft.com/office/drawing/2014/main" val="1209235749"/>
                    </a:ext>
                  </a:extLst>
                </a:gridCol>
                <a:gridCol w="628650">
                  <a:extLst>
                    <a:ext uri="{9D8B030D-6E8A-4147-A177-3AD203B41FA5}">
                      <a16:colId xmlns:a16="http://schemas.microsoft.com/office/drawing/2014/main" val="1143399693"/>
                    </a:ext>
                  </a:extLst>
                </a:gridCol>
              </a:tblGrid>
              <a:tr h="224118">
                <a:tc>
                  <a:txBody>
                    <a:bodyPr/>
                    <a:lstStyle/>
                    <a:p>
                      <a:r>
                        <a:rPr lang="en-US" altLang="zh-CN" sz="1200" dirty="0">
                          <a:solidFill>
                            <a:schemeClr val="tx1"/>
                          </a:solidFill>
                        </a:rPr>
                        <a:t>Variable</a:t>
                      </a:r>
                      <a:endParaRPr lang="zh-CN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>
                          <a:solidFill>
                            <a:schemeClr val="tx1"/>
                          </a:solidFill>
                        </a:rPr>
                        <a:t>value</a:t>
                      </a:r>
                      <a:endParaRPr lang="zh-CN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 err="1">
                          <a:solidFill>
                            <a:schemeClr val="tx1"/>
                          </a:solidFill>
                        </a:rPr>
                        <a:t>sym.value</a:t>
                      </a:r>
                      <a:endParaRPr lang="zh-CN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0914343"/>
                  </a:ext>
                </a:extLst>
              </a:tr>
              <a:tr h="134471"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x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2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x</a:t>
                      </a:r>
                      <a:endParaRPr lang="zh-CN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08653192"/>
                  </a:ext>
                </a:extLst>
              </a:tr>
              <a:tr h="134471"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y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2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y</a:t>
                      </a:r>
                      <a:endParaRPr lang="zh-CN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26958939"/>
                  </a:ext>
                </a:extLst>
              </a:tr>
              <a:tr h="134471"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m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8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x</a:t>
                      </a:r>
                      <a:r>
                        <a:rPr lang="zh-CN" altLang="en-US" sz="1200" dirty="0"/>
                        <a:t>*</a:t>
                      </a:r>
                      <a:r>
                        <a:rPr lang="en-US" altLang="zh-CN" sz="1200" dirty="0"/>
                        <a:t>x</a:t>
                      </a:r>
                      <a:r>
                        <a:rPr lang="zh-CN" altLang="en-US" sz="1200" dirty="0"/>
                        <a:t>*</a:t>
                      </a:r>
                      <a:r>
                        <a:rPr lang="en-US" altLang="zh-CN" sz="1200" dirty="0"/>
                        <a:t>x</a:t>
                      </a:r>
                      <a:endParaRPr lang="zh-CN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4837483"/>
                  </a:ext>
                </a:extLst>
              </a:tr>
            </a:tbl>
          </a:graphicData>
        </a:graphic>
      </p:graphicFrame>
      <p:sp>
        <p:nvSpPr>
          <p:cNvPr id="13" name="文本框 12">
            <a:extLst>
              <a:ext uri="{FF2B5EF4-FFF2-40B4-BE49-F238E27FC236}">
                <a16:creationId xmlns:a16="http://schemas.microsoft.com/office/drawing/2014/main" id="{CE3E6AE9-1419-244D-8F80-0662AF84E87F}"/>
              </a:ext>
            </a:extLst>
          </p:cNvPr>
          <p:cNvSpPr txBox="1"/>
          <p:nvPr/>
        </p:nvSpPr>
        <p:spPr>
          <a:xfrm>
            <a:off x="8365801" y="3297155"/>
            <a:ext cx="5781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>
                <a:solidFill>
                  <a:srgbClr val="FF0000"/>
                </a:solidFill>
              </a:rPr>
              <a:t>8</a:t>
            </a:r>
            <a:endParaRPr kumimoji="1" lang="zh-CN" altLang="en-US" dirty="0">
              <a:solidFill>
                <a:srgbClr val="FF0000"/>
              </a:solidFill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681EA76F-80AB-8F44-BF27-0E45E0DE87EB}"/>
              </a:ext>
            </a:extLst>
          </p:cNvPr>
          <p:cNvSpPr txBox="1"/>
          <p:nvPr/>
        </p:nvSpPr>
        <p:spPr>
          <a:xfrm>
            <a:off x="3308932" y="4389109"/>
            <a:ext cx="351991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600" dirty="0"/>
              <a:t>Thus</a:t>
            </a:r>
            <a:r>
              <a:rPr kumimoji="1" lang="zh-CN" altLang="en-US" sz="1600" dirty="0"/>
              <a:t> </a:t>
            </a:r>
            <a:r>
              <a:rPr kumimoji="1" lang="en-US" altLang="zh-CN" sz="1600" dirty="0"/>
              <a:t>we</a:t>
            </a:r>
            <a:r>
              <a:rPr kumimoji="1" lang="zh-CN" altLang="en-US" sz="1600" dirty="0"/>
              <a:t> </a:t>
            </a:r>
            <a:r>
              <a:rPr kumimoji="1" lang="en-US" altLang="zh-CN" sz="1600" dirty="0"/>
              <a:t>have</a:t>
            </a:r>
            <a:r>
              <a:rPr kumimoji="1" lang="zh-CN" altLang="en-US" sz="1600" dirty="0"/>
              <a:t> </a:t>
            </a:r>
            <a:r>
              <a:rPr kumimoji="1" lang="en-US" altLang="zh-CN" sz="1600" dirty="0"/>
              <a:t>this</a:t>
            </a:r>
            <a:r>
              <a:rPr kumimoji="1" lang="zh-CN" altLang="en-US" sz="1600" dirty="0"/>
              <a:t> </a:t>
            </a:r>
            <a:r>
              <a:rPr kumimoji="1" lang="en-US" altLang="zh-CN" sz="1600" dirty="0"/>
              <a:t>(weakened)</a:t>
            </a:r>
            <a:r>
              <a:rPr kumimoji="1" lang="zh-CN" altLang="en-US" sz="1600" dirty="0"/>
              <a:t> </a:t>
            </a:r>
            <a:r>
              <a:rPr kumimoji="1" lang="en-US" altLang="zh-CN" sz="1600" dirty="0"/>
              <a:t>PC:</a:t>
            </a:r>
          </a:p>
          <a:p>
            <a:r>
              <a:rPr kumimoji="1" lang="en-US" altLang="zh-CN" sz="1600" dirty="0">
                <a:solidFill>
                  <a:srgbClr val="0432FF"/>
                </a:solidFill>
              </a:rPr>
              <a:t>8</a:t>
            </a:r>
            <a:r>
              <a:rPr kumimoji="1" lang="zh-CN" altLang="en-US" sz="1600" dirty="0">
                <a:solidFill>
                  <a:srgbClr val="0432FF"/>
                </a:solidFill>
              </a:rPr>
              <a:t> </a:t>
            </a:r>
            <a:r>
              <a:rPr kumimoji="1" lang="en-US" altLang="zh-CN" sz="1600" dirty="0">
                <a:solidFill>
                  <a:srgbClr val="0432FF"/>
                </a:solidFill>
              </a:rPr>
              <a:t>==</a:t>
            </a:r>
            <a:r>
              <a:rPr kumimoji="1" lang="zh-CN" altLang="en-US" sz="1600" dirty="0">
                <a:solidFill>
                  <a:srgbClr val="0432FF"/>
                </a:solidFill>
              </a:rPr>
              <a:t> </a:t>
            </a:r>
            <a:r>
              <a:rPr kumimoji="1" lang="en-US" altLang="zh-CN" sz="1600" dirty="0">
                <a:solidFill>
                  <a:srgbClr val="0432FF"/>
                </a:solidFill>
              </a:rPr>
              <a:t>y</a:t>
            </a:r>
          </a:p>
          <a:p>
            <a:r>
              <a:rPr kumimoji="1" lang="en-US" altLang="zh-CN" sz="1600" dirty="0"/>
              <a:t>we</a:t>
            </a:r>
            <a:r>
              <a:rPr kumimoji="1" lang="zh-CN" altLang="en-US" sz="1600" dirty="0"/>
              <a:t> </a:t>
            </a:r>
            <a:r>
              <a:rPr kumimoji="1" lang="en-US" altLang="zh-CN" sz="1600" dirty="0"/>
              <a:t>regenerate</a:t>
            </a:r>
            <a:r>
              <a:rPr kumimoji="1" lang="zh-CN" altLang="en-US" sz="1600" dirty="0"/>
              <a:t> </a:t>
            </a:r>
            <a:r>
              <a:rPr kumimoji="1" lang="en-US" altLang="zh-CN" sz="1600" dirty="0"/>
              <a:t>new</a:t>
            </a:r>
            <a:r>
              <a:rPr kumimoji="1" lang="zh-CN" altLang="en-US" sz="1600" dirty="0"/>
              <a:t> </a:t>
            </a:r>
            <a:r>
              <a:rPr kumimoji="1" lang="en-US" altLang="zh-CN" sz="1600" dirty="0"/>
              <a:t>input,</a:t>
            </a:r>
            <a:r>
              <a:rPr kumimoji="1" lang="zh-CN" altLang="en-US" sz="1600" dirty="0"/>
              <a:t> </a:t>
            </a:r>
            <a:r>
              <a:rPr kumimoji="1" lang="en-US" altLang="zh-CN" sz="1600" dirty="0"/>
              <a:t>and</a:t>
            </a:r>
            <a:r>
              <a:rPr kumimoji="1" lang="zh-CN" altLang="en-US" sz="1600" dirty="0"/>
              <a:t> </a:t>
            </a:r>
            <a:r>
              <a:rPr kumimoji="1" lang="en-US" altLang="zh-CN" sz="1600" dirty="0"/>
              <a:t>restart</a:t>
            </a:r>
            <a:r>
              <a:rPr kumimoji="1" lang="zh-CN" altLang="en-US" sz="1600" dirty="0"/>
              <a:t> </a:t>
            </a:r>
            <a:r>
              <a:rPr kumimoji="1" lang="en-US" altLang="zh-CN" sz="1600" dirty="0"/>
              <a:t>the</a:t>
            </a:r>
            <a:r>
              <a:rPr kumimoji="1" lang="zh-CN" altLang="en-US" sz="1600" dirty="0"/>
              <a:t> </a:t>
            </a:r>
            <a:r>
              <a:rPr kumimoji="1" lang="en-US" altLang="zh-CN" sz="1600" dirty="0"/>
              <a:t>execution!</a:t>
            </a:r>
          </a:p>
        </p:txBody>
      </p:sp>
    </p:spTree>
    <p:extLst>
      <p:ext uri="{BB962C8B-B14F-4D97-AF65-F5344CB8AC3E}">
        <p14:creationId xmlns:p14="http://schemas.microsoft.com/office/powerpoint/2010/main" val="545748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83B1A98-5D2E-F84C-8A75-A8FC62CA10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Example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EA67DCE-2389-6343-AFC1-54E1B9454D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//</a:t>
            </a:r>
            <a:r>
              <a: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sample</a:t>
            </a:r>
            <a:r>
              <a: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function:</a:t>
            </a:r>
          </a:p>
          <a:p>
            <a:pPr marL="0" indent="0">
              <a:buNone/>
            </a:pPr>
            <a:r>
              <a:rPr kumimoji="1" lang="en-US" altLang="zh-CN" sz="2000" b="1" dirty="0" err="1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foo(</a:t>
            </a:r>
            <a:r>
              <a:rPr kumimoji="1" lang="en-US" altLang="zh-CN" sz="2000" b="1" dirty="0" err="1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x,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 err="1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y){</a:t>
            </a:r>
          </a:p>
          <a:p>
            <a:pPr marL="0" indent="0">
              <a:buNone/>
            </a:pP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*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*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x;</a:t>
            </a:r>
          </a:p>
          <a:p>
            <a:pPr marL="0" indent="0">
              <a:buNone/>
            </a:pP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if(m==y){</a:t>
            </a:r>
          </a:p>
          <a:p>
            <a:pPr marL="0" indent="0">
              <a:buNone/>
            </a:pP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assert(…);</a:t>
            </a:r>
          </a:p>
          <a:p>
            <a:pPr marL="0" indent="0">
              <a:buNone/>
            </a:pP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}else{</a:t>
            </a:r>
          </a:p>
          <a:p>
            <a:pPr marL="0" indent="0">
              <a:buNone/>
            </a:pP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…;</a:t>
            </a:r>
          </a:p>
          <a:p>
            <a:pPr marL="0" indent="0">
              <a:buNone/>
            </a:pP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>
              <a:buNone/>
            </a:pP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return 1;</a:t>
            </a:r>
          </a:p>
          <a:p>
            <a:pPr marL="0" indent="0">
              <a:buNone/>
            </a:pP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graphicFrame>
        <p:nvGraphicFramePr>
          <p:cNvPr id="12" name="表格 11">
            <a:extLst>
              <a:ext uri="{FF2B5EF4-FFF2-40B4-BE49-F238E27FC236}">
                <a16:creationId xmlns:a16="http://schemas.microsoft.com/office/drawing/2014/main" id="{11986A89-30EC-5749-A8BF-BC646F718761}"/>
              </a:ext>
            </a:extLst>
          </p:cNvPr>
          <p:cNvGraphicFramePr>
            <a:graphicFrameLocks noGrp="1"/>
          </p:cNvGraphicFramePr>
          <p:nvPr/>
        </p:nvGraphicFramePr>
        <p:xfrm>
          <a:off x="5867400" y="292577"/>
          <a:ext cx="1828801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1501">
                  <a:extLst>
                    <a:ext uri="{9D8B030D-6E8A-4147-A177-3AD203B41FA5}">
                      <a16:colId xmlns:a16="http://schemas.microsoft.com/office/drawing/2014/main" val="978326069"/>
                    </a:ext>
                  </a:extLst>
                </a:gridCol>
                <a:gridCol w="628650">
                  <a:extLst>
                    <a:ext uri="{9D8B030D-6E8A-4147-A177-3AD203B41FA5}">
                      <a16:colId xmlns:a16="http://schemas.microsoft.com/office/drawing/2014/main" val="1209235749"/>
                    </a:ext>
                  </a:extLst>
                </a:gridCol>
                <a:gridCol w="628650">
                  <a:extLst>
                    <a:ext uri="{9D8B030D-6E8A-4147-A177-3AD203B41FA5}">
                      <a16:colId xmlns:a16="http://schemas.microsoft.com/office/drawing/2014/main" val="1143399693"/>
                    </a:ext>
                  </a:extLst>
                </a:gridCol>
              </a:tblGrid>
              <a:tr h="224118">
                <a:tc>
                  <a:txBody>
                    <a:bodyPr/>
                    <a:lstStyle/>
                    <a:p>
                      <a:r>
                        <a:rPr lang="en-US" altLang="zh-CN" sz="1200" dirty="0">
                          <a:solidFill>
                            <a:schemeClr val="tx1"/>
                          </a:solidFill>
                        </a:rPr>
                        <a:t>Variable</a:t>
                      </a:r>
                      <a:endParaRPr lang="zh-CN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>
                          <a:solidFill>
                            <a:schemeClr val="tx1"/>
                          </a:solidFill>
                        </a:rPr>
                        <a:t>value</a:t>
                      </a:r>
                      <a:endParaRPr lang="zh-CN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 err="1">
                          <a:solidFill>
                            <a:schemeClr val="tx1"/>
                          </a:solidFill>
                        </a:rPr>
                        <a:t>sym.value</a:t>
                      </a:r>
                      <a:endParaRPr lang="zh-CN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0914343"/>
                  </a:ext>
                </a:extLst>
              </a:tr>
              <a:tr h="134471"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x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2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x</a:t>
                      </a:r>
                      <a:endParaRPr lang="zh-CN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08653192"/>
                  </a:ext>
                </a:extLst>
              </a:tr>
              <a:tr h="134471"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y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8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y</a:t>
                      </a:r>
                      <a:endParaRPr lang="zh-CN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26958939"/>
                  </a:ext>
                </a:extLst>
              </a:tr>
              <a:tr h="134471"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m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8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x</a:t>
                      </a:r>
                      <a:r>
                        <a:rPr lang="zh-CN" altLang="en-US" sz="1200" dirty="0"/>
                        <a:t>*</a:t>
                      </a:r>
                      <a:r>
                        <a:rPr lang="en-US" altLang="zh-CN" sz="1200" dirty="0"/>
                        <a:t>x</a:t>
                      </a:r>
                      <a:r>
                        <a:rPr lang="zh-CN" altLang="en-US" sz="1200" dirty="0"/>
                        <a:t>*</a:t>
                      </a:r>
                      <a:r>
                        <a:rPr lang="en-US" altLang="zh-CN" sz="1200" dirty="0"/>
                        <a:t>x</a:t>
                      </a:r>
                      <a:endParaRPr lang="zh-CN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4837483"/>
                  </a:ext>
                </a:extLst>
              </a:tr>
            </a:tbl>
          </a:graphicData>
        </a:graphic>
      </p:graphicFrame>
      <p:cxnSp>
        <p:nvCxnSpPr>
          <p:cNvPr id="16" name="直线箭头连接符 15">
            <a:extLst>
              <a:ext uri="{FF2B5EF4-FFF2-40B4-BE49-F238E27FC236}">
                <a16:creationId xmlns:a16="http://schemas.microsoft.com/office/drawing/2014/main" id="{4B2BC578-E401-0742-91F2-47EB6AAE0D35}"/>
              </a:ext>
            </a:extLst>
          </p:cNvPr>
          <p:cNvCxnSpPr>
            <a:cxnSpLocks/>
            <a:stCxn id="12" idx="2"/>
          </p:cNvCxnSpPr>
          <p:nvPr/>
        </p:nvCxnSpPr>
        <p:spPr>
          <a:xfrm flipH="1">
            <a:off x="5791200" y="1572737"/>
            <a:ext cx="990600" cy="63706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线箭头连接符 16">
            <a:extLst>
              <a:ext uri="{FF2B5EF4-FFF2-40B4-BE49-F238E27FC236}">
                <a16:creationId xmlns:a16="http://schemas.microsoft.com/office/drawing/2014/main" id="{D9C6ED30-F650-F446-8A10-9A86DC519184}"/>
              </a:ext>
            </a:extLst>
          </p:cNvPr>
          <p:cNvCxnSpPr>
            <a:cxnSpLocks/>
            <a:stCxn id="12" idx="2"/>
          </p:cNvCxnSpPr>
          <p:nvPr/>
        </p:nvCxnSpPr>
        <p:spPr>
          <a:xfrm>
            <a:off x="6781800" y="1572737"/>
            <a:ext cx="1181099" cy="63706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文本框 17">
            <a:extLst>
              <a:ext uri="{FF2B5EF4-FFF2-40B4-BE49-F238E27FC236}">
                <a16:creationId xmlns:a16="http://schemas.microsoft.com/office/drawing/2014/main" id="{A1681004-B994-8141-967F-C6B124B8A722}"/>
              </a:ext>
            </a:extLst>
          </p:cNvPr>
          <p:cNvSpPr txBox="1"/>
          <p:nvPr/>
        </p:nvSpPr>
        <p:spPr>
          <a:xfrm>
            <a:off x="7696200" y="1847056"/>
            <a:ext cx="1143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m!=y</a:t>
            </a:r>
            <a:endParaRPr kumimoji="1" lang="zh-CN" altLang="en-US" sz="1200" dirty="0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336EA58F-4CA6-DF43-8E09-FE8B4D7968B9}"/>
              </a:ext>
            </a:extLst>
          </p:cNvPr>
          <p:cNvSpPr txBox="1"/>
          <p:nvPr/>
        </p:nvSpPr>
        <p:spPr>
          <a:xfrm>
            <a:off x="5562600" y="1868214"/>
            <a:ext cx="1143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m==y</a:t>
            </a:r>
            <a:endParaRPr kumimoji="1" lang="zh-CN" altLang="en-US" sz="1200" dirty="0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45101435-9AE2-2F46-A5DF-72215A222FF4}"/>
              </a:ext>
            </a:extLst>
          </p:cNvPr>
          <p:cNvSpPr txBox="1"/>
          <p:nvPr/>
        </p:nvSpPr>
        <p:spPr>
          <a:xfrm>
            <a:off x="7000054" y="3666487"/>
            <a:ext cx="1955034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600" dirty="0"/>
              <a:t>The</a:t>
            </a:r>
            <a:r>
              <a:rPr kumimoji="1" lang="zh-CN" altLang="en-US" sz="1600" dirty="0"/>
              <a:t> </a:t>
            </a:r>
            <a:r>
              <a:rPr kumimoji="1" lang="en-US" altLang="zh-CN" sz="1600" dirty="0"/>
              <a:t>path</a:t>
            </a:r>
            <a:r>
              <a:rPr kumimoji="1" lang="zh-CN" altLang="en-US" sz="1600" dirty="0"/>
              <a:t> </a:t>
            </a:r>
            <a:r>
              <a:rPr kumimoji="1" lang="en-US" altLang="zh-CN" sz="1600" dirty="0" err="1"/>
              <a:t>cond</a:t>
            </a:r>
            <a:r>
              <a:rPr kumimoji="1" lang="en-US" altLang="zh-CN" sz="1600" dirty="0"/>
              <a:t>:</a:t>
            </a:r>
          </a:p>
          <a:p>
            <a:r>
              <a:rPr kumimoji="1" lang="en-US" altLang="zh-CN" sz="1600" dirty="0">
                <a:solidFill>
                  <a:srgbClr val="0432FF"/>
                </a:solidFill>
              </a:rPr>
              <a:t>x</a:t>
            </a:r>
            <a:r>
              <a:rPr kumimoji="1" lang="zh-CN" altLang="en-US" sz="1600" dirty="0">
                <a:solidFill>
                  <a:srgbClr val="0432FF"/>
                </a:solidFill>
              </a:rPr>
              <a:t>*</a:t>
            </a:r>
            <a:r>
              <a:rPr kumimoji="1" lang="en-US" altLang="zh-CN" sz="1600" dirty="0">
                <a:solidFill>
                  <a:srgbClr val="0432FF"/>
                </a:solidFill>
              </a:rPr>
              <a:t>x</a:t>
            </a:r>
            <a:r>
              <a:rPr kumimoji="1" lang="zh-CN" altLang="en-US" sz="1600" dirty="0">
                <a:solidFill>
                  <a:srgbClr val="0432FF"/>
                </a:solidFill>
              </a:rPr>
              <a:t>*</a:t>
            </a:r>
            <a:r>
              <a:rPr kumimoji="1" lang="en-US" altLang="zh-CN" sz="1600" dirty="0">
                <a:solidFill>
                  <a:srgbClr val="0432FF"/>
                </a:solidFill>
              </a:rPr>
              <a:t>x!=y</a:t>
            </a:r>
          </a:p>
          <a:p>
            <a:r>
              <a:rPr kumimoji="1" lang="en-US" altLang="zh-CN" sz="1600" dirty="0"/>
              <a:t>we</a:t>
            </a:r>
            <a:r>
              <a:rPr kumimoji="1" lang="zh-CN" altLang="en-US" sz="1600" dirty="0"/>
              <a:t> </a:t>
            </a:r>
            <a:r>
              <a:rPr kumimoji="1" lang="en-US" altLang="zh-CN" sz="1600" dirty="0"/>
              <a:t>negate</a:t>
            </a:r>
            <a:r>
              <a:rPr kumimoji="1" lang="zh-CN" altLang="en-US" sz="1600" dirty="0"/>
              <a:t> </a:t>
            </a:r>
            <a:r>
              <a:rPr kumimoji="1" lang="en-US" altLang="zh-CN" sz="1600" dirty="0"/>
              <a:t>it</a:t>
            </a:r>
            <a:r>
              <a:rPr kumimoji="1" lang="zh-CN" altLang="en-US" sz="1600" dirty="0"/>
              <a:t> </a:t>
            </a:r>
            <a:r>
              <a:rPr kumimoji="1" lang="en-US" altLang="zh-CN" sz="1600" dirty="0"/>
              <a:t>and</a:t>
            </a:r>
            <a:r>
              <a:rPr kumimoji="1" lang="zh-CN" altLang="en-US" sz="1600" dirty="0"/>
              <a:t> </a:t>
            </a:r>
            <a:r>
              <a:rPr kumimoji="1" lang="en-US" altLang="zh-CN" sz="1600" dirty="0"/>
              <a:t>send</a:t>
            </a:r>
            <a:r>
              <a:rPr kumimoji="1" lang="zh-CN" altLang="en-US" sz="1600" dirty="0"/>
              <a:t> </a:t>
            </a:r>
            <a:r>
              <a:rPr kumimoji="1" lang="en-US" altLang="zh-CN" sz="1600" dirty="0"/>
              <a:t>to</a:t>
            </a:r>
            <a:r>
              <a:rPr kumimoji="1" lang="zh-CN" altLang="en-US" sz="1600" dirty="0"/>
              <a:t> </a:t>
            </a:r>
            <a:r>
              <a:rPr kumimoji="1" lang="en-US" altLang="zh-CN" sz="1600" dirty="0"/>
              <a:t>solver</a:t>
            </a:r>
            <a:r>
              <a:rPr kumimoji="1" lang="zh-CN" altLang="en-US" sz="1600" dirty="0"/>
              <a:t> </a:t>
            </a:r>
            <a:r>
              <a:rPr kumimoji="1" lang="en-US" altLang="zh-CN" sz="1600" dirty="0"/>
              <a:t>(Z3):</a:t>
            </a:r>
          </a:p>
          <a:p>
            <a:r>
              <a:rPr kumimoji="1" lang="en-US" altLang="zh-CN" sz="1600" dirty="0">
                <a:solidFill>
                  <a:srgbClr val="0432FF"/>
                </a:solidFill>
              </a:rPr>
              <a:t>x</a:t>
            </a:r>
            <a:r>
              <a:rPr kumimoji="1" lang="zh-CN" altLang="en-US" sz="1600" dirty="0">
                <a:solidFill>
                  <a:srgbClr val="0432FF"/>
                </a:solidFill>
              </a:rPr>
              <a:t>*</a:t>
            </a:r>
            <a:r>
              <a:rPr kumimoji="1" lang="en-US" altLang="zh-CN" sz="1600" dirty="0">
                <a:solidFill>
                  <a:srgbClr val="0432FF"/>
                </a:solidFill>
              </a:rPr>
              <a:t>x</a:t>
            </a:r>
            <a:r>
              <a:rPr kumimoji="1" lang="zh-CN" altLang="en-US" sz="1600" dirty="0">
                <a:solidFill>
                  <a:srgbClr val="0432FF"/>
                </a:solidFill>
              </a:rPr>
              <a:t>*</a:t>
            </a:r>
            <a:r>
              <a:rPr kumimoji="1" lang="en-US" altLang="zh-CN" sz="1600" dirty="0">
                <a:solidFill>
                  <a:srgbClr val="0432FF"/>
                </a:solidFill>
              </a:rPr>
              <a:t>x==y</a:t>
            </a:r>
          </a:p>
          <a:p>
            <a:r>
              <a:rPr kumimoji="1" lang="en-US" altLang="zh-CN" sz="1600" dirty="0"/>
              <a:t>but</a:t>
            </a:r>
            <a:r>
              <a:rPr kumimoji="1" lang="zh-CN" altLang="en-US" sz="1600" dirty="0"/>
              <a:t> </a:t>
            </a:r>
            <a:r>
              <a:rPr kumimoji="1" lang="en-US" altLang="zh-CN" sz="1600" dirty="0"/>
              <a:t>if</a:t>
            </a:r>
            <a:r>
              <a:rPr kumimoji="1" lang="zh-CN" altLang="en-US" sz="1600" dirty="0"/>
              <a:t> </a:t>
            </a:r>
            <a:r>
              <a:rPr kumimoji="1" lang="en-US" altLang="zh-CN" sz="1600" dirty="0"/>
              <a:t>we</a:t>
            </a:r>
            <a:r>
              <a:rPr kumimoji="1" lang="zh-CN" altLang="en-US" sz="1600" dirty="0"/>
              <a:t> </a:t>
            </a:r>
            <a:r>
              <a:rPr kumimoji="1" lang="en-US" altLang="zh-CN" sz="1600" dirty="0"/>
              <a:t>found</a:t>
            </a:r>
            <a:r>
              <a:rPr kumimoji="1" lang="zh-CN" altLang="en-US" sz="1600" dirty="0"/>
              <a:t> </a:t>
            </a:r>
            <a:r>
              <a:rPr kumimoji="1" lang="en-US" altLang="zh-CN" sz="1600" dirty="0"/>
              <a:t>this</a:t>
            </a:r>
            <a:r>
              <a:rPr kumimoji="1" lang="zh-CN" altLang="en-US" sz="1600" dirty="0"/>
              <a:t> </a:t>
            </a:r>
            <a:r>
              <a:rPr kumimoji="1" lang="en-US" altLang="zh-CN" sz="1600" dirty="0"/>
              <a:t>is</a:t>
            </a:r>
            <a:r>
              <a:rPr kumimoji="1" lang="zh-CN" altLang="en-US" sz="1600" dirty="0"/>
              <a:t> </a:t>
            </a:r>
            <a:r>
              <a:rPr kumimoji="1" lang="en-US" altLang="zh-CN" sz="1600" dirty="0"/>
              <a:t>unsolvable,</a:t>
            </a:r>
            <a:r>
              <a:rPr kumimoji="1" lang="zh-CN" altLang="en-US" sz="1600" dirty="0"/>
              <a:t> </a:t>
            </a:r>
            <a:r>
              <a:rPr kumimoji="1" lang="en-US" altLang="zh-CN" sz="1600" dirty="0"/>
              <a:t>we</a:t>
            </a:r>
            <a:r>
              <a:rPr kumimoji="1" lang="zh-CN" altLang="en-US" sz="1600" dirty="0"/>
              <a:t> </a:t>
            </a:r>
            <a:r>
              <a:rPr kumimoji="1" lang="en-US" altLang="zh-CN" sz="1600" dirty="0"/>
              <a:t>can</a:t>
            </a:r>
            <a:r>
              <a:rPr kumimoji="1" lang="zh-CN" altLang="en-US" sz="1600" dirty="0"/>
              <a:t> </a:t>
            </a:r>
            <a:r>
              <a:rPr kumimoji="1" lang="en-US" altLang="zh-CN" sz="1600" dirty="0"/>
              <a:t>weaken</a:t>
            </a:r>
            <a:r>
              <a:rPr kumimoji="1" lang="zh-CN" altLang="en-US" sz="1600" dirty="0"/>
              <a:t> </a:t>
            </a:r>
            <a:r>
              <a:rPr kumimoji="1" lang="en-US" altLang="zh-CN" sz="1600" dirty="0"/>
              <a:t>this</a:t>
            </a:r>
            <a:r>
              <a:rPr kumimoji="1" lang="zh-CN" altLang="en-US" sz="1600" dirty="0"/>
              <a:t> </a:t>
            </a:r>
            <a:r>
              <a:rPr kumimoji="1" lang="en-US" altLang="zh-CN" sz="1600" dirty="0"/>
              <a:t>by</a:t>
            </a:r>
            <a:r>
              <a:rPr kumimoji="1" lang="zh-CN" altLang="en-US" sz="1600" dirty="0"/>
              <a:t> </a:t>
            </a:r>
            <a:r>
              <a:rPr kumimoji="1" lang="en-US" altLang="zh-CN" sz="1600" dirty="0"/>
              <a:t>replace</a:t>
            </a:r>
            <a:r>
              <a:rPr kumimoji="1" lang="zh-CN" altLang="en-US" sz="1600" dirty="0"/>
              <a:t> </a:t>
            </a:r>
            <a:r>
              <a:rPr kumimoji="1" lang="en-US" altLang="zh-CN" sz="1600" dirty="0"/>
              <a:t>the</a:t>
            </a:r>
            <a:r>
              <a:rPr kumimoji="1" lang="zh-CN" altLang="en-US" sz="1600" dirty="0"/>
              <a:t> </a:t>
            </a:r>
            <a:r>
              <a:rPr kumimoji="1" lang="en-US" altLang="zh-CN" sz="1600" dirty="0"/>
              <a:t>symbolic</a:t>
            </a:r>
            <a:r>
              <a:rPr kumimoji="1" lang="zh-CN" altLang="en-US" sz="1600" dirty="0"/>
              <a:t> </a:t>
            </a:r>
            <a:r>
              <a:rPr kumimoji="1" lang="en-US" altLang="zh-CN" sz="1600" dirty="0"/>
              <a:t>value</a:t>
            </a:r>
            <a:r>
              <a:rPr kumimoji="1" lang="zh-CN" altLang="en-US" sz="1600" dirty="0"/>
              <a:t> </a:t>
            </a:r>
            <a:r>
              <a:rPr kumimoji="1" lang="en-US" altLang="zh-CN" sz="1600" dirty="0"/>
              <a:t>of</a:t>
            </a:r>
            <a:r>
              <a:rPr kumimoji="1" lang="zh-CN" altLang="en-US" sz="1600" dirty="0"/>
              <a:t> </a:t>
            </a:r>
            <a:r>
              <a:rPr kumimoji="1" lang="en-US" altLang="zh-CN" sz="1600" dirty="0"/>
              <a:t>m</a:t>
            </a:r>
            <a:r>
              <a:rPr kumimoji="1" lang="zh-CN" altLang="en-US" sz="1600" dirty="0"/>
              <a:t> </a:t>
            </a:r>
            <a:r>
              <a:rPr kumimoji="1" lang="en-US" altLang="zh-CN" sz="1600" dirty="0"/>
              <a:t>with</a:t>
            </a:r>
            <a:r>
              <a:rPr kumimoji="1" lang="zh-CN" altLang="en-US" sz="1600" dirty="0"/>
              <a:t> </a:t>
            </a:r>
            <a:r>
              <a:rPr kumimoji="1" lang="en-US" altLang="zh-CN" sz="1600" dirty="0"/>
              <a:t>the</a:t>
            </a:r>
            <a:r>
              <a:rPr kumimoji="1" lang="zh-CN" altLang="en-US" sz="1600" dirty="0"/>
              <a:t> </a:t>
            </a:r>
            <a:r>
              <a:rPr kumimoji="1" lang="en-US" altLang="zh-CN" sz="1600" dirty="0"/>
              <a:t>concreate</a:t>
            </a:r>
            <a:r>
              <a:rPr kumimoji="1" lang="zh-CN" altLang="en-US" sz="1600" dirty="0"/>
              <a:t> </a:t>
            </a:r>
            <a:r>
              <a:rPr kumimoji="1" lang="en-US" altLang="zh-CN" sz="1600" dirty="0"/>
              <a:t>value!</a:t>
            </a:r>
          </a:p>
        </p:txBody>
      </p:sp>
      <p:graphicFrame>
        <p:nvGraphicFramePr>
          <p:cNvPr id="30" name="表格 29">
            <a:extLst>
              <a:ext uri="{FF2B5EF4-FFF2-40B4-BE49-F238E27FC236}">
                <a16:creationId xmlns:a16="http://schemas.microsoft.com/office/drawing/2014/main" id="{45513BBD-91F9-9345-B94B-B4107E490815}"/>
              </a:ext>
            </a:extLst>
          </p:cNvPr>
          <p:cNvGraphicFramePr>
            <a:graphicFrameLocks noGrp="1"/>
          </p:cNvGraphicFramePr>
          <p:nvPr/>
        </p:nvGraphicFramePr>
        <p:xfrm>
          <a:off x="7103142" y="2215670"/>
          <a:ext cx="1828801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1501">
                  <a:extLst>
                    <a:ext uri="{9D8B030D-6E8A-4147-A177-3AD203B41FA5}">
                      <a16:colId xmlns:a16="http://schemas.microsoft.com/office/drawing/2014/main" val="978326069"/>
                    </a:ext>
                  </a:extLst>
                </a:gridCol>
                <a:gridCol w="628650">
                  <a:extLst>
                    <a:ext uri="{9D8B030D-6E8A-4147-A177-3AD203B41FA5}">
                      <a16:colId xmlns:a16="http://schemas.microsoft.com/office/drawing/2014/main" val="1209235749"/>
                    </a:ext>
                  </a:extLst>
                </a:gridCol>
                <a:gridCol w="628650">
                  <a:extLst>
                    <a:ext uri="{9D8B030D-6E8A-4147-A177-3AD203B41FA5}">
                      <a16:colId xmlns:a16="http://schemas.microsoft.com/office/drawing/2014/main" val="1143399693"/>
                    </a:ext>
                  </a:extLst>
                </a:gridCol>
              </a:tblGrid>
              <a:tr h="224118">
                <a:tc>
                  <a:txBody>
                    <a:bodyPr/>
                    <a:lstStyle/>
                    <a:p>
                      <a:r>
                        <a:rPr lang="en-US" altLang="zh-CN" sz="1200" dirty="0">
                          <a:solidFill>
                            <a:schemeClr val="tx1"/>
                          </a:solidFill>
                        </a:rPr>
                        <a:t>Variable</a:t>
                      </a:r>
                      <a:endParaRPr lang="zh-CN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>
                          <a:solidFill>
                            <a:schemeClr val="tx1"/>
                          </a:solidFill>
                        </a:rPr>
                        <a:t>value</a:t>
                      </a:r>
                      <a:endParaRPr lang="zh-CN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 err="1">
                          <a:solidFill>
                            <a:schemeClr val="tx1"/>
                          </a:solidFill>
                        </a:rPr>
                        <a:t>sym.value</a:t>
                      </a:r>
                      <a:endParaRPr lang="zh-CN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0914343"/>
                  </a:ext>
                </a:extLst>
              </a:tr>
              <a:tr h="134471"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x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2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x</a:t>
                      </a:r>
                      <a:endParaRPr lang="zh-CN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08653192"/>
                  </a:ext>
                </a:extLst>
              </a:tr>
              <a:tr h="134471"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y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2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y</a:t>
                      </a:r>
                      <a:endParaRPr lang="zh-CN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26958939"/>
                  </a:ext>
                </a:extLst>
              </a:tr>
              <a:tr h="134471"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m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8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x</a:t>
                      </a:r>
                      <a:r>
                        <a:rPr lang="zh-CN" altLang="en-US" sz="1200" dirty="0"/>
                        <a:t>*</a:t>
                      </a:r>
                      <a:r>
                        <a:rPr lang="en-US" altLang="zh-CN" sz="1200" dirty="0"/>
                        <a:t>x</a:t>
                      </a:r>
                      <a:r>
                        <a:rPr lang="zh-CN" altLang="en-US" sz="1200" dirty="0"/>
                        <a:t>*</a:t>
                      </a:r>
                      <a:r>
                        <a:rPr lang="en-US" altLang="zh-CN" sz="1200" dirty="0"/>
                        <a:t>x</a:t>
                      </a:r>
                      <a:endParaRPr lang="zh-CN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4837483"/>
                  </a:ext>
                </a:extLst>
              </a:tr>
            </a:tbl>
          </a:graphicData>
        </a:graphic>
      </p:graphicFrame>
      <p:graphicFrame>
        <p:nvGraphicFramePr>
          <p:cNvPr id="31" name="表格 30">
            <a:extLst>
              <a:ext uri="{FF2B5EF4-FFF2-40B4-BE49-F238E27FC236}">
                <a16:creationId xmlns:a16="http://schemas.microsoft.com/office/drawing/2014/main" id="{1A1EF17F-9C8E-9944-B270-E920FBF67F90}"/>
              </a:ext>
            </a:extLst>
          </p:cNvPr>
          <p:cNvGraphicFramePr>
            <a:graphicFrameLocks noGrp="1"/>
          </p:cNvGraphicFramePr>
          <p:nvPr/>
        </p:nvGraphicFramePr>
        <p:xfrm>
          <a:off x="4845215" y="2209800"/>
          <a:ext cx="1828801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1501">
                  <a:extLst>
                    <a:ext uri="{9D8B030D-6E8A-4147-A177-3AD203B41FA5}">
                      <a16:colId xmlns:a16="http://schemas.microsoft.com/office/drawing/2014/main" val="978326069"/>
                    </a:ext>
                  </a:extLst>
                </a:gridCol>
                <a:gridCol w="628650">
                  <a:extLst>
                    <a:ext uri="{9D8B030D-6E8A-4147-A177-3AD203B41FA5}">
                      <a16:colId xmlns:a16="http://schemas.microsoft.com/office/drawing/2014/main" val="1209235749"/>
                    </a:ext>
                  </a:extLst>
                </a:gridCol>
                <a:gridCol w="628650">
                  <a:extLst>
                    <a:ext uri="{9D8B030D-6E8A-4147-A177-3AD203B41FA5}">
                      <a16:colId xmlns:a16="http://schemas.microsoft.com/office/drawing/2014/main" val="1143399693"/>
                    </a:ext>
                  </a:extLst>
                </a:gridCol>
              </a:tblGrid>
              <a:tr h="224118">
                <a:tc>
                  <a:txBody>
                    <a:bodyPr/>
                    <a:lstStyle/>
                    <a:p>
                      <a:r>
                        <a:rPr lang="en-US" altLang="zh-CN" sz="1200" dirty="0">
                          <a:solidFill>
                            <a:schemeClr val="tx1"/>
                          </a:solidFill>
                        </a:rPr>
                        <a:t>Variable</a:t>
                      </a:r>
                      <a:endParaRPr lang="zh-CN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>
                          <a:solidFill>
                            <a:schemeClr val="tx1"/>
                          </a:solidFill>
                        </a:rPr>
                        <a:t>value</a:t>
                      </a:r>
                      <a:endParaRPr lang="zh-CN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 err="1">
                          <a:solidFill>
                            <a:schemeClr val="tx1"/>
                          </a:solidFill>
                        </a:rPr>
                        <a:t>sym.value</a:t>
                      </a:r>
                      <a:endParaRPr lang="zh-CN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0914343"/>
                  </a:ext>
                </a:extLst>
              </a:tr>
              <a:tr h="134471"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x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2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x</a:t>
                      </a:r>
                      <a:endParaRPr lang="zh-CN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08653192"/>
                  </a:ext>
                </a:extLst>
              </a:tr>
              <a:tr h="134471"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y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8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y</a:t>
                      </a:r>
                      <a:endParaRPr lang="zh-CN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26958939"/>
                  </a:ext>
                </a:extLst>
              </a:tr>
              <a:tr h="134471"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m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8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x</a:t>
                      </a:r>
                      <a:r>
                        <a:rPr lang="zh-CN" altLang="en-US" sz="1200" dirty="0"/>
                        <a:t>*</a:t>
                      </a:r>
                      <a:r>
                        <a:rPr lang="en-US" altLang="zh-CN" sz="1200" dirty="0"/>
                        <a:t>x</a:t>
                      </a:r>
                      <a:r>
                        <a:rPr lang="zh-CN" altLang="en-US" sz="1200" dirty="0"/>
                        <a:t>*</a:t>
                      </a:r>
                      <a:r>
                        <a:rPr lang="en-US" altLang="zh-CN" sz="1200" dirty="0"/>
                        <a:t>x</a:t>
                      </a:r>
                      <a:endParaRPr lang="zh-CN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4837483"/>
                  </a:ext>
                </a:extLst>
              </a:tr>
            </a:tbl>
          </a:graphicData>
        </a:graphic>
      </p:graphicFrame>
      <p:sp>
        <p:nvSpPr>
          <p:cNvPr id="13" name="文本框 12">
            <a:extLst>
              <a:ext uri="{FF2B5EF4-FFF2-40B4-BE49-F238E27FC236}">
                <a16:creationId xmlns:a16="http://schemas.microsoft.com/office/drawing/2014/main" id="{CE3E6AE9-1419-244D-8F80-0662AF84E87F}"/>
              </a:ext>
            </a:extLst>
          </p:cNvPr>
          <p:cNvSpPr txBox="1"/>
          <p:nvPr/>
        </p:nvSpPr>
        <p:spPr>
          <a:xfrm>
            <a:off x="8365801" y="3297155"/>
            <a:ext cx="5781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>
                <a:solidFill>
                  <a:srgbClr val="FF0000"/>
                </a:solidFill>
              </a:rPr>
              <a:t>8</a:t>
            </a:r>
            <a:endParaRPr kumimoji="1" lang="zh-CN" altLang="en-US" dirty="0">
              <a:solidFill>
                <a:srgbClr val="FF0000"/>
              </a:solidFill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681EA76F-80AB-8F44-BF27-0E45E0DE87EB}"/>
              </a:ext>
            </a:extLst>
          </p:cNvPr>
          <p:cNvSpPr txBox="1"/>
          <p:nvPr/>
        </p:nvSpPr>
        <p:spPr>
          <a:xfrm>
            <a:off x="3308932" y="4389109"/>
            <a:ext cx="351991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600" dirty="0"/>
              <a:t>Thus</a:t>
            </a:r>
            <a:r>
              <a:rPr kumimoji="1" lang="zh-CN" altLang="en-US" sz="1600" dirty="0"/>
              <a:t> </a:t>
            </a:r>
            <a:r>
              <a:rPr kumimoji="1" lang="en-US" altLang="zh-CN" sz="1600" dirty="0"/>
              <a:t>we</a:t>
            </a:r>
            <a:r>
              <a:rPr kumimoji="1" lang="zh-CN" altLang="en-US" sz="1600" dirty="0"/>
              <a:t> </a:t>
            </a:r>
            <a:r>
              <a:rPr kumimoji="1" lang="en-US" altLang="zh-CN" sz="1600" dirty="0"/>
              <a:t>have</a:t>
            </a:r>
            <a:r>
              <a:rPr kumimoji="1" lang="zh-CN" altLang="en-US" sz="1600" dirty="0"/>
              <a:t> </a:t>
            </a:r>
            <a:r>
              <a:rPr kumimoji="1" lang="en-US" altLang="zh-CN" sz="1600" dirty="0"/>
              <a:t>this</a:t>
            </a:r>
            <a:r>
              <a:rPr kumimoji="1" lang="zh-CN" altLang="en-US" sz="1600" dirty="0"/>
              <a:t> </a:t>
            </a:r>
            <a:r>
              <a:rPr kumimoji="1" lang="en-US" altLang="zh-CN" sz="1600" dirty="0"/>
              <a:t>(weakened)</a:t>
            </a:r>
            <a:r>
              <a:rPr kumimoji="1" lang="zh-CN" altLang="en-US" sz="1600" dirty="0"/>
              <a:t> </a:t>
            </a:r>
            <a:r>
              <a:rPr kumimoji="1" lang="en-US" altLang="zh-CN" sz="1600" dirty="0"/>
              <a:t>PC:</a:t>
            </a:r>
          </a:p>
          <a:p>
            <a:r>
              <a:rPr kumimoji="1" lang="en-US" altLang="zh-CN" sz="1600" dirty="0">
                <a:solidFill>
                  <a:srgbClr val="0432FF"/>
                </a:solidFill>
              </a:rPr>
              <a:t>8</a:t>
            </a:r>
            <a:r>
              <a:rPr kumimoji="1" lang="zh-CN" altLang="en-US" sz="1600" dirty="0">
                <a:solidFill>
                  <a:srgbClr val="0432FF"/>
                </a:solidFill>
              </a:rPr>
              <a:t> </a:t>
            </a:r>
            <a:r>
              <a:rPr kumimoji="1" lang="en-US" altLang="zh-CN" sz="1600" dirty="0">
                <a:solidFill>
                  <a:srgbClr val="0432FF"/>
                </a:solidFill>
              </a:rPr>
              <a:t>==</a:t>
            </a:r>
            <a:r>
              <a:rPr kumimoji="1" lang="zh-CN" altLang="en-US" sz="1600" dirty="0">
                <a:solidFill>
                  <a:srgbClr val="0432FF"/>
                </a:solidFill>
              </a:rPr>
              <a:t> </a:t>
            </a:r>
            <a:r>
              <a:rPr kumimoji="1" lang="en-US" altLang="zh-CN" sz="1600" dirty="0">
                <a:solidFill>
                  <a:srgbClr val="0432FF"/>
                </a:solidFill>
              </a:rPr>
              <a:t>y</a:t>
            </a:r>
          </a:p>
          <a:p>
            <a:r>
              <a:rPr kumimoji="1" lang="en-US" altLang="zh-CN" sz="1600" dirty="0"/>
              <a:t>we</a:t>
            </a:r>
            <a:r>
              <a:rPr kumimoji="1" lang="zh-CN" altLang="en-US" sz="1600" dirty="0"/>
              <a:t> </a:t>
            </a:r>
            <a:r>
              <a:rPr kumimoji="1" lang="en-US" altLang="zh-CN" sz="1600" dirty="0"/>
              <a:t>regenerate</a:t>
            </a:r>
            <a:r>
              <a:rPr kumimoji="1" lang="zh-CN" altLang="en-US" sz="1600" dirty="0"/>
              <a:t> </a:t>
            </a:r>
            <a:r>
              <a:rPr kumimoji="1" lang="en-US" altLang="zh-CN" sz="1600" dirty="0"/>
              <a:t>new</a:t>
            </a:r>
            <a:r>
              <a:rPr kumimoji="1" lang="zh-CN" altLang="en-US" sz="1600" dirty="0"/>
              <a:t> </a:t>
            </a:r>
            <a:r>
              <a:rPr kumimoji="1" lang="en-US" altLang="zh-CN" sz="1600" dirty="0"/>
              <a:t>input,</a:t>
            </a:r>
            <a:r>
              <a:rPr kumimoji="1" lang="zh-CN" altLang="en-US" sz="1600" dirty="0"/>
              <a:t> </a:t>
            </a:r>
            <a:r>
              <a:rPr kumimoji="1" lang="en-US" altLang="zh-CN" sz="1600" dirty="0"/>
              <a:t>and</a:t>
            </a:r>
            <a:r>
              <a:rPr kumimoji="1" lang="zh-CN" altLang="en-US" sz="1600" dirty="0"/>
              <a:t> </a:t>
            </a:r>
            <a:r>
              <a:rPr kumimoji="1" lang="en-US" altLang="zh-CN" sz="1600" dirty="0"/>
              <a:t>restart</a:t>
            </a:r>
            <a:r>
              <a:rPr kumimoji="1" lang="zh-CN" altLang="en-US" sz="1600" dirty="0"/>
              <a:t> </a:t>
            </a:r>
            <a:r>
              <a:rPr kumimoji="1" lang="en-US" altLang="zh-CN" sz="1600" dirty="0"/>
              <a:t>the</a:t>
            </a:r>
            <a:r>
              <a:rPr kumimoji="1" lang="zh-CN" altLang="en-US" sz="1600" dirty="0"/>
              <a:t> </a:t>
            </a:r>
            <a:r>
              <a:rPr kumimoji="1" lang="en-US" altLang="zh-CN" sz="1600" dirty="0"/>
              <a:t>execution!</a:t>
            </a:r>
          </a:p>
        </p:txBody>
      </p:sp>
    </p:spTree>
    <p:extLst>
      <p:ext uri="{BB962C8B-B14F-4D97-AF65-F5344CB8AC3E}">
        <p14:creationId xmlns:p14="http://schemas.microsoft.com/office/powerpoint/2010/main" val="3910201384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B2F974A-C3E5-564C-85A5-2F90494588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 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A6508BC-8322-B943-9711-A9D5A8E372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kumimoji="1" lang="en-US" altLang="zh-CN" dirty="0"/>
          </a:p>
          <a:p>
            <a:pPr marL="0" indent="0">
              <a:buNone/>
            </a:pPr>
            <a:endParaRPr kumimoji="1" lang="en-US" altLang="zh-CN" dirty="0"/>
          </a:p>
          <a:p>
            <a:pPr marL="0" indent="0" algn="ctr">
              <a:buNone/>
            </a:pPr>
            <a:r>
              <a:rPr kumimoji="1" lang="en-US" altLang="zh-CN" i="1" dirty="0"/>
              <a:t>Advantages</a:t>
            </a:r>
            <a:r>
              <a:rPr kumimoji="1" lang="zh-CN" altLang="en-US" i="1" dirty="0"/>
              <a:t> </a:t>
            </a:r>
            <a:r>
              <a:rPr kumimoji="1" lang="en-US" altLang="zh-CN" i="1" dirty="0"/>
              <a:t>of</a:t>
            </a:r>
            <a:r>
              <a:rPr kumimoji="1" lang="zh-CN" altLang="en-US" i="1" dirty="0"/>
              <a:t> </a:t>
            </a:r>
            <a:r>
              <a:rPr kumimoji="1" lang="en-US" altLang="zh-CN" i="1" dirty="0"/>
              <a:t>Concolic</a:t>
            </a:r>
            <a:r>
              <a:rPr kumimoji="1" lang="zh-CN" altLang="en-US" i="1" dirty="0"/>
              <a:t> </a:t>
            </a:r>
            <a:r>
              <a:rPr kumimoji="1" lang="en-US" altLang="zh-CN" i="1" dirty="0"/>
              <a:t>Execution</a:t>
            </a:r>
            <a:endParaRPr kumimoji="1" lang="zh-CN" altLang="en-US" i="1" dirty="0"/>
          </a:p>
        </p:txBody>
      </p:sp>
    </p:spTree>
    <p:extLst>
      <p:ext uri="{BB962C8B-B14F-4D97-AF65-F5344CB8AC3E}">
        <p14:creationId xmlns:p14="http://schemas.microsoft.com/office/powerpoint/2010/main" val="956170562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9E1E0E9-1173-A145-9EAE-68F0143450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Practical issues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E2A02E0-DBE4-2549-997D-39A830D713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/>
              <a:t>Path explosion</a:t>
            </a:r>
          </a:p>
          <a:p>
            <a:r>
              <a:rPr kumimoji="1" lang="en-US" altLang="zh-CN" dirty="0"/>
              <a:t>Loops and recursions</a:t>
            </a:r>
          </a:p>
          <a:p>
            <a:r>
              <a:rPr kumimoji="1" lang="en-US" altLang="zh-CN" dirty="0"/>
              <a:t>Environment modeling</a:t>
            </a:r>
          </a:p>
        </p:txBody>
      </p:sp>
    </p:spTree>
    <p:extLst>
      <p:ext uri="{BB962C8B-B14F-4D97-AF65-F5344CB8AC3E}">
        <p14:creationId xmlns:p14="http://schemas.microsoft.com/office/powerpoint/2010/main" val="2378821057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83B1A98-5D2E-F84C-8A75-A8FC62CA10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#1: Path explosion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EA67DCE-2389-6343-AFC1-54E1B9454D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//</a:t>
            </a:r>
            <a:r>
              <a: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The program:</a:t>
            </a:r>
          </a:p>
          <a:p>
            <a:pPr marL="0" indent="0">
              <a:buNone/>
            </a:pPr>
            <a:r>
              <a:rPr kumimoji="1" lang="en-US" altLang="zh-CN" sz="2000" b="1" dirty="0" err="1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foo(){</a:t>
            </a:r>
          </a:p>
          <a:p>
            <a:pPr marL="0" indent="0">
              <a:buNone/>
            </a:pP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if(e1)</a:t>
            </a:r>
          </a:p>
          <a:p>
            <a:pPr marL="0" indent="0">
              <a:buNone/>
            </a:pP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if(e11)</a:t>
            </a:r>
          </a:p>
          <a:p>
            <a:pPr marL="0" indent="0">
              <a:buNone/>
            </a:pP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…;</a:t>
            </a:r>
          </a:p>
          <a:p>
            <a:pPr marL="0" indent="0">
              <a:buNone/>
            </a:pP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else</a:t>
            </a:r>
          </a:p>
          <a:p>
            <a:pPr marL="0" indent="0">
              <a:buNone/>
            </a:pP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…;</a:t>
            </a:r>
          </a:p>
          <a:p>
            <a:pPr marL="0" indent="0">
              <a:buNone/>
            </a:pP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else</a:t>
            </a:r>
          </a:p>
          <a:p>
            <a:pPr marL="0" indent="0">
              <a:buNone/>
            </a:pP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if(e21)</a:t>
            </a:r>
          </a:p>
          <a:p>
            <a:pPr marL="0" indent="0">
              <a:buNone/>
            </a:pP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…;</a:t>
            </a:r>
          </a:p>
          <a:p>
            <a:pPr marL="0" indent="0">
              <a:buNone/>
            </a:pP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else</a:t>
            </a:r>
          </a:p>
          <a:p>
            <a:pPr marL="0" indent="0">
              <a:buNone/>
            </a:pP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…;</a:t>
            </a:r>
          </a:p>
          <a:p>
            <a:pPr marL="0" indent="0">
              <a:buNone/>
            </a:pP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97711026-C053-4649-A693-302DE3A71D19}"/>
              </a:ext>
            </a:extLst>
          </p:cNvPr>
          <p:cNvSpPr/>
          <p:nvPr/>
        </p:nvSpPr>
        <p:spPr>
          <a:xfrm>
            <a:off x="5791200" y="2438400"/>
            <a:ext cx="609600" cy="47167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</a:rPr>
              <a:t>e1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68B10703-3303-AB4C-B3C6-E57135DCCD3B}"/>
              </a:ext>
            </a:extLst>
          </p:cNvPr>
          <p:cNvSpPr/>
          <p:nvPr/>
        </p:nvSpPr>
        <p:spPr>
          <a:xfrm>
            <a:off x="4782344" y="3414522"/>
            <a:ext cx="809917" cy="47167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</a:rPr>
              <a:t>e11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F958ECE9-2EA8-5C4D-B3FF-8932D9B07E1D}"/>
              </a:ext>
            </a:extLst>
          </p:cNvPr>
          <p:cNvSpPr/>
          <p:nvPr/>
        </p:nvSpPr>
        <p:spPr>
          <a:xfrm>
            <a:off x="6629400" y="3414522"/>
            <a:ext cx="914400" cy="47167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</a:rPr>
              <a:t>e21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  <p:cxnSp>
        <p:nvCxnSpPr>
          <p:cNvPr id="7" name="直线箭头连接符 6">
            <a:extLst>
              <a:ext uri="{FF2B5EF4-FFF2-40B4-BE49-F238E27FC236}">
                <a16:creationId xmlns:a16="http://schemas.microsoft.com/office/drawing/2014/main" id="{A61DF5BE-6E2D-5D4C-9AC1-1E544ED28970}"/>
              </a:ext>
            </a:extLst>
          </p:cNvPr>
          <p:cNvCxnSpPr>
            <a:cxnSpLocks/>
            <a:endCxn id="5" idx="7"/>
          </p:cNvCxnSpPr>
          <p:nvPr/>
        </p:nvCxnSpPr>
        <p:spPr>
          <a:xfrm flipH="1">
            <a:off x="5473651" y="2877915"/>
            <a:ext cx="413594" cy="60568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线箭头连接符 7">
            <a:extLst>
              <a:ext uri="{FF2B5EF4-FFF2-40B4-BE49-F238E27FC236}">
                <a16:creationId xmlns:a16="http://schemas.microsoft.com/office/drawing/2014/main" id="{C830BFE5-3832-D740-A1C1-D75E8D54637E}"/>
              </a:ext>
            </a:extLst>
          </p:cNvPr>
          <p:cNvCxnSpPr>
            <a:cxnSpLocks/>
            <a:stCxn id="4" idx="5"/>
            <a:endCxn id="6" idx="1"/>
          </p:cNvCxnSpPr>
          <p:nvPr/>
        </p:nvCxnSpPr>
        <p:spPr>
          <a:xfrm>
            <a:off x="6311526" y="2841002"/>
            <a:ext cx="451785" cy="64259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EB0E44DE-0BAA-F04C-A2FF-9C4DC1932F25}"/>
              </a:ext>
            </a:extLst>
          </p:cNvPr>
          <p:cNvSpPr txBox="1"/>
          <p:nvPr/>
        </p:nvSpPr>
        <p:spPr>
          <a:xfrm>
            <a:off x="5280118" y="2930571"/>
            <a:ext cx="8158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>
                <a:solidFill>
                  <a:srgbClr val="FF0000"/>
                </a:solidFill>
              </a:rPr>
              <a:t>e1</a:t>
            </a:r>
            <a:endParaRPr kumimoji="1" lang="zh-CN" altLang="en-US" dirty="0">
              <a:solidFill>
                <a:srgbClr val="FF0000"/>
              </a:solidFill>
            </a:endParaRP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91A81CAF-25EA-5F42-99FE-75445F1789BC}"/>
              </a:ext>
            </a:extLst>
          </p:cNvPr>
          <p:cNvSpPr/>
          <p:nvPr/>
        </p:nvSpPr>
        <p:spPr>
          <a:xfrm>
            <a:off x="3886200" y="5014722"/>
            <a:ext cx="809917" cy="47167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</a:rPr>
              <a:t>e…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  <p:cxnSp>
        <p:nvCxnSpPr>
          <p:cNvPr id="13" name="直线箭头连接符 12">
            <a:extLst>
              <a:ext uri="{FF2B5EF4-FFF2-40B4-BE49-F238E27FC236}">
                <a16:creationId xmlns:a16="http://schemas.microsoft.com/office/drawing/2014/main" id="{A9CC638E-2AA0-0345-BBBC-736C07CAA79D}"/>
              </a:ext>
            </a:extLst>
          </p:cNvPr>
          <p:cNvCxnSpPr>
            <a:cxnSpLocks/>
            <a:endCxn id="12" idx="7"/>
          </p:cNvCxnSpPr>
          <p:nvPr/>
        </p:nvCxnSpPr>
        <p:spPr>
          <a:xfrm flipH="1">
            <a:off x="4577507" y="4648200"/>
            <a:ext cx="299293" cy="43559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闪电形 13">
            <a:extLst>
              <a:ext uri="{FF2B5EF4-FFF2-40B4-BE49-F238E27FC236}">
                <a16:creationId xmlns:a16="http://schemas.microsoft.com/office/drawing/2014/main" id="{A75AF1EB-E229-5D4F-A283-973552EA3430}"/>
              </a:ext>
            </a:extLst>
          </p:cNvPr>
          <p:cNvSpPr/>
          <p:nvPr/>
        </p:nvSpPr>
        <p:spPr>
          <a:xfrm>
            <a:off x="4648200" y="4114800"/>
            <a:ext cx="381000" cy="533400"/>
          </a:xfrm>
          <a:prstGeom prst="lightningBol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15" name="直线箭头连接符 14">
            <a:extLst>
              <a:ext uri="{FF2B5EF4-FFF2-40B4-BE49-F238E27FC236}">
                <a16:creationId xmlns:a16="http://schemas.microsoft.com/office/drawing/2014/main" id="{F98A1AA5-219C-F149-9B5A-502F78F17EC5}"/>
              </a:ext>
            </a:extLst>
          </p:cNvPr>
          <p:cNvCxnSpPr>
            <a:cxnSpLocks/>
          </p:cNvCxnSpPr>
          <p:nvPr/>
        </p:nvCxnSpPr>
        <p:spPr>
          <a:xfrm flipH="1">
            <a:off x="4969895" y="3886200"/>
            <a:ext cx="220028" cy="43931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椭圆 17">
            <a:extLst>
              <a:ext uri="{FF2B5EF4-FFF2-40B4-BE49-F238E27FC236}">
                <a16:creationId xmlns:a16="http://schemas.microsoft.com/office/drawing/2014/main" id="{72A51D4E-4363-834D-9F91-CF8E38D519AA}"/>
              </a:ext>
            </a:extLst>
          </p:cNvPr>
          <p:cNvSpPr/>
          <p:nvPr/>
        </p:nvSpPr>
        <p:spPr>
          <a:xfrm>
            <a:off x="5187302" y="5014722"/>
            <a:ext cx="809917" cy="47167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</a:rPr>
              <a:t>e…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  <p:cxnSp>
        <p:nvCxnSpPr>
          <p:cNvPr id="19" name="直线箭头连接符 18">
            <a:extLst>
              <a:ext uri="{FF2B5EF4-FFF2-40B4-BE49-F238E27FC236}">
                <a16:creationId xmlns:a16="http://schemas.microsoft.com/office/drawing/2014/main" id="{8A94112A-048F-5946-9682-A9EDFEE75ADB}"/>
              </a:ext>
            </a:extLst>
          </p:cNvPr>
          <p:cNvCxnSpPr>
            <a:cxnSpLocks/>
          </p:cNvCxnSpPr>
          <p:nvPr/>
        </p:nvCxnSpPr>
        <p:spPr>
          <a:xfrm>
            <a:off x="5099893" y="4648200"/>
            <a:ext cx="271894" cy="41366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椭圆 20">
            <a:extLst>
              <a:ext uri="{FF2B5EF4-FFF2-40B4-BE49-F238E27FC236}">
                <a16:creationId xmlns:a16="http://schemas.microsoft.com/office/drawing/2014/main" id="{367EEFFB-DCD1-F84C-945E-62EA139FF240}"/>
              </a:ext>
            </a:extLst>
          </p:cNvPr>
          <p:cNvSpPr/>
          <p:nvPr/>
        </p:nvSpPr>
        <p:spPr>
          <a:xfrm>
            <a:off x="6370212" y="5014722"/>
            <a:ext cx="809917" cy="47167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</a:rPr>
              <a:t>e…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  <p:cxnSp>
        <p:nvCxnSpPr>
          <p:cNvPr id="22" name="直线箭头连接符 21">
            <a:extLst>
              <a:ext uri="{FF2B5EF4-FFF2-40B4-BE49-F238E27FC236}">
                <a16:creationId xmlns:a16="http://schemas.microsoft.com/office/drawing/2014/main" id="{BA557CF5-5852-7047-9380-B34C51289926}"/>
              </a:ext>
            </a:extLst>
          </p:cNvPr>
          <p:cNvCxnSpPr>
            <a:cxnSpLocks/>
            <a:endCxn id="21" idx="7"/>
          </p:cNvCxnSpPr>
          <p:nvPr/>
        </p:nvCxnSpPr>
        <p:spPr>
          <a:xfrm flipH="1">
            <a:off x="7061519" y="4648200"/>
            <a:ext cx="299293" cy="43559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闪电形 22">
            <a:extLst>
              <a:ext uri="{FF2B5EF4-FFF2-40B4-BE49-F238E27FC236}">
                <a16:creationId xmlns:a16="http://schemas.microsoft.com/office/drawing/2014/main" id="{D7BDDDF9-F7C6-DB46-A7C2-3ED679EDF07B}"/>
              </a:ext>
            </a:extLst>
          </p:cNvPr>
          <p:cNvSpPr/>
          <p:nvPr/>
        </p:nvSpPr>
        <p:spPr>
          <a:xfrm>
            <a:off x="7314155" y="4276708"/>
            <a:ext cx="381000" cy="533400"/>
          </a:xfrm>
          <a:prstGeom prst="lightningBol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24" name="直线箭头连接符 23">
            <a:extLst>
              <a:ext uri="{FF2B5EF4-FFF2-40B4-BE49-F238E27FC236}">
                <a16:creationId xmlns:a16="http://schemas.microsoft.com/office/drawing/2014/main" id="{E61C648C-C6E9-CD46-AD76-A12399D2521C}"/>
              </a:ext>
            </a:extLst>
          </p:cNvPr>
          <p:cNvCxnSpPr>
            <a:cxnSpLocks/>
          </p:cNvCxnSpPr>
          <p:nvPr/>
        </p:nvCxnSpPr>
        <p:spPr>
          <a:xfrm>
            <a:off x="7093603" y="3887540"/>
            <a:ext cx="211544" cy="37015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椭圆 25">
            <a:extLst>
              <a:ext uri="{FF2B5EF4-FFF2-40B4-BE49-F238E27FC236}">
                <a16:creationId xmlns:a16="http://schemas.microsoft.com/office/drawing/2014/main" id="{5B479FEF-9640-194D-BBAC-7983109167CC}"/>
              </a:ext>
            </a:extLst>
          </p:cNvPr>
          <p:cNvSpPr/>
          <p:nvPr/>
        </p:nvSpPr>
        <p:spPr>
          <a:xfrm>
            <a:off x="7878948" y="5017696"/>
            <a:ext cx="809917" cy="47167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</a:rPr>
              <a:t>e…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  <p:cxnSp>
        <p:nvCxnSpPr>
          <p:cNvPr id="27" name="直线箭头连接符 26">
            <a:extLst>
              <a:ext uri="{FF2B5EF4-FFF2-40B4-BE49-F238E27FC236}">
                <a16:creationId xmlns:a16="http://schemas.microsoft.com/office/drawing/2014/main" id="{3B03921D-2365-2E43-ABD9-AC09B5D62D3D}"/>
              </a:ext>
            </a:extLst>
          </p:cNvPr>
          <p:cNvCxnSpPr>
            <a:cxnSpLocks/>
          </p:cNvCxnSpPr>
          <p:nvPr/>
        </p:nvCxnSpPr>
        <p:spPr>
          <a:xfrm>
            <a:off x="7695155" y="4676383"/>
            <a:ext cx="384388" cy="37228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文本框 28">
                <a:extLst>
                  <a:ext uri="{FF2B5EF4-FFF2-40B4-BE49-F238E27FC236}">
                    <a16:creationId xmlns:a16="http://schemas.microsoft.com/office/drawing/2014/main" id="{D56240FF-C7B4-094F-B010-FAA194EEB6A8}"/>
                  </a:ext>
                </a:extLst>
              </p:cNvPr>
              <p:cNvSpPr txBox="1"/>
              <p:nvPr/>
            </p:nvSpPr>
            <p:spPr>
              <a:xfrm>
                <a:off x="6575192" y="2888543"/>
                <a:ext cx="81588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kumimoji="1" lang="en-US" altLang="zh-CN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¬</m:t>
                    </m:r>
                  </m:oMath>
                </a14:m>
                <a:r>
                  <a:rPr kumimoji="1" lang="en-US" altLang="zh-CN" dirty="0">
                    <a:solidFill>
                      <a:srgbClr val="FF0000"/>
                    </a:solidFill>
                  </a:rPr>
                  <a:t>e1</a:t>
                </a:r>
                <a:endParaRPr kumimoji="1" lang="zh-CN" alt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9" name="文本框 28">
                <a:extLst>
                  <a:ext uri="{FF2B5EF4-FFF2-40B4-BE49-F238E27FC236}">
                    <a16:creationId xmlns:a16="http://schemas.microsoft.com/office/drawing/2014/main" id="{D56240FF-C7B4-094F-B010-FAA194EEB6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75192" y="2888543"/>
                <a:ext cx="815882" cy="369332"/>
              </a:xfrm>
              <a:prstGeom prst="rect">
                <a:avLst/>
              </a:prstGeom>
              <a:blipFill>
                <a:blip r:embed="rId2"/>
                <a:stretch>
                  <a:fillRect t="-3226" b="-2258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3219BFE4-BE67-D14E-8966-B94987A6644A}"/>
                  </a:ext>
                </a:extLst>
              </p:cNvPr>
              <p:cNvSpPr txBox="1"/>
              <p:nvPr/>
            </p:nvSpPr>
            <p:spPr>
              <a:xfrm>
                <a:off x="4240258" y="3816153"/>
                <a:ext cx="120340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dirty="0">
                    <a:solidFill>
                      <a:srgbClr val="FF0000"/>
                    </a:solidFill>
                  </a:rPr>
                  <a:t>e1</a:t>
                </a:r>
                <a:r>
                  <a:rPr kumimoji="1" lang="en-US" altLang="zh-CN" dirty="0">
                    <a:solidFill>
                      <a:srgbClr val="FF0000"/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zh-CN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∧ </m:t>
                    </m:r>
                  </m:oMath>
                </a14:m>
                <a:r>
                  <a:rPr kumimoji="1" lang="en-US" altLang="zh-CN" dirty="0">
                    <a:solidFill>
                      <a:srgbClr val="FF0000"/>
                    </a:solidFill>
                  </a:rPr>
                  <a:t>e11</a:t>
                </a:r>
                <a:endParaRPr kumimoji="1" lang="zh-CN" alt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3219BFE4-BE67-D14E-8966-B94987A664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40258" y="3816153"/>
                <a:ext cx="1203403" cy="369332"/>
              </a:xfrm>
              <a:prstGeom prst="rect">
                <a:avLst/>
              </a:prstGeom>
              <a:blipFill>
                <a:blip r:embed="rId3"/>
                <a:stretch>
                  <a:fillRect l="-4167" t="-6667" b="-23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文本框 30">
                <a:extLst>
                  <a:ext uri="{FF2B5EF4-FFF2-40B4-BE49-F238E27FC236}">
                    <a16:creationId xmlns:a16="http://schemas.microsoft.com/office/drawing/2014/main" id="{BDE9DFF2-C6EF-F14D-8930-D5CFA78E4E4A}"/>
                  </a:ext>
                </a:extLst>
              </p:cNvPr>
              <p:cNvSpPr txBox="1"/>
              <p:nvPr/>
            </p:nvSpPr>
            <p:spPr>
              <a:xfrm>
                <a:off x="7211165" y="3796100"/>
                <a:ext cx="141769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kumimoji="1" lang="en-US" altLang="zh-CN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¬</m:t>
                    </m:r>
                  </m:oMath>
                </a14:m>
                <a:r>
                  <a:rPr kumimoji="1" lang="en-US" altLang="zh-CN" dirty="0">
                    <a:solidFill>
                      <a:srgbClr val="FF0000"/>
                    </a:solidFill>
                  </a:rPr>
                  <a:t>e1</a:t>
                </a:r>
                <a:r>
                  <a:rPr kumimoji="1" lang="en-US" altLang="zh-CN" dirty="0">
                    <a:solidFill>
                      <a:srgbClr val="FF0000"/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zh-CN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∧¬</m:t>
                    </m:r>
                  </m:oMath>
                </a14:m>
                <a:r>
                  <a:rPr kumimoji="1" lang="en-US" altLang="zh-CN" dirty="0">
                    <a:solidFill>
                      <a:srgbClr val="FF0000"/>
                    </a:solidFill>
                  </a:rPr>
                  <a:t>e21</a:t>
                </a:r>
                <a:endParaRPr kumimoji="1" lang="zh-CN" alt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1" name="文本框 30">
                <a:extLst>
                  <a:ext uri="{FF2B5EF4-FFF2-40B4-BE49-F238E27FC236}">
                    <a16:creationId xmlns:a16="http://schemas.microsoft.com/office/drawing/2014/main" id="{BDE9DFF2-C6EF-F14D-8930-D5CFA78E4E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11165" y="3796100"/>
                <a:ext cx="1417691" cy="369332"/>
              </a:xfrm>
              <a:prstGeom prst="rect">
                <a:avLst/>
              </a:prstGeom>
              <a:blipFill>
                <a:blip r:embed="rId4"/>
                <a:stretch>
                  <a:fillRect t="-6667" r="-2679" b="-23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2" name="直线箭头连接符 31">
            <a:extLst>
              <a:ext uri="{FF2B5EF4-FFF2-40B4-BE49-F238E27FC236}">
                <a16:creationId xmlns:a16="http://schemas.microsoft.com/office/drawing/2014/main" id="{E817423F-B00A-054E-8446-5B9B2E871BC0}"/>
              </a:ext>
            </a:extLst>
          </p:cNvPr>
          <p:cNvCxnSpPr>
            <a:cxnSpLocks/>
          </p:cNvCxnSpPr>
          <p:nvPr/>
        </p:nvCxnSpPr>
        <p:spPr>
          <a:xfrm>
            <a:off x="5307485" y="3897900"/>
            <a:ext cx="344553" cy="42761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闪电形 34">
            <a:extLst>
              <a:ext uri="{FF2B5EF4-FFF2-40B4-BE49-F238E27FC236}">
                <a16:creationId xmlns:a16="http://schemas.microsoft.com/office/drawing/2014/main" id="{61398BDF-8A28-8144-AA6F-E1CF708D11BD}"/>
              </a:ext>
            </a:extLst>
          </p:cNvPr>
          <p:cNvSpPr/>
          <p:nvPr/>
        </p:nvSpPr>
        <p:spPr>
          <a:xfrm>
            <a:off x="5654604" y="4109346"/>
            <a:ext cx="381000" cy="533400"/>
          </a:xfrm>
          <a:prstGeom prst="lightningBol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37" name="直线箭头连接符 36">
            <a:extLst>
              <a:ext uri="{FF2B5EF4-FFF2-40B4-BE49-F238E27FC236}">
                <a16:creationId xmlns:a16="http://schemas.microsoft.com/office/drawing/2014/main" id="{EC9597DE-725D-1240-A94F-1BDFF141DDFA}"/>
              </a:ext>
            </a:extLst>
          </p:cNvPr>
          <p:cNvCxnSpPr>
            <a:cxnSpLocks/>
          </p:cNvCxnSpPr>
          <p:nvPr/>
        </p:nvCxnSpPr>
        <p:spPr>
          <a:xfrm flipH="1">
            <a:off x="6760798" y="3852958"/>
            <a:ext cx="220028" cy="43931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闪电形 37">
            <a:extLst>
              <a:ext uri="{FF2B5EF4-FFF2-40B4-BE49-F238E27FC236}">
                <a16:creationId xmlns:a16="http://schemas.microsoft.com/office/drawing/2014/main" id="{96B2BA0F-BA0E-1041-90F4-EC77B1826736}"/>
              </a:ext>
            </a:extLst>
          </p:cNvPr>
          <p:cNvSpPr/>
          <p:nvPr/>
        </p:nvSpPr>
        <p:spPr>
          <a:xfrm>
            <a:off x="6457521" y="4142983"/>
            <a:ext cx="381000" cy="533400"/>
          </a:xfrm>
          <a:prstGeom prst="lightningBol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文本框 38">
                <a:extLst>
                  <a:ext uri="{FF2B5EF4-FFF2-40B4-BE49-F238E27FC236}">
                    <a16:creationId xmlns:a16="http://schemas.microsoft.com/office/drawing/2014/main" id="{490FFCB9-0499-8040-BF17-136D826FC94E}"/>
                  </a:ext>
                </a:extLst>
              </p:cNvPr>
              <p:cNvSpPr txBox="1"/>
              <p:nvPr/>
            </p:nvSpPr>
            <p:spPr>
              <a:xfrm>
                <a:off x="6035597" y="3974068"/>
                <a:ext cx="120340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kumimoji="1" lang="en-US" altLang="zh-CN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¬</m:t>
                    </m:r>
                  </m:oMath>
                </a14:m>
                <a:r>
                  <a:rPr kumimoji="1" lang="en-US" altLang="zh-CN" dirty="0">
                    <a:solidFill>
                      <a:srgbClr val="FF0000"/>
                    </a:solidFill>
                  </a:rPr>
                  <a:t>e1</a:t>
                </a:r>
                <a:r>
                  <a:rPr kumimoji="1" lang="en-US" altLang="zh-CN" dirty="0">
                    <a:solidFill>
                      <a:srgbClr val="FF0000"/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zh-CN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∧</m:t>
                    </m:r>
                  </m:oMath>
                </a14:m>
                <a:r>
                  <a:rPr kumimoji="1" lang="en-US" altLang="zh-CN" dirty="0">
                    <a:solidFill>
                      <a:srgbClr val="FF0000"/>
                    </a:solidFill>
                  </a:rPr>
                  <a:t>e21</a:t>
                </a:r>
                <a:endParaRPr kumimoji="1" lang="zh-CN" alt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9" name="文本框 38">
                <a:extLst>
                  <a:ext uri="{FF2B5EF4-FFF2-40B4-BE49-F238E27FC236}">
                    <a16:creationId xmlns:a16="http://schemas.microsoft.com/office/drawing/2014/main" id="{490FFCB9-0499-8040-BF17-136D826FC9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35597" y="3974068"/>
                <a:ext cx="1203403" cy="369332"/>
              </a:xfrm>
              <a:prstGeom prst="rect">
                <a:avLst/>
              </a:prstGeom>
              <a:blipFill>
                <a:blip r:embed="rId5"/>
                <a:stretch>
                  <a:fillRect t="-6667" r="-2083" b="-23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文本框 39">
                <a:extLst>
                  <a:ext uri="{FF2B5EF4-FFF2-40B4-BE49-F238E27FC236}">
                    <a16:creationId xmlns:a16="http://schemas.microsoft.com/office/drawing/2014/main" id="{671D5650-4EA4-A641-AB37-168B14F7F640}"/>
                  </a:ext>
                </a:extLst>
              </p:cNvPr>
              <p:cNvSpPr txBox="1"/>
              <p:nvPr/>
            </p:nvSpPr>
            <p:spPr>
              <a:xfrm>
                <a:off x="5332929" y="3680268"/>
                <a:ext cx="120340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dirty="0">
                    <a:solidFill>
                      <a:srgbClr val="FF0000"/>
                    </a:solidFill>
                  </a:rPr>
                  <a:t>e1</a:t>
                </a:r>
                <a14:m>
                  <m:oMath xmlns:m="http://schemas.openxmlformats.org/officeDocument/2006/math">
                    <m:r>
                      <a:rPr kumimoji="1" lang="en-US" altLang="zh-CN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∧¬</m:t>
                    </m:r>
                  </m:oMath>
                </a14:m>
                <a:r>
                  <a:rPr kumimoji="1" lang="en-US" altLang="zh-CN" dirty="0">
                    <a:solidFill>
                      <a:srgbClr val="FF0000"/>
                    </a:solidFill>
                  </a:rPr>
                  <a:t>e11</a:t>
                </a:r>
                <a:endParaRPr kumimoji="1" lang="zh-CN" alt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40" name="文本框 39">
                <a:extLst>
                  <a:ext uri="{FF2B5EF4-FFF2-40B4-BE49-F238E27FC236}">
                    <a16:creationId xmlns:a16="http://schemas.microsoft.com/office/drawing/2014/main" id="{671D5650-4EA4-A641-AB37-168B14F7F6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32929" y="3680268"/>
                <a:ext cx="1203403" cy="369332"/>
              </a:xfrm>
              <a:prstGeom prst="rect">
                <a:avLst/>
              </a:prstGeom>
              <a:blipFill>
                <a:blip r:embed="rId6"/>
                <a:stretch>
                  <a:fillRect l="-5263" t="-6667" b="-23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文本框 40">
                <a:extLst>
                  <a:ext uri="{FF2B5EF4-FFF2-40B4-BE49-F238E27FC236}">
                    <a16:creationId xmlns:a16="http://schemas.microsoft.com/office/drawing/2014/main" id="{B89E1323-992F-6F47-969E-0FBEC8A2A56B}"/>
                  </a:ext>
                </a:extLst>
              </p:cNvPr>
              <p:cNvSpPr txBox="1"/>
              <p:nvPr/>
            </p:nvSpPr>
            <p:spPr>
              <a:xfrm>
                <a:off x="3733800" y="5791200"/>
                <a:ext cx="4955065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dirty="0"/>
                  <a:t>With nested ‘if’ statements of depth </a:t>
                </a:r>
                <a:r>
                  <a:rPr kumimoji="1" lang="en-US" altLang="zh-CN" dirty="0">
                    <a:solidFill>
                      <a:srgbClr val="0432FF"/>
                    </a:solidFill>
                  </a:rPr>
                  <a:t>N</a:t>
                </a:r>
                <a:r>
                  <a:rPr kumimoji="1" lang="en-US" altLang="zh-CN" dirty="0"/>
                  <a:t>, the number of possible paths are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1" lang="en-US" altLang="zh-CN" b="0" i="1" smtClean="0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zh-CN" b="0" i="1" smtClean="0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  <m:r>
                          <a:rPr kumimoji="1" lang="en-US" altLang="zh-CN" b="0" i="1" smtClean="0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</a:rPr>
                          <m:t>(2</m:t>
                        </m:r>
                      </m:e>
                      <m:sup>
                        <m:r>
                          <a:rPr kumimoji="1" lang="en-US" altLang="zh-CN" b="0" i="1" smtClean="0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</m:sSup>
                    <m:r>
                      <a:rPr kumimoji="1" lang="en-US" altLang="zh-CN" b="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).</m:t>
                    </m:r>
                  </m:oMath>
                </a14:m>
                <a:endParaRPr kumimoji="1" lang="zh-CN" altLang="en-US" dirty="0"/>
              </a:p>
            </p:txBody>
          </p:sp>
        </mc:Choice>
        <mc:Fallback xmlns="">
          <p:sp>
            <p:nvSpPr>
              <p:cNvPr id="41" name="文本框 40">
                <a:extLst>
                  <a:ext uri="{FF2B5EF4-FFF2-40B4-BE49-F238E27FC236}">
                    <a16:creationId xmlns:a16="http://schemas.microsoft.com/office/drawing/2014/main" id="{B89E1323-992F-6F47-969E-0FBEC8A2A5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33800" y="5791200"/>
                <a:ext cx="4955065" cy="646331"/>
              </a:xfrm>
              <a:prstGeom prst="rect">
                <a:avLst/>
              </a:prstGeom>
              <a:blipFill>
                <a:blip r:embed="rId7"/>
                <a:stretch>
                  <a:fillRect l="-1023" t="-3922" b="-1176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29743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29" grpId="0"/>
      <p:bldP spid="30" grpId="0"/>
      <p:bldP spid="31" grpId="0"/>
      <p:bldP spid="39" grpId="0"/>
      <p:bldP spid="40" grpId="0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824D9FE-F439-6A49-9DBB-B634541E41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#1: Path explosion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10EBF09-4B98-D942-BD79-7E351135D7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/>
              <a:t>In</a:t>
            </a:r>
            <a:r>
              <a:rPr kumimoji="1" lang="zh-CN" altLang="en-US" dirty="0"/>
              <a:t> </a:t>
            </a:r>
            <a:r>
              <a:rPr kumimoji="1" lang="en-US" altLang="zh-CN" dirty="0"/>
              <a:t>concolic</a:t>
            </a:r>
            <a:r>
              <a:rPr kumimoji="1" lang="zh-CN" altLang="en-US" dirty="0"/>
              <a:t> </a:t>
            </a:r>
            <a:r>
              <a:rPr kumimoji="1" lang="en-US" altLang="zh-CN" dirty="0"/>
              <a:t>execution,</a:t>
            </a:r>
            <a:r>
              <a:rPr kumimoji="1" lang="zh-CN" altLang="en-US" dirty="0"/>
              <a:t> </a:t>
            </a:r>
            <a:r>
              <a:rPr kumimoji="1" lang="en-US" altLang="zh-CN" dirty="0"/>
              <a:t>the</a:t>
            </a:r>
            <a:r>
              <a:rPr kumimoji="1" lang="zh-CN" altLang="en-US" dirty="0"/>
              <a:t> </a:t>
            </a:r>
            <a:r>
              <a:rPr kumimoji="1" lang="en-US" altLang="zh-CN" dirty="0"/>
              <a:t>number</a:t>
            </a:r>
            <a:r>
              <a:rPr kumimoji="1" lang="zh-CN" altLang="en-US" dirty="0"/>
              <a:t> </a:t>
            </a:r>
            <a:r>
              <a:rPr kumimoji="1" lang="en-US" altLang="zh-CN" dirty="0"/>
              <a:t>of</a:t>
            </a:r>
            <a:r>
              <a:rPr kumimoji="1" lang="zh-CN" altLang="en-US" dirty="0"/>
              <a:t> </a:t>
            </a:r>
            <a:r>
              <a:rPr kumimoji="1" lang="en-US" altLang="zh-CN" dirty="0"/>
              <a:t>paths</a:t>
            </a:r>
            <a:r>
              <a:rPr kumimoji="1" lang="zh-CN" altLang="en-US" dirty="0"/>
              <a:t> </a:t>
            </a:r>
            <a:r>
              <a:rPr kumimoji="1" lang="en-US" altLang="zh-CN" dirty="0"/>
              <a:t>explored</a:t>
            </a:r>
            <a:r>
              <a:rPr kumimoji="1" lang="zh-CN" altLang="en-US" dirty="0"/>
              <a:t> </a:t>
            </a:r>
            <a:r>
              <a:rPr kumimoji="1" lang="en-US" altLang="zh-CN" dirty="0"/>
              <a:t>can</a:t>
            </a:r>
            <a:r>
              <a:rPr kumimoji="1" lang="zh-CN" altLang="en-US" dirty="0"/>
              <a:t> </a:t>
            </a:r>
            <a:r>
              <a:rPr kumimoji="1" lang="en-US" altLang="zh-CN" dirty="0"/>
              <a:t>be</a:t>
            </a:r>
            <a:r>
              <a:rPr kumimoji="1" lang="zh-CN" altLang="en-US" dirty="0"/>
              <a:t> </a:t>
            </a:r>
            <a:r>
              <a:rPr kumimoji="1" lang="en-US" altLang="zh-CN" dirty="0"/>
              <a:t>controlled, according to</a:t>
            </a:r>
            <a:r>
              <a:rPr kumimoji="1" lang="zh-CN" altLang="en-US" dirty="0"/>
              <a:t> </a:t>
            </a:r>
            <a:r>
              <a:rPr kumimoji="1" lang="en-US" altLang="zh-CN" dirty="0"/>
              <a:t>metrics</a:t>
            </a:r>
            <a:r>
              <a:rPr kumimoji="1" lang="zh-CN" altLang="en-US" dirty="0"/>
              <a:t> </a:t>
            </a:r>
            <a:r>
              <a:rPr kumimoji="1" lang="en-US" altLang="zh-CN" dirty="0"/>
              <a:t>such</a:t>
            </a:r>
            <a:r>
              <a:rPr kumimoji="1" lang="zh-CN" altLang="en-US" dirty="0"/>
              <a:t> </a:t>
            </a:r>
            <a:r>
              <a:rPr kumimoji="1" lang="en-US" altLang="zh-CN" dirty="0"/>
              <a:t>as:</a:t>
            </a:r>
          </a:p>
          <a:p>
            <a:pPr lvl="1"/>
            <a:r>
              <a:rPr kumimoji="1" lang="en-US" altLang="zh-CN" dirty="0"/>
              <a:t>the</a:t>
            </a:r>
            <a:r>
              <a:rPr kumimoji="1" lang="zh-CN" altLang="en-US" dirty="0"/>
              <a:t> </a:t>
            </a:r>
            <a:r>
              <a:rPr kumimoji="1" lang="en-US" altLang="zh-CN" dirty="0"/>
              <a:t>total</a:t>
            </a:r>
            <a:r>
              <a:rPr kumimoji="1" lang="zh-CN" altLang="en-US" dirty="0"/>
              <a:t> </a:t>
            </a:r>
            <a:r>
              <a:rPr kumimoji="1" lang="en-US" altLang="zh-CN" dirty="0"/>
              <a:t>number</a:t>
            </a:r>
          </a:p>
          <a:p>
            <a:pPr lvl="1"/>
            <a:r>
              <a:rPr kumimoji="1" lang="en-US" altLang="zh-CN" dirty="0"/>
              <a:t>the</a:t>
            </a:r>
            <a:r>
              <a:rPr kumimoji="1" lang="zh-CN" altLang="en-US" dirty="0"/>
              <a:t> </a:t>
            </a:r>
            <a:r>
              <a:rPr kumimoji="1" lang="en-US" altLang="zh-CN" dirty="0"/>
              <a:t>coverage</a:t>
            </a:r>
          </a:p>
          <a:p>
            <a:pPr lvl="1"/>
            <a:r>
              <a:rPr kumimoji="1" lang="en-US" altLang="zh-CN" dirty="0"/>
              <a:t>the</a:t>
            </a:r>
            <a:r>
              <a:rPr kumimoji="1" lang="zh-CN" altLang="en-US" dirty="0"/>
              <a:t> </a:t>
            </a:r>
            <a:r>
              <a:rPr kumimoji="1" lang="en-US" altLang="zh-CN" dirty="0"/>
              <a:t>timeout</a:t>
            </a:r>
          </a:p>
          <a:p>
            <a:pPr lvl="1"/>
            <a:r>
              <a:rPr kumimoji="1" lang="en-US" altLang="zh-CN" dirty="0"/>
              <a:t>etc.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12570774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83B1A98-5D2E-F84C-8A75-A8FC62CA10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#2: Loops and recursions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EA67DCE-2389-6343-AFC1-54E1B9454D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//</a:t>
            </a:r>
            <a:r>
              <a: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Loops introduce non-termination:</a:t>
            </a:r>
          </a:p>
          <a:p>
            <a:pPr marL="0" indent="0">
              <a:buNone/>
            </a:pPr>
            <a:r>
              <a:rPr kumimoji="1" lang="en-US" altLang="zh-CN" sz="2000" b="1" dirty="0" err="1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sum(</a:t>
            </a:r>
            <a:r>
              <a:rPr kumimoji="1" lang="en-US" altLang="zh-CN" sz="2000" b="1" dirty="0" err="1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n){</a:t>
            </a:r>
          </a:p>
          <a:p>
            <a:pPr marL="0" indent="0">
              <a:buNone/>
            </a:pP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kumimoji="1" lang="en-US" altLang="zh-CN" sz="2000" b="1" dirty="0" err="1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s = 0, </a:t>
            </a:r>
            <a:r>
              <a:rPr kumimoji="1" lang="en-US" altLang="zh-CN" sz="2000" b="1" dirty="0" err="1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0;</a:t>
            </a:r>
          </a:p>
          <a:p>
            <a:pPr marL="0" indent="0">
              <a:buNone/>
            </a:pP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while(</a:t>
            </a:r>
            <a:r>
              <a:rPr kumimoji="1" lang="en-US" altLang="zh-CN" sz="2000" b="1" dirty="0" err="1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&lt;=n){</a:t>
            </a:r>
          </a:p>
          <a:p>
            <a:pPr marL="0" indent="0">
              <a:buNone/>
            </a:pP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s = </a:t>
            </a:r>
            <a:r>
              <a:rPr kumimoji="1" lang="en-US" altLang="zh-CN" sz="2000" b="1" dirty="0" err="1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s+i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buNone/>
            </a:pP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kumimoji="1" lang="en-US" altLang="zh-CN" sz="2000" b="1" dirty="0" err="1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i+1;</a:t>
            </a:r>
          </a:p>
          <a:p>
            <a:pPr marL="0" indent="0">
              <a:buNone/>
            </a:pP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</a:p>
          <a:p>
            <a:pPr marL="0" indent="0">
              <a:buNone/>
            </a:pP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return s;</a:t>
            </a:r>
          </a:p>
          <a:p>
            <a:pPr marL="0" indent="0">
              <a:buNone/>
            </a:pP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椭圆 3">
                <a:extLst>
                  <a:ext uri="{FF2B5EF4-FFF2-40B4-BE49-F238E27FC236}">
                    <a16:creationId xmlns:a16="http://schemas.microsoft.com/office/drawing/2014/main" id="{97711026-C053-4649-A693-302DE3A71D19}"/>
                  </a:ext>
                </a:extLst>
              </p:cNvPr>
              <p:cNvSpPr/>
              <p:nvPr/>
            </p:nvSpPr>
            <p:spPr>
              <a:xfrm>
                <a:off x="5592261" y="2438400"/>
                <a:ext cx="1168537" cy="47167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zh-CN" dirty="0">
                    <a:solidFill>
                      <a:schemeClr val="tx1"/>
                    </a:solidFill>
                  </a:rPr>
                  <a:t>i</a:t>
                </a:r>
                <a14:m>
                  <m:oMath xmlns:m="http://schemas.openxmlformats.org/officeDocument/2006/math">
                    <m:r>
                      <a:rPr kumimoji="1" lang="en-US" altLang="zh-CN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</m:oMath>
                </a14:m>
                <a:r>
                  <a:rPr kumimoji="1" lang="en-US" altLang="zh-CN" dirty="0">
                    <a:solidFill>
                      <a:schemeClr val="tx1"/>
                    </a:solidFill>
                  </a:rPr>
                  <a:t>n</a:t>
                </a:r>
                <a:endParaRPr kumimoji="1" lang="zh-CN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椭圆 3">
                <a:extLst>
                  <a:ext uri="{FF2B5EF4-FFF2-40B4-BE49-F238E27FC236}">
                    <a16:creationId xmlns:a16="http://schemas.microsoft.com/office/drawing/2014/main" id="{97711026-C053-4649-A693-302DE3A71D1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92261" y="2438400"/>
                <a:ext cx="1168537" cy="471678"/>
              </a:xfrm>
              <a:prstGeom prst="ellipse">
                <a:avLst/>
              </a:prstGeom>
              <a:blipFill>
                <a:blip r:embed="rId2"/>
                <a:stretch>
                  <a:fillRect b="-769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椭圆 4">
            <a:extLst>
              <a:ext uri="{FF2B5EF4-FFF2-40B4-BE49-F238E27FC236}">
                <a16:creationId xmlns:a16="http://schemas.microsoft.com/office/drawing/2014/main" id="{68B10703-3303-AB4C-B3C6-E57135DCCD3B}"/>
              </a:ext>
            </a:extLst>
          </p:cNvPr>
          <p:cNvSpPr/>
          <p:nvPr/>
        </p:nvSpPr>
        <p:spPr>
          <a:xfrm>
            <a:off x="4739913" y="3299903"/>
            <a:ext cx="809917" cy="47167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</a:rPr>
              <a:t>e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  <p:cxnSp>
        <p:nvCxnSpPr>
          <p:cNvPr id="7" name="直线箭头连接符 6">
            <a:extLst>
              <a:ext uri="{FF2B5EF4-FFF2-40B4-BE49-F238E27FC236}">
                <a16:creationId xmlns:a16="http://schemas.microsoft.com/office/drawing/2014/main" id="{A61DF5BE-6E2D-5D4C-9AC1-1E544ED28970}"/>
              </a:ext>
            </a:extLst>
          </p:cNvPr>
          <p:cNvCxnSpPr>
            <a:cxnSpLocks/>
            <a:endCxn id="5" idx="7"/>
          </p:cNvCxnSpPr>
          <p:nvPr/>
        </p:nvCxnSpPr>
        <p:spPr>
          <a:xfrm flipH="1">
            <a:off x="5431220" y="2910078"/>
            <a:ext cx="452949" cy="45890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线箭头连接符 7">
            <a:extLst>
              <a:ext uri="{FF2B5EF4-FFF2-40B4-BE49-F238E27FC236}">
                <a16:creationId xmlns:a16="http://schemas.microsoft.com/office/drawing/2014/main" id="{C830BFE5-3832-D740-A1C1-D75E8D54637E}"/>
              </a:ext>
            </a:extLst>
          </p:cNvPr>
          <p:cNvCxnSpPr>
            <a:cxnSpLocks/>
            <a:stCxn id="4" idx="5"/>
            <a:endCxn id="42" idx="1"/>
          </p:cNvCxnSpPr>
          <p:nvPr/>
        </p:nvCxnSpPr>
        <p:spPr>
          <a:xfrm>
            <a:off x="6589670" y="2841002"/>
            <a:ext cx="650673" cy="58069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EB0E44DE-0BAA-F04C-A2FF-9C4DC1932F25}"/>
              </a:ext>
            </a:extLst>
          </p:cNvPr>
          <p:cNvSpPr txBox="1"/>
          <p:nvPr/>
        </p:nvSpPr>
        <p:spPr>
          <a:xfrm>
            <a:off x="5280118" y="2930571"/>
            <a:ext cx="4199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>
                <a:solidFill>
                  <a:srgbClr val="FF0000"/>
                </a:solidFill>
              </a:rPr>
              <a:t>e</a:t>
            </a:r>
            <a:endParaRPr kumimoji="1" lang="zh-CN" altLang="en-US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文本框 28">
                <a:extLst>
                  <a:ext uri="{FF2B5EF4-FFF2-40B4-BE49-F238E27FC236}">
                    <a16:creationId xmlns:a16="http://schemas.microsoft.com/office/drawing/2014/main" id="{D56240FF-C7B4-094F-B010-FAA194EEB6A8}"/>
                  </a:ext>
                </a:extLst>
              </p:cNvPr>
              <p:cNvSpPr txBox="1"/>
              <p:nvPr/>
            </p:nvSpPr>
            <p:spPr>
              <a:xfrm>
                <a:off x="6659681" y="2877812"/>
                <a:ext cx="81588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kumimoji="1" lang="en-US" altLang="zh-CN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¬</m:t>
                    </m:r>
                  </m:oMath>
                </a14:m>
                <a:r>
                  <a:rPr kumimoji="1" lang="en-US" altLang="zh-CN" dirty="0">
                    <a:solidFill>
                      <a:srgbClr val="FF0000"/>
                    </a:solidFill>
                  </a:rPr>
                  <a:t>e</a:t>
                </a:r>
                <a:endParaRPr kumimoji="1" lang="zh-CN" alt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9" name="文本框 28">
                <a:extLst>
                  <a:ext uri="{FF2B5EF4-FFF2-40B4-BE49-F238E27FC236}">
                    <a16:creationId xmlns:a16="http://schemas.microsoft.com/office/drawing/2014/main" id="{D56240FF-C7B4-094F-B010-FAA194EEB6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59681" y="2877812"/>
                <a:ext cx="815882" cy="369332"/>
              </a:xfrm>
              <a:prstGeom prst="rect">
                <a:avLst/>
              </a:prstGeom>
              <a:blipFill>
                <a:blip r:embed="rId3"/>
                <a:stretch>
                  <a:fillRect t="-6667" b="-23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文本框 40">
                <a:extLst>
                  <a:ext uri="{FF2B5EF4-FFF2-40B4-BE49-F238E27FC236}">
                    <a16:creationId xmlns:a16="http://schemas.microsoft.com/office/drawing/2014/main" id="{B89E1323-992F-6F47-969E-0FBEC8A2A56B}"/>
                  </a:ext>
                </a:extLst>
              </p:cNvPr>
              <p:cNvSpPr txBox="1"/>
              <p:nvPr/>
            </p:nvSpPr>
            <p:spPr>
              <a:xfrm>
                <a:off x="6910994" y="2049393"/>
                <a:ext cx="869554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dirty="0" err="1"/>
                  <a:t>i</a:t>
                </a:r>
                <a:r>
                  <a:rPr kumimoji="1" lang="zh-CN" altLang="en-US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zh-CN" altLang="en-US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↦</m:t>
                    </m:r>
                  </m:oMath>
                </a14:m>
                <a:r>
                  <a:rPr kumimoji="1" lang="en-US" altLang="zh-CN" dirty="0"/>
                  <a:t> 0</a:t>
                </a:r>
              </a:p>
              <a:p>
                <a:r>
                  <a:rPr kumimoji="1" lang="en-US" altLang="zh-CN" dirty="0"/>
                  <a:t>s</a:t>
                </a:r>
                <a:r>
                  <a:rPr kumimoji="1" lang="zh-CN" altLang="en-US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zh-CN" altLang="en-US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↦ </m:t>
                    </m:r>
                  </m:oMath>
                </a14:m>
                <a:r>
                  <a:rPr kumimoji="1" lang="en-US" altLang="zh-CN" dirty="0"/>
                  <a:t>0</a:t>
                </a:r>
              </a:p>
              <a:p>
                <a:r>
                  <a:rPr kumimoji="1" lang="en-US" altLang="zh-CN" dirty="0"/>
                  <a:t>n</a:t>
                </a:r>
                <a:r>
                  <a:rPr kumimoji="1" lang="zh-CN" altLang="en-US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zh-CN" altLang="en-US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↦ </m:t>
                    </m:r>
                  </m:oMath>
                </a14:m>
                <a:r>
                  <a:rPr kumimoji="1" lang="en-US" altLang="zh-CN" dirty="0"/>
                  <a:t>n</a:t>
                </a:r>
                <a:endParaRPr kumimoji="1" lang="zh-CN" altLang="en-US" dirty="0"/>
              </a:p>
            </p:txBody>
          </p:sp>
        </mc:Choice>
        <mc:Fallback xmlns="">
          <p:sp>
            <p:nvSpPr>
              <p:cNvPr id="41" name="文本框 40">
                <a:extLst>
                  <a:ext uri="{FF2B5EF4-FFF2-40B4-BE49-F238E27FC236}">
                    <a16:creationId xmlns:a16="http://schemas.microsoft.com/office/drawing/2014/main" id="{B89E1323-992F-6F47-969E-0FBEC8A2A5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10994" y="2049393"/>
                <a:ext cx="869554" cy="923330"/>
              </a:xfrm>
              <a:prstGeom prst="rect">
                <a:avLst/>
              </a:prstGeom>
              <a:blipFill>
                <a:blip r:embed="rId4"/>
                <a:stretch>
                  <a:fillRect l="-4286" t="-1351" b="-945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2" name="椭圆 41">
            <a:extLst>
              <a:ext uri="{FF2B5EF4-FFF2-40B4-BE49-F238E27FC236}">
                <a16:creationId xmlns:a16="http://schemas.microsoft.com/office/drawing/2014/main" id="{7D1506A3-F2C4-1D43-8AFF-E1364CA65E78}"/>
              </a:ext>
            </a:extLst>
          </p:cNvPr>
          <p:cNvSpPr/>
          <p:nvPr/>
        </p:nvSpPr>
        <p:spPr>
          <a:xfrm>
            <a:off x="7121733" y="3352618"/>
            <a:ext cx="809917" cy="47167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</a:rPr>
              <a:t>s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975019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29" grpId="0"/>
      <p:bldP spid="41" grpId="0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83B1A98-5D2E-F84C-8A75-A8FC62CA10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#2: Loops and recursions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EA67DCE-2389-6343-AFC1-54E1B9454D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//</a:t>
            </a:r>
            <a:r>
              <a: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Loops introduce non-termination:</a:t>
            </a:r>
          </a:p>
          <a:p>
            <a:pPr marL="0" indent="0">
              <a:buNone/>
            </a:pPr>
            <a:r>
              <a:rPr kumimoji="1" lang="en-US" altLang="zh-CN" sz="2000" b="1" dirty="0" err="1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sum(</a:t>
            </a:r>
            <a:r>
              <a:rPr kumimoji="1" lang="en-US" altLang="zh-CN" sz="2000" b="1" dirty="0" err="1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n){</a:t>
            </a:r>
          </a:p>
          <a:p>
            <a:pPr marL="0" indent="0">
              <a:buNone/>
            </a:pP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kumimoji="1" lang="en-US" altLang="zh-CN" sz="2000" b="1" dirty="0" err="1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s = 0, </a:t>
            </a:r>
            <a:r>
              <a:rPr kumimoji="1" lang="en-US" altLang="zh-CN" sz="2000" b="1" dirty="0" err="1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0;</a:t>
            </a:r>
          </a:p>
          <a:p>
            <a:pPr marL="0" indent="0">
              <a:buNone/>
            </a:pP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while(</a:t>
            </a:r>
            <a:r>
              <a:rPr kumimoji="1" lang="en-US" altLang="zh-CN" sz="2000" b="1" dirty="0" err="1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&lt;=n){</a:t>
            </a:r>
          </a:p>
          <a:p>
            <a:pPr marL="0" indent="0">
              <a:buNone/>
            </a:pP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s = </a:t>
            </a:r>
            <a:r>
              <a:rPr kumimoji="1" lang="en-US" altLang="zh-CN" sz="2000" b="1" dirty="0" err="1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s+i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buNone/>
            </a:pP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kumimoji="1" lang="en-US" altLang="zh-CN" sz="2000" b="1" dirty="0" err="1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i+1;</a:t>
            </a:r>
          </a:p>
          <a:p>
            <a:pPr marL="0" indent="0">
              <a:buNone/>
            </a:pP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</a:p>
          <a:p>
            <a:pPr marL="0" indent="0">
              <a:buNone/>
            </a:pP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return s;</a:t>
            </a:r>
          </a:p>
          <a:p>
            <a:pPr marL="0" indent="0">
              <a:buNone/>
            </a:pP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椭圆 3">
                <a:extLst>
                  <a:ext uri="{FF2B5EF4-FFF2-40B4-BE49-F238E27FC236}">
                    <a16:creationId xmlns:a16="http://schemas.microsoft.com/office/drawing/2014/main" id="{97711026-C053-4649-A693-302DE3A71D19}"/>
                  </a:ext>
                </a:extLst>
              </p:cNvPr>
              <p:cNvSpPr/>
              <p:nvPr/>
            </p:nvSpPr>
            <p:spPr>
              <a:xfrm>
                <a:off x="5592261" y="2438400"/>
                <a:ext cx="1168537" cy="47167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zh-CN" dirty="0">
                    <a:solidFill>
                      <a:schemeClr val="tx1"/>
                    </a:solidFill>
                  </a:rPr>
                  <a:t>i</a:t>
                </a:r>
                <a14:m>
                  <m:oMath xmlns:m="http://schemas.openxmlformats.org/officeDocument/2006/math">
                    <m:r>
                      <a:rPr kumimoji="1" lang="en-US" altLang="zh-CN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</m:oMath>
                </a14:m>
                <a:r>
                  <a:rPr kumimoji="1" lang="en-US" altLang="zh-CN" dirty="0">
                    <a:solidFill>
                      <a:schemeClr val="tx1"/>
                    </a:solidFill>
                  </a:rPr>
                  <a:t>n</a:t>
                </a:r>
                <a:endParaRPr kumimoji="1" lang="zh-CN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椭圆 3">
                <a:extLst>
                  <a:ext uri="{FF2B5EF4-FFF2-40B4-BE49-F238E27FC236}">
                    <a16:creationId xmlns:a16="http://schemas.microsoft.com/office/drawing/2014/main" id="{97711026-C053-4649-A693-302DE3A71D1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92261" y="2438400"/>
                <a:ext cx="1168537" cy="471678"/>
              </a:xfrm>
              <a:prstGeom prst="ellipse">
                <a:avLst/>
              </a:prstGeom>
              <a:blipFill>
                <a:blip r:embed="rId2"/>
                <a:stretch>
                  <a:fillRect b="-769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椭圆 4">
                <a:extLst>
                  <a:ext uri="{FF2B5EF4-FFF2-40B4-BE49-F238E27FC236}">
                    <a16:creationId xmlns:a16="http://schemas.microsoft.com/office/drawing/2014/main" id="{68B10703-3303-AB4C-B3C6-E57135DCCD3B}"/>
                  </a:ext>
                </a:extLst>
              </p:cNvPr>
              <p:cNvSpPr/>
              <p:nvPr/>
            </p:nvSpPr>
            <p:spPr>
              <a:xfrm>
                <a:off x="4420058" y="3414522"/>
                <a:ext cx="1172204" cy="47167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zh-CN" dirty="0" err="1">
                    <a:solidFill>
                      <a:schemeClr val="tx1"/>
                    </a:solidFill>
                  </a:rPr>
                  <a:t>i</a:t>
                </a:r>
                <a14:m>
                  <m:oMath xmlns:m="http://schemas.openxmlformats.org/officeDocument/2006/math">
                    <m:r>
                      <a:rPr kumimoji="1" lang="en-US" altLang="zh-CN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</m:oMath>
                </a14:m>
                <a:r>
                  <a:rPr kumimoji="1" lang="en-US" altLang="zh-CN" dirty="0">
                    <a:solidFill>
                      <a:schemeClr val="tx1"/>
                    </a:solidFill>
                  </a:rPr>
                  <a:t>n</a:t>
                </a:r>
                <a:endParaRPr kumimoji="1" lang="zh-CN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" name="椭圆 4">
                <a:extLst>
                  <a:ext uri="{FF2B5EF4-FFF2-40B4-BE49-F238E27FC236}">
                    <a16:creationId xmlns:a16="http://schemas.microsoft.com/office/drawing/2014/main" id="{68B10703-3303-AB4C-B3C6-E57135DCCD3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20058" y="3414522"/>
                <a:ext cx="1172204" cy="471678"/>
              </a:xfrm>
              <a:prstGeom prst="ellipse">
                <a:avLst/>
              </a:prstGeom>
              <a:blipFill>
                <a:blip r:embed="rId3"/>
                <a:stretch>
                  <a:fillRect b="-731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直线箭头连接符 6">
            <a:extLst>
              <a:ext uri="{FF2B5EF4-FFF2-40B4-BE49-F238E27FC236}">
                <a16:creationId xmlns:a16="http://schemas.microsoft.com/office/drawing/2014/main" id="{A61DF5BE-6E2D-5D4C-9AC1-1E544ED28970}"/>
              </a:ext>
            </a:extLst>
          </p:cNvPr>
          <p:cNvCxnSpPr>
            <a:cxnSpLocks/>
            <a:endCxn id="5" idx="7"/>
          </p:cNvCxnSpPr>
          <p:nvPr/>
        </p:nvCxnSpPr>
        <p:spPr>
          <a:xfrm flipH="1">
            <a:off x="5420597" y="2877915"/>
            <a:ext cx="466648" cy="60568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线箭头连接符 7">
            <a:extLst>
              <a:ext uri="{FF2B5EF4-FFF2-40B4-BE49-F238E27FC236}">
                <a16:creationId xmlns:a16="http://schemas.microsoft.com/office/drawing/2014/main" id="{C830BFE5-3832-D740-A1C1-D75E8D54637E}"/>
              </a:ext>
            </a:extLst>
          </p:cNvPr>
          <p:cNvCxnSpPr>
            <a:cxnSpLocks/>
            <a:stCxn id="4" idx="5"/>
          </p:cNvCxnSpPr>
          <p:nvPr/>
        </p:nvCxnSpPr>
        <p:spPr>
          <a:xfrm>
            <a:off x="6589670" y="2841002"/>
            <a:ext cx="774179" cy="27052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EB0E44DE-0BAA-F04C-A2FF-9C4DC1932F25}"/>
              </a:ext>
            </a:extLst>
          </p:cNvPr>
          <p:cNvSpPr txBox="1"/>
          <p:nvPr/>
        </p:nvSpPr>
        <p:spPr>
          <a:xfrm>
            <a:off x="5280118" y="2930571"/>
            <a:ext cx="8158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>
                <a:solidFill>
                  <a:srgbClr val="FF0000"/>
                </a:solidFill>
              </a:rPr>
              <a:t>0&lt;=n</a:t>
            </a:r>
            <a:endParaRPr kumimoji="1" lang="zh-CN" altLang="en-US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文本框 28">
                <a:extLst>
                  <a:ext uri="{FF2B5EF4-FFF2-40B4-BE49-F238E27FC236}">
                    <a16:creationId xmlns:a16="http://schemas.microsoft.com/office/drawing/2014/main" id="{D56240FF-C7B4-094F-B010-FAA194EEB6A8}"/>
                  </a:ext>
                </a:extLst>
              </p:cNvPr>
              <p:cNvSpPr txBox="1"/>
              <p:nvPr/>
            </p:nvSpPr>
            <p:spPr>
              <a:xfrm>
                <a:off x="6477000" y="2819400"/>
                <a:ext cx="63401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kumimoji="1" lang="en-US" altLang="zh-CN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¬</m:t>
                    </m:r>
                  </m:oMath>
                </a14:m>
                <a:r>
                  <a:rPr kumimoji="1" lang="en-US" altLang="zh-CN" dirty="0">
                    <a:solidFill>
                      <a:srgbClr val="FF0000"/>
                    </a:solidFill>
                  </a:rPr>
                  <a:t>e</a:t>
                </a:r>
                <a:endParaRPr kumimoji="1" lang="zh-CN" alt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9" name="文本框 28">
                <a:extLst>
                  <a:ext uri="{FF2B5EF4-FFF2-40B4-BE49-F238E27FC236}">
                    <a16:creationId xmlns:a16="http://schemas.microsoft.com/office/drawing/2014/main" id="{D56240FF-C7B4-094F-B010-FAA194EEB6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77000" y="2819400"/>
                <a:ext cx="634013" cy="369332"/>
              </a:xfrm>
              <a:prstGeom prst="rect">
                <a:avLst/>
              </a:prstGeom>
              <a:blipFill>
                <a:blip r:embed="rId4"/>
                <a:stretch>
                  <a:fillRect t="-10000" b="-23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文本框 40">
                <a:extLst>
                  <a:ext uri="{FF2B5EF4-FFF2-40B4-BE49-F238E27FC236}">
                    <a16:creationId xmlns:a16="http://schemas.microsoft.com/office/drawing/2014/main" id="{B89E1323-992F-6F47-969E-0FBEC8A2A56B}"/>
                  </a:ext>
                </a:extLst>
              </p:cNvPr>
              <p:cNvSpPr txBox="1"/>
              <p:nvPr/>
            </p:nvSpPr>
            <p:spPr>
              <a:xfrm>
                <a:off x="7034138" y="2161911"/>
                <a:ext cx="869554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dirty="0" err="1"/>
                  <a:t>i</a:t>
                </a:r>
                <a:r>
                  <a:rPr kumimoji="1" lang="zh-CN" altLang="en-US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zh-CN" altLang="en-US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↦ </m:t>
                    </m:r>
                  </m:oMath>
                </a14:m>
                <a:r>
                  <a:rPr kumimoji="1" lang="en-US" altLang="zh-CN" dirty="0"/>
                  <a:t>0</a:t>
                </a:r>
              </a:p>
              <a:p>
                <a:r>
                  <a:rPr kumimoji="1" lang="en-US" altLang="zh-CN" dirty="0"/>
                  <a:t>s</a:t>
                </a:r>
                <a:r>
                  <a:rPr kumimoji="1" lang="zh-CN" altLang="en-US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zh-CN" altLang="en-US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↦ </m:t>
                    </m:r>
                  </m:oMath>
                </a14:m>
                <a:r>
                  <a:rPr kumimoji="1" lang="en-US" altLang="zh-CN" dirty="0"/>
                  <a:t>0</a:t>
                </a:r>
              </a:p>
              <a:p>
                <a:r>
                  <a:rPr kumimoji="1" lang="en-US" altLang="zh-CN" dirty="0"/>
                  <a:t>n</a:t>
                </a:r>
                <a:r>
                  <a:rPr kumimoji="1" lang="zh-CN" altLang="en-US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zh-CN" altLang="en-US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↦ </m:t>
                    </m:r>
                  </m:oMath>
                </a14:m>
                <a:r>
                  <a:rPr kumimoji="1" lang="en-US" altLang="zh-CN" dirty="0"/>
                  <a:t>n</a:t>
                </a:r>
                <a:endParaRPr kumimoji="1" lang="zh-CN" altLang="en-US" dirty="0"/>
              </a:p>
            </p:txBody>
          </p:sp>
        </mc:Choice>
        <mc:Fallback xmlns="">
          <p:sp>
            <p:nvSpPr>
              <p:cNvPr id="41" name="文本框 40">
                <a:extLst>
                  <a:ext uri="{FF2B5EF4-FFF2-40B4-BE49-F238E27FC236}">
                    <a16:creationId xmlns:a16="http://schemas.microsoft.com/office/drawing/2014/main" id="{B89E1323-992F-6F47-969E-0FBEC8A2A5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34138" y="2161911"/>
                <a:ext cx="869554" cy="923330"/>
              </a:xfrm>
              <a:prstGeom prst="rect">
                <a:avLst/>
              </a:prstGeom>
              <a:blipFill>
                <a:blip r:embed="rId5"/>
                <a:stretch>
                  <a:fillRect l="-5797" t="-1351" b="-945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椭圆 24">
                <a:extLst>
                  <a:ext uri="{FF2B5EF4-FFF2-40B4-BE49-F238E27FC236}">
                    <a16:creationId xmlns:a16="http://schemas.microsoft.com/office/drawing/2014/main" id="{95EEC447-8970-4541-B749-3CD998892BEB}"/>
                  </a:ext>
                </a:extLst>
              </p:cNvPr>
              <p:cNvSpPr/>
              <p:nvPr/>
            </p:nvSpPr>
            <p:spPr>
              <a:xfrm>
                <a:off x="3657600" y="4252722"/>
                <a:ext cx="1038517" cy="47167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zh-CN" dirty="0" err="1">
                    <a:solidFill>
                      <a:schemeClr val="tx1"/>
                    </a:solidFill>
                  </a:rPr>
                  <a:t>i</a:t>
                </a:r>
                <a:r>
                  <a:rPr kumimoji="1" lang="en-US" altLang="zh-CN" dirty="0">
                    <a:solidFill>
                      <a:schemeClr val="tx1"/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zh-CN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 </m:t>
                    </m:r>
                  </m:oMath>
                </a14:m>
                <a:r>
                  <a:rPr kumimoji="1" lang="en-US" altLang="zh-CN" dirty="0">
                    <a:solidFill>
                      <a:schemeClr val="tx1"/>
                    </a:solidFill>
                  </a:rPr>
                  <a:t>n</a:t>
                </a:r>
                <a:endParaRPr kumimoji="1" lang="zh-CN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5" name="椭圆 24">
                <a:extLst>
                  <a:ext uri="{FF2B5EF4-FFF2-40B4-BE49-F238E27FC236}">
                    <a16:creationId xmlns:a16="http://schemas.microsoft.com/office/drawing/2014/main" id="{95EEC447-8970-4541-B749-3CD998892BE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57600" y="4252722"/>
                <a:ext cx="1038517" cy="471678"/>
              </a:xfrm>
              <a:prstGeom prst="ellipse">
                <a:avLst/>
              </a:prstGeom>
              <a:blipFill>
                <a:blip r:embed="rId6"/>
                <a:stretch>
                  <a:fillRect b="-769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8" name="直线箭头连接符 27">
            <a:extLst>
              <a:ext uri="{FF2B5EF4-FFF2-40B4-BE49-F238E27FC236}">
                <a16:creationId xmlns:a16="http://schemas.microsoft.com/office/drawing/2014/main" id="{9D881620-F5FF-5547-A626-52D7E9EA7822}"/>
              </a:ext>
            </a:extLst>
          </p:cNvPr>
          <p:cNvCxnSpPr>
            <a:cxnSpLocks/>
            <a:endCxn id="25" idx="7"/>
          </p:cNvCxnSpPr>
          <p:nvPr/>
        </p:nvCxnSpPr>
        <p:spPr>
          <a:xfrm flipH="1">
            <a:off x="4544030" y="3886200"/>
            <a:ext cx="332772" cy="43559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椭圆 29">
            <a:extLst>
              <a:ext uri="{FF2B5EF4-FFF2-40B4-BE49-F238E27FC236}">
                <a16:creationId xmlns:a16="http://schemas.microsoft.com/office/drawing/2014/main" id="{E5B06E46-6675-9A47-A3C5-AFBE3EDF7072}"/>
              </a:ext>
            </a:extLst>
          </p:cNvPr>
          <p:cNvSpPr/>
          <p:nvPr/>
        </p:nvSpPr>
        <p:spPr>
          <a:xfrm>
            <a:off x="5991956" y="4285456"/>
            <a:ext cx="809917" cy="47167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</a:rPr>
              <a:t>s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  <p:cxnSp>
        <p:nvCxnSpPr>
          <p:cNvPr id="32" name="直线箭头连接符 31">
            <a:extLst>
              <a:ext uri="{FF2B5EF4-FFF2-40B4-BE49-F238E27FC236}">
                <a16:creationId xmlns:a16="http://schemas.microsoft.com/office/drawing/2014/main" id="{52F59D97-F92A-4147-B782-FA0498CFD710}"/>
              </a:ext>
            </a:extLst>
          </p:cNvPr>
          <p:cNvCxnSpPr>
            <a:cxnSpLocks/>
            <a:endCxn id="30" idx="1"/>
          </p:cNvCxnSpPr>
          <p:nvPr/>
        </p:nvCxnSpPr>
        <p:spPr>
          <a:xfrm>
            <a:off x="5099893" y="3886200"/>
            <a:ext cx="1010673" cy="46833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文本框 32">
                <a:extLst>
                  <a:ext uri="{FF2B5EF4-FFF2-40B4-BE49-F238E27FC236}">
                    <a16:creationId xmlns:a16="http://schemas.microsoft.com/office/drawing/2014/main" id="{D4B50C6E-A53E-D640-A12A-047ED4930C92}"/>
                  </a:ext>
                </a:extLst>
              </p:cNvPr>
              <p:cNvSpPr txBox="1"/>
              <p:nvPr/>
            </p:nvSpPr>
            <p:spPr>
              <a:xfrm>
                <a:off x="5651154" y="3180669"/>
                <a:ext cx="1160613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dirty="0" err="1"/>
                  <a:t>i</a:t>
                </a:r>
                <a:r>
                  <a:rPr kumimoji="1" lang="zh-CN" altLang="en-US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zh-CN" altLang="en-US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↦ </m:t>
                    </m:r>
                  </m:oMath>
                </a14:m>
                <a:r>
                  <a:rPr kumimoji="1" lang="en-US" altLang="zh-CN" dirty="0"/>
                  <a:t>0+1</a:t>
                </a:r>
              </a:p>
              <a:p>
                <a:r>
                  <a:rPr kumimoji="1" lang="en-US" altLang="zh-CN" dirty="0"/>
                  <a:t>s</a:t>
                </a:r>
                <a:r>
                  <a:rPr kumimoji="1" lang="zh-CN" altLang="en-US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zh-CN" altLang="en-US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↦ </m:t>
                    </m:r>
                  </m:oMath>
                </a14:m>
                <a:r>
                  <a:rPr kumimoji="1" lang="en-US" altLang="zh-CN" dirty="0"/>
                  <a:t>0+0</a:t>
                </a:r>
              </a:p>
              <a:p>
                <a:r>
                  <a:rPr kumimoji="1" lang="en-US" altLang="zh-CN" dirty="0"/>
                  <a:t>n</a:t>
                </a:r>
                <a:r>
                  <a:rPr kumimoji="1" lang="zh-CN" altLang="en-US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zh-CN" altLang="en-US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↦ </m:t>
                    </m:r>
                  </m:oMath>
                </a14:m>
                <a:r>
                  <a:rPr kumimoji="1" lang="en-US" altLang="zh-CN" dirty="0"/>
                  <a:t>n</a:t>
                </a:r>
                <a:endParaRPr kumimoji="1" lang="zh-CN" altLang="en-US" dirty="0"/>
              </a:p>
            </p:txBody>
          </p:sp>
        </mc:Choice>
        <mc:Fallback xmlns="">
          <p:sp>
            <p:nvSpPr>
              <p:cNvPr id="33" name="文本框 32">
                <a:extLst>
                  <a:ext uri="{FF2B5EF4-FFF2-40B4-BE49-F238E27FC236}">
                    <a16:creationId xmlns:a16="http://schemas.microsoft.com/office/drawing/2014/main" id="{D4B50C6E-A53E-D640-A12A-047ED4930C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51154" y="3180669"/>
                <a:ext cx="1160613" cy="923330"/>
              </a:xfrm>
              <a:prstGeom prst="rect">
                <a:avLst/>
              </a:prstGeom>
              <a:blipFill>
                <a:blip r:embed="rId7"/>
                <a:stretch>
                  <a:fillRect l="-3261" t="-1351" b="-945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文本框 33">
            <a:extLst>
              <a:ext uri="{FF2B5EF4-FFF2-40B4-BE49-F238E27FC236}">
                <a16:creationId xmlns:a16="http://schemas.microsoft.com/office/drawing/2014/main" id="{33C89395-EFFC-CB4A-95A4-F0FF20503B86}"/>
              </a:ext>
            </a:extLst>
          </p:cNvPr>
          <p:cNvSpPr txBox="1"/>
          <p:nvPr/>
        </p:nvSpPr>
        <p:spPr>
          <a:xfrm>
            <a:off x="3657600" y="3969108"/>
            <a:ext cx="10385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>
                <a:solidFill>
                  <a:srgbClr val="FF0000"/>
                </a:solidFill>
              </a:rPr>
              <a:t>0+1 ≤ n</a:t>
            </a:r>
            <a:endParaRPr kumimoji="1" lang="zh-CN" altLang="en-US" dirty="0">
              <a:solidFill>
                <a:srgbClr val="FF0000"/>
              </a:solidFill>
            </a:endParaRPr>
          </a:p>
        </p:txBody>
      </p:sp>
      <p:cxnSp>
        <p:nvCxnSpPr>
          <p:cNvPr id="35" name="直线箭头连接符 34">
            <a:extLst>
              <a:ext uri="{FF2B5EF4-FFF2-40B4-BE49-F238E27FC236}">
                <a16:creationId xmlns:a16="http://schemas.microsoft.com/office/drawing/2014/main" id="{D8BF9897-E4D3-7448-B6A5-7E3F9FD5F280}"/>
              </a:ext>
            </a:extLst>
          </p:cNvPr>
          <p:cNvCxnSpPr>
            <a:cxnSpLocks/>
          </p:cNvCxnSpPr>
          <p:nvPr/>
        </p:nvCxnSpPr>
        <p:spPr>
          <a:xfrm flipH="1">
            <a:off x="3857402" y="4714150"/>
            <a:ext cx="332772" cy="43559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闪电形 35">
            <a:extLst>
              <a:ext uri="{FF2B5EF4-FFF2-40B4-BE49-F238E27FC236}">
                <a16:creationId xmlns:a16="http://schemas.microsoft.com/office/drawing/2014/main" id="{242FE372-ED56-A242-9676-84AD73A6EB54}"/>
              </a:ext>
            </a:extLst>
          </p:cNvPr>
          <p:cNvSpPr/>
          <p:nvPr/>
        </p:nvSpPr>
        <p:spPr>
          <a:xfrm>
            <a:off x="3476402" y="5185828"/>
            <a:ext cx="381000" cy="533400"/>
          </a:xfrm>
          <a:prstGeom prst="lightningBol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94AEA7A3-A897-BE48-B753-50C2445BAABC}"/>
              </a:ext>
            </a:extLst>
          </p:cNvPr>
          <p:cNvSpPr txBox="1"/>
          <p:nvPr/>
        </p:nvSpPr>
        <p:spPr>
          <a:xfrm>
            <a:off x="3124200" y="4733587"/>
            <a:ext cx="16792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>
                <a:solidFill>
                  <a:srgbClr val="FF0000"/>
                </a:solidFill>
              </a:rPr>
              <a:t>0+1+2 ≤ n</a:t>
            </a:r>
            <a:endParaRPr kumimoji="1" lang="zh-CN" altLang="en-US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文本框 38">
                <a:extLst>
                  <a:ext uri="{FF2B5EF4-FFF2-40B4-BE49-F238E27FC236}">
                    <a16:creationId xmlns:a16="http://schemas.microsoft.com/office/drawing/2014/main" id="{44DAB865-704B-3E4C-A5F7-826FDE2409AA}"/>
                  </a:ext>
                </a:extLst>
              </p:cNvPr>
              <p:cNvSpPr txBox="1"/>
              <p:nvPr/>
            </p:nvSpPr>
            <p:spPr>
              <a:xfrm>
                <a:off x="4696117" y="4130066"/>
                <a:ext cx="1963564" cy="7386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sz="1400" dirty="0" err="1"/>
                  <a:t>i</a:t>
                </a:r>
                <a:r>
                  <a:rPr kumimoji="1" lang="zh-CN" altLang="en-US" sz="14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zh-CN" altLang="en-US" sz="1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↦</m:t>
                    </m:r>
                  </m:oMath>
                </a14:m>
                <a:r>
                  <a:rPr kumimoji="1" lang="en-US" altLang="zh-CN" sz="1400" dirty="0"/>
                  <a:t> 0+1+2</a:t>
                </a:r>
              </a:p>
              <a:p>
                <a:r>
                  <a:rPr kumimoji="1" lang="en-US" altLang="zh-CN" sz="1400" dirty="0"/>
                  <a:t>s</a:t>
                </a:r>
                <a:r>
                  <a:rPr kumimoji="1" lang="zh-CN" altLang="en-US" sz="14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zh-CN" altLang="en-US" sz="1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↦ </m:t>
                    </m:r>
                  </m:oMath>
                </a14:m>
                <a:r>
                  <a:rPr kumimoji="1" lang="en-US" altLang="zh-CN" sz="1400" dirty="0"/>
                  <a:t>0+0+(0+1)</a:t>
                </a:r>
              </a:p>
              <a:p>
                <a:r>
                  <a:rPr kumimoji="1" lang="en-US" altLang="zh-CN" sz="1400" dirty="0"/>
                  <a:t>n</a:t>
                </a:r>
                <a:r>
                  <a:rPr kumimoji="1" lang="zh-CN" altLang="en-US" sz="14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zh-CN" altLang="en-US" sz="1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↦ </m:t>
                    </m:r>
                  </m:oMath>
                </a14:m>
                <a:r>
                  <a:rPr kumimoji="1" lang="en-US" altLang="zh-CN" sz="1400" dirty="0"/>
                  <a:t>n</a:t>
                </a:r>
                <a:endParaRPr kumimoji="1" lang="zh-CN" altLang="en-US" sz="1400" dirty="0"/>
              </a:p>
            </p:txBody>
          </p:sp>
        </mc:Choice>
        <mc:Fallback xmlns="">
          <p:sp>
            <p:nvSpPr>
              <p:cNvPr id="39" name="文本框 38">
                <a:extLst>
                  <a:ext uri="{FF2B5EF4-FFF2-40B4-BE49-F238E27FC236}">
                    <a16:creationId xmlns:a16="http://schemas.microsoft.com/office/drawing/2014/main" id="{44DAB865-704B-3E4C-A5F7-826FDE2409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96117" y="4130066"/>
                <a:ext cx="1963564" cy="738664"/>
              </a:xfrm>
              <a:prstGeom prst="rect">
                <a:avLst/>
              </a:prstGeom>
              <a:blipFill>
                <a:blip r:embed="rId8"/>
                <a:stretch>
                  <a:fillRect l="-645" b="-678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0" name="直线箭头连接符 39">
            <a:extLst>
              <a:ext uri="{FF2B5EF4-FFF2-40B4-BE49-F238E27FC236}">
                <a16:creationId xmlns:a16="http://schemas.microsoft.com/office/drawing/2014/main" id="{8329B451-21E5-D647-9518-894867F2BF50}"/>
              </a:ext>
            </a:extLst>
          </p:cNvPr>
          <p:cNvCxnSpPr>
            <a:cxnSpLocks/>
          </p:cNvCxnSpPr>
          <p:nvPr/>
        </p:nvCxnSpPr>
        <p:spPr>
          <a:xfrm>
            <a:off x="4518576" y="4648200"/>
            <a:ext cx="1010673" cy="46833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椭圆 42">
            <a:extLst>
              <a:ext uri="{FF2B5EF4-FFF2-40B4-BE49-F238E27FC236}">
                <a16:creationId xmlns:a16="http://schemas.microsoft.com/office/drawing/2014/main" id="{5E596844-45C6-114F-B333-D7BB9EB35971}"/>
              </a:ext>
            </a:extLst>
          </p:cNvPr>
          <p:cNvSpPr/>
          <p:nvPr/>
        </p:nvSpPr>
        <p:spPr>
          <a:xfrm>
            <a:off x="5486400" y="5014722"/>
            <a:ext cx="809917" cy="47167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</a:rPr>
              <a:t>s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  <p:sp>
        <p:nvSpPr>
          <p:cNvPr id="44" name="椭圆 43">
            <a:extLst>
              <a:ext uri="{FF2B5EF4-FFF2-40B4-BE49-F238E27FC236}">
                <a16:creationId xmlns:a16="http://schemas.microsoft.com/office/drawing/2014/main" id="{756AD190-11D9-2A41-B5CF-64351729FC83}"/>
              </a:ext>
            </a:extLst>
          </p:cNvPr>
          <p:cNvSpPr/>
          <p:nvPr/>
        </p:nvSpPr>
        <p:spPr>
          <a:xfrm>
            <a:off x="7293694" y="2993600"/>
            <a:ext cx="809917" cy="47167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</a:rPr>
              <a:t>s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9ABA6A18-BF51-384F-AF00-0EBC0CE4FCDE}"/>
              </a:ext>
            </a:extLst>
          </p:cNvPr>
          <p:cNvSpPr txBox="1"/>
          <p:nvPr/>
        </p:nvSpPr>
        <p:spPr>
          <a:xfrm>
            <a:off x="1339109" y="6118399"/>
            <a:ext cx="5181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No</a:t>
            </a:r>
            <a:r>
              <a:rPr kumimoji="1" lang="zh-CN" altLang="en-US" dirty="0"/>
              <a:t> </a:t>
            </a:r>
            <a:r>
              <a:rPr kumimoji="1" lang="en-US" altLang="zh-CN" dirty="0"/>
              <a:t>need</a:t>
            </a:r>
            <a:r>
              <a:rPr kumimoji="1" lang="zh-CN" altLang="en-US" dirty="0"/>
              <a:t> </a:t>
            </a:r>
            <a:r>
              <a:rPr kumimoji="1" lang="en-US" altLang="zh-CN" dirty="0"/>
              <a:t>to</a:t>
            </a:r>
            <a:r>
              <a:rPr kumimoji="1" lang="zh-CN" altLang="en-US" dirty="0"/>
              <a:t> </a:t>
            </a:r>
            <a:r>
              <a:rPr kumimoji="1" lang="en-US" altLang="zh-CN" dirty="0"/>
              <a:t>finitize</a:t>
            </a:r>
            <a:r>
              <a:rPr kumimoji="1" lang="zh-CN" altLang="en-US" dirty="0"/>
              <a:t> </a:t>
            </a:r>
            <a:r>
              <a:rPr kumimoji="1" lang="en-US" altLang="zh-CN" dirty="0"/>
              <a:t>the</a:t>
            </a:r>
            <a:r>
              <a:rPr kumimoji="1" lang="zh-CN" altLang="en-US" dirty="0"/>
              <a:t> </a:t>
            </a:r>
            <a:r>
              <a:rPr kumimoji="1" lang="en-US" altLang="zh-CN" dirty="0"/>
              <a:t>loops.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183778119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83B1A98-5D2E-F84C-8A75-A8FC62CA10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#3: Environment modeling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EA67DCE-2389-6343-AFC1-54E1B9454D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//</a:t>
            </a:r>
            <a:r>
              <a: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lib()</a:t>
            </a:r>
            <a:r>
              <a: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is</a:t>
            </a:r>
            <a:r>
              <a: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library</a:t>
            </a:r>
            <a:r>
              <a: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function:</a:t>
            </a:r>
          </a:p>
          <a:p>
            <a:pPr marL="0" indent="0">
              <a:buNone/>
            </a:pPr>
            <a:r>
              <a:rPr kumimoji="1" lang="en-US" altLang="zh-CN" sz="2000" b="1" dirty="0" err="1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foo(</a:t>
            </a:r>
            <a:r>
              <a:rPr kumimoji="1" lang="en-US" altLang="zh-CN" sz="2000" b="1" dirty="0" err="1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n){</a:t>
            </a:r>
          </a:p>
          <a:p>
            <a:pPr marL="0" indent="0">
              <a:buNone/>
            </a:pP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if(e){</a:t>
            </a:r>
          </a:p>
          <a:p>
            <a:pPr marL="0" indent="0">
              <a:buNone/>
            </a:pP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x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lib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(n);</a:t>
            </a:r>
          </a:p>
          <a:p>
            <a:pPr marL="0" indent="0">
              <a:buNone/>
            </a:pP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}else{</a:t>
            </a:r>
          </a:p>
          <a:p>
            <a:pPr marL="0" indent="0">
              <a:buNone/>
            </a:pP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*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n-4;</a:t>
            </a:r>
          </a:p>
          <a:p>
            <a:pPr marL="0" indent="0">
              <a:buNone/>
            </a:pP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>
              <a:buNone/>
            </a:pP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return 1/x;</a:t>
            </a:r>
          </a:p>
          <a:p>
            <a:pPr marL="0" indent="0">
              <a:buNone/>
            </a:pP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97711026-C053-4649-A693-302DE3A71D19}"/>
              </a:ext>
            </a:extLst>
          </p:cNvPr>
          <p:cNvSpPr/>
          <p:nvPr/>
        </p:nvSpPr>
        <p:spPr>
          <a:xfrm>
            <a:off x="5592261" y="2438400"/>
            <a:ext cx="1168537" cy="47167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</a:rPr>
              <a:t>e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68B10703-3303-AB4C-B3C6-E57135DCCD3B}"/>
              </a:ext>
            </a:extLst>
          </p:cNvPr>
          <p:cNvSpPr/>
          <p:nvPr/>
        </p:nvSpPr>
        <p:spPr>
          <a:xfrm>
            <a:off x="4739913" y="3299903"/>
            <a:ext cx="852348" cy="47167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</a:rPr>
              <a:t>lib()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  <p:cxnSp>
        <p:nvCxnSpPr>
          <p:cNvPr id="7" name="直线箭头连接符 6">
            <a:extLst>
              <a:ext uri="{FF2B5EF4-FFF2-40B4-BE49-F238E27FC236}">
                <a16:creationId xmlns:a16="http://schemas.microsoft.com/office/drawing/2014/main" id="{A61DF5BE-6E2D-5D4C-9AC1-1E544ED28970}"/>
              </a:ext>
            </a:extLst>
          </p:cNvPr>
          <p:cNvCxnSpPr>
            <a:cxnSpLocks/>
            <a:endCxn id="5" idx="7"/>
          </p:cNvCxnSpPr>
          <p:nvPr/>
        </p:nvCxnSpPr>
        <p:spPr>
          <a:xfrm flipH="1">
            <a:off x="5467438" y="2910078"/>
            <a:ext cx="416732" cy="45890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线箭头连接符 7">
            <a:extLst>
              <a:ext uri="{FF2B5EF4-FFF2-40B4-BE49-F238E27FC236}">
                <a16:creationId xmlns:a16="http://schemas.microsoft.com/office/drawing/2014/main" id="{C830BFE5-3832-D740-A1C1-D75E8D54637E}"/>
              </a:ext>
            </a:extLst>
          </p:cNvPr>
          <p:cNvCxnSpPr>
            <a:cxnSpLocks/>
            <a:stCxn id="4" idx="5"/>
            <a:endCxn id="42" idx="1"/>
          </p:cNvCxnSpPr>
          <p:nvPr/>
        </p:nvCxnSpPr>
        <p:spPr>
          <a:xfrm>
            <a:off x="6589670" y="2841002"/>
            <a:ext cx="650673" cy="58069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EB0E44DE-0BAA-F04C-A2FF-9C4DC1932F25}"/>
              </a:ext>
            </a:extLst>
          </p:cNvPr>
          <p:cNvSpPr txBox="1"/>
          <p:nvPr/>
        </p:nvSpPr>
        <p:spPr>
          <a:xfrm>
            <a:off x="5280118" y="2930571"/>
            <a:ext cx="3121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>
                <a:solidFill>
                  <a:srgbClr val="FF0000"/>
                </a:solidFill>
              </a:rPr>
              <a:t>e</a:t>
            </a:r>
            <a:endParaRPr kumimoji="1" lang="zh-CN" altLang="en-US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文本框 28">
                <a:extLst>
                  <a:ext uri="{FF2B5EF4-FFF2-40B4-BE49-F238E27FC236}">
                    <a16:creationId xmlns:a16="http://schemas.microsoft.com/office/drawing/2014/main" id="{D56240FF-C7B4-094F-B010-FAA194EEB6A8}"/>
                  </a:ext>
                </a:extLst>
              </p:cNvPr>
              <p:cNvSpPr txBox="1"/>
              <p:nvPr/>
            </p:nvSpPr>
            <p:spPr>
              <a:xfrm>
                <a:off x="6956518" y="2877812"/>
                <a:ext cx="81588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kumimoji="1" lang="en-US" altLang="zh-CN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¬</m:t>
                    </m:r>
                  </m:oMath>
                </a14:m>
                <a:r>
                  <a:rPr kumimoji="1" lang="en-US" altLang="zh-CN" dirty="0">
                    <a:solidFill>
                      <a:srgbClr val="FF0000"/>
                    </a:solidFill>
                  </a:rPr>
                  <a:t>e</a:t>
                </a:r>
                <a:endParaRPr kumimoji="1" lang="zh-CN" alt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9" name="文本框 28">
                <a:extLst>
                  <a:ext uri="{FF2B5EF4-FFF2-40B4-BE49-F238E27FC236}">
                    <a16:creationId xmlns:a16="http://schemas.microsoft.com/office/drawing/2014/main" id="{D56240FF-C7B4-094F-B010-FAA194EEB6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56518" y="2877812"/>
                <a:ext cx="815882" cy="369332"/>
              </a:xfrm>
              <a:prstGeom prst="rect">
                <a:avLst/>
              </a:prstGeom>
              <a:blipFill>
                <a:blip r:embed="rId2"/>
                <a:stretch>
                  <a:fillRect t="-6667" b="-2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2" name="椭圆 41">
            <a:extLst>
              <a:ext uri="{FF2B5EF4-FFF2-40B4-BE49-F238E27FC236}">
                <a16:creationId xmlns:a16="http://schemas.microsoft.com/office/drawing/2014/main" id="{7D1506A3-F2C4-1D43-8AFF-E1364CA65E78}"/>
              </a:ext>
            </a:extLst>
          </p:cNvPr>
          <p:cNvSpPr/>
          <p:nvPr/>
        </p:nvSpPr>
        <p:spPr>
          <a:xfrm>
            <a:off x="7121733" y="3352618"/>
            <a:ext cx="809917" cy="47167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</a:rPr>
              <a:t>...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D46F0EB5-86BA-B740-8126-303CF863F19E}"/>
              </a:ext>
            </a:extLst>
          </p:cNvPr>
          <p:cNvSpPr txBox="1"/>
          <p:nvPr/>
        </p:nvSpPr>
        <p:spPr>
          <a:xfrm>
            <a:off x="4169998" y="4364779"/>
            <a:ext cx="478509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If</a:t>
            </a:r>
            <a:r>
              <a:rPr kumimoji="1" lang="zh-CN" altLang="en-US" dirty="0"/>
              <a:t> </a:t>
            </a:r>
            <a:r>
              <a:rPr kumimoji="1" lang="en-US" altLang="zh-CN" dirty="0"/>
              <a:t>we</a:t>
            </a:r>
            <a:r>
              <a:rPr kumimoji="1" lang="zh-CN" altLang="en-US" dirty="0"/>
              <a:t> </a:t>
            </a:r>
            <a:r>
              <a:rPr kumimoji="1" lang="en-US" altLang="zh-CN" dirty="0"/>
              <a:t>don’t</a:t>
            </a:r>
            <a:r>
              <a:rPr kumimoji="1" lang="zh-CN" altLang="en-US" dirty="0"/>
              <a:t> </a:t>
            </a:r>
            <a:r>
              <a:rPr kumimoji="1" lang="en-US" altLang="zh-CN" dirty="0"/>
              <a:t>establish</a:t>
            </a:r>
            <a:r>
              <a:rPr kumimoji="1" lang="zh-CN" altLang="en-US" dirty="0"/>
              <a:t> </a:t>
            </a:r>
            <a:r>
              <a:rPr kumimoji="1" lang="en-US" altLang="zh-CN" dirty="0"/>
              <a:t>a</a:t>
            </a:r>
            <a:r>
              <a:rPr kumimoji="1" lang="zh-CN" altLang="en-US" dirty="0"/>
              <a:t> </a:t>
            </a:r>
            <a:r>
              <a:rPr kumimoji="1" lang="en-US" altLang="zh-CN" dirty="0"/>
              <a:t>symbolic</a:t>
            </a:r>
            <a:r>
              <a:rPr kumimoji="1" lang="zh-CN" altLang="en-US" dirty="0"/>
              <a:t> </a:t>
            </a:r>
            <a:r>
              <a:rPr kumimoji="1" lang="en-US" altLang="zh-CN" dirty="0"/>
              <a:t>model</a:t>
            </a:r>
            <a:r>
              <a:rPr kumimoji="1" lang="zh-CN" altLang="en-US" dirty="0"/>
              <a:t> </a:t>
            </a:r>
            <a:r>
              <a:rPr kumimoji="1" lang="en-US" altLang="zh-CN" dirty="0"/>
              <a:t>for</a:t>
            </a:r>
            <a:r>
              <a:rPr kumimoji="1" lang="zh-CN" altLang="en-US" dirty="0"/>
              <a:t> </a:t>
            </a:r>
            <a:r>
              <a:rPr kumimoji="1" lang="en-US" altLang="zh-CN" dirty="0"/>
              <a:t>the</a:t>
            </a:r>
            <a:r>
              <a:rPr kumimoji="1" lang="zh-CN" altLang="en-US" dirty="0"/>
              <a:t> </a:t>
            </a:r>
            <a:r>
              <a:rPr kumimoji="1" lang="en-US" altLang="zh-CN" dirty="0"/>
              <a:t>“lib()”</a:t>
            </a:r>
            <a:r>
              <a:rPr kumimoji="1" lang="zh-CN" altLang="en-US" dirty="0"/>
              <a:t> </a:t>
            </a:r>
            <a:r>
              <a:rPr kumimoji="1" lang="en-US" altLang="zh-CN" dirty="0"/>
              <a:t>function,</a:t>
            </a:r>
            <a:r>
              <a:rPr kumimoji="1" lang="zh-CN" altLang="en-US" dirty="0"/>
              <a:t> </a:t>
            </a:r>
            <a:r>
              <a:rPr kumimoji="1" lang="en-US" altLang="zh-CN" dirty="0"/>
              <a:t>we</a:t>
            </a:r>
            <a:r>
              <a:rPr kumimoji="1" lang="zh-CN" altLang="en-US" dirty="0"/>
              <a:t> </a:t>
            </a:r>
            <a:r>
              <a:rPr kumimoji="1" lang="en-US" altLang="zh-CN" dirty="0"/>
              <a:t>cannot</a:t>
            </a:r>
            <a:r>
              <a:rPr kumimoji="1" lang="zh-CN" altLang="en-US" dirty="0"/>
              <a:t> </a:t>
            </a:r>
            <a:r>
              <a:rPr kumimoji="1" lang="en-US" altLang="zh-CN" dirty="0"/>
              <a:t>symbolic</a:t>
            </a:r>
            <a:r>
              <a:rPr kumimoji="1" lang="zh-CN" altLang="en-US" dirty="0"/>
              <a:t> </a:t>
            </a:r>
            <a:r>
              <a:rPr kumimoji="1" lang="en-US" altLang="zh-CN" dirty="0"/>
              <a:t>check</a:t>
            </a:r>
            <a:r>
              <a:rPr kumimoji="1" lang="zh-CN" altLang="en-US" dirty="0"/>
              <a:t> </a:t>
            </a:r>
            <a:r>
              <a:rPr kumimoji="1" lang="en-US" altLang="zh-CN" dirty="0"/>
              <a:t>the</a:t>
            </a:r>
            <a:r>
              <a:rPr kumimoji="1" lang="zh-CN" altLang="en-US" dirty="0"/>
              <a:t> </a:t>
            </a:r>
            <a:r>
              <a:rPr kumimoji="1" lang="en-US" altLang="zh-CN" dirty="0"/>
              <a:t>true</a:t>
            </a:r>
            <a:r>
              <a:rPr kumimoji="1" lang="zh-CN" altLang="en-US" dirty="0"/>
              <a:t> </a:t>
            </a:r>
            <a:r>
              <a:rPr kumimoji="1" lang="en-US" altLang="zh-CN" dirty="0"/>
              <a:t>branch.</a:t>
            </a:r>
          </a:p>
          <a:p>
            <a:r>
              <a:rPr kumimoji="1" lang="en-US" altLang="zh-CN" dirty="0"/>
              <a:t>But</a:t>
            </a:r>
            <a:r>
              <a:rPr kumimoji="1" lang="zh-CN" altLang="en-US" dirty="0"/>
              <a:t> </a:t>
            </a:r>
            <a:r>
              <a:rPr kumimoji="1" lang="en-US" altLang="zh-CN" dirty="0"/>
              <a:t>we</a:t>
            </a:r>
            <a:r>
              <a:rPr kumimoji="1" lang="zh-CN" altLang="en-US" dirty="0"/>
              <a:t> </a:t>
            </a:r>
            <a:r>
              <a:rPr kumimoji="1" lang="en-US" altLang="zh-CN" dirty="0"/>
              <a:t>can</a:t>
            </a:r>
            <a:r>
              <a:rPr kumimoji="1" lang="zh-CN" altLang="en-US" dirty="0"/>
              <a:t> </a:t>
            </a:r>
            <a:r>
              <a:rPr kumimoji="1" lang="en-US" altLang="zh-CN" dirty="0"/>
              <a:t>still</a:t>
            </a:r>
            <a:r>
              <a:rPr kumimoji="1" lang="zh-CN" altLang="en-US" dirty="0"/>
              <a:t> </a:t>
            </a:r>
            <a:r>
              <a:rPr kumimoji="1" lang="en-US" altLang="zh-CN" dirty="0"/>
              <a:t>concolic</a:t>
            </a:r>
            <a:r>
              <a:rPr kumimoji="1" lang="zh-CN" altLang="en-US" dirty="0"/>
              <a:t> </a:t>
            </a:r>
            <a:r>
              <a:rPr kumimoji="1" lang="en-US" altLang="zh-CN" dirty="0"/>
              <a:t>executes</a:t>
            </a:r>
            <a:r>
              <a:rPr kumimoji="1" lang="zh-CN" altLang="en-US" dirty="0"/>
              <a:t> </a:t>
            </a:r>
            <a:r>
              <a:rPr kumimoji="1" lang="en-US" altLang="zh-CN" dirty="0"/>
              <a:t>that</a:t>
            </a:r>
            <a:r>
              <a:rPr kumimoji="1" lang="zh-CN" altLang="en-US" dirty="0"/>
              <a:t> </a:t>
            </a:r>
            <a:r>
              <a:rPr kumimoji="1" lang="en-US" altLang="zh-CN" dirty="0"/>
              <a:t>branch!</a:t>
            </a:r>
          </a:p>
          <a:p>
            <a:r>
              <a:rPr kumimoji="1" lang="en-US" altLang="zh-CN" dirty="0"/>
              <a:t>So</a:t>
            </a:r>
            <a:r>
              <a:rPr kumimoji="1" lang="zh-CN" altLang="en-US" dirty="0"/>
              <a:t> </a:t>
            </a:r>
            <a:r>
              <a:rPr kumimoji="1" lang="en-US" altLang="zh-CN" dirty="0"/>
              <a:t>the</a:t>
            </a:r>
            <a:r>
              <a:rPr kumimoji="1" lang="zh-CN" altLang="en-US" dirty="0"/>
              <a:t> </a:t>
            </a:r>
            <a:r>
              <a:rPr kumimoji="1" lang="en-US" altLang="zh-CN" dirty="0"/>
              <a:t>symbolic</a:t>
            </a:r>
            <a:r>
              <a:rPr kumimoji="1" lang="zh-CN" altLang="en-US" dirty="0"/>
              <a:t> </a:t>
            </a:r>
            <a:r>
              <a:rPr kumimoji="1" lang="en-US" altLang="zh-CN" dirty="0"/>
              <a:t>model</a:t>
            </a:r>
            <a:r>
              <a:rPr kumimoji="1" lang="zh-CN" altLang="en-US" dirty="0"/>
              <a:t> </a:t>
            </a:r>
            <a:r>
              <a:rPr kumimoji="1" lang="en-US" altLang="zh-CN" dirty="0"/>
              <a:t>for</a:t>
            </a:r>
            <a:r>
              <a:rPr kumimoji="1" lang="zh-CN" altLang="en-US" dirty="0"/>
              <a:t> </a:t>
            </a:r>
            <a:r>
              <a:rPr kumimoji="1" lang="en-US" altLang="zh-CN" dirty="0"/>
              <a:t>the</a:t>
            </a:r>
            <a:r>
              <a:rPr kumimoji="1" lang="zh-CN" altLang="en-US" dirty="0"/>
              <a:t> </a:t>
            </a:r>
            <a:r>
              <a:rPr kumimoji="1" lang="en-US" altLang="zh-CN" dirty="0"/>
              <a:t>environment</a:t>
            </a:r>
            <a:r>
              <a:rPr kumimoji="1" lang="zh-CN" altLang="en-US" dirty="0"/>
              <a:t> </a:t>
            </a:r>
            <a:r>
              <a:rPr kumimoji="1" lang="en-US" altLang="zh-CN" dirty="0"/>
              <a:t>is</a:t>
            </a:r>
            <a:r>
              <a:rPr kumimoji="1" lang="zh-CN" altLang="en-US" dirty="0"/>
              <a:t> </a:t>
            </a:r>
            <a:r>
              <a:rPr kumimoji="1" lang="en-US" altLang="zh-CN" dirty="0"/>
              <a:t>just</a:t>
            </a:r>
            <a:r>
              <a:rPr kumimoji="1" lang="zh-CN" altLang="en-US" dirty="0"/>
              <a:t> </a:t>
            </a:r>
            <a:r>
              <a:rPr kumimoji="1" lang="en-US" altLang="zh-CN" dirty="0"/>
              <a:t>to</a:t>
            </a:r>
            <a:r>
              <a:rPr kumimoji="1" lang="zh-CN" altLang="en-US" dirty="0"/>
              <a:t> </a:t>
            </a:r>
            <a:r>
              <a:rPr kumimoji="1" lang="en-US" altLang="zh-CN" dirty="0"/>
              <a:t>improve</a:t>
            </a:r>
            <a:r>
              <a:rPr kumimoji="1" lang="zh-CN" altLang="en-US" dirty="0"/>
              <a:t> </a:t>
            </a:r>
            <a:r>
              <a:rPr kumimoji="1" lang="en-US" altLang="zh-CN" dirty="0"/>
              <a:t>the</a:t>
            </a:r>
            <a:r>
              <a:rPr kumimoji="1" lang="zh-CN" altLang="en-US" dirty="0"/>
              <a:t> </a:t>
            </a:r>
            <a:r>
              <a:rPr kumimoji="1" lang="en-US" altLang="zh-CN" dirty="0"/>
              <a:t>precision!</a:t>
            </a:r>
          </a:p>
        </p:txBody>
      </p:sp>
    </p:spTree>
    <p:extLst>
      <p:ext uri="{BB962C8B-B14F-4D97-AF65-F5344CB8AC3E}">
        <p14:creationId xmlns:p14="http://schemas.microsoft.com/office/powerpoint/2010/main" val="3446527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29" grpId="0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AE43C3-9368-E4B7-7C0C-AED1B3AAF4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E3CEDB2-7DE8-6F44-257F-F250A121AF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 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0970232-D558-B2B4-ABED-1447F83924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kumimoji="1" lang="en-US" altLang="zh-CN" dirty="0"/>
          </a:p>
          <a:p>
            <a:pPr marL="0" indent="0">
              <a:buNone/>
            </a:pPr>
            <a:endParaRPr kumimoji="1" lang="en-US" altLang="zh-CN" dirty="0"/>
          </a:p>
          <a:p>
            <a:pPr marL="0" indent="0" algn="ctr">
              <a:buNone/>
            </a:pPr>
            <a:r>
              <a:rPr kumimoji="1" lang="en-US" altLang="zh-CN" i="1" dirty="0"/>
              <a:t>Practical</a:t>
            </a:r>
            <a:r>
              <a:rPr kumimoji="1" lang="zh-CN" altLang="en-US" i="1" dirty="0"/>
              <a:t> </a:t>
            </a:r>
            <a:r>
              <a:rPr kumimoji="1" lang="en-US" altLang="zh-CN" i="1" dirty="0"/>
              <a:t>Concolic</a:t>
            </a:r>
            <a:r>
              <a:rPr kumimoji="1" lang="zh-CN" altLang="en-US" i="1" dirty="0"/>
              <a:t> </a:t>
            </a:r>
            <a:r>
              <a:rPr kumimoji="1" lang="en-US" altLang="zh-CN" i="1" dirty="0"/>
              <a:t>Execution</a:t>
            </a:r>
            <a:endParaRPr kumimoji="1" lang="zh-CN" altLang="en-US" i="1" dirty="0"/>
          </a:p>
        </p:txBody>
      </p:sp>
    </p:spTree>
    <p:extLst>
      <p:ext uri="{BB962C8B-B14F-4D97-AF65-F5344CB8AC3E}">
        <p14:creationId xmlns:p14="http://schemas.microsoft.com/office/powerpoint/2010/main" val="1873717906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6C7A51-41C4-D9D0-9834-67F4912AF7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0FACA77-E612-B41E-1FB6-588F871CBD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Demos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FFB3F01-7DA2-F794-BD88-E85EAF2A65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/>
              <a:t>See</a:t>
            </a:r>
            <a:r>
              <a:rPr kumimoji="1" lang="zh-CN" altLang="en-US" dirty="0"/>
              <a:t> </a:t>
            </a:r>
            <a:r>
              <a:rPr kumimoji="1" lang="en-US" altLang="zh-CN" dirty="0"/>
              <a:t>the</a:t>
            </a:r>
            <a:r>
              <a:rPr kumimoji="1" lang="zh-CN" altLang="en-US" dirty="0"/>
              <a:t> </a:t>
            </a:r>
            <a:r>
              <a:rPr kumimoji="1" lang="en-US" altLang="zh-CN" dirty="0"/>
              <a:t>demo</a:t>
            </a:r>
            <a:r>
              <a:rPr kumimoji="1" lang="zh-CN" altLang="en-US" dirty="0"/>
              <a:t> </a:t>
            </a:r>
            <a:r>
              <a:rPr kumimoji="1" lang="en-US" altLang="zh-CN" dirty="0"/>
              <a:t>for</a:t>
            </a:r>
            <a:r>
              <a:rPr kumimoji="1" lang="zh-CN" altLang="en-US" dirty="0"/>
              <a:t> </a:t>
            </a:r>
            <a:r>
              <a:rPr kumimoji="1" lang="en-US" altLang="zh-CN" dirty="0" err="1"/>
              <a:t>PathCrawler</a:t>
            </a:r>
            <a:r>
              <a:rPr kumimoji="1" lang="en-US" altLang="zh-CN" dirty="0"/>
              <a:t> (for C):</a:t>
            </a:r>
          </a:p>
          <a:p>
            <a:pPr lvl="1"/>
            <a:r>
              <a:rPr kumimoji="1" lang="en" altLang="zh-CN" dirty="0">
                <a:hlinkClick r:id="rId2"/>
              </a:rPr>
              <a:t>http://pathcrawler-online.com:8080/doWelcome</a:t>
            </a:r>
            <a:endParaRPr kumimoji="1" lang="en" altLang="zh-CN" dirty="0"/>
          </a:p>
          <a:p>
            <a:r>
              <a:rPr kumimoji="1" lang="en-US" altLang="zh-CN" dirty="0"/>
              <a:t>And those for </a:t>
            </a:r>
            <a:r>
              <a:rPr kumimoji="1" lang="en-US" altLang="zh-CN" dirty="0" err="1"/>
              <a:t>PathFinder</a:t>
            </a:r>
            <a:r>
              <a:rPr kumimoji="1" lang="en-US" altLang="zh-CN" dirty="0"/>
              <a:t> (for Java):</a:t>
            </a:r>
          </a:p>
          <a:p>
            <a:pPr lvl="1"/>
            <a:r>
              <a:rPr kumimoji="1" lang="en" altLang="zh-CN" dirty="0">
                <a:hlinkClick r:id="rId3"/>
              </a:rPr>
              <a:t>https://github.com/javapathfinder</a:t>
            </a:r>
            <a:endParaRPr kumimoji="1" lang="en" altLang="zh-CN" dirty="0"/>
          </a:p>
        </p:txBody>
      </p:sp>
    </p:spTree>
    <p:extLst>
      <p:ext uri="{BB962C8B-B14F-4D97-AF65-F5344CB8AC3E}">
        <p14:creationId xmlns:p14="http://schemas.microsoft.com/office/powerpoint/2010/main" val="2310617233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D7235E0-2140-1443-8812-35B3F42FD7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Summary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5F1CB86-007F-444F-B16D-27C3981527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/>
              <a:t>Symbolic execution is a powerful technique for program testing</a:t>
            </a:r>
            <a:r>
              <a:rPr kumimoji="1" lang="zh-CN" altLang="en-US" dirty="0"/>
              <a:t> </a:t>
            </a:r>
            <a:r>
              <a:rPr kumimoji="1" lang="en-US" altLang="zh-CN" dirty="0"/>
              <a:t>and</a:t>
            </a:r>
            <a:r>
              <a:rPr kumimoji="1" lang="zh-CN" altLang="en-US" dirty="0"/>
              <a:t> </a:t>
            </a:r>
            <a:r>
              <a:rPr kumimoji="1" lang="en-US" altLang="zh-CN" dirty="0"/>
              <a:t>automatic test</a:t>
            </a:r>
            <a:r>
              <a:rPr kumimoji="1" lang="zh-CN" altLang="en-US" dirty="0"/>
              <a:t> </a:t>
            </a:r>
            <a:r>
              <a:rPr kumimoji="1" lang="en-US" altLang="zh-CN" dirty="0"/>
              <a:t>generation</a:t>
            </a:r>
          </a:p>
          <a:p>
            <a:r>
              <a:rPr kumimoji="1" lang="en-US" altLang="zh-CN" dirty="0"/>
              <a:t>The direct implementation is non-trivial:</a:t>
            </a:r>
          </a:p>
          <a:p>
            <a:pPr lvl="1"/>
            <a:r>
              <a:rPr kumimoji="1" lang="en-US" altLang="zh-CN" dirty="0"/>
              <a:t>many</a:t>
            </a:r>
            <a:r>
              <a:rPr kumimoji="1" lang="zh-CN" altLang="en-US" dirty="0"/>
              <a:t> </a:t>
            </a:r>
            <a:r>
              <a:rPr kumimoji="1" lang="en-US" altLang="zh-CN" dirty="0"/>
              <a:t>improvements (variants) for symbolic executors</a:t>
            </a:r>
            <a:r>
              <a:rPr kumimoji="1" lang="zh-CN" altLang="en-US" dirty="0"/>
              <a:t> </a:t>
            </a:r>
            <a:r>
              <a:rPr kumimoji="1" lang="en-US" altLang="zh-CN" dirty="0"/>
              <a:t>(e.g.,</a:t>
            </a:r>
            <a:r>
              <a:rPr kumimoji="1" lang="zh-CN" altLang="en-US" dirty="0"/>
              <a:t> </a:t>
            </a:r>
            <a:r>
              <a:rPr kumimoji="1" lang="en-US" altLang="zh-CN" dirty="0"/>
              <a:t>concolic</a:t>
            </a:r>
            <a:r>
              <a:rPr kumimoji="1" lang="zh-CN" altLang="en-US" dirty="0"/>
              <a:t> </a:t>
            </a:r>
            <a:r>
              <a:rPr kumimoji="1" lang="en-US" altLang="zh-CN" dirty="0"/>
              <a:t>execution)</a:t>
            </a:r>
          </a:p>
          <a:p>
            <a:pPr lvl="1"/>
            <a:r>
              <a:rPr kumimoji="1" lang="en-US" altLang="zh-CN" dirty="0"/>
              <a:t>may be more practical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38291830"/>
      </p:ext>
    </p:extLst>
  </p:cSld>
  <p:clrMapOvr>
    <a:masterClrMapping/>
  </p:clrMapOvr>
</p:sld>
</file>

<file path=ppt/theme/theme1.xml><?xml version="1.0" encoding="utf-8"?>
<a:theme xmlns:a="http://schemas.openxmlformats.org/drawingml/2006/main" name="Blends">
  <a:themeElements>
    <a:clrScheme name="Blends 3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Tahoma"/>
        <a:ea typeface="宋体"/>
        <a:cs typeface=""/>
      </a:majorFont>
      <a:minorFont>
        <a:latin typeface="Tahom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</a:spPr>
      <a:bodyPr rtlCol="0" anchor="ctr"/>
      <a:lstStyle>
        <a:defPPr algn="ctr">
          <a:defRPr kumimoji="1" dirty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Blends</Template>
  <TotalTime>34078</TotalTime>
  <Words>6232</Words>
  <Application>Microsoft Macintosh PowerPoint</Application>
  <PresentationFormat>全屏显示(4:3)</PresentationFormat>
  <Paragraphs>1464</Paragraphs>
  <Slides>80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80</vt:i4>
      </vt:variant>
    </vt:vector>
  </HeadingPairs>
  <TitlesOfParts>
    <vt:vector size="86" baseType="lpstr">
      <vt:lpstr>Arial</vt:lpstr>
      <vt:lpstr>Cambria Math</vt:lpstr>
      <vt:lpstr>Courier New</vt:lpstr>
      <vt:lpstr>Tahoma</vt:lpstr>
      <vt:lpstr>Wingdings</vt:lpstr>
      <vt:lpstr>Blends</vt:lpstr>
      <vt:lpstr>Symbolic execution</vt:lpstr>
      <vt:lpstr>Spectrum of program validation methods</vt:lpstr>
      <vt:lpstr>Why program testing may not work?</vt:lpstr>
      <vt:lpstr>Does white box strategy work?</vt:lpstr>
      <vt:lpstr>Program testing in general</vt:lpstr>
      <vt:lpstr>Automatic test generation</vt:lpstr>
      <vt:lpstr> </vt:lpstr>
      <vt:lpstr>Brief History</vt:lpstr>
      <vt:lpstr>Symbolic execution</vt:lpstr>
      <vt:lpstr>Symbolic execution</vt:lpstr>
      <vt:lpstr>Symbolic execution</vt:lpstr>
      <vt:lpstr>Symbolic execution</vt:lpstr>
      <vt:lpstr>Symbolic execution</vt:lpstr>
      <vt:lpstr>Symbolic execution</vt:lpstr>
      <vt:lpstr>Symbolic execution</vt:lpstr>
      <vt:lpstr>Architecture</vt:lpstr>
      <vt:lpstr>The general form</vt:lpstr>
      <vt:lpstr>Process &amp; Forking</vt:lpstr>
      <vt:lpstr>Example</vt:lpstr>
      <vt:lpstr>Example</vt:lpstr>
      <vt:lpstr>Example</vt:lpstr>
      <vt:lpstr>Example</vt:lpstr>
      <vt:lpstr> </vt:lpstr>
      <vt:lpstr>CrossHair</vt:lpstr>
      <vt:lpstr>Example #1: the program Step #1: symbolic execution</vt:lpstr>
      <vt:lpstr>Example #1: the program Step #2: Test Generation</vt:lpstr>
      <vt:lpstr>Example #1: the program Step #3: Test replay</vt:lpstr>
      <vt:lpstr>Example #2: bug detection</vt:lpstr>
      <vt:lpstr>Case #3: crack password</vt:lpstr>
      <vt:lpstr>Case #4: vulnerability</vt:lpstr>
      <vt:lpstr>Summary for CrossHair</vt:lpstr>
      <vt:lpstr> </vt:lpstr>
      <vt:lpstr>Klee</vt:lpstr>
      <vt:lpstr>Klee, cont’</vt:lpstr>
      <vt:lpstr>Case #1: the program Step #1: symbolic execution</vt:lpstr>
      <vt:lpstr>Step #2: error detection</vt:lpstr>
      <vt:lpstr>Step #3: tests generation</vt:lpstr>
      <vt:lpstr>Step #3: tests generation</vt:lpstr>
      <vt:lpstr>Step #4: tests replay</vt:lpstr>
      <vt:lpstr>Step #5: debug the core</vt:lpstr>
      <vt:lpstr>Step #6: auxiliary information</vt:lpstr>
      <vt:lpstr>Case #2: bug detection</vt:lpstr>
      <vt:lpstr>Case #3: crack password</vt:lpstr>
      <vt:lpstr>Case #4: vulnerability</vt:lpstr>
      <vt:lpstr>Summary for Klee</vt:lpstr>
      <vt:lpstr> </vt:lpstr>
      <vt:lpstr>Practical issues</vt:lpstr>
      <vt:lpstr>#1: Path explosion</vt:lpstr>
      <vt:lpstr>#1: Path explosion</vt:lpstr>
      <vt:lpstr>#2: Loops and recursions</vt:lpstr>
      <vt:lpstr>#2: Loops and recursions</vt:lpstr>
      <vt:lpstr>#2: Loops and recursion</vt:lpstr>
      <vt:lpstr>#3: Heap modeling</vt:lpstr>
      <vt:lpstr>#3: Heap modeling</vt:lpstr>
      <vt:lpstr>#4: Environment modeling</vt:lpstr>
      <vt:lpstr>#4: Environment modeling</vt:lpstr>
      <vt:lpstr>#5: constraint solving</vt:lpstr>
      <vt:lpstr>#5: constraint solving</vt:lpstr>
      <vt:lpstr> </vt:lpstr>
      <vt:lpstr>Concolic Execution Steps</vt:lpstr>
      <vt:lpstr>Architecture</vt:lpstr>
      <vt:lpstr>Concolic execution</vt:lpstr>
      <vt:lpstr>Concolic execution</vt:lpstr>
      <vt:lpstr>Concolic execution</vt:lpstr>
      <vt:lpstr>Concolic execution</vt:lpstr>
      <vt:lpstr>Concolic execution</vt:lpstr>
      <vt:lpstr>Concolic execution</vt:lpstr>
      <vt:lpstr>The general form</vt:lpstr>
      <vt:lpstr>Example</vt:lpstr>
      <vt:lpstr>Example</vt:lpstr>
      <vt:lpstr> </vt:lpstr>
      <vt:lpstr>Practical issues</vt:lpstr>
      <vt:lpstr>#1: Path explosion</vt:lpstr>
      <vt:lpstr>#1: Path explosion</vt:lpstr>
      <vt:lpstr>#2: Loops and recursions</vt:lpstr>
      <vt:lpstr>#2: Loops and recursions</vt:lpstr>
      <vt:lpstr>#3: Environment modeling</vt:lpstr>
      <vt:lpstr> </vt:lpstr>
      <vt:lpstr>Demos</vt:lpstr>
      <vt:lpstr>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Overview</dc:title>
  <dc:creator>Baojian Hua</dc:creator>
  <cp:lastModifiedBy>hbj</cp:lastModifiedBy>
  <cp:revision>5759</cp:revision>
  <cp:lastPrinted>1601-01-01T00:00:00Z</cp:lastPrinted>
  <dcterms:created xsi:type="dcterms:W3CDTF">1601-01-01T00:00:00Z</dcterms:created>
  <dcterms:modified xsi:type="dcterms:W3CDTF">2026-10-29T07:20:20Z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
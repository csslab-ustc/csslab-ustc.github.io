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1"/>
  </p:sldMasterIdLst>
  <p:handoutMasterIdLst>
    <p:handoutMasterId r:id="rId33"/>
  </p:handoutMasterIdLst>
  <p:sldIdLst>
    <p:sldId id="256" r:id="rId2"/>
    <p:sldId id="321" r:id="rId3"/>
    <p:sldId id="363" r:id="rId4"/>
    <p:sldId id="333" r:id="rId5"/>
    <p:sldId id="323" r:id="rId6"/>
    <p:sldId id="364" r:id="rId7"/>
    <p:sldId id="365" r:id="rId8"/>
    <p:sldId id="366" r:id="rId9"/>
    <p:sldId id="367" r:id="rId10"/>
    <p:sldId id="368" r:id="rId11"/>
    <p:sldId id="369" r:id="rId12"/>
    <p:sldId id="371" r:id="rId13"/>
    <p:sldId id="370" r:id="rId14"/>
    <p:sldId id="341" r:id="rId15"/>
    <p:sldId id="342" r:id="rId16"/>
    <p:sldId id="343" r:id="rId17"/>
    <p:sldId id="372" r:id="rId18"/>
    <p:sldId id="353" r:id="rId19"/>
    <p:sldId id="355" r:id="rId20"/>
    <p:sldId id="354" r:id="rId21"/>
    <p:sldId id="356" r:id="rId22"/>
    <p:sldId id="358" r:id="rId23"/>
    <p:sldId id="373" r:id="rId24"/>
    <p:sldId id="359" r:id="rId25"/>
    <p:sldId id="361" r:id="rId26"/>
    <p:sldId id="374" r:id="rId27"/>
    <p:sldId id="360" r:id="rId28"/>
    <p:sldId id="362" r:id="rId29"/>
    <p:sldId id="375" r:id="rId30"/>
    <p:sldId id="376" r:id="rId31"/>
    <p:sldId id="377" r:id="rId32"/>
  </p:sldIdLst>
  <p:sldSz cx="9144000" cy="6858000" type="screen4x3"/>
  <p:notesSz cx="7099300" cy="10234613"/>
  <p:defaultTextStyle>
    <a:defPPr>
      <a:defRPr lang="zh-CN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A4A3A4"/>
          </p15:clr>
        </p15:guide>
        <p15:guide id="2" pos="2236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171"/>
    <p:restoredTop sz="94754"/>
  </p:normalViewPr>
  <p:slideViewPr>
    <p:cSldViewPr>
      <p:cViewPr varScale="1">
        <p:scale>
          <a:sx n="99" d="100"/>
          <a:sy n="99" d="100"/>
        </p:scale>
        <p:origin x="156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56" d="100"/>
          <a:sy n="56" d="100"/>
        </p:scale>
        <p:origin x="-1854" y="-96"/>
      </p:cViewPr>
      <p:guideLst>
        <p:guide orient="horz" pos="3224"/>
        <p:guide pos="2236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46255887-7C20-5F40-88F5-DC07E009366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defTabSz="990600" eaLnBrk="1" hangingPunct="1">
              <a:defRPr sz="1300">
                <a:latin typeface="Arial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B442A776-FF54-8D4A-8F1A-B5440D7A3E8E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algn="r" defTabSz="990600" eaLnBrk="1" hangingPunct="1">
              <a:defRPr sz="1300">
                <a:latin typeface="Arial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148" name="Rectangle 4">
            <a:extLst>
              <a:ext uri="{FF2B5EF4-FFF2-40B4-BE49-F238E27FC236}">
                <a16:creationId xmlns:a16="http://schemas.microsoft.com/office/drawing/2014/main" id="{DC290E11-1746-2A4C-A43A-EB9011E0C54E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defTabSz="990600" eaLnBrk="1" hangingPunct="1">
              <a:defRPr sz="1300">
                <a:latin typeface="Arial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149" name="Rectangle 5">
            <a:extLst>
              <a:ext uri="{FF2B5EF4-FFF2-40B4-BE49-F238E27FC236}">
                <a16:creationId xmlns:a16="http://schemas.microsoft.com/office/drawing/2014/main" id="{02245770-81F5-604C-B1AE-5A9406AD2B2A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algn="r" defTabSz="990600" eaLnBrk="1" hangingPunct="1">
              <a:defRPr sz="13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59DFDCF0-3A25-1B44-957E-06E14821E89E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>
            <a:extLst>
              <a:ext uri="{FF2B5EF4-FFF2-40B4-BE49-F238E27FC236}">
                <a16:creationId xmlns:a16="http://schemas.microsoft.com/office/drawing/2014/main" id="{B63668DE-41B2-B840-8464-61D50D8F9AEF}"/>
              </a:ext>
            </a:extLst>
          </p:cNvPr>
          <p:cNvGrpSpPr>
            <a:grpSpLocks/>
          </p:cNvGrpSpPr>
          <p:nvPr/>
        </p:nvGrpSpPr>
        <p:grpSpPr bwMode="auto">
          <a:xfrm>
            <a:off x="0" y="2438400"/>
            <a:ext cx="9009063" cy="1052513"/>
            <a:chOff x="0" y="1536"/>
            <a:chExt cx="5675" cy="663"/>
          </a:xfrm>
        </p:grpSpPr>
        <p:grpSp>
          <p:nvGrpSpPr>
            <p:cNvPr id="5" name="Group 3">
              <a:extLst>
                <a:ext uri="{FF2B5EF4-FFF2-40B4-BE49-F238E27FC236}">
                  <a16:creationId xmlns:a16="http://schemas.microsoft.com/office/drawing/2014/main" id="{4DD8CABA-2308-F347-8A69-17F991D1D11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3" y="1604"/>
              <a:ext cx="448" cy="299"/>
              <a:chOff x="720" y="336"/>
              <a:chExt cx="624" cy="432"/>
            </a:xfrm>
          </p:grpSpPr>
          <p:sp>
            <p:nvSpPr>
              <p:cNvPr id="12" name="Rectangle 4">
                <a:extLst>
                  <a:ext uri="{FF2B5EF4-FFF2-40B4-BE49-F238E27FC236}">
                    <a16:creationId xmlns:a16="http://schemas.microsoft.com/office/drawing/2014/main" id="{BC90C53F-106A-594B-816F-FBBE09ED0CE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20" y="336"/>
                <a:ext cx="384" cy="432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>
                  <a:defRPr/>
                </a:pPr>
                <a:endParaRPr lang="zh-CN" altLang="en-US"/>
              </a:p>
            </p:txBody>
          </p:sp>
          <p:sp>
            <p:nvSpPr>
              <p:cNvPr id="13" name="Rectangle 5">
                <a:extLst>
                  <a:ext uri="{FF2B5EF4-FFF2-40B4-BE49-F238E27FC236}">
                    <a16:creationId xmlns:a16="http://schemas.microsoft.com/office/drawing/2014/main" id="{13A923C9-0DAE-5044-82AD-0E432BFFD0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56" y="336"/>
                <a:ext cx="288" cy="432"/>
              </a:xfrm>
              <a:prstGeom prst="rect">
                <a:avLst/>
              </a:prstGeom>
              <a:gradFill rotWithShape="0">
                <a:gsLst>
                  <a:gs pos="0">
                    <a:schemeClr val="folHlink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>
                  <a:defRPr/>
                </a:pPr>
                <a:endParaRPr lang="zh-CN" altLang="en-US"/>
              </a:p>
            </p:txBody>
          </p:sp>
        </p:grpSp>
        <p:grpSp>
          <p:nvGrpSpPr>
            <p:cNvPr id="6" name="Group 6">
              <a:extLst>
                <a:ext uri="{FF2B5EF4-FFF2-40B4-BE49-F238E27FC236}">
                  <a16:creationId xmlns:a16="http://schemas.microsoft.com/office/drawing/2014/main" id="{5FA28DE7-4EBE-E242-BE11-88C84DA4CA5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1" y="1870"/>
              <a:ext cx="465" cy="299"/>
              <a:chOff x="912" y="2640"/>
              <a:chExt cx="672" cy="432"/>
            </a:xfrm>
          </p:grpSpPr>
          <p:sp>
            <p:nvSpPr>
              <p:cNvPr id="10" name="Rectangle 7">
                <a:extLst>
                  <a:ext uri="{FF2B5EF4-FFF2-40B4-BE49-F238E27FC236}">
                    <a16:creationId xmlns:a16="http://schemas.microsoft.com/office/drawing/2014/main" id="{55B07155-43D3-3342-B259-7727441EBE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12" y="2640"/>
                <a:ext cx="384" cy="432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>
                  <a:defRPr/>
                </a:pPr>
                <a:endParaRPr lang="zh-CN" altLang="en-US"/>
              </a:p>
            </p:txBody>
          </p:sp>
          <p:sp>
            <p:nvSpPr>
              <p:cNvPr id="11" name="Rectangle 8">
                <a:extLst>
                  <a:ext uri="{FF2B5EF4-FFF2-40B4-BE49-F238E27FC236}">
                    <a16:creationId xmlns:a16="http://schemas.microsoft.com/office/drawing/2014/main" id="{5043667A-50D5-BD4A-899F-BACBE537B6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49" y="2640"/>
                <a:ext cx="335" cy="432"/>
              </a:xfrm>
              <a:prstGeom prst="rect">
                <a:avLst/>
              </a:prstGeom>
              <a:gradFill rotWithShape="0">
                <a:gsLst>
                  <a:gs pos="0">
                    <a:schemeClr val="accent2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>
                  <a:defRPr/>
                </a:pPr>
                <a:endParaRPr lang="zh-CN" altLang="en-US"/>
              </a:p>
            </p:txBody>
          </p:sp>
        </p:grpSp>
        <p:sp>
          <p:nvSpPr>
            <p:cNvPr id="7" name="Rectangle 9">
              <a:extLst>
                <a:ext uri="{FF2B5EF4-FFF2-40B4-BE49-F238E27FC236}">
                  <a16:creationId xmlns:a16="http://schemas.microsoft.com/office/drawing/2014/main" id="{026AC772-E99A-4F46-A0AF-BDC88C893B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1824"/>
              <a:ext cx="353" cy="266"/>
            </a:xfrm>
            <a:prstGeom prst="rect">
              <a:avLst/>
            </a:prstGeom>
            <a:gradFill rotWithShape="0">
              <a:gsLst>
                <a:gs pos="0">
                  <a:schemeClr val="bg1"/>
                </a:gs>
                <a:gs pos="100000">
                  <a:schemeClr val="hlink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defRPr/>
              </a:pPr>
              <a:endParaRPr lang="zh-CN" altLang="en-US"/>
            </a:p>
          </p:txBody>
        </p:sp>
        <p:sp>
          <p:nvSpPr>
            <p:cNvPr id="8" name="Rectangle 10">
              <a:extLst>
                <a:ext uri="{FF2B5EF4-FFF2-40B4-BE49-F238E27FC236}">
                  <a16:creationId xmlns:a16="http://schemas.microsoft.com/office/drawing/2014/main" id="{95ED622E-E2EB-AE47-84DA-22CE8CA457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0" y="1536"/>
              <a:ext cx="20" cy="66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defRPr/>
              </a:pPr>
              <a:endParaRPr lang="zh-CN" altLang="en-US"/>
            </a:p>
          </p:txBody>
        </p:sp>
        <p:sp>
          <p:nvSpPr>
            <p:cNvPr id="9" name="Rectangle 11">
              <a:extLst>
                <a:ext uri="{FF2B5EF4-FFF2-40B4-BE49-F238E27FC236}">
                  <a16:creationId xmlns:a16="http://schemas.microsoft.com/office/drawing/2014/main" id="{51262C24-48BF-CD4C-937E-331BF8501E8E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99" y="2054"/>
              <a:ext cx="5476" cy="35"/>
            </a:xfrm>
            <a:prstGeom prst="rect">
              <a:avLst/>
            </a:prstGeom>
            <a:gradFill rotWithShape="0">
              <a:gsLst>
                <a:gs pos="0">
                  <a:schemeClr val="bg2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defRPr/>
              </a:pPr>
              <a:endParaRPr lang="zh-CN" altLang="en-US"/>
            </a:p>
          </p:txBody>
        </p:sp>
      </p:grpSp>
      <p:sp>
        <p:nvSpPr>
          <p:cNvPr id="10252" name="Rectangle 12"/>
          <p:cNvSpPr>
            <a:spLocks noGrp="1" noChangeArrowheads="1"/>
          </p:cNvSpPr>
          <p:nvPr>
            <p:ph type="ctrTitle"/>
          </p:nvPr>
        </p:nvSpPr>
        <p:spPr>
          <a:xfrm>
            <a:off x="990600" y="1676400"/>
            <a:ext cx="7772400" cy="1462088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10253" name="Rectangle 1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14" name="Rectangle 14">
            <a:extLst>
              <a:ext uri="{FF2B5EF4-FFF2-40B4-BE49-F238E27FC236}">
                <a16:creationId xmlns:a16="http://schemas.microsoft.com/office/drawing/2014/main" id="{43F62A85-0DF1-9F4C-B6E2-275D2310556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990600" y="6248400"/>
            <a:ext cx="1905000" cy="4572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5" name="Rectangle 15">
            <a:extLst>
              <a:ext uri="{FF2B5EF4-FFF2-40B4-BE49-F238E27FC236}">
                <a16:creationId xmlns:a16="http://schemas.microsoft.com/office/drawing/2014/main" id="{25E5B91A-4C02-F247-8E23-8E414AB52CE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3429000" y="6248400"/>
            <a:ext cx="2895600" cy="4572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6" name="Rectangle 16">
            <a:extLst>
              <a:ext uri="{FF2B5EF4-FFF2-40B4-BE49-F238E27FC236}">
                <a16:creationId xmlns:a16="http://schemas.microsoft.com/office/drawing/2014/main" id="{4893DA04-B417-5246-8AE0-91F0B65648C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6858000" y="6248400"/>
            <a:ext cx="1905000" cy="4572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pPr>
              <a:defRPr/>
            </a:pPr>
            <a:fld id="{6A8B626B-81AA-F040-92F0-D02736E321A4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7404112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74AC7456-85F6-DD40-81C0-4C8BD0E9F22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12">
            <a:extLst>
              <a:ext uri="{FF2B5EF4-FFF2-40B4-BE49-F238E27FC236}">
                <a16:creationId xmlns:a16="http://schemas.microsoft.com/office/drawing/2014/main" id="{7BAB3D1D-BE10-304F-BEFE-012D6E790D5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50A960C3-CA72-8540-A7D0-1A6E75F0E4F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BF748D9-7FA6-E441-821E-F3F88EC4F9C5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0098319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B4C5B8B4-B421-6040-879F-D3D697BB72D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12">
            <a:extLst>
              <a:ext uri="{FF2B5EF4-FFF2-40B4-BE49-F238E27FC236}">
                <a16:creationId xmlns:a16="http://schemas.microsoft.com/office/drawing/2014/main" id="{F7543519-18B0-7740-8051-46BAC5573B3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DD3F58C5-102C-E640-8D6D-6542CFC35A5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B2B18E6-536B-3E49-87F7-F67360CCFABB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619860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1182688" y="2017713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145088" y="2017713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11">
            <a:extLst>
              <a:ext uri="{FF2B5EF4-FFF2-40B4-BE49-F238E27FC236}">
                <a16:creationId xmlns:a16="http://schemas.microsoft.com/office/drawing/2014/main" id="{467775B8-8071-4E41-AB03-00486E0A228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12">
            <a:extLst>
              <a:ext uri="{FF2B5EF4-FFF2-40B4-BE49-F238E27FC236}">
                <a16:creationId xmlns:a16="http://schemas.microsoft.com/office/drawing/2014/main" id="{A56D8A38-D3FC-AD48-8316-038FB054F04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Rectangle 13">
            <a:extLst>
              <a:ext uri="{FF2B5EF4-FFF2-40B4-BE49-F238E27FC236}">
                <a16:creationId xmlns:a16="http://schemas.microsoft.com/office/drawing/2014/main" id="{FCB84722-1E49-9E4D-836F-D732E94C27F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49FD8DE-E3EB-EA4E-8EE7-F04FE4665C2A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2897571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11">
            <a:extLst>
              <a:ext uri="{FF2B5EF4-FFF2-40B4-BE49-F238E27FC236}">
                <a16:creationId xmlns:a16="http://schemas.microsoft.com/office/drawing/2014/main" id="{CFB82EF0-DDD0-6B4A-867E-3E6388D616D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" name="Rectangle 12">
            <a:extLst>
              <a:ext uri="{FF2B5EF4-FFF2-40B4-BE49-F238E27FC236}">
                <a16:creationId xmlns:a16="http://schemas.microsoft.com/office/drawing/2014/main" id="{7BFB65D6-F186-3C48-B54B-497EC9B3843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" name="Rectangle 13">
            <a:extLst>
              <a:ext uri="{FF2B5EF4-FFF2-40B4-BE49-F238E27FC236}">
                <a16:creationId xmlns:a16="http://schemas.microsoft.com/office/drawing/2014/main" id="{E2702551-92CD-8D4E-9A9F-51CB64BE93F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0FCA741-66C6-D343-8412-89FF6A0F853D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9748998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11">
            <a:extLst>
              <a:ext uri="{FF2B5EF4-FFF2-40B4-BE49-F238E27FC236}">
                <a16:creationId xmlns:a16="http://schemas.microsoft.com/office/drawing/2014/main" id="{87F0065C-425F-FA4C-B6C4-FD2068F544F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Rectangle 12">
            <a:extLst>
              <a:ext uri="{FF2B5EF4-FFF2-40B4-BE49-F238E27FC236}">
                <a16:creationId xmlns:a16="http://schemas.microsoft.com/office/drawing/2014/main" id="{D7C70384-6A7F-504B-9F2A-1F5CFAAD2DF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5C95F566-FAE0-7049-8CC7-F3FD4197326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2318140-2A5D-0E44-BF65-E264B2E441BD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249610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1">
            <a:extLst>
              <a:ext uri="{FF2B5EF4-FFF2-40B4-BE49-F238E27FC236}">
                <a16:creationId xmlns:a16="http://schemas.microsoft.com/office/drawing/2014/main" id="{5F7FBCE8-7588-F049-A140-AC6ECEEBA42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" name="Rectangle 12">
            <a:extLst>
              <a:ext uri="{FF2B5EF4-FFF2-40B4-BE49-F238E27FC236}">
                <a16:creationId xmlns:a16="http://schemas.microsoft.com/office/drawing/2014/main" id="{9EDEB25C-C69B-AF49-92C5-20DDF64A0CF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Rectangle 13">
            <a:extLst>
              <a:ext uri="{FF2B5EF4-FFF2-40B4-BE49-F238E27FC236}">
                <a16:creationId xmlns:a16="http://schemas.microsoft.com/office/drawing/2014/main" id="{D7ADDEEE-A7A1-C54E-B356-0D31023DC8F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48883DD-3DDB-6A4B-AF53-C06217DC1C45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42508114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11">
            <a:extLst>
              <a:ext uri="{FF2B5EF4-FFF2-40B4-BE49-F238E27FC236}">
                <a16:creationId xmlns:a16="http://schemas.microsoft.com/office/drawing/2014/main" id="{D951196D-4FBC-5244-AE77-A0DCBCE7B10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12">
            <a:extLst>
              <a:ext uri="{FF2B5EF4-FFF2-40B4-BE49-F238E27FC236}">
                <a16:creationId xmlns:a16="http://schemas.microsoft.com/office/drawing/2014/main" id="{06B8D535-A7F6-6245-AF7C-3991555EBB3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Rectangle 13">
            <a:extLst>
              <a:ext uri="{FF2B5EF4-FFF2-40B4-BE49-F238E27FC236}">
                <a16:creationId xmlns:a16="http://schemas.microsoft.com/office/drawing/2014/main" id="{900E33DC-CFB4-6940-9A06-5E573918424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B099AE6-659C-DD4F-AB55-9243AB08769D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4031346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11">
            <a:extLst>
              <a:ext uri="{FF2B5EF4-FFF2-40B4-BE49-F238E27FC236}">
                <a16:creationId xmlns:a16="http://schemas.microsoft.com/office/drawing/2014/main" id="{9641F442-FF5A-3E4F-B7E3-4F3B309167B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12">
            <a:extLst>
              <a:ext uri="{FF2B5EF4-FFF2-40B4-BE49-F238E27FC236}">
                <a16:creationId xmlns:a16="http://schemas.microsoft.com/office/drawing/2014/main" id="{D4BF4FC7-F279-814B-BE9E-21CEA875BCC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Rectangle 13">
            <a:extLst>
              <a:ext uri="{FF2B5EF4-FFF2-40B4-BE49-F238E27FC236}">
                <a16:creationId xmlns:a16="http://schemas.microsoft.com/office/drawing/2014/main" id="{8FDFF4A7-138E-6343-9081-AB08C744418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1EB066F-829B-004C-A374-751C5611884F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6653619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5D26FD10-20F2-BE4B-A198-B567EEE34FA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12">
            <a:extLst>
              <a:ext uri="{FF2B5EF4-FFF2-40B4-BE49-F238E27FC236}">
                <a16:creationId xmlns:a16="http://schemas.microsoft.com/office/drawing/2014/main" id="{F95028F1-A44A-2647-AF6B-29B32995202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CDE85904-D501-6C46-A2AD-9CA56C67E9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BB6E24A-3567-904B-B86C-E4AE21B6ED3B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7066558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7004050" y="214313"/>
            <a:ext cx="1951038" cy="591820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1150938" y="214313"/>
            <a:ext cx="5700712" cy="591820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8C5833C8-4BDB-0F44-8B0D-35498B25425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12">
            <a:extLst>
              <a:ext uri="{FF2B5EF4-FFF2-40B4-BE49-F238E27FC236}">
                <a16:creationId xmlns:a16="http://schemas.microsoft.com/office/drawing/2014/main" id="{089FF3E9-C35F-4E4B-8AF3-3BAD855509B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2E5996E1-CC22-3945-A3BF-28E3C78E727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7BB2DC2-6B55-5E4C-8395-621F8054D647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159457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AD8F330B-6D69-3B48-94AA-84D980473E79}"/>
              </a:ext>
            </a:extLst>
          </p:cNvPr>
          <p:cNvSpPr>
            <a:spLocks noChangeArrowheads="1"/>
          </p:cNvSpPr>
          <p:nvPr/>
        </p:nvSpPr>
        <p:spPr bwMode="ltGray">
          <a:xfrm>
            <a:off x="417513" y="1098550"/>
            <a:ext cx="438150" cy="474663"/>
          </a:xfrm>
          <a:prstGeom prst="rect">
            <a:avLst/>
          </a:prstGeom>
          <a:solidFill>
            <a:schemeClr val="accent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zh-CN" altLang="zh-CN" sz="2400"/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20019EAC-5FB6-7F49-82BE-B9C6E565D19E}"/>
              </a:ext>
            </a:extLst>
          </p:cNvPr>
          <p:cNvSpPr>
            <a:spLocks noChangeArrowheads="1"/>
          </p:cNvSpPr>
          <p:nvPr/>
        </p:nvSpPr>
        <p:spPr bwMode="ltGray">
          <a:xfrm>
            <a:off x="800100" y="1098550"/>
            <a:ext cx="328613" cy="474663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zh-CN" altLang="zh-CN" sz="2400"/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2A7743FD-0EAE-AE43-B059-5C59C205ED23}"/>
              </a:ext>
            </a:extLst>
          </p:cNvPr>
          <p:cNvSpPr>
            <a:spLocks noChangeArrowheads="1"/>
          </p:cNvSpPr>
          <p:nvPr/>
        </p:nvSpPr>
        <p:spPr bwMode="ltGray">
          <a:xfrm>
            <a:off x="541338" y="1520825"/>
            <a:ext cx="422275" cy="474663"/>
          </a:xfrm>
          <a:prstGeom prst="rect">
            <a:avLst/>
          </a:prstGeom>
          <a:solidFill>
            <a:schemeClr val="folHlink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zh-CN" altLang="zh-CN" sz="2400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89C3DD9A-EB2E-6F4B-B2C1-287B25CFF38E}"/>
              </a:ext>
            </a:extLst>
          </p:cNvPr>
          <p:cNvSpPr>
            <a:spLocks noChangeArrowheads="1"/>
          </p:cNvSpPr>
          <p:nvPr/>
        </p:nvSpPr>
        <p:spPr bwMode="ltGray">
          <a:xfrm>
            <a:off x="911225" y="1520825"/>
            <a:ext cx="368300" cy="474663"/>
          </a:xfrm>
          <a:prstGeom prst="rect">
            <a:avLst/>
          </a:prstGeom>
          <a:gradFill rotWithShape="0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zh-CN" altLang="zh-CN" sz="2400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42536DE4-E734-8D4C-93F9-1098F8D02B90}"/>
              </a:ext>
            </a:extLst>
          </p:cNvPr>
          <p:cNvSpPr>
            <a:spLocks noChangeArrowheads="1"/>
          </p:cNvSpPr>
          <p:nvPr/>
        </p:nvSpPr>
        <p:spPr bwMode="ltGray">
          <a:xfrm>
            <a:off x="127000" y="1447800"/>
            <a:ext cx="560388" cy="422275"/>
          </a:xfrm>
          <a:prstGeom prst="rect">
            <a:avLst/>
          </a:prstGeom>
          <a:gradFill rotWithShape="0">
            <a:gsLst>
              <a:gs pos="0">
                <a:schemeClr val="bg1"/>
              </a:gs>
              <a:gs pos="100000">
                <a:schemeClr val="hlink"/>
              </a:gs>
            </a:gsLst>
            <a:lin ang="189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zh-CN" altLang="zh-CN" sz="2400"/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D863680-FD48-694E-A03B-D9033B0DA834}"/>
              </a:ext>
            </a:extLst>
          </p:cNvPr>
          <p:cNvSpPr>
            <a:spLocks noChangeArrowheads="1"/>
          </p:cNvSpPr>
          <p:nvPr/>
        </p:nvSpPr>
        <p:spPr bwMode="gray">
          <a:xfrm>
            <a:off x="762000" y="990600"/>
            <a:ext cx="31750" cy="1052513"/>
          </a:xfrm>
          <a:prstGeom prst="rect">
            <a:avLst/>
          </a:prstGeom>
          <a:solidFill>
            <a:schemeClr val="bg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zh-CN" altLang="zh-CN" sz="2400"/>
          </a:p>
        </p:txBody>
      </p:sp>
      <p:sp>
        <p:nvSpPr>
          <p:cNvPr id="1032" name="Rectangle 8">
            <a:extLst>
              <a:ext uri="{FF2B5EF4-FFF2-40B4-BE49-F238E27FC236}">
                <a16:creationId xmlns:a16="http://schemas.microsoft.com/office/drawing/2014/main" id="{F170802E-96C7-5A40-9A9A-95EE098C8380}"/>
              </a:ext>
            </a:extLst>
          </p:cNvPr>
          <p:cNvSpPr>
            <a:spLocks noChangeArrowheads="1"/>
          </p:cNvSpPr>
          <p:nvPr/>
        </p:nvSpPr>
        <p:spPr bwMode="gray">
          <a:xfrm>
            <a:off x="442913" y="1781175"/>
            <a:ext cx="8226425" cy="31750"/>
          </a:xfrm>
          <a:prstGeom prst="rect">
            <a:avLst/>
          </a:prstGeom>
          <a:gradFill rotWithShape="0">
            <a:gsLst>
              <a:gs pos="0">
                <a:schemeClr val="bg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zh-CN" altLang="zh-CN" sz="2400"/>
          </a:p>
        </p:txBody>
      </p:sp>
      <p:sp>
        <p:nvSpPr>
          <p:cNvPr id="1033" name="Rectangle 9">
            <a:extLst>
              <a:ext uri="{FF2B5EF4-FFF2-40B4-BE49-F238E27FC236}">
                <a16:creationId xmlns:a16="http://schemas.microsoft.com/office/drawing/2014/main" id="{8B107CC5-4F23-7840-9D8C-A91D6DEA2FE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150938" y="214313"/>
            <a:ext cx="7793037" cy="1462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34" name="Rectangle 10">
            <a:extLst>
              <a:ext uri="{FF2B5EF4-FFF2-40B4-BE49-F238E27FC236}">
                <a16:creationId xmlns:a16="http://schemas.microsoft.com/office/drawing/2014/main" id="{FE065584-58F1-DF49-988D-E4179129D9E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182688" y="2017713"/>
            <a:ext cx="77724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9227" name="Rectangle 11">
            <a:extLst>
              <a:ext uri="{FF2B5EF4-FFF2-40B4-BE49-F238E27FC236}">
                <a16:creationId xmlns:a16="http://schemas.microsoft.com/office/drawing/2014/main" id="{BEFFB746-8CD7-AA4A-B6F9-332BF0161723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162050" y="6243638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4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228" name="Rectangle 12">
            <a:extLst>
              <a:ext uri="{FF2B5EF4-FFF2-40B4-BE49-F238E27FC236}">
                <a16:creationId xmlns:a16="http://schemas.microsoft.com/office/drawing/2014/main" id="{986FEBD8-864A-0B4D-B3B2-0C180D3B82E5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657600" y="6243638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 eaLnBrk="1" hangingPunct="1">
              <a:defRPr sz="14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229" name="Rectangle 13">
            <a:extLst>
              <a:ext uri="{FF2B5EF4-FFF2-40B4-BE49-F238E27FC236}">
                <a16:creationId xmlns:a16="http://schemas.microsoft.com/office/drawing/2014/main" id="{9EC76A7F-43CA-B94D-8105-DC195EBDA500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042150" y="6243638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pPr>
              <a:defRPr/>
            </a:pPr>
            <a:fld id="{6CB83518-65C2-094A-AFB7-B5D18B682B4C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itchFamily="34" charset="0"/>
          <a:ea typeface="宋体" pitchFamily="2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itchFamily="34" charset="0"/>
          <a:ea typeface="宋体" pitchFamily="2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itchFamily="34" charset="0"/>
          <a:ea typeface="宋体" pitchFamily="2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itchFamily="34" charset="0"/>
          <a:ea typeface="宋体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itchFamily="34" charset="0"/>
          <a:ea typeface="宋体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itchFamily="34" charset="0"/>
          <a:ea typeface="宋体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itchFamily="34" charset="0"/>
          <a:ea typeface="宋体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itchFamily="34" charset="0"/>
          <a:ea typeface="宋体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60000"/>
        <a:buFont typeface="Wingdings" pitchFamily="2" charset="2"/>
        <a:buChar char="n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SzPct val="55000"/>
        <a:buFont typeface="Wingdings" pitchFamily="2" charset="2"/>
        <a:buChar char="n"/>
        <a:defRPr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50000"/>
        <a:buFont typeface="Wingdings" pitchFamily="2" charset="2"/>
        <a:buChar char="n"/>
        <a:defRPr sz="24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55000"/>
        <a:buFont typeface="Wingdings" pitchFamily="2" charset="2"/>
        <a:buChar char="n"/>
        <a:defRPr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13" Type="http://schemas.openxmlformats.org/officeDocument/2006/relationships/image" Target="../media/image44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12" Type="http://schemas.openxmlformats.org/officeDocument/2006/relationships/image" Target="../media/image43.png"/><Relationship Id="rId2" Type="http://schemas.openxmlformats.org/officeDocument/2006/relationships/image" Target="../media/image33.png"/><Relationship Id="rId16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11" Type="http://schemas.openxmlformats.org/officeDocument/2006/relationships/image" Target="../media/image42.png"/><Relationship Id="rId5" Type="http://schemas.openxmlformats.org/officeDocument/2006/relationships/image" Target="../media/image36.png"/><Relationship Id="rId15" Type="http://schemas.openxmlformats.org/officeDocument/2006/relationships/image" Target="../media/image46.png"/><Relationship Id="rId10" Type="http://schemas.openxmlformats.org/officeDocument/2006/relationships/image" Target="../media/image41.png"/><Relationship Id="rId4" Type="http://schemas.openxmlformats.org/officeDocument/2006/relationships/image" Target="../media/image35.png"/><Relationship Id="rId9" Type="http://schemas.openxmlformats.org/officeDocument/2006/relationships/image" Target="../media/image40.png"/><Relationship Id="rId14" Type="http://schemas.openxmlformats.org/officeDocument/2006/relationships/image" Target="../media/image45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0.png"/><Relationship Id="rId2" Type="http://schemas.openxmlformats.org/officeDocument/2006/relationships/image" Target="../media/image4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0.png"/><Relationship Id="rId7" Type="http://schemas.openxmlformats.org/officeDocument/2006/relationships/image" Target="../media/image52.png"/><Relationship Id="rId2" Type="http://schemas.openxmlformats.org/officeDocument/2006/relationships/image" Target="../media/image4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7" name="Rectangle 2">
            <a:extLst>
              <a:ext uri="{FF2B5EF4-FFF2-40B4-BE49-F238E27FC236}">
                <a16:creationId xmlns:a16="http://schemas.microsoft.com/office/drawing/2014/main" id="{E8841FBB-64FC-1C4F-8167-C680F3EB3355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altLang="zh-CN" dirty="0"/>
              <a:t>Predicate</a:t>
            </a:r>
            <a:r>
              <a:rPr lang="zh-CN" altLang="en-US" dirty="0"/>
              <a:t> </a:t>
            </a:r>
            <a:r>
              <a:rPr lang="en-US" altLang="zh-CN" dirty="0"/>
              <a:t>logic</a:t>
            </a:r>
          </a:p>
        </p:txBody>
      </p:sp>
      <p:sp>
        <p:nvSpPr>
          <p:cNvPr id="14338" name="Rectangle 3">
            <a:extLst>
              <a:ext uri="{FF2B5EF4-FFF2-40B4-BE49-F238E27FC236}">
                <a16:creationId xmlns:a16="http://schemas.microsoft.com/office/drawing/2014/main" id="{86FDA178-BD90-9A42-AB11-13E8D0C97665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en-US" altLang="zh-CN" sz="3600" dirty="0"/>
              <a:t>Formal Methods Foundation</a:t>
            </a:r>
          </a:p>
          <a:p>
            <a:pPr eaLnBrk="1" hangingPunct="1"/>
            <a:r>
              <a:rPr lang="en-US" altLang="zh-CN" sz="2800" dirty="0" err="1"/>
              <a:t>Baojian</a:t>
            </a:r>
            <a:r>
              <a:rPr lang="en-US" altLang="zh-CN" sz="2800" dirty="0"/>
              <a:t> Hua</a:t>
            </a:r>
          </a:p>
          <a:p>
            <a:pPr eaLnBrk="1" hangingPunct="1"/>
            <a:r>
              <a:rPr lang="en-US" altLang="zh-CN" sz="2400" dirty="0" err="1"/>
              <a:t>bjhua@ustc.edu.cn</a:t>
            </a:r>
            <a:endParaRPr lang="en-US" altLang="zh-CN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Motivation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8EA67DCE-2389-6343-AFC1-54E1B9454D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kumimoji="1" lang="en-US" altLang="zh-CN" dirty="0"/>
                  <a:t>Propositional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logic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is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simple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and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can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be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implemented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efficiently</a:t>
                </a:r>
              </a:p>
              <a:p>
                <a:pPr lvl="1"/>
                <a:r>
                  <a:rPr kumimoji="1" lang="en-US" altLang="zh-CN" dirty="0"/>
                  <a:t>But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not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expressive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enough</a:t>
                </a:r>
              </a:p>
              <a:p>
                <a:pPr lvl="2"/>
                <a:r>
                  <a:rPr kumimoji="1" lang="en-US" altLang="zh-CN" dirty="0"/>
                  <a:t>E.g.,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P</a:t>
                </a:r>
                <a:r>
                  <a:rPr kumimoji="1" lang="zh-CN" altLang="en-US" dirty="0">
                    <a:solidFill>
                      <a:srgbClr val="0432FF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</a:rPr>
                      <m:t>→ </m:t>
                    </m:r>
                  </m:oMath>
                </a14:m>
                <a:r>
                  <a:rPr kumimoji="1" lang="en-US" altLang="zh-CN" dirty="0">
                    <a:solidFill>
                      <a:srgbClr val="0432FF"/>
                    </a:solidFill>
                  </a:rPr>
                  <a:t>Q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not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valid</a:t>
                </a:r>
              </a:p>
              <a:p>
                <a:pPr lvl="2"/>
                <a:r>
                  <a:rPr kumimoji="1" lang="en-US" altLang="zh-CN" dirty="0"/>
                  <a:t>But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consider:</a:t>
                </a:r>
              </a:p>
              <a:p>
                <a:pPr lvl="3"/>
                <a:r>
                  <a:rPr kumimoji="1" lang="en-US" altLang="zh-CN" dirty="0">
                    <a:solidFill>
                      <a:srgbClr val="0432FF"/>
                    </a:solidFill>
                  </a:rPr>
                  <a:t>(x&gt;0)</a:t>
                </a:r>
                <a:r>
                  <a:rPr kumimoji="1" lang="zh-CN" altLang="en-US" dirty="0">
                    <a:solidFill>
                      <a:srgbClr val="0432FF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kumimoji="1" lang="zh-CN" altLang="en-US" dirty="0">
                    <a:solidFill>
                      <a:srgbClr val="0432FF"/>
                    </a:solidFill>
                  </a:rPr>
                  <a:t> 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(x</a:t>
                </a:r>
                <a:r>
                  <a:rPr kumimoji="1" lang="zh-CN" altLang="en-US" dirty="0">
                    <a:solidFill>
                      <a:srgbClr val="0432FF"/>
                    </a:solidFill>
                  </a:rPr>
                  <a:t>*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x&gt;0)</a:t>
                </a:r>
              </a:p>
              <a:p>
                <a:pPr lvl="3"/>
                <a:r>
                  <a:rPr kumimoji="1" lang="en-US" altLang="zh-CN" dirty="0">
                    <a:solidFill>
                      <a:srgbClr val="0432FF"/>
                    </a:solidFill>
                  </a:rPr>
                  <a:t>(x=y)</a:t>
                </a:r>
                <a:r>
                  <a:rPr kumimoji="1" lang="zh-CN" altLang="en-US" dirty="0">
                    <a:solidFill>
                      <a:srgbClr val="0432FF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kumimoji="1" lang="zh-CN" altLang="en-US" dirty="0">
                    <a:solidFill>
                      <a:srgbClr val="0432FF"/>
                    </a:solidFill>
                  </a:rPr>
                  <a:t> 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(y=x)</a:t>
                </a:r>
              </a:p>
              <a:p>
                <a:r>
                  <a:rPr kumimoji="1" lang="en-US" altLang="zh-CN" dirty="0"/>
                  <a:t>Predicate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logic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make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it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feasible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to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express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and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reason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about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these</a:t>
                </a:r>
              </a:p>
              <a:p>
                <a:pPr lvl="1"/>
                <a:r>
                  <a:rPr kumimoji="1" lang="en-US" altLang="zh-CN" dirty="0"/>
                  <a:t>And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the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satisfiability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problem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is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SMT</a:t>
                </a:r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8EA67DCE-2389-6343-AFC1-54E1B9454D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53" t="-1846" b="-2030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399191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Motivation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8EA67DCE-2389-6343-AFC1-54E1B9454D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kumimoji="1" lang="en-US" altLang="zh-CN" dirty="0"/>
                  <a:t>Modeling:</a:t>
                </a:r>
              </a:p>
              <a:p>
                <a:pPr lvl="1"/>
                <a:r>
                  <a:rPr kumimoji="1" lang="en-US" altLang="zh-CN" dirty="0"/>
                  <a:t>Hard,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if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not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impossible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to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model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realistic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problem</a:t>
                </a:r>
              </a:p>
              <a:p>
                <a:pPr lvl="2"/>
                <a:r>
                  <a:rPr kumimoji="1" lang="en-US" altLang="zh-CN" dirty="0"/>
                  <a:t>“Every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student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learns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logic”</a:t>
                </a:r>
              </a:p>
              <a:p>
                <a:pPr marL="914400" lvl="2" indent="0">
                  <a:buNone/>
                </a:pPr>
                <a:r>
                  <a:rPr kumimoji="1" lang="en-US" altLang="zh-CN" dirty="0"/>
                  <a:t>“Bob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is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student”</a:t>
                </a:r>
              </a:p>
              <a:p>
                <a:pPr marL="914400" lvl="2" indent="0">
                  <a:buNone/>
                </a:pPr>
                <a:r>
                  <a:rPr kumimoji="1" lang="en-US" altLang="zh-CN" dirty="0"/>
                  <a:t>“Bob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learns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logic”</a:t>
                </a:r>
              </a:p>
              <a:p>
                <a:pPr lvl="2"/>
                <a:r>
                  <a:rPr kumimoji="1" lang="en-US" altLang="zh-CN" dirty="0"/>
                  <a:t>But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in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predicate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logic:</a:t>
                </a:r>
              </a:p>
              <a:p>
                <a:pPr marL="914400" lvl="2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i="1" dirty="0" smtClean="0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kumimoji="1" lang="en-US" altLang="zh-CN" i="1" dirty="0" smtClean="0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i="1" dirty="0" smtClean="0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d>
                        <m:dPr>
                          <m:ctrlPr>
                            <a:rPr kumimoji="1" lang="en-US" altLang="zh-CN" b="0" i="1" dirty="0" smtClean="0">
                              <a:solidFill>
                                <a:srgbClr val="0432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b="0" i="1" dirty="0" smtClean="0">
                              <a:solidFill>
                                <a:srgbClr val="0432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  <m:d>
                            <m:dPr>
                              <m:ctrlPr>
                                <a:rPr kumimoji="1" lang="en-US" altLang="zh-CN" b="0" i="1" dirty="0" smtClean="0">
                                  <a:solidFill>
                                    <a:srgbClr val="0432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b="0" i="1" dirty="0" smtClean="0">
                                  <a:solidFill>
                                    <a:srgbClr val="0432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kumimoji="1" lang="zh-CN" altLang="en-US" i="1">
                              <a:solidFill>
                                <a:srgbClr val="0432FF"/>
                              </a:solidFill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kumimoji="1" lang="en-US" altLang="zh-CN" b="0" i="1" smtClean="0">
                              <a:solidFill>
                                <a:srgbClr val="0432FF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kumimoji="1" lang="en-US" altLang="zh-CN" b="0" i="1" smtClean="0">
                                  <a:solidFill>
                                    <a:srgbClr val="0432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b="0" i="1" smtClean="0">
                                  <a:solidFill>
                                    <a:srgbClr val="0432FF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  <m:r>
                        <a:rPr kumimoji="1" lang="zh-CN" altLang="en-US" b="0" i="1" smtClean="0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</a:rPr>
                        <m:t> ∧</m:t>
                      </m:r>
                      <m:r>
                        <a:rPr kumimoji="1" lang="en-US" altLang="zh-CN" b="0" i="1" smtClean="0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kumimoji="1" lang="en-US" altLang="zh-CN" b="0" i="1" smtClean="0">
                              <a:solidFill>
                                <a:srgbClr val="0432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b="0" i="1" smtClean="0">
                              <a:solidFill>
                                <a:srgbClr val="0432FF"/>
                              </a:solidFill>
                              <a:latin typeface="Cambria Math" panose="02040503050406030204" pitchFamily="18" charset="0"/>
                            </a:rPr>
                            <m:t>𝐵𝑜𝑏</m:t>
                          </m:r>
                        </m:e>
                      </m:d>
                      <m:r>
                        <a:rPr kumimoji="1" lang="en-US" altLang="zh-CN" b="0" i="1" smtClean="0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kumimoji="1" lang="en-US" altLang="zh-CN" b="0" i="1" smtClean="0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kumimoji="1" lang="en-US" altLang="zh-CN" b="0" i="1" smtClean="0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en-US" altLang="zh-CN" b="0" i="1" smtClean="0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</a:rPr>
                        <m:t>𝐵𝑜𝑏</m:t>
                      </m:r>
                      <m:r>
                        <a:rPr kumimoji="1" lang="en-US" altLang="zh-CN" b="0" i="1" dirty="0" smtClean="0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zh-CN" dirty="0">
                  <a:solidFill>
                    <a:srgbClr val="0432FF"/>
                  </a:solidFill>
                </a:endParaRPr>
              </a:p>
              <a:p>
                <a:pPr marL="914400" lvl="2" indent="0">
                  <a:buNone/>
                </a:pPr>
                <a:r>
                  <a:rPr kumimoji="1" lang="en-US" altLang="zh-CN" dirty="0"/>
                  <a:t>where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S(x):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x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is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student</a:t>
                </a:r>
              </a:p>
              <a:p>
                <a:pPr marL="914400" lvl="2" indent="0">
                  <a:buNone/>
                </a:pPr>
                <a:r>
                  <a:rPr kumimoji="1" lang="en-US" altLang="zh-CN" dirty="0"/>
                  <a:t>L(x):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x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learns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logic</a:t>
                </a:r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8EA67DCE-2389-6343-AFC1-54E1B9454D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53" t="-1846" b="-1446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146052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9C17B9B-B834-E347-80F2-CCDBC8D91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 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1622823-CB4B-6B47-ABD2-04954DD6D5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en-US" altLang="zh-CN" dirty="0"/>
          </a:p>
          <a:p>
            <a:pPr marL="0" indent="0" algn="ctr">
              <a:buNone/>
            </a:pPr>
            <a:r>
              <a:rPr kumimoji="1" lang="en-US" altLang="zh-CN" i="1" dirty="0"/>
              <a:t>Predicate</a:t>
            </a:r>
            <a:r>
              <a:rPr kumimoji="1" lang="zh-CN" altLang="en-US" i="1" dirty="0"/>
              <a:t> </a:t>
            </a:r>
            <a:r>
              <a:rPr kumimoji="1" lang="en-US" altLang="zh-CN" i="1" dirty="0"/>
              <a:t>logic:</a:t>
            </a:r>
          </a:p>
          <a:p>
            <a:pPr marL="0" indent="0" algn="ctr">
              <a:buNone/>
            </a:pPr>
            <a:r>
              <a:rPr kumimoji="1" lang="en-US" altLang="zh-CN" i="1" dirty="0"/>
              <a:t>The</a:t>
            </a:r>
            <a:r>
              <a:rPr kumimoji="1" lang="zh-CN" altLang="en-US" i="1" dirty="0"/>
              <a:t> </a:t>
            </a:r>
            <a:r>
              <a:rPr kumimoji="1" lang="en-US" altLang="zh-CN" i="1" dirty="0"/>
              <a:t>syntax</a:t>
            </a:r>
            <a:endParaRPr kumimoji="1" lang="zh-CN" altLang="en-US" i="1" dirty="0"/>
          </a:p>
        </p:txBody>
      </p:sp>
    </p:spTree>
    <p:extLst>
      <p:ext uri="{BB962C8B-B14F-4D97-AF65-F5344CB8AC3E}">
        <p14:creationId xmlns:p14="http://schemas.microsoft.com/office/powerpoint/2010/main" val="3652062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syntax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8EA67DCE-2389-6343-AFC1-54E1B9454D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kumimoji="1" lang="en-US" altLang="zh-CN" sz="2400" dirty="0"/>
                  <a:t>E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::=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x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|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c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|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f(E,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…,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E)</a:t>
                </a:r>
              </a:p>
              <a:p>
                <a:pPr marL="0" indent="0">
                  <a:buNone/>
                </a:pPr>
                <a:r>
                  <a:rPr kumimoji="1" lang="en-US" altLang="zh-CN" sz="2400" dirty="0"/>
                  <a:t>R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::=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r(E,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…,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E)</a:t>
                </a:r>
                <a:r>
                  <a:rPr kumimoji="1" lang="zh-CN" altLang="en-US" sz="2400" dirty="0"/>
                  <a:t>       </a:t>
                </a:r>
                <a:endParaRPr kumimoji="1" lang="en-US" altLang="zh-CN" sz="2400" dirty="0"/>
              </a:p>
              <a:p>
                <a:pPr marL="0" indent="0">
                  <a:buNone/>
                </a:pPr>
                <a:r>
                  <a:rPr kumimoji="1" lang="en-US" altLang="zh-CN" sz="2400" i="1" dirty="0">
                    <a:latin typeface="Cambria Math" panose="02040503050406030204" pitchFamily="18" charset="0"/>
                  </a:rPr>
                  <a:t>P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::=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R</a:t>
                </a:r>
              </a:p>
              <a:p>
                <a:pPr marL="0" indent="0">
                  <a:buNone/>
                </a:pPr>
                <a:r>
                  <a:rPr kumimoji="1" lang="zh-CN" altLang="en-US" sz="2400" dirty="0"/>
                  <a:t>      </a:t>
                </a:r>
                <a:r>
                  <a:rPr kumimoji="1" lang="en-US" altLang="zh-CN" sz="2400" dirty="0"/>
                  <a:t>|</a:t>
                </a:r>
                <a14:m>
                  <m:oMath xmlns:m="http://schemas.openxmlformats.org/officeDocument/2006/math">
                    <m:r>
                      <a:rPr kumimoji="1" lang="zh-CN" alt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kumimoji="1" lang="en-US" altLang="zh-CN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T</m:t>
                    </m:r>
                  </m:oMath>
                </a14:m>
                <a:endParaRPr kumimoji="1" lang="en-US" altLang="zh-CN" sz="2400" b="0" i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kumimoji="1" lang="zh-CN" altLang="en-US" sz="2400" dirty="0">
                    <a:ea typeface="Cambria Math" panose="02040503050406030204" pitchFamily="18" charset="0"/>
                  </a:rPr>
                  <a:t>      </a:t>
                </a:r>
                <a:r>
                  <a:rPr kumimoji="1" lang="en-US" altLang="zh-CN" sz="2400" dirty="0">
                    <a:ea typeface="Cambria Math" panose="02040503050406030204" pitchFamily="18" charset="0"/>
                  </a:rPr>
                  <a:t>|</a:t>
                </a:r>
                <a:r>
                  <a:rPr kumimoji="1" lang="zh-CN" altLang="en-US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⊥</m:t>
                    </m:r>
                  </m:oMath>
                </a14:m>
                <a:endParaRPr kumimoji="1" lang="en-US" altLang="zh-CN" sz="2400" dirty="0"/>
              </a:p>
              <a:p>
                <a:pPr marL="0" indent="0">
                  <a:buNone/>
                </a:pPr>
                <a:r>
                  <a:rPr kumimoji="1" lang="zh-CN" altLang="en-US" sz="2400" dirty="0"/>
                  <a:t>      </a:t>
                </a:r>
                <a:r>
                  <a:rPr kumimoji="1" lang="en-US" altLang="zh-CN" sz="2400" dirty="0"/>
                  <a:t>|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i="1" dirty="0">
                    <a:latin typeface="Cambria Math" panose="02040503050406030204" pitchFamily="18" charset="0"/>
                  </a:rPr>
                  <a:t>P</a:t>
                </a:r>
                <a:r>
                  <a:rPr kumimoji="1" lang="zh-CN" altLang="en-US" sz="2400" dirty="0"/>
                  <a:t> </a:t>
                </a:r>
                <a14:m>
                  <m:oMath xmlns:m="http://schemas.openxmlformats.org/officeDocument/2006/math">
                    <m:r>
                      <a:rPr kumimoji="1" lang="zh-CN" altLang="en-US" sz="2400" i="1">
                        <a:latin typeface="Cambria Math" panose="02040503050406030204" pitchFamily="18" charset="0"/>
                      </a:rPr>
                      <m:t>∨</m:t>
                    </m:r>
                  </m:oMath>
                </a14:m>
                <a:r>
                  <a:rPr kumimoji="1" lang="zh-CN" altLang="en-US" sz="2400" i="1" dirty="0">
                    <a:latin typeface="Cambria Math" panose="02040503050406030204" pitchFamily="18" charset="0"/>
                  </a:rPr>
                  <a:t> </a:t>
                </a:r>
                <a:r>
                  <a:rPr kumimoji="1" lang="en-US" altLang="zh-CN" sz="2400" i="1" dirty="0">
                    <a:latin typeface="Cambria Math" panose="02040503050406030204" pitchFamily="18" charset="0"/>
                  </a:rPr>
                  <a:t>P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1" lang="zh-CN" altLang="en-US" sz="2400" b="0" i="0" dirty="0" smtClean="0"/>
                        <m:t>      </m:t>
                      </m:r>
                      <m:r>
                        <m:rPr>
                          <m:nor/>
                        </m:rPr>
                        <a:rPr kumimoji="1" lang="en-US" altLang="zh-CN" sz="2400" dirty="0"/>
                        <m:t>|</m:t>
                      </m:r>
                      <m:r>
                        <m:rPr>
                          <m:nor/>
                        </m:rPr>
                        <a:rPr kumimoji="1" lang="zh-CN" altLang="en-US" sz="2400" dirty="0"/>
                        <m:t> </m:t>
                      </m:r>
                      <m:r>
                        <m:rPr>
                          <m:nor/>
                        </m:rPr>
                        <a:rPr kumimoji="1" lang="en-US" altLang="zh-CN" sz="2400" i="1" dirty="0">
                          <a:latin typeface="Cambria Math" panose="02040503050406030204" pitchFamily="18" charset="0"/>
                        </a:rPr>
                        <m:t>P</m:t>
                      </m:r>
                      <m:r>
                        <a:rPr kumimoji="1" lang="zh-CN" altLang="en-US" sz="2400" i="1">
                          <a:latin typeface="Cambria Math" panose="02040503050406030204" pitchFamily="18" charset="0"/>
                        </a:rPr>
                        <m:t>∧</m:t>
                      </m:r>
                      <m:r>
                        <m:rPr>
                          <m:nor/>
                        </m:rPr>
                        <a:rPr kumimoji="1" lang="en-US" altLang="zh-CN" sz="2400" i="1" dirty="0">
                          <a:latin typeface="Cambria Math" panose="02040503050406030204" pitchFamily="18" charset="0"/>
                        </a:rPr>
                        <m:t>P</m:t>
                      </m:r>
                    </m:oMath>
                  </m:oMathPara>
                </a14:m>
                <a:endParaRPr kumimoji="1" lang="en-US" altLang="zh-CN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1" lang="zh-CN" altLang="en-US" sz="2400" b="0" i="0" dirty="0" smtClean="0"/>
                        <m:t>      </m:t>
                      </m:r>
                      <m:r>
                        <m:rPr>
                          <m:nor/>
                        </m:rPr>
                        <a:rPr kumimoji="1" lang="en-US" altLang="zh-CN" sz="2400" dirty="0"/>
                        <m:t>|</m:t>
                      </m:r>
                      <m:r>
                        <m:rPr>
                          <m:nor/>
                        </m:rPr>
                        <a:rPr kumimoji="1" lang="zh-CN" altLang="en-US" sz="2400" dirty="0"/>
                        <m:t> </m:t>
                      </m:r>
                      <m:r>
                        <m:rPr>
                          <m:nor/>
                        </m:rPr>
                        <a:rPr kumimoji="1" lang="en-US" altLang="zh-CN" sz="2400" i="1" dirty="0">
                          <a:latin typeface="Cambria Math" panose="02040503050406030204" pitchFamily="18" charset="0"/>
                        </a:rPr>
                        <m:t>P</m:t>
                      </m:r>
                      <m:r>
                        <a:rPr kumimoji="1" lang="zh-CN" altLang="en-US" sz="240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m:rPr>
                          <m:nor/>
                        </m:rPr>
                        <a:rPr kumimoji="1" lang="en-US" altLang="zh-CN" sz="2400" i="1" dirty="0">
                          <a:latin typeface="Cambria Math" panose="02040503050406030204" pitchFamily="18" charset="0"/>
                        </a:rPr>
                        <m:t>P</m:t>
                      </m:r>
                    </m:oMath>
                  </m:oMathPara>
                </a14:m>
                <a:endParaRPr kumimoji="1" lang="en-US" altLang="zh-CN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1" lang="zh-CN" altLang="en-US" sz="2400" b="0" i="0" dirty="0" smtClean="0"/>
                        <m:t>      </m:t>
                      </m:r>
                      <m:r>
                        <m:rPr>
                          <m:nor/>
                        </m:rPr>
                        <a:rPr kumimoji="1" lang="en-US" altLang="zh-CN" sz="2400" dirty="0"/>
                        <m:t>|</m:t>
                      </m:r>
                      <m:r>
                        <a:rPr kumimoji="1" lang="zh-CN" altLang="en-US" sz="24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¬</m:t>
                      </m:r>
                      <m:r>
                        <m:rPr>
                          <m:nor/>
                        </m:rPr>
                        <a:rPr kumimoji="1" lang="en-US" altLang="zh-CN" sz="2400" i="1" dirty="0">
                          <a:latin typeface="Cambria Math" panose="02040503050406030204" pitchFamily="18" charset="0"/>
                        </a:rPr>
                        <m:t>P</m:t>
                      </m:r>
                    </m:oMath>
                  </m:oMathPara>
                </a14:m>
                <a:endParaRPr kumimoji="1" lang="en-US" altLang="zh-CN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kumimoji="1" lang="zh-CN" altLang="en-US" sz="2400" dirty="0"/>
                  <a:t>      </a:t>
                </a:r>
                <a:r>
                  <a:rPr kumimoji="1" lang="en-US" altLang="zh-CN" sz="2400" dirty="0"/>
                  <a:t>|</a:t>
                </a:r>
                <a:r>
                  <a:rPr kumimoji="1" lang="zh-CN" altLang="en-US" sz="2400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kumimoji="1" lang="en-US" altLang="zh-CN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kumimoji="1" lang="en-US" altLang="zh-CN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kumimoji="1" lang="en-US" altLang="zh-CN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endParaRPr kumimoji="1" lang="en-US" altLang="zh-CN" sz="2400" dirty="0"/>
              </a:p>
              <a:p>
                <a:pPr marL="0" indent="0">
                  <a:buNone/>
                </a:pPr>
                <a:r>
                  <a:rPr kumimoji="1" lang="zh-CN" altLang="en-US" sz="2400" dirty="0"/>
                  <a:t>      </a:t>
                </a:r>
                <a:r>
                  <a:rPr kumimoji="1" lang="en-US" altLang="zh-CN" sz="2400" dirty="0"/>
                  <a:t>|</a:t>
                </a:r>
                <a:r>
                  <a:rPr kumimoji="1" lang="zh-CN" altLang="en-US" sz="2400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  <m:r>
                      <a:rPr kumimoji="1" lang="en-US" altLang="zh-CN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kumimoji="1" lang="en-US" altLang="zh-CN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m:rPr>
                        <m:nor/>
                      </m:rPr>
                      <a:rPr kumimoji="1" lang="en-US" altLang="zh-CN" sz="2400" i="1" dirty="0"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endParaRPr kumimoji="1" lang="en-US" altLang="zh-CN" sz="2400" dirty="0"/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8EA67DCE-2389-6343-AFC1-54E1B9454D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42" t="-923" b="-156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文本框 3">
            <a:extLst>
              <a:ext uri="{FF2B5EF4-FFF2-40B4-BE49-F238E27FC236}">
                <a16:creationId xmlns:a16="http://schemas.microsoft.com/office/drawing/2014/main" id="{5ED672B7-630A-6142-A67A-C139C5E4CBAA}"/>
              </a:ext>
            </a:extLst>
          </p:cNvPr>
          <p:cNvSpPr txBox="1"/>
          <p:nvPr/>
        </p:nvSpPr>
        <p:spPr>
          <a:xfrm>
            <a:off x="5029200" y="1371600"/>
            <a:ext cx="30926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x:</a:t>
            </a:r>
            <a:r>
              <a:rPr kumimoji="1" lang="zh-CN" altLang="en-US" dirty="0"/>
              <a:t> </a:t>
            </a:r>
            <a:r>
              <a:rPr kumimoji="1" lang="en-US" altLang="zh-CN" dirty="0"/>
              <a:t>a</a:t>
            </a:r>
            <a:r>
              <a:rPr kumimoji="1" lang="zh-CN" altLang="en-US" dirty="0"/>
              <a:t> </a:t>
            </a:r>
            <a:r>
              <a:rPr kumimoji="1" lang="en-US" altLang="zh-CN" dirty="0"/>
              <a:t>set</a:t>
            </a:r>
            <a:r>
              <a:rPr kumimoji="1" lang="zh-CN" altLang="en-US" dirty="0"/>
              <a:t> </a:t>
            </a:r>
            <a:r>
              <a:rPr kumimoji="1" lang="en-US" altLang="zh-CN" dirty="0"/>
              <a:t>of</a:t>
            </a:r>
            <a:r>
              <a:rPr kumimoji="1" lang="zh-CN" altLang="en-US" dirty="0"/>
              <a:t> </a:t>
            </a:r>
            <a:r>
              <a:rPr kumimoji="1" lang="en-US" altLang="zh-CN" dirty="0"/>
              <a:t>variables</a:t>
            </a:r>
            <a:endParaRPr kumimoji="1" lang="zh-CN" altLang="en-US" dirty="0"/>
          </a:p>
        </p:txBody>
      </p:sp>
      <p:cxnSp>
        <p:nvCxnSpPr>
          <p:cNvPr id="6" name="直线箭头连接符 5">
            <a:extLst>
              <a:ext uri="{FF2B5EF4-FFF2-40B4-BE49-F238E27FC236}">
                <a16:creationId xmlns:a16="http://schemas.microsoft.com/office/drawing/2014/main" id="{01C8FBF5-5997-7147-A9A8-CDE511AA9DE1}"/>
              </a:ext>
            </a:extLst>
          </p:cNvPr>
          <p:cNvCxnSpPr>
            <a:cxnSpLocks/>
            <a:stCxn id="4" idx="1"/>
          </p:cNvCxnSpPr>
          <p:nvPr/>
        </p:nvCxnSpPr>
        <p:spPr>
          <a:xfrm flipH="1">
            <a:off x="2209800" y="1556266"/>
            <a:ext cx="2819400" cy="6418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A7071B79-EF3A-324E-8AF1-A5F5B1669C77}"/>
              </a:ext>
            </a:extLst>
          </p:cNvPr>
          <p:cNvSpPr txBox="1"/>
          <p:nvPr/>
        </p:nvSpPr>
        <p:spPr>
          <a:xfrm>
            <a:off x="5029200" y="1828800"/>
            <a:ext cx="3076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c:</a:t>
            </a:r>
            <a:r>
              <a:rPr kumimoji="1" lang="zh-CN" altLang="en-US" dirty="0"/>
              <a:t> </a:t>
            </a:r>
            <a:r>
              <a:rPr kumimoji="1" lang="en-US" altLang="zh-CN" dirty="0"/>
              <a:t>a</a:t>
            </a:r>
            <a:r>
              <a:rPr kumimoji="1" lang="zh-CN" altLang="en-US" dirty="0"/>
              <a:t> </a:t>
            </a:r>
            <a:r>
              <a:rPr kumimoji="1" lang="en-US" altLang="zh-CN" dirty="0"/>
              <a:t>set</a:t>
            </a:r>
            <a:r>
              <a:rPr kumimoji="1" lang="zh-CN" altLang="en-US" dirty="0"/>
              <a:t> </a:t>
            </a:r>
            <a:r>
              <a:rPr kumimoji="1" lang="en-US" altLang="zh-CN" dirty="0"/>
              <a:t>of</a:t>
            </a:r>
            <a:r>
              <a:rPr kumimoji="1" lang="zh-CN" altLang="en-US" dirty="0"/>
              <a:t> </a:t>
            </a:r>
            <a:r>
              <a:rPr kumimoji="1" lang="en-US" altLang="zh-CN" dirty="0"/>
              <a:t>constants</a:t>
            </a:r>
            <a:endParaRPr kumimoji="1" lang="zh-CN" altLang="en-US" dirty="0"/>
          </a:p>
        </p:txBody>
      </p:sp>
      <p:cxnSp>
        <p:nvCxnSpPr>
          <p:cNvPr id="8" name="直线箭头连接符 7">
            <a:extLst>
              <a:ext uri="{FF2B5EF4-FFF2-40B4-BE49-F238E27FC236}">
                <a16:creationId xmlns:a16="http://schemas.microsoft.com/office/drawing/2014/main" id="{78C4754F-8080-1847-B15E-338CE9C5FE25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2590800" y="2013466"/>
            <a:ext cx="2438400" cy="1963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6F4F429C-E46F-5240-AEFF-38D16A74FFCA}"/>
              </a:ext>
            </a:extLst>
          </p:cNvPr>
          <p:cNvSpPr txBox="1"/>
          <p:nvPr/>
        </p:nvSpPr>
        <p:spPr>
          <a:xfrm>
            <a:off x="5029200" y="2297668"/>
            <a:ext cx="365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f:</a:t>
            </a:r>
            <a:r>
              <a:rPr kumimoji="1" lang="zh-CN" altLang="en-US" dirty="0"/>
              <a:t> </a:t>
            </a:r>
            <a:r>
              <a:rPr kumimoji="1" lang="en-US" altLang="zh-CN" dirty="0"/>
              <a:t>a</a:t>
            </a:r>
            <a:r>
              <a:rPr kumimoji="1" lang="zh-CN" altLang="en-US" dirty="0"/>
              <a:t> </a:t>
            </a:r>
            <a:r>
              <a:rPr kumimoji="1" lang="en-US" altLang="zh-CN" dirty="0"/>
              <a:t>set</a:t>
            </a:r>
            <a:r>
              <a:rPr kumimoji="1" lang="zh-CN" altLang="en-US" dirty="0"/>
              <a:t> </a:t>
            </a:r>
            <a:r>
              <a:rPr kumimoji="1" lang="en-US" altLang="zh-CN" dirty="0"/>
              <a:t>of</a:t>
            </a:r>
            <a:r>
              <a:rPr kumimoji="1" lang="zh-CN" altLang="en-US" dirty="0"/>
              <a:t> </a:t>
            </a:r>
            <a:r>
              <a:rPr kumimoji="1" lang="en-US" altLang="zh-CN" dirty="0"/>
              <a:t>functions.</a:t>
            </a:r>
          </a:p>
          <a:p>
            <a:r>
              <a:rPr kumimoji="1" lang="en-US" altLang="zh-CN" dirty="0"/>
              <a:t>Thus,</a:t>
            </a:r>
            <a:r>
              <a:rPr kumimoji="1" lang="zh-CN" altLang="en-US" dirty="0"/>
              <a:t> </a:t>
            </a:r>
            <a:r>
              <a:rPr kumimoji="1" lang="en-US" altLang="zh-CN" dirty="0"/>
              <a:t>E</a:t>
            </a:r>
            <a:r>
              <a:rPr kumimoji="1" lang="zh-CN" altLang="en-US" dirty="0"/>
              <a:t> </a:t>
            </a:r>
            <a:r>
              <a:rPr kumimoji="1" lang="en-US" altLang="zh-CN" dirty="0"/>
              <a:t>stands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</a:t>
            </a:r>
            <a:r>
              <a:rPr kumimoji="1" lang="zh-CN" altLang="en-US" dirty="0"/>
              <a:t> </a:t>
            </a:r>
            <a:r>
              <a:rPr kumimoji="1" lang="en-US" altLang="zh-CN" dirty="0"/>
              <a:t>computations!</a:t>
            </a:r>
            <a:endParaRPr kumimoji="1" lang="zh-CN" altLang="en-US" dirty="0"/>
          </a:p>
        </p:txBody>
      </p:sp>
      <p:cxnSp>
        <p:nvCxnSpPr>
          <p:cNvPr id="11" name="直线箭头连接符 10">
            <a:extLst>
              <a:ext uri="{FF2B5EF4-FFF2-40B4-BE49-F238E27FC236}">
                <a16:creationId xmlns:a16="http://schemas.microsoft.com/office/drawing/2014/main" id="{73C379BF-21DE-4F4C-97A7-CAF7A602A6D8}"/>
              </a:ext>
            </a:extLst>
          </p:cNvPr>
          <p:cNvCxnSpPr>
            <a:cxnSpLocks/>
            <a:stCxn id="10" idx="1"/>
          </p:cNvCxnSpPr>
          <p:nvPr/>
        </p:nvCxnSpPr>
        <p:spPr>
          <a:xfrm flipH="1" flipV="1">
            <a:off x="3048000" y="2297670"/>
            <a:ext cx="1981200" cy="3231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A0E5FE1A-33D5-0D47-A609-D05DF337E621}"/>
              </a:ext>
            </a:extLst>
          </p:cNvPr>
          <p:cNvSpPr txBox="1"/>
          <p:nvPr/>
        </p:nvSpPr>
        <p:spPr>
          <a:xfrm>
            <a:off x="5029200" y="3048000"/>
            <a:ext cx="3925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r:</a:t>
            </a:r>
            <a:r>
              <a:rPr kumimoji="1" lang="zh-CN" altLang="en-US" dirty="0"/>
              <a:t> </a:t>
            </a:r>
            <a:r>
              <a:rPr kumimoji="1" lang="en-US" altLang="zh-CN" dirty="0"/>
              <a:t>a</a:t>
            </a:r>
            <a:r>
              <a:rPr kumimoji="1" lang="zh-CN" altLang="en-US" dirty="0"/>
              <a:t> </a:t>
            </a:r>
            <a:r>
              <a:rPr kumimoji="1" lang="en-US" altLang="zh-CN" dirty="0"/>
              <a:t>set</a:t>
            </a:r>
            <a:r>
              <a:rPr kumimoji="1" lang="zh-CN" altLang="en-US" dirty="0"/>
              <a:t> </a:t>
            </a:r>
            <a:r>
              <a:rPr kumimoji="1" lang="en-US" altLang="zh-CN" dirty="0"/>
              <a:t>of</a:t>
            </a:r>
            <a:r>
              <a:rPr kumimoji="1" lang="zh-CN" altLang="en-US" dirty="0"/>
              <a:t> </a:t>
            </a:r>
            <a:r>
              <a:rPr kumimoji="1" lang="en-US" altLang="zh-CN" dirty="0"/>
              <a:t>relations</a:t>
            </a:r>
          </a:p>
        </p:txBody>
      </p:sp>
      <p:cxnSp>
        <p:nvCxnSpPr>
          <p:cNvPr id="15" name="直线箭头连接符 14">
            <a:extLst>
              <a:ext uri="{FF2B5EF4-FFF2-40B4-BE49-F238E27FC236}">
                <a16:creationId xmlns:a16="http://schemas.microsoft.com/office/drawing/2014/main" id="{2B00776F-65D7-BA49-A1CD-C1B6348C30E8}"/>
              </a:ext>
            </a:extLst>
          </p:cNvPr>
          <p:cNvCxnSpPr>
            <a:cxnSpLocks/>
            <a:stCxn id="14" idx="1"/>
          </p:cNvCxnSpPr>
          <p:nvPr/>
        </p:nvCxnSpPr>
        <p:spPr>
          <a:xfrm flipH="1" flipV="1">
            <a:off x="2209800" y="2819401"/>
            <a:ext cx="2819400" cy="4132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5FB4EFC7-31A5-4E4D-97B8-39978C1B3493}"/>
              </a:ext>
            </a:extLst>
          </p:cNvPr>
          <p:cNvSpPr txBox="1"/>
          <p:nvPr/>
        </p:nvSpPr>
        <p:spPr>
          <a:xfrm>
            <a:off x="5029200" y="3657600"/>
            <a:ext cx="39147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R</a:t>
            </a:r>
            <a:r>
              <a:rPr kumimoji="1" lang="zh-CN" altLang="en-US" dirty="0"/>
              <a:t> </a:t>
            </a:r>
            <a:r>
              <a:rPr kumimoji="1" lang="en-US" altLang="zh-CN" dirty="0"/>
              <a:t>is</a:t>
            </a:r>
            <a:r>
              <a:rPr kumimoji="1" lang="zh-CN" altLang="en-US" dirty="0"/>
              <a:t> </a:t>
            </a:r>
            <a:r>
              <a:rPr kumimoji="1" lang="en-US" altLang="zh-CN" dirty="0"/>
              <a:t>an</a:t>
            </a:r>
            <a:r>
              <a:rPr kumimoji="1" lang="zh-CN" altLang="en-US" dirty="0"/>
              <a:t> </a:t>
            </a:r>
            <a:r>
              <a:rPr kumimoji="1" lang="en-US" altLang="zh-CN" dirty="0"/>
              <a:t>atomic</a:t>
            </a:r>
            <a:r>
              <a:rPr kumimoji="1" lang="zh-CN" altLang="en-US" dirty="0"/>
              <a:t> </a:t>
            </a:r>
            <a:r>
              <a:rPr kumimoji="1" lang="en-US" altLang="zh-CN" dirty="0"/>
              <a:t>proposition,</a:t>
            </a:r>
            <a:r>
              <a:rPr kumimoji="1" lang="zh-CN" altLang="en-US" dirty="0"/>
              <a:t> </a:t>
            </a:r>
            <a:r>
              <a:rPr kumimoji="1" lang="en-US" altLang="zh-CN" dirty="0"/>
              <a:t>note</a:t>
            </a:r>
            <a:r>
              <a:rPr kumimoji="1" lang="zh-CN" altLang="en-US" dirty="0"/>
              <a:t> </a:t>
            </a:r>
            <a:r>
              <a:rPr kumimoji="1" lang="en-US" altLang="zh-CN" dirty="0"/>
              <a:t>that</a:t>
            </a:r>
            <a:r>
              <a:rPr kumimoji="1" lang="zh-CN" altLang="en-US" dirty="0"/>
              <a:t> </a:t>
            </a:r>
            <a:r>
              <a:rPr kumimoji="1" lang="en-US" altLang="zh-CN" dirty="0"/>
              <a:t>R</a:t>
            </a:r>
            <a:r>
              <a:rPr kumimoji="1" lang="zh-CN" altLang="en-US" dirty="0"/>
              <a:t> </a:t>
            </a:r>
            <a:r>
              <a:rPr kumimoji="1" lang="en-US" altLang="zh-CN" dirty="0"/>
              <a:t>has</a:t>
            </a:r>
            <a:r>
              <a:rPr kumimoji="1" lang="zh-CN" altLang="en-US" dirty="0"/>
              <a:t> </a:t>
            </a:r>
            <a:r>
              <a:rPr kumimoji="1" lang="en-US" altLang="zh-CN" dirty="0"/>
              <a:t>internal</a:t>
            </a:r>
            <a:r>
              <a:rPr kumimoji="1" lang="zh-CN" altLang="en-US" dirty="0"/>
              <a:t> </a:t>
            </a:r>
            <a:r>
              <a:rPr kumimoji="1" lang="en-US" altLang="zh-CN" dirty="0"/>
              <a:t>structures</a:t>
            </a:r>
            <a:endParaRPr kumimoji="1" lang="zh-CN" altLang="en-US" dirty="0"/>
          </a:p>
        </p:txBody>
      </p:sp>
      <p:cxnSp>
        <p:nvCxnSpPr>
          <p:cNvPr id="18" name="直线箭头连接符 17">
            <a:extLst>
              <a:ext uri="{FF2B5EF4-FFF2-40B4-BE49-F238E27FC236}">
                <a16:creationId xmlns:a16="http://schemas.microsoft.com/office/drawing/2014/main" id="{CEB32B35-320D-2848-8180-E848ACA0EB12}"/>
              </a:ext>
            </a:extLst>
          </p:cNvPr>
          <p:cNvCxnSpPr>
            <a:cxnSpLocks/>
            <a:stCxn id="17" idx="1"/>
          </p:cNvCxnSpPr>
          <p:nvPr/>
        </p:nvCxnSpPr>
        <p:spPr>
          <a:xfrm flipH="1" flipV="1">
            <a:off x="2286000" y="3048000"/>
            <a:ext cx="2743200" cy="9327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5B85435A-0642-2843-9390-1BE96901896C}"/>
                  </a:ext>
                </a:extLst>
              </p:cNvPr>
              <p:cNvSpPr txBox="1"/>
              <p:nvPr/>
            </p:nvSpPr>
            <p:spPr>
              <a:xfrm>
                <a:off x="5105400" y="5498068"/>
                <a:ext cx="37338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CN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 </m:t>
                    </m:r>
                  </m:oMath>
                </a14:m>
                <a:r>
                  <a:rPr kumimoji="1" lang="en-US" altLang="zh-CN" dirty="0"/>
                  <a:t>: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universal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quantifiers</a:t>
                </a:r>
                <a:endParaRPr kumimoji="1" lang="zh-CN" altLang="en-US" dirty="0"/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5B85435A-0642-2843-9390-1BE9690189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5400" y="5498068"/>
                <a:ext cx="3733800" cy="369332"/>
              </a:xfrm>
              <a:prstGeom prst="rect">
                <a:avLst/>
              </a:prstGeom>
              <a:blipFill>
                <a:blip r:embed="rId3"/>
                <a:stretch>
                  <a:fillRect t="-6667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直线箭头连接符 20">
            <a:extLst>
              <a:ext uri="{FF2B5EF4-FFF2-40B4-BE49-F238E27FC236}">
                <a16:creationId xmlns:a16="http://schemas.microsoft.com/office/drawing/2014/main" id="{1B3E3C27-98D9-744F-A01B-2B4FC7E2E7EB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2743200" y="5682734"/>
            <a:ext cx="2362200" cy="2725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583D4A08-F390-9443-AE36-67635BA8E99F}"/>
                  </a:ext>
                </a:extLst>
              </p:cNvPr>
              <p:cNvSpPr txBox="1"/>
              <p:nvPr/>
            </p:nvSpPr>
            <p:spPr>
              <a:xfrm>
                <a:off x="5105400" y="5955268"/>
                <a:ext cx="28194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CN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 </m:t>
                    </m:r>
                  </m:oMath>
                </a14:m>
                <a:r>
                  <a:rPr kumimoji="1" lang="en-US" altLang="zh-CN" dirty="0"/>
                  <a:t>: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existential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quantifier</a:t>
                </a:r>
                <a:endParaRPr kumimoji="1" lang="zh-CN" altLang="en-US" dirty="0"/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583D4A08-F390-9443-AE36-67635BA8E9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5400" y="5955268"/>
                <a:ext cx="2819400" cy="369332"/>
              </a:xfrm>
              <a:prstGeom prst="rect">
                <a:avLst/>
              </a:prstGeom>
              <a:blipFill>
                <a:blip r:embed="rId4"/>
                <a:stretch>
                  <a:fillRect t="-6667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直线箭头连接符 22">
            <a:extLst>
              <a:ext uri="{FF2B5EF4-FFF2-40B4-BE49-F238E27FC236}">
                <a16:creationId xmlns:a16="http://schemas.microsoft.com/office/drawing/2014/main" id="{D8910786-A4D4-FF4A-9A88-6D8B64D08CD0}"/>
              </a:ext>
            </a:extLst>
          </p:cNvPr>
          <p:cNvCxnSpPr>
            <a:cxnSpLocks/>
            <a:stCxn id="22" idx="1"/>
          </p:cNvCxnSpPr>
          <p:nvPr/>
        </p:nvCxnSpPr>
        <p:spPr>
          <a:xfrm flipH="1">
            <a:off x="2743200" y="6139934"/>
            <a:ext cx="2362200" cy="2608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7242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10" grpId="0"/>
      <p:bldP spid="14" grpId="0"/>
      <p:bldP spid="17" grpId="0"/>
      <p:bldP spid="20" grpId="0"/>
      <p:bldP spid="2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Intuitions:</a:t>
            </a:r>
            <a:r>
              <a:rPr kumimoji="1" lang="zh-CN" altLang="en-US" dirty="0"/>
              <a:t> </a:t>
            </a:r>
            <a:r>
              <a:rPr kumimoji="1" lang="en-US" altLang="zh-CN" dirty="0"/>
              <a:t>to</a:t>
            </a:r>
            <a:r>
              <a:rPr kumimoji="1" lang="zh-CN" altLang="en-US" dirty="0"/>
              <a:t> </a:t>
            </a:r>
            <a:r>
              <a:rPr kumimoji="1" lang="en-US" altLang="zh-CN" dirty="0"/>
              <a:t>encode</a:t>
            </a:r>
            <a:r>
              <a:rPr kumimoji="1" lang="zh-CN" altLang="en-US" dirty="0"/>
              <a:t> </a:t>
            </a:r>
            <a:r>
              <a:rPr kumimoji="1" lang="en-US" altLang="zh-CN" dirty="0"/>
              <a:t>Z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8EA67DCE-2389-6343-AFC1-54E1B9454D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82688" y="2017713"/>
                <a:ext cx="3770312" cy="411480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kumimoji="1" lang="en-US" altLang="zh-CN" sz="2400" dirty="0"/>
                  <a:t>E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::=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x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|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c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|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f(E,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…,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E)</a:t>
                </a:r>
              </a:p>
              <a:p>
                <a:pPr marL="0" indent="0">
                  <a:buNone/>
                </a:pPr>
                <a:r>
                  <a:rPr kumimoji="1" lang="en-US" altLang="zh-CN" sz="2400" dirty="0"/>
                  <a:t>R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::=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r(E,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…,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E)</a:t>
                </a:r>
                <a:r>
                  <a:rPr kumimoji="1" lang="zh-CN" altLang="en-US" sz="2400" dirty="0"/>
                  <a:t>       </a:t>
                </a:r>
                <a:endParaRPr kumimoji="1" lang="en-US" altLang="zh-CN" sz="2400" dirty="0"/>
              </a:p>
              <a:p>
                <a:pPr marL="0" indent="0">
                  <a:buNone/>
                </a:pPr>
                <a:r>
                  <a:rPr kumimoji="1" lang="en-US" altLang="zh-CN" sz="2400" i="1" dirty="0">
                    <a:latin typeface="Cambria Math" panose="02040503050406030204" pitchFamily="18" charset="0"/>
                  </a:rPr>
                  <a:t>P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::=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R</a:t>
                </a:r>
              </a:p>
              <a:p>
                <a:pPr marL="0" indent="0">
                  <a:buNone/>
                </a:pPr>
                <a:r>
                  <a:rPr kumimoji="1" lang="zh-CN" altLang="en-US" sz="2400" dirty="0"/>
                  <a:t>      </a:t>
                </a:r>
                <a:r>
                  <a:rPr kumimoji="1" lang="en-US" altLang="zh-CN" sz="2400" dirty="0"/>
                  <a:t>|</a:t>
                </a:r>
                <a14:m>
                  <m:oMath xmlns:m="http://schemas.openxmlformats.org/officeDocument/2006/math">
                    <m:r>
                      <a:rPr kumimoji="1" lang="zh-CN" alt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kumimoji="1" lang="en-US" altLang="zh-CN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T</m:t>
                    </m:r>
                  </m:oMath>
                </a14:m>
                <a:endParaRPr kumimoji="1" lang="en-US" altLang="zh-CN" sz="2400" b="0" i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kumimoji="1" lang="zh-CN" altLang="en-US" sz="2400" dirty="0">
                    <a:ea typeface="Cambria Math" panose="02040503050406030204" pitchFamily="18" charset="0"/>
                  </a:rPr>
                  <a:t>      </a:t>
                </a:r>
                <a:r>
                  <a:rPr kumimoji="1" lang="en-US" altLang="zh-CN" sz="2400" dirty="0">
                    <a:ea typeface="Cambria Math" panose="02040503050406030204" pitchFamily="18" charset="0"/>
                  </a:rPr>
                  <a:t>|</a:t>
                </a:r>
                <a:r>
                  <a:rPr kumimoji="1" lang="zh-CN" altLang="en-US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⊥</m:t>
                    </m:r>
                  </m:oMath>
                </a14:m>
                <a:endParaRPr kumimoji="1" lang="en-US" altLang="zh-CN" sz="2400" dirty="0"/>
              </a:p>
              <a:p>
                <a:pPr marL="0" indent="0">
                  <a:buNone/>
                </a:pPr>
                <a:r>
                  <a:rPr kumimoji="1" lang="zh-CN" altLang="en-US" sz="2400" dirty="0"/>
                  <a:t>      </a:t>
                </a:r>
                <a:r>
                  <a:rPr kumimoji="1" lang="en-US" altLang="zh-CN" sz="2400" dirty="0"/>
                  <a:t>|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i="1" dirty="0">
                    <a:latin typeface="Cambria Math" panose="02040503050406030204" pitchFamily="18" charset="0"/>
                  </a:rPr>
                  <a:t>P</a:t>
                </a:r>
                <a:r>
                  <a:rPr kumimoji="1" lang="zh-CN" altLang="en-US" sz="2400" dirty="0"/>
                  <a:t> </a:t>
                </a:r>
                <a14:m>
                  <m:oMath xmlns:m="http://schemas.openxmlformats.org/officeDocument/2006/math">
                    <m:r>
                      <a:rPr kumimoji="1" lang="zh-CN" altLang="en-US" sz="2400" i="1">
                        <a:latin typeface="Cambria Math" panose="02040503050406030204" pitchFamily="18" charset="0"/>
                      </a:rPr>
                      <m:t>∨</m:t>
                    </m:r>
                  </m:oMath>
                </a14:m>
                <a:r>
                  <a:rPr kumimoji="1" lang="zh-CN" altLang="en-US" sz="2400" i="1" dirty="0">
                    <a:latin typeface="Cambria Math" panose="02040503050406030204" pitchFamily="18" charset="0"/>
                  </a:rPr>
                  <a:t> </a:t>
                </a:r>
                <a:r>
                  <a:rPr kumimoji="1" lang="en-US" altLang="zh-CN" sz="2400" i="1" dirty="0">
                    <a:latin typeface="Cambria Math" panose="02040503050406030204" pitchFamily="18" charset="0"/>
                  </a:rPr>
                  <a:t>P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1" lang="zh-CN" altLang="en-US" sz="2400" b="0" i="0" dirty="0" smtClean="0"/>
                        <m:t>      </m:t>
                      </m:r>
                      <m:r>
                        <m:rPr>
                          <m:nor/>
                        </m:rPr>
                        <a:rPr kumimoji="1" lang="en-US" altLang="zh-CN" sz="2400" dirty="0"/>
                        <m:t>|</m:t>
                      </m:r>
                      <m:r>
                        <m:rPr>
                          <m:nor/>
                        </m:rPr>
                        <a:rPr kumimoji="1" lang="zh-CN" altLang="en-US" sz="2400" dirty="0"/>
                        <m:t> </m:t>
                      </m:r>
                      <m:r>
                        <m:rPr>
                          <m:nor/>
                        </m:rPr>
                        <a:rPr kumimoji="1" lang="en-US" altLang="zh-CN" sz="2400" i="1" dirty="0">
                          <a:latin typeface="Cambria Math" panose="02040503050406030204" pitchFamily="18" charset="0"/>
                        </a:rPr>
                        <m:t>P</m:t>
                      </m:r>
                      <m:r>
                        <a:rPr kumimoji="1" lang="zh-CN" altLang="en-US" sz="2400" i="1">
                          <a:latin typeface="Cambria Math" panose="02040503050406030204" pitchFamily="18" charset="0"/>
                        </a:rPr>
                        <m:t>∧</m:t>
                      </m:r>
                      <m:r>
                        <m:rPr>
                          <m:nor/>
                        </m:rPr>
                        <a:rPr kumimoji="1" lang="en-US" altLang="zh-CN" sz="2400" i="1" dirty="0">
                          <a:latin typeface="Cambria Math" panose="02040503050406030204" pitchFamily="18" charset="0"/>
                        </a:rPr>
                        <m:t>P</m:t>
                      </m:r>
                    </m:oMath>
                  </m:oMathPara>
                </a14:m>
                <a:endParaRPr kumimoji="1" lang="en-US" altLang="zh-CN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1" lang="zh-CN" altLang="en-US" sz="2400" b="0" i="0" dirty="0" smtClean="0"/>
                        <m:t>      </m:t>
                      </m:r>
                      <m:r>
                        <m:rPr>
                          <m:nor/>
                        </m:rPr>
                        <a:rPr kumimoji="1" lang="en-US" altLang="zh-CN" sz="2400" dirty="0"/>
                        <m:t>|</m:t>
                      </m:r>
                      <m:r>
                        <m:rPr>
                          <m:nor/>
                        </m:rPr>
                        <a:rPr kumimoji="1" lang="zh-CN" altLang="en-US" sz="2400" dirty="0"/>
                        <m:t> </m:t>
                      </m:r>
                      <m:r>
                        <m:rPr>
                          <m:nor/>
                        </m:rPr>
                        <a:rPr kumimoji="1" lang="en-US" altLang="zh-CN" sz="2400" i="1" dirty="0">
                          <a:latin typeface="Cambria Math" panose="02040503050406030204" pitchFamily="18" charset="0"/>
                        </a:rPr>
                        <m:t>P</m:t>
                      </m:r>
                      <m:r>
                        <a:rPr kumimoji="1" lang="zh-CN" altLang="en-US" sz="240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m:rPr>
                          <m:nor/>
                        </m:rPr>
                        <a:rPr kumimoji="1" lang="en-US" altLang="zh-CN" sz="2400" i="1" dirty="0">
                          <a:latin typeface="Cambria Math" panose="02040503050406030204" pitchFamily="18" charset="0"/>
                        </a:rPr>
                        <m:t>P</m:t>
                      </m:r>
                    </m:oMath>
                  </m:oMathPara>
                </a14:m>
                <a:endParaRPr kumimoji="1" lang="en-US" altLang="zh-CN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1" lang="zh-CN" altLang="en-US" sz="2400" b="0" i="0" dirty="0" smtClean="0"/>
                        <m:t>      </m:t>
                      </m:r>
                      <m:r>
                        <m:rPr>
                          <m:nor/>
                        </m:rPr>
                        <a:rPr kumimoji="1" lang="en-US" altLang="zh-CN" sz="2400" dirty="0"/>
                        <m:t>|</m:t>
                      </m:r>
                      <m:r>
                        <a:rPr kumimoji="1" lang="zh-CN" altLang="en-US" sz="24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¬</m:t>
                      </m:r>
                      <m:r>
                        <m:rPr>
                          <m:nor/>
                        </m:rPr>
                        <a:rPr kumimoji="1" lang="en-US" altLang="zh-CN" sz="2400" i="1" dirty="0">
                          <a:latin typeface="Cambria Math" panose="02040503050406030204" pitchFamily="18" charset="0"/>
                        </a:rPr>
                        <m:t>P</m:t>
                      </m:r>
                    </m:oMath>
                  </m:oMathPara>
                </a14:m>
                <a:endParaRPr kumimoji="1" lang="en-US" altLang="zh-CN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kumimoji="1" lang="zh-CN" altLang="en-US" sz="2400" dirty="0"/>
                  <a:t>      </a:t>
                </a:r>
                <a:r>
                  <a:rPr kumimoji="1" lang="en-US" altLang="zh-CN" sz="2400" dirty="0"/>
                  <a:t>|</a:t>
                </a:r>
                <a:r>
                  <a:rPr kumimoji="1" lang="zh-CN" altLang="en-US" sz="2400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kumimoji="1" lang="en-US" altLang="zh-CN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kumimoji="1" lang="en-US" altLang="zh-CN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kumimoji="1" lang="en-US" altLang="zh-CN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endParaRPr kumimoji="1" lang="en-US" altLang="zh-CN" sz="2400" dirty="0"/>
              </a:p>
              <a:p>
                <a:pPr marL="0" indent="0">
                  <a:buNone/>
                </a:pPr>
                <a:r>
                  <a:rPr kumimoji="1" lang="zh-CN" altLang="en-US" sz="2400" dirty="0"/>
                  <a:t>      </a:t>
                </a:r>
                <a:r>
                  <a:rPr kumimoji="1" lang="en-US" altLang="zh-CN" sz="2400" dirty="0"/>
                  <a:t>|</a:t>
                </a:r>
                <a:r>
                  <a:rPr kumimoji="1" lang="zh-CN" altLang="en-US" sz="2400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  <m:r>
                      <a:rPr kumimoji="1" lang="en-US" altLang="zh-CN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kumimoji="1" lang="en-US" altLang="zh-CN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m:rPr>
                        <m:nor/>
                      </m:rPr>
                      <a:rPr kumimoji="1" lang="en-US" altLang="zh-CN" sz="2400" i="1" dirty="0"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endParaRPr kumimoji="1" lang="en-US" altLang="zh-CN" sz="2400" dirty="0"/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8EA67DCE-2389-6343-AFC1-54E1B9454D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82688" y="2017713"/>
                <a:ext cx="3770312" cy="4114800"/>
              </a:xfrm>
              <a:blipFill>
                <a:blip r:embed="rId2"/>
                <a:stretch>
                  <a:fillRect l="-2349" t="-923" b="-156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内容占位符 2">
                <a:extLst>
                  <a:ext uri="{FF2B5EF4-FFF2-40B4-BE49-F238E27FC236}">
                    <a16:creationId xmlns:a16="http://schemas.microsoft.com/office/drawing/2014/main" id="{80D5A982-3100-9840-8BE0-B3046C61C8CE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145088" y="1981200"/>
                <a:ext cx="3770312" cy="41148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6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55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+mn-lt"/>
                    <a:ea typeface="+mn-ea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5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+mn-lt"/>
                    <a:ea typeface="+mn-ea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55000"/>
                  <a:buFont typeface="Wingdings" pitchFamily="2" charset="2"/>
                  <a:buChar char="n"/>
                  <a:defRPr sz="2000">
                    <a:solidFill>
                      <a:schemeClr val="tx1"/>
                    </a:solidFill>
                    <a:latin typeface="+mn-lt"/>
                    <a:ea typeface="+mn-ea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50000"/>
                  <a:buFont typeface="Wingdings" pitchFamily="2" charset="2"/>
                  <a:buChar char="n"/>
                  <a:defRPr sz="2000">
                    <a:solidFill>
                      <a:schemeClr val="tx1"/>
                    </a:solidFill>
                    <a:latin typeface="+mn-lt"/>
                    <a:ea typeface="+mn-ea"/>
                  </a:defRPr>
                </a:lvl5pPr>
                <a:lvl6pPr marL="25146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50000"/>
                  <a:buFont typeface="Wingdings" pitchFamily="2" charset="2"/>
                  <a:buChar char="n"/>
                  <a:defRPr sz="2000">
                    <a:solidFill>
                      <a:schemeClr val="tx1"/>
                    </a:solidFill>
                    <a:latin typeface="+mn-lt"/>
                    <a:ea typeface="+mn-ea"/>
                  </a:defRPr>
                </a:lvl6pPr>
                <a:lvl7pPr marL="29718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50000"/>
                  <a:buFont typeface="Wingdings" pitchFamily="2" charset="2"/>
                  <a:buChar char="n"/>
                  <a:defRPr sz="2000">
                    <a:solidFill>
                      <a:schemeClr val="tx1"/>
                    </a:solidFill>
                    <a:latin typeface="+mn-lt"/>
                    <a:ea typeface="+mn-ea"/>
                  </a:defRPr>
                </a:lvl7pPr>
                <a:lvl8pPr marL="34290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50000"/>
                  <a:buFont typeface="Wingdings" pitchFamily="2" charset="2"/>
                  <a:buChar char="n"/>
                  <a:defRPr sz="2000">
                    <a:solidFill>
                      <a:schemeClr val="tx1"/>
                    </a:solidFill>
                    <a:latin typeface="+mn-lt"/>
                    <a:ea typeface="+mn-ea"/>
                  </a:defRPr>
                </a:lvl8pPr>
                <a:lvl9pPr marL="38862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50000"/>
                  <a:buFont typeface="Wingdings" pitchFamily="2" charset="2"/>
                  <a:buChar char="n"/>
                  <a:defRPr sz="2000">
                    <a:solidFill>
                      <a:schemeClr val="tx1"/>
                    </a:solidFill>
                    <a:latin typeface="+mn-lt"/>
                    <a:ea typeface="+mn-ea"/>
                  </a:defRPr>
                </a:lvl9pPr>
              </a:lstStyle>
              <a:p>
                <a:pPr marL="0" indent="0">
                  <a:buFont typeface="Wingdings" pitchFamily="2" charset="2"/>
                  <a:buNone/>
                </a:pPr>
                <a:r>
                  <a:rPr kumimoji="1" lang="en-US" altLang="zh-CN" sz="2400" kern="0" dirty="0"/>
                  <a:t>E</a:t>
                </a:r>
                <a:r>
                  <a:rPr kumimoji="1" lang="zh-CN" altLang="en-US" sz="2400" kern="0" dirty="0"/>
                  <a:t> </a:t>
                </a:r>
                <a:r>
                  <a:rPr kumimoji="1" lang="en-US" altLang="zh-CN" sz="2400" kern="0" dirty="0"/>
                  <a:t>::=</a:t>
                </a:r>
                <a:r>
                  <a:rPr kumimoji="1" lang="zh-CN" altLang="en-US" sz="2400" kern="0" dirty="0"/>
                  <a:t> </a:t>
                </a:r>
                <a:r>
                  <a:rPr kumimoji="1" lang="en-US" altLang="zh-CN" sz="2400" kern="0" dirty="0"/>
                  <a:t>x</a:t>
                </a:r>
                <a:r>
                  <a:rPr kumimoji="1" lang="zh-CN" altLang="en-US" sz="2400" kern="0" dirty="0"/>
                  <a:t> </a:t>
                </a:r>
                <a:r>
                  <a:rPr kumimoji="1" lang="en-US" altLang="zh-CN" sz="2400" kern="0" dirty="0"/>
                  <a:t>|</a:t>
                </a:r>
                <a:r>
                  <a:rPr kumimoji="1" lang="zh-CN" altLang="en-US" sz="2400" kern="0" dirty="0"/>
                  <a:t> </a:t>
                </a:r>
                <a:r>
                  <a:rPr kumimoji="1" lang="en-US" altLang="zh-CN" sz="2400" kern="0" dirty="0"/>
                  <a:t>Z</a:t>
                </a:r>
                <a:r>
                  <a:rPr kumimoji="1" lang="zh-CN" altLang="en-US" sz="2400" kern="0" dirty="0"/>
                  <a:t> </a:t>
                </a:r>
                <a:r>
                  <a:rPr kumimoji="1" lang="en-US" altLang="zh-CN" sz="2400" kern="0" dirty="0"/>
                  <a:t>|</a:t>
                </a:r>
                <a:r>
                  <a:rPr kumimoji="1" lang="zh-CN" altLang="en-US" sz="2400" kern="0" dirty="0"/>
                  <a:t> </a:t>
                </a:r>
                <a:r>
                  <a:rPr kumimoji="1" lang="en-US" altLang="zh-CN" sz="2400" kern="0" dirty="0"/>
                  <a:t>E+E</a:t>
                </a:r>
                <a:r>
                  <a:rPr kumimoji="1" lang="zh-CN" altLang="en-US" sz="2400" kern="0" dirty="0"/>
                  <a:t> </a:t>
                </a:r>
                <a:r>
                  <a:rPr kumimoji="1" lang="en-US" altLang="zh-CN" sz="2400" kern="0" dirty="0"/>
                  <a:t>|</a:t>
                </a:r>
                <a:r>
                  <a:rPr kumimoji="1" lang="zh-CN" altLang="en-US" sz="2400" kern="0" dirty="0"/>
                  <a:t> </a:t>
                </a:r>
                <a:r>
                  <a:rPr kumimoji="1" lang="en-US" altLang="zh-CN" sz="2400" kern="0" dirty="0"/>
                  <a:t>E-E</a:t>
                </a:r>
              </a:p>
              <a:p>
                <a:pPr marL="0" indent="0">
                  <a:buFont typeface="Wingdings" pitchFamily="2" charset="2"/>
                  <a:buNone/>
                </a:pPr>
                <a:r>
                  <a:rPr kumimoji="1" lang="en-US" altLang="zh-CN" sz="2400" kern="0" dirty="0"/>
                  <a:t>R</a:t>
                </a:r>
                <a:r>
                  <a:rPr kumimoji="1" lang="zh-CN" altLang="en-US" sz="2400" kern="0" dirty="0"/>
                  <a:t> </a:t>
                </a:r>
                <a:r>
                  <a:rPr kumimoji="1" lang="en-US" altLang="zh-CN" sz="2400" kern="0" dirty="0"/>
                  <a:t>::=</a:t>
                </a:r>
                <a:r>
                  <a:rPr kumimoji="1" lang="zh-CN" altLang="en-US" sz="2400" kern="0" dirty="0"/>
                  <a:t> </a:t>
                </a:r>
                <a:r>
                  <a:rPr kumimoji="1" lang="en-US" altLang="zh-CN" sz="2400" kern="0" dirty="0"/>
                  <a:t>E=E</a:t>
                </a:r>
                <a:r>
                  <a:rPr kumimoji="1" lang="zh-CN" altLang="en-US" sz="2400" kern="0" dirty="0"/>
                  <a:t> </a:t>
                </a:r>
                <a:r>
                  <a:rPr kumimoji="1" lang="en-US" altLang="zh-CN" sz="2400" kern="0" dirty="0"/>
                  <a:t>|</a:t>
                </a:r>
                <a:r>
                  <a:rPr kumimoji="1" lang="zh-CN" altLang="en-US" sz="2400" kern="0" dirty="0"/>
                  <a:t> </a:t>
                </a:r>
                <a:r>
                  <a:rPr kumimoji="1" lang="en-US" altLang="zh-CN" sz="2400" kern="0" dirty="0"/>
                  <a:t>E&gt;E</a:t>
                </a:r>
              </a:p>
              <a:p>
                <a:pPr marL="0" indent="0">
                  <a:buFont typeface="Wingdings" pitchFamily="2" charset="2"/>
                  <a:buNone/>
                </a:pPr>
                <a:r>
                  <a:rPr kumimoji="1" lang="en-US" altLang="zh-CN" sz="2400" i="1" kern="0" dirty="0">
                    <a:latin typeface="Cambria Math" panose="02040503050406030204" pitchFamily="18" charset="0"/>
                  </a:rPr>
                  <a:t>P</a:t>
                </a:r>
                <a:r>
                  <a:rPr kumimoji="1" lang="zh-CN" altLang="en-US" sz="2400" kern="0" dirty="0"/>
                  <a:t> </a:t>
                </a:r>
                <a:r>
                  <a:rPr kumimoji="1" lang="en-US" altLang="zh-CN" sz="2400" kern="0" dirty="0"/>
                  <a:t>::=</a:t>
                </a:r>
                <a:r>
                  <a:rPr kumimoji="1" lang="zh-CN" altLang="en-US" sz="2400" kern="0" dirty="0"/>
                  <a:t> </a:t>
                </a:r>
                <a:r>
                  <a:rPr kumimoji="1" lang="en-US" altLang="zh-CN" sz="2400" kern="0" dirty="0"/>
                  <a:t>R</a:t>
                </a:r>
              </a:p>
              <a:p>
                <a:pPr marL="0" indent="0">
                  <a:buFont typeface="Wingdings" pitchFamily="2" charset="2"/>
                  <a:buNone/>
                </a:pPr>
                <a:r>
                  <a:rPr kumimoji="1" lang="zh-CN" altLang="en-US" sz="2400" kern="0" dirty="0"/>
                  <a:t>      </a:t>
                </a:r>
                <a:r>
                  <a:rPr kumimoji="1" lang="en-US" altLang="zh-CN" sz="2400" kern="0" dirty="0"/>
                  <a:t>|</a:t>
                </a:r>
                <a14:m>
                  <m:oMath xmlns:m="http://schemas.openxmlformats.org/officeDocument/2006/math">
                    <m:r>
                      <a:rPr kumimoji="1" lang="zh-CN" altLang="en-US" sz="2400" kern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kumimoji="1" lang="en-US" altLang="zh-CN" sz="2400" kern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T</m:t>
                    </m:r>
                  </m:oMath>
                </a14:m>
                <a:endParaRPr kumimoji="1" lang="en-US" altLang="zh-CN" sz="2400" kern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Font typeface="Wingdings" pitchFamily="2" charset="2"/>
                  <a:buNone/>
                </a:pPr>
                <a:r>
                  <a:rPr kumimoji="1" lang="zh-CN" altLang="en-US" sz="2400" kern="0" dirty="0">
                    <a:ea typeface="Cambria Math" panose="02040503050406030204" pitchFamily="18" charset="0"/>
                  </a:rPr>
                  <a:t>      </a:t>
                </a:r>
                <a:r>
                  <a:rPr kumimoji="1" lang="en-US" altLang="zh-CN" sz="2400" kern="0" dirty="0">
                    <a:ea typeface="Cambria Math" panose="02040503050406030204" pitchFamily="18" charset="0"/>
                  </a:rPr>
                  <a:t>|</a:t>
                </a:r>
                <a:r>
                  <a:rPr kumimoji="1" lang="zh-CN" altLang="en-US" sz="2400" kern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i="1" kern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⊥</m:t>
                    </m:r>
                  </m:oMath>
                </a14:m>
                <a:endParaRPr kumimoji="1" lang="en-US" altLang="zh-CN" sz="2400" kern="0" dirty="0"/>
              </a:p>
              <a:p>
                <a:pPr marL="0" indent="0">
                  <a:buFont typeface="Wingdings" pitchFamily="2" charset="2"/>
                  <a:buNone/>
                </a:pPr>
                <a:r>
                  <a:rPr kumimoji="1" lang="zh-CN" altLang="en-US" sz="2400" kern="0" dirty="0"/>
                  <a:t>      </a:t>
                </a:r>
                <a:r>
                  <a:rPr kumimoji="1" lang="en-US" altLang="zh-CN" sz="2400" kern="0" dirty="0"/>
                  <a:t>|</a:t>
                </a:r>
                <a:r>
                  <a:rPr kumimoji="1" lang="zh-CN" altLang="en-US" sz="2400" kern="0" dirty="0"/>
                  <a:t> </a:t>
                </a:r>
                <a:r>
                  <a:rPr kumimoji="1" lang="en-US" altLang="zh-CN" sz="2400" i="1" kern="0" dirty="0">
                    <a:latin typeface="Cambria Math" panose="02040503050406030204" pitchFamily="18" charset="0"/>
                  </a:rPr>
                  <a:t>P</a:t>
                </a:r>
                <a:r>
                  <a:rPr kumimoji="1" lang="zh-CN" altLang="en-US" sz="2400" kern="0" dirty="0"/>
                  <a:t> </a:t>
                </a:r>
                <a14:m>
                  <m:oMath xmlns:m="http://schemas.openxmlformats.org/officeDocument/2006/math">
                    <m:r>
                      <a:rPr kumimoji="1" lang="zh-CN" altLang="en-US" sz="2400" i="1" kern="0">
                        <a:latin typeface="Cambria Math" panose="02040503050406030204" pitchFamily="18" charset="0"/>
                      </a:rPr>
                      <m:t>∨</m:t>
                    </m:r>
                  </m:oMath>
                </a14:m>
                <a:r>
                  <a:rPr kumimoji="1" lang="zh-CN" altLang="en-US" sz="2400" i="1" kern="0" dirty="0">
                    <a:latin typeface="Cambria Math" panose="02040503050406030204" pitchFamily="18" charset="0"/>
                  </a:rPr>
                  <a:t> </a:t>
                </a:r>
                <a:r>
                  <a:rPr kumimoji="1" lang="en-US" altLang="zh-CN" sz="2400" i="1" kern="0" dirty="0">
                    <a:latin typeface="Cambria Math" panose="02040503050406030204" pitchFamily="18" charset="0"/>
                  </a:rPr>
                  <a:t>P</a:t>
                </a:r>
              </a:p>
              <a:p>
                <a:pPr marL="0" indent="0">
                  <a:buFont typeface="Wingdings" pitchFamily="2" charset="2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1" lang="zh-CN" altLang="en-US" sz="2400" kern="0" dirty="0" smtClean="0"/>
                        <m:t>      </m:t>
                      </m:r>
                      <m:r>
                        <m:rPr>
                          <m:nor/>
                        </m:rPr>
                        <a:rPr kumimoji="1" lang="en-US" altLang="zh-CN" sz="2400" kern="0" dirty="0"/>
                        <m:t>|</m:t>
                      </m:r>
                      <m:r>
                        <m:rPr>
                          <m:nor/>
                        </m:rPr>
                        <a:rPr kumimoji="1" lang="zh-CN" altLang="en-US" sz="2400" kern="0" dirty="0"/>
                        <m:t> </m:t>
                      </m:r>
                      <m:r>
                        <m:rPr>
                          <m:nor/>
                        </m:rPr>
                        <a:rPr kumimoji="1" lang="en-US" altLang="zh-CN" sz="2400" i="1" kern="0" dirty="0">
                          <a:latin typeface="Cambria Math" panose="02040503050406030204" pitchFamily="18" charset="0"/>
                        </a:rPr>
                        <m:t>P</m:t>
                      </m:r>
                      <m:r>
                        <a:rPr kumimoji="1" lang="zh-CN" altLang="en-US" sz="2400" i="1" kern="0">
                          <a:latin typeface="Cambria Math" panose="02040503050406030204" pitchFamily="18" charset="0"/>
                        </a:rPr>
                        <m:t>∧</m:t>
                      </m:r>
                      <m:r>
                        <m:rPr>
                          <m:nor/>
                        </m:rPr>
                        <a:rPr kumimoji="1" lang="en-US" altLang="zh-CN" sz="2400" i="1" kern="0" dirty="0">
                          <a:latin typeface="Cambria Math" panose="02040503050406030204" pitchFamily="18" charset="0"/>
                        </a:rPr>
                        <m:t>P</m:t>
                      </m:r>
                    </m:oMath>
                  </m:oMathPara>
                </a14:m>
                <a:endParaRPr kumimoji="1" lang="en-US" altLang="zh-CN" sz="2400" i="1" kern="0" dirty="0">
                  <a:latin typeface="Cambria Math" panose="02040503050406030204" pitchFamily="18" charset="0"/>
                </a:endParaRPr>
              </a:p>
              <a:p>
                <a:pPr marL="0" indent="0">
                  <a:buFont typeface="Wingdings" pitchFamily="2" charset="2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1" lang="zh-CN" altLang="en-US" sz="2400" kern="0" dirty="0" smtClean="0"/>
                        <m:t>      </m:t>
                      </m:r>
                      <m:r>
                        <m:rPr>
                          <m:nor/>
                        </m:rPr>
                        <a:rPr kumimoji="1" lang="en-US" altLang="zh-CN" sz="2400" kern="0" dirty="0"/>
                        <m:t>|</m:t>
                      </m:r>
                      <m:r>
                        <m:rPr>
                          <m:nor/>
                        </m:rPr>
                        <a:rPr kumimoji="1" lang="zh-CN" altLang="en-US" sz="2400" kern="0" dirty="0"/>
                        <m:t> </m:t>
                      </m:r>
                      <m:r>
                        <m:rPr>
                          <m:nor/>
                        </m:rPr>
                        <a:rPr kumimoji="1" lang="en-US" altLang="zh-CN" sz="2400" i="1" kern="0" dirty="0">
                          <a:latin typeface="Cambria Math" panose="02040503050406030204" pitchFamily="18" charset="0"/>
                        </a:rPr>
                        <m:t>P</m:t>
                      </m:r>
                      <m:r>
                        <a:rPr kumimoji="1" lang="zh-CN" altLang="en-US" sz="2400" i="1" kern="0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m:rPr>
                          <m:nor/>
                        </m:rPr>
                        <a:rPr kumimoji="1" lang="en-US" altLang="zh-CN" sz="2400" i="1" kern="0" dirty="0">
                          <a:latin typeface="Cambria Math" panose="02040503050406030204" pitchFamily="18" charset="0"/>
                        </a:rPr>
                        <m:t>P</m:t>
                      </m:r>
                    </m:oMath>
                  </m:oMathPara>
                </a14:m>
                <a:endParaRPr kumimoji="1" lang="en-US" altLang="zh-CN" sz="2400" i="1" kern="0" dirty="0">
                  <a:latin typeface="Cambria Math" panose="02040503050406030204" pitchFamily="18" charset="0"/>
                </a:endParaRPr>
              </a:p>
              <a:p>
                <a:pPr marL="0" indent="0">
                  <a:buFont typeface="Wingdings" pitchFamily="2" charset="2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1" lang="zh-CN" altLang="en-US" sz="2400" kern="0" dirty="0" smtClean="0"/>
                        <m:t>      </m:t>
                      </m:r>
                      <m:r>
                        <m:rPr>
                          <m:nor/>
                        </m:rPr>
                        <a:rPr kumimoji="1" lang="en-US" altLang="zh-CN" sz="2400" kern="0" dirty="0"/>
                        <m:t>|</m:t>
                      </m:r>
                      <m:r>
                        <a:rPr kumimoji="1" lang="zh-CN" altLang="en-US" sz="2400" i="1" kern="0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CN" sz="2400" i="1" ker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¬</m:t>
                      </m:r>
                      <m:r>
                        <m:rPr>
                          <m:nor/>
                        </m:rPr>
                        <a:rPr kumimoji="1" lang="en-US" altLang="zh-CN" sz="2400" i="1" kern="0" dirty="0">
                          <a:latin typeface="Cambria Math" panose="02040503050406030204" pitchFamily="18" charset="0"/>
                        </a:rPr>
                        <m:t>P</m:t>
                      </m:r>
                    </m:oMath>
                  </m:oMathPara>
                </a14:m>
                <a:endParaRPr kumimoji="1" lang="en-US" altLang="zh-CN" sz="2400" i="1" kern="0" dirty="0">
                  <a:latin typeface="Cambria Math" panose="02040503050406030204" pitchFamily="18" charset="0"/>
                </a:endParaRPr>
              </a:p>
              <a:p>
                <a:pPr marL="0" indent="0">
                  <a:buFont typeface="Wingdings" pitchFamily="2" charset="2"/>
                  <a:buNone/>
                </a:pPr>
                <a:r>
                  <a:rPr kumimoji="1" lang="zh-CN" altLang="en-US" sz="2400" kern="0" dirty="0"/>
                  <a:t>      </a:t>
                </a:r>
                <a:r>
                  <a:rPr kumimoji="1" lang="en-US" altLang="zh-CN" sz="2400" kern="0" dirty="0"/>
                  <a:t>|</a:t>
                </a:r>
                <a:r>
                  <a:rPr kumimoji="1" lang="zh-CN" altLang="en-US" sz="2400" kern="0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i="1" kern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kumimoji="1" lang="en-US" altLang="zh-CN" sz="2400" i="1" kern="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kumimoji="1" lang="en-US" altLang="zh-CN" sz="2400" i="1" kern="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kumimoji="1" lang="en-US" altLang="zh-CN" sz="2400" i="1" kern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endParaRPr kumimoji="1" lang="en-US" altLang="zh-CN" sz="2400" kern="0" dirty="0"/>
              </a:p>
              <a:p>
                <a:pPr marL="0" indent="0">
                  <a:buFont typeface="Wingdings" pitchFamily="2" charset="2"/>
                  <a:buNone/>
                </a:pPr>
                <a:r>
                  <a:rPr kumimoji="1" lang="zh-CN" altLang="en-US" sz="2400" kern="0" dirty="0"/>
                  <a:t>      </a:t>
                </a:r>
                <a:r>
                  <a:rPr kumimoji="1" lang="en-US" altLang="zh-CN" sz="2400" kern="0" dirty="0"/>
                  <a:t>|</a:t>
                </a:r>
                <a:r>
                  <a:rPr kumimoji="1" lang="zh-CN" altLang="en-US" sz="2400" kern="0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i="1" kern="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  <m:r>
                      <a:rPr kumimoji="1" lang="en-US" altLang="zh-CN" sz="2400" i="1" kern="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kumimoji="1" lang="en-US" altLang="zh-CN" sz="2400" i="1" kern="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m:rPr>
                        <m:nor/>
                      </m:rPr>
                      <a:rPr kumimoji="1" lang="en-US" altLang="zh-CN" sz="2400" i="1" kern="0" dirty="0"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endParaRPr kumimoji="1" lang="en-US" altLang="zh-CN" sz="2400" kern="0" dirty="0"/>
              </a:p>
            </p:txBody>
          </p:sp>
        </mc:Choice>
        <mc:Fallback xmlns="">
          <p:sp>
            <p:nvSpPr>
              <p:cNvPr id="19" name="内容占位符 2">
                <a:extLst>
                  <a:ext uri="{FF2B5EF4-FFF2-40B4-BE49-F238E27FC236}">
                    <a16:creationId xmlns:a16="http://schemas.microsoft.com/office/drawing/2014/main" id="{80D5A982-3100-9840-8BE0-B3046C61C8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45088" y="1981200"/>
                <a:ext cx="3770312" cy="4114800"/>
              </a:xfrm>
              <a:prstGeom prst="rect">
                <a:avLst/>
              </a:prstGeom>
              <a:blipFill>
                <a:blip r:embed="rId3"/>
                <a:stretch>
                  <a:fillRect l="-2349" t="-1235" b="-15741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8847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Intuitions:</a:t>
            </a:r>
            <a:r>
              <a:rPr kumimoji="1" lang="zh-CN" altLang="en-US" dirty="0"/>
              <a:t> </a:t>
            </a:r>
            <a:r>
              <a:rPr kumimoji="1" lang="en-US" altLang="zh-CN" dirty="0"/>
              <a:t>to</a:t>
            </a:r>
            <a:r>
              <a:rPr kumimoji="1" lang="zh-CN" altLang="en-US" dirty="0"/>
              <a:t> </a:t>
            </a:r>
            <a:r>
              <a:rPr kumimoji="1" lang="en-US" altLang="zh-CN" dirty="0"/>
              <a:t>encode</a:t>
            </a:r>
            <a:r>
              <a:rPr kumimoji="1" lang="zh-CN" altLang="en-US" dirty="0"/>
              <a:t> </a:t>
            </a:r>
            <a:r>
              <a:rPr kumimoji="1" lang="en-US" altLang="zh-CN" dirty="0"/>
              <a:t>set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theory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8EA67DCE-2389-6343-AFC1-54E1B9454D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82688" y="2017713"/>
                <a:ext cx="3770312" cy="411480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kumimoji="1" lang="en-US" altLang="zh-CN" sz="2400" dirty="0"/>
                  <a:t>E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::=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x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|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c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|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f(E,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…,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E)</a:t>
                </a:r>
              </a:p>
              <a:p>
                <a:pPr marL="0" indent="0">
                  <a:buNone/>
                </a:pPr>
                <a:r>
                  <a:rPr kumimoji="1" lang="en-US" altLang="zh-CN" sz="2400" dirty="0"/>
                  <a:t>R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::=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r(E,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…,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E)</a:t>
                </a:r>
                <a:r>
                  <a:rPr kumimoji="1" lang="zh-CN" altLang="en-US" sz="2400" dirty="0"/>
                  <a:t>       </a:t>
                </a:r>
                <a:endParaRPr kumimoji="1" lang="en-US" altLang="zh-CN" sz="2400" dirty="0"/>
              </a:p>
              <a:p>
                <a:pPr marL="0" indent="0">
                  <a:buNone/>
                </a:pPr>
                <a:r>
                  <a:rPr kumimoji="1" lang="en-US" altLang="zh-CN" sz="2400" i="1" dirty="0">
                    <a:latin typeface="Cambria Math" panose="02040503050406030204" pitchFamily="18" charset="0"/>
                  </a:rPr>
                  <a:t>P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::=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R</a:t>
                </a:r>
              </a:p>
              <a:p>
                <a:pPr marL="0" indent="0">
                  <a:buNone/>
                </a:pPr>
                <a:r>
                  <a:rPr kumimoji="1" lang="zh-CN" altLang="en-US" sz="2400" dirty="0"/>
                  <a:t>      </a:t>
                </a:r>
                <a:r>
                  <a:rPr kumimoji="1" lang="en-US" altLang="zh-CN" sz="2400" dirty="0"/>
                  <a:t>|</a:t>
                </a:r>
                <a14:m>
                  <m:oMath xmlns:m="http://schemas.openxmlformats.org/officeDocument/2006/math">
                    <m:r>
                      <a:rPr kumimoji="1" lang="zh-CN" alt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kumimoji="1" lang="en-US" altLang="zh-CN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T</m:t>
                    </m:r>
                  </m:oMath>
                </a14:m>
                <a:endParaRPr kumimoji="1" lang="en-US" altLang="zh-CN" sz="2400" b="0" i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kumimoji="1" lang="zh-CN" altLang="en-US" sz="2400" dirty="0">
                    <a:ea typeface="Cambria Math" panose="02040503050406030204" pitchFamily="18" charset="0"/>
                  </a:rPr>
                  <a:t>      </a:t>
                </a:r>
                <a:r>
                  <a:rPr kumimoji="1" lang="en-US" altLang="zh-CN" sz="2400" dirty="0">
                    <a:ea typeface="Cambria Math" panose="02040503050406030204" pitchFamily="18" charset="0"/>
                  </a:rPr>
                  <a:t>|</a:t>
                </a:r>
                <a:r>
                  <a:rPr kumimoji="1" lang="zh-CN" altLang="en-US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⊥</m:t>
                    </m:r>
                  </m:oMath>
                </a14:m>
                <a:endParaRPr kumimoji="1" lang="en-US" altLang="zh-CN" sz="2400" dirty="0"/>
              </a:p>
              <a:p>
                <a:pPr marL="0" indent="0">
                  <a:buNone/>
                </a:pPr>
                <a:r>
                  <a:rPr kumimoji="1" lang="zh-CN" altLang="en-US" sz="2400" dirty="0"/>
                  <a:t>      </a:t>
                </a:r>
                <a:r>
                  <a:rPr kumimoji="1" lang="en-US" altLang="zh-CN" sz="2400" dirty="0"/>
                  <a:t>|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i="1" dirty="0">
                    <a:latin typeface="Cambria Math" panose="02040503050406030204" pitchFamily="18" charset="0"/>
                  </a:rPr>
                  <a:t>P</a:t>
                </a:r>
                <a:r>
                  <a:rPr kumimoji="1" lang="zh-CN" altLang="en-US" sz="2400" dirty="0"/>
                  <a:t> </a:t>
                </a:r>
                <a14:m>
                  <m:oMath xmlns:m="http://schemas.openxmlformats.org/officeDocument/2006/math">
                    <m:r>
                      <a:rPr kumimoji="1" lang="zh-CN" altLang="en-US" sz="2400" i="1">
                        <a:latin typeface="Cambria Math" panose="02040503050406030204" pitchFamily="18" charset="0"/>
                      </a:rPr>
                      <m:t>∨</m:t>
                    </m:r>
                  </m:oMath>
                </a14:m>
                <a:r>
                  <a:rPr kumimoji="1" lang="zh-CN" altLang="en-US" sz="2400" i="1" dirty="0">
                    <a:latin typeface="Cambria Math" panose="02040503050406030204" pitchFamily="18" charset="0"/>
                  </a:rPr>
                  <a:t> </a:t>
                </a:r>
                <a:r>
                  <a:rPr kumimoji="1" lang="en-US" altLang="zh-CN" sz="2400" i="1" dirty="0">
                    <a:latin typeface="Cambria Math" panose="02040503050406030204" pitchFamily="18" charset="0"/>
                  </a:rPr>
                  <a:t>P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1" lang="zh-CN" altLang="en-US" sz="2400" b="0" i="0" dirty="0" smtClean="0"/>
                        <m:t>      </m:t>
                      </m:r>
                      <m:r>
                        <m:rPr>
                          <m:nor/>
                        </m:rPr>
                        <a:rPr kumimoji="1" lang="en-US" altLang="zh-CN" sz="2400" dirty="0"/>
                        <m:t>|</m:t>
                      </m:r>
                      <m:r>
                        <m:rPr>
                          <m:nor/>
                        </m:rPr>
                        <a:rPr kumimoji="1" lang="zh-CN" altLang="en-US" sz="2400" dirty="0"/>
                        <m:t> </m:t>
                      </m:r>
                      <m:r>
                        <m:rPr>
                          <m:nor/>
                        </m:rPr>
                        <a:rPr kumimoji="1" lang="en-US" altLang="zh-CN" sz="2400" i="1" dirty="0">
                          <a:latin typeface="Cambria Math" panose="02040503050406030204" pitchFamily="18" charset="0"/>
                        </a:rPr>
                        <m:t>P</m:t>
                      </m:r>
                      <m:r>
                        <a:rPr kumimoji="1" lang="zh-CN" altLang="en-US" sz="2400" i="1">
                          <a:latin typeface="Cambria Math" panose="02040503050406030204" pitchFamily="18" charset="0"/>
                        </a:rPr>
                        <m:t>∧</m:t>
                      </m:r>
                      <m:r>
                        <m:rPr>
                          <m:nor/>
                        </m:rPr>
                        <a:rPr kumimoji="1" lang="en-US" altLang="zh-CN" sz="2400" i="1" dirty="0">
                          <a:latin typeface="Cambria Math" panose="02040503050406030204" pitchFamily="18" charset="0"/>
                        </a:rPr>
                        <m:t>P</m:t>
                      </m:r>
                    </m:oMath>
                  </m:oMathPara>
                </a14:m>
                <a:endParaRPr kumimoji="1" lang="en-US" altLang="zh-CN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1" lang="zh-CN" altLang="en-US" sz="2400" b="0" i="0" dirty="0" smtClean="0"/>
                        <m:t>      </m:t>
                      </m:r>
                      <m:r>
                        <m:rPr>
                          <m:nor/>
                        </m:rPr>
                        <a:rPr kumimoji="1" lang="en-US" altLang="zh-CN" sz="2400" dirty="0"/>
                        <m:t>|</m:t>
                      </m:r>
                      <m:r>
                        <m:rPr>
                          <m:nor/>
                        </m:rPr>
                        <a:rPr kumimoji="1" lang="zh-CN" altLang="en-US" sz="2400" dirty="0"/>
                        <m:t> </m:t>
                      </m:r>
                      <m:r>
                        <m:rPr>
                          <m:nor/>
                        </m:rPr>
                        <a:rPr kumimoji="1" lang="en-US" altLang="zh-CN" sz="2400" i="1" dirty="0">
                          <a:latin typeface="Cambria Math" panose="02040503050406030204" pitchFamily="18" charset="0"/>
                        </a:rPr>
                        <m:t>P</m:t>
                      </m:r>
                      <m:r>
                        <a:rPr kumimoji="1" lang="zh-CN" altLang="en-US" sz="240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m:rPr>
                          <m:nor/>
                        </m:rPr>
                        <a:rPr kumimoji="1" lang="en-US" altLang="zh-CN" sz="2400" i="1" dirty="0">
                          <a:latin typeface="Cambria Math" panose="02040503050406030204" pitchFamily="18" charset="0"/>
                        </a:rPr>
                        <m:t>P</m:t>
                      </m:r>
                    </m:oMath>
                  </m:oMathPara>
                </a14:m>
                <a:endParaRPr kumimoji="1" lang="en-US" altLang="zh-CN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1" lang="zh-CN" altLang="en-US" sz="2400" b="0" i="0" dirty="0" smtClean="0"/>
                        <m:t>      </m:t>
                      </m:r>
                      <m:r>
                        <m:rPr>
                          <m:nor/>
                        </m:rPr>
                        <a:rPr kumimoji="1" lang="en-US" altLang="zh-CN" sz="2400" dirty="0"/>
                        <m:t>|</m:t>
                      </m:r>
                      <m:r>
                        <a:rPr kumimoji="1" lang="zh-CN" altLang="en-US" sz="24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¬</m:t>
                      </m:r>
                      <m:r>
                        <m:rPr>
                          <m:nor/>
                        </m:rPr>
                        <a:rPr kumimoji="1" lang="en-US" altLang="zh-CN" sz="2400" i="1" dirty="0">
                          <a:latin typeface="Cambria Math" panose="02040503050406030204" pitchFamily="18" charset="0"/>
                        </a:rPr>
                        <m:t>P</m:t>
                      </m:r>
                    </m:oMath>
                  </m:oMathPara>
                </a14:m>
                <a:endParaRPr kumimoji="1" lang="en-US" altLang="zh-CN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kumimoji="1" lang="zh-CN" altLang="en-US" sz="2400" dirty="0"/>
                  <a:t>      </a:t>
                </a:r>
                <a:r>
                  <a:rPr kumimoji="1" lang="en-US" altLang="zh-CN" sz="2400" dirty="0"/>
                  <a:t>|</a:t>
                </a:r>
                <a:r>
                  <a:rPr kumimoji="1" lang="zh-CN" altLang="en-US" sz="2400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kumimoji="1" lang="en-US" altLang="zh-CN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kumimoji="1" lang="en-US" altLang="zh-CN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kumimoji="1" lang="en-US" altLang="zh-CN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endParaRPr kumimoji="1" lang="en-US" altLang="zh-CN" sz="2400" dirty="0"/>
              </a:p>
              <a:p>
                <a:pPr marL="0" indent="0">
                  <a:buNone/>
                </a:pPr>
                <a:r>
                  <a:rPr kumimoji="1" lang="zh-CN" altLang="en-US" sz="2400" dirty="0"/>
                  <a:t>      </a:t>
                </a:r>
                <a:r>
                  <a:rPr kumimoji="1" lang="en-US" altLang="zh-CN" sz="2400" dirty="0"/>
                  <a:t>|</a:t>
                </a:r>
                <a:r>
                  <a:rPr kumimoji="1" lang="zh-CN" altLang="en-US" sz="2400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  <m:r>
                      <a:rPr kumimoji="1" lang="en-US" altLang="zh-CN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kumimoji="1" lang="en-US" altLang="zh-CN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m:rPr>
                        <m:nor/>
                      </m:rPr>
                      <a:rPr kumimoji="1" lang="en-US" altLang="zh-CN" sz="2400" i="1" dirty="0"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endParaRPr kumimoji="1" lang="en-US" altLang="zh-CN" sz="2400" dirty="0"/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8EA67DCE-2389-6343-AFC1-54E1B9454D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82688" y="2017713"/>
                <a:ext cx="3770312" cy="4114800"/>
              </a:xfrm>
              <a:blipFill>
                <a:blip r:embed="rId2"/>
                <a:stretch>
                  <a:fillRect l="-2349" t="-923" b="-156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内容占位符 2">
                <a:extLst>
                  <a:ext uri="{FF2B5EF4-FFF2-40B4-BE49-F238E27FC236}">
                    <a16:creationId xmlns:a16="http://schemas.microsoft.com/office/drawing/2014/main" id="{80D5A982-3100-9840-8BE0-B3046C61C8CE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4800600" y="1981200"/>
                <a:ext cx="4114800" cy="41148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6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55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+mn-lt"/>
                    <a:ea typeface="+mn-ea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5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+mn-lt"/>
                    <a:ea typeface="+mn-ea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55000"/>
                  <a:buFont typeface="Wingdings" pitchFamily="2" charset="2"/>
                  <a:buChar char="n"/>
                  <a:defRPr sz="2000">
                    <a:solidFill>
                      <a:schemeClr val="tx1"/>
                    </a:solidFill>
                    <a:latin typeface="+mn-lt"/>
                    <a:ea typeface="+mn-ea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50000"/>
                  <a:buFont typeface="Wingdings" pitchFamily="2" charset="2"/>
                  <a:buChar char="n"/>
                  <a:defRPr sz="2000">
                    <a:solidFill>
                      <a:schemeClr val="tx1"/>
                    </a:solidFill>
                    <a:latin typeface="+mn-lt"/>
                    <a:ea typeface="+mn-ea"/>
                  </a:defRPr>
                </a:lvl5pPr>
                <a:lvl6pPr marL="25146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50000"/>
                  <a:buFont typeface="Wingdings" pitchFamily="2" charset="2"/>
                  <a:buChar char="n"/>
                  <a:defRPr sz="2000">
                    <a:solidFill>
                      <a:schemeClr val="tx1"/>
                    </a:solidFill>
                    <a:latin typeface="+mn-lt"/>
                    <a:ea typeface="+mn-ea"/>
                  </a:defRPr>
                </a:lvl6pPr>
                <a:lvl7pPr marL="29718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50000"/>
                  <a:buFont typeface="Wingdings" pitchFamily="2" charset="2"/>
                  <a:buChar char="n"/>
                  <a:defRPr sz="2000">
                    <a:solidFill>
                      <a:schemeClr val="tx1"/>
                    </a:solidFill>
                    <a:latin typeface="+mn-lt"/>
                    <a:ea typeface="+mn-ea"/>
                  </a:defRPr>
                </a:lvl7pPr>
                <a:lvl8pPr marL="34290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50000"/>
                  <a:buFont typeface="Wingdings" pitchFamily="2" charset="2"/>
                  <a:buChar char="n"/>
                  <a:defRPr sz="2000">
                    <a:solidFill>
                      <a:schemeClr val="tx1"/>
                    </a:solidFill>
                    <a:latin typeface="+mn-lt"/>
                    <a:ea typeface="+mn-ea"/>
                  </a:defRPr>
                </a:lvl8pPr>
                <a:lvl9pPr marL="38862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50000"/>
                  <a:buFont typeface="Wingdings" pitchFamily="2" charset="2"/>
                  <a:buChar char="n"/>
                  <a:defRPr sz="2000">
                    <a:solidFill>
                      <a:schemeClr val="tx1"/>
                    </a:solidFill>
                    <a:latin typeface="+mn-lt"/>
                    <a:ea typeface="+mn-ea"/>
                  </a:defRPr>
                </a:lvl9pPr>
              </a:lstStyle>
              <a:p>
                <a:pPr marL="0" indent="0">
                  <a:buNone/>
                </a:pPr>
                <a:r>
                  <a:rPr kumimoji="1" lang="en-US" altLang="zh-CN" sz="2400" kern="0" dirty="0"/>
                  <a:t>E</a:t>
                </a:r>
                <a:r>
                  <a:rPr kumimoji="1" lang="zh-CN" altLang="en-US" sz="2400" kern="0" dirty="0"/>
                  <a:t> </a:t>
                </a:r>
                <a:r>
                  <a:rPr kumimoji="1" lang="en-US" altLang="zh-CN" sz="2400" kern="0" dirty="0"/>
                  <a:t>::=</a:t>
                </a:r>
                <a:r>
                  <a:rPr kumimoji="1" lang="zh-CN" altLang="en-US" sz="2400" kern="0" dirty="0"/>
                  <a:t> </a:t>
                </a:r>
                <a:r>
                  <a:rPr kumimoji="1" lang="en-US" altLang="zh-CN" sz="2400" kern="0" dirty="0"/>
                  <a:t>x</a:t>
                </a:r>
                <a:r>
                  <a:rPr kumimoji="1" lang="zh-CN" altLang="en-US" sz="2400" kern="0" dirty="0"/>
                  <a:t> </a:t>
                </a:r>
                <a:r>
                  <a:rPr kumimoji="1" lang="en-US" altLang="zh-CN" sz="2400" kern="0" dirty="0"/>
                  <a:t>|</a:t>
                </a:r>
                <a:r>
                  <a:rPr kumimoji="1" lang="zh-CN" altLang="en-US" sz="2400" kern="0" dirty="0"/>
                  <a:t> </a:t>
                </a:r>
                <a:r>
                  <a:rPr kumimoji="1" lang="en-US" altLang="zh-CN" sz="2400" kern="0" dirty="0"/>
                  <a:t>S</a:t>
                </a:r>
                <a:r>
                  <a:rPr kumimoji="1" lang="zh-CN" altLang="en-US" sz="2400" kern="0" dirty="0"/>
                  <a:t> </a:t>
                </a:r>
                <a:r>
                  <a:rPr kumimoji="1" lang="en-US" altLang="zh-CN" sz="2400" kern="0" dirty="0"/>
                  <a:t>|</a:t>
                </a:r>
                <a:r>
                  <a:rPr kumimoji="1" lang="zh-CN" altLang="en-US" sz="2400" kern="0" dirty="0"/>
                  <a:t> </a:t>
                </a:r>
                <a:r>
                  <a:rPr kumimoji="1" lang="en-US" altLang="zh-CN" sz="2400" kern="0" dirty="0"/>
                  <a:t>E</a:t>
                </a:r>
                <a14:m>
                  <m:oMath xmlns:m="http://schemas.openxmlformats.org/officeDocument/2006/math">
                    <m:r>
                      <a:rPr kumimoji="1" lang="en-US" altLang="zh-CN" sz="2400" i="1" kern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kumimoji="1" lang="en-US" altLang="zh-CN" sz="2400" kern="0" dirty="0"/>
                  <a:t>E</a:t>
                </a:r>
                <a:r>
                  <a:rPr kumimoji="1" lang="zh-CN" altLang="en-US" sz="2400" kern="0" dirty="0"/>
                  <a:t> </a:t>
                </a:r>
                <a:r>
                  <a:rPr kumimoji="1" lang="en-US" altLang="zh-CN" sz="2400" kern="0" dirty="0"/>
                  <a:t>|</a:t>
                </a:r>
                <a:r>
                  <a:rPr kumimoji="1" lang="zh-CN" altLang="en-US" sz="2400" kern="0" dirty="0"/>
                  <a:t> </a:t>
                </a:r>
                <a:r>
                  <a:rPr kumimoji="1" lang="en-US" altLang="zh-CN" sz="2400" kern="0" dirty="0"/>
                  <a:t>E</a:t>
                </a:r>
                <a14:m>
                  <m:oMath xmlns:m="http://schemas.openxmlformats.org/officeDocument/2006/math">
                    <m:r>
                      <a:rPr kumimoji="1" lang="en-US" altLang="zh-CN" sz="2400" i="1" ker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</m:oMath>
                </a14:m>
                <a:r>
                  <a:rPr kumimoji="1" lang="en-US" altLang="zh-CN" sz="2400" kern="0" dirty="0"/>
                  <a:t>E</a:t>
                </a:r>
              </a:p>
              <a:p>
                <a:pPr marL="0" indent="0">
                  <a:buFont typeface="Wingdings" pitchFamily="2" charset="2"/>
                  <a:buNone/>
                </a:pPr>
                <a:r>
                  <a:rPr kumimoji="1" lang="en-US" altLang="zh-CN" sz="2400" kern="0" dirty="0"/>
                  <a:t>R</a:t>
                </a:r>
                <a:r>
                  <a:rPr kumimoji="1" lang="zh-CN" altLang="en-US" sz="2400" kern="0" dirty="0"/>
                  <a:t> </a:t>
                </a:r>
                <a:r>
                  <a:rPr kumimoji="1" lang="en-US" altLang="zh-CN" sz="2400" kern="0" dirty="0"/>
                  <a:t>::=</a:t>
                </a:r>
                <a:r>
                  <a:rPr kumimoji="1" lang="zh-CN" altLang="en-US" sz="2400" kern="0" dirty="0"/>
                  <a:t> </a:t>
                </a:r>
                <a:r>
                  <a:rPr kumimoji="1" lang="en-US" altLang="zh-CN" sz="2400" kern="0" dirty="0"/>
                  <a:t>empty(E)</a:t>
                </a:r>
                <a:r>
                  <a:rPr kumimoji="1" lang="zh-CN" altLang="en-US" sz="2400" kern="0" dirty="0"/>
                  <a:t> </a:t>
                </a:r>
                <a:r>
                  <a:rPr kumimoji="1" lang="en-US" altLang="zh-CN" sz="2400" kern="0" dirty="0"/>
                  <a:t>|</a:t>
                </a:r>
                <a:r>
                  <a:rPr kumimoji="1" lang="zh-CN" altLang="en-US" sz="2400" kern="0" dirty="0"/>
                  <a:t> </a:t>
                </a:r>
                <a:r>
                  <a:rPr kumimoji="1" lang="en-US" altLang="zh-CN" sz="2400" kern="0" dirty="0"/>
                  <a:t>E</a:t>
                </a:r>
                <a14:m>
                  <m:oMath xmlns:m="http://schemas.openxmlformats.org/officeDocument/2006/math">
                    <m:r>
                      <a:rPr kumimoji="1" lang="en-US" altLang="zh-CN" sz="2400" i="1" kern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⊆</m:t>
                    </m:r>
                  </m:oMath>
                </a14:m>
                <a:r>
                  <a:rPr kumimoji="1" lang="en-US" altLang="zh-CN" sz="2400" kern="0" dirty="0"/>
                  <a:t>E</a:t>
                </a:r>
                <a:r>
                  <a:rPr kumimoji="1" lang="zh-CN" altLang="en-US" sz="2400" kern="0" dirty="0"/>
                  <a:t> </a:t>
                </a:r>
                <a:r>
                  <a:rPr kumimoji="1" lang="en-US" altLang="zh-CN" sz="2400" kern="0" dirty="0"/>
                  <a:t>|</a:t>
                </a:r>
                <a:r>
                  <a:rPr kumimoji="1" lang="zh-CN" altLang="en-US" sz="2400" kern="0" dirty="0"/>
                  <a:t> </a:t>
                </a:r>
                <a:r>
                  <a:rPr kumimoji="1" lang="en-US" altLang="zh-CN" sz="2400" kern="0" dirty="0"/>
                  <a:t>E=E</a:t>
                </a:r>
              </a:p>
              <a:p>
                <a:pPr marL="0" indent="0">
                  <a:buFont typeface="Wingdings" pitchFamily="2" charset="2"/>
                  <a:buNone/>
                </a:pPr>
                <a:r>
                  <a:rPr kumimoji="1" lang="en-US" altLang="zh-CN" sz="2400" i="1" kern="0" dirty="0">
                    <a:latin typeface="Cambria Math" panose="02040503050406030204" pitchFamily="18" charset="0"/>
                  </a:rPr>
                  <a:t>P</a:t>
                </a:r>
                <a:r>
                  <a:rPr kumimoji="1" lang="zh-CN" altLang="en-US" sz="2400" kern="0" dirty="0"/>
                  <a:t> </a:t>
                </a:r>
                <a:r>
                  <a:rPr kumimoji="1" lang="en-US" altLang="zh-CN" sz="2400" kern="0" dirty="0"/>
                  <a:t>::=</a:t>
                </a:r>
                <a:r>
                  <a:rPr kumimoji="1" lang="zh-CN" altLang="en-US" sz="2400" kern="0" dirty="0"/>
                  <a:t> </a:t>
                </a:r>
                <a:r>
                  <a:rPr kumimoji="1" lang="en-US" altLang="zh-CN" sz="2400" kern="0" dirty="0"/>
                  <a:t>R</a:t>
                </a:r>
              </a:p>
              <a:p>
                <a:pPr marL="0" indent="0">
                  <a:buFont typeface="Wingdings" pitchFamily="2" charset="2"/>
                  <a:buNone/>
                </a:pPr>
                <a:r>
                  <a:rPr kumimoji="1" lang="zh-CN" altLang="en-US" sz="2400" kern="0" dirty="0"/>
                  <a:t>      </a:t>
                </a:r>
                <a:r>
                  <a:rPr kumimoji="1" lang="en-US" altLang="zh-CN" sz="2400" kern="0" dirty="0"/>
                  <a:t>|</a:t>
                </a:r>
                <a14:m>
                  <m:oMath xmlns:m="http://schemas.openxmlformats.org/officeDocument/2006/math">
                    <m:r>
                      <a:rPr kumimoji="1" lang="zh-CN" altLang="en-US" sz="2400" kern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kumimoji="1" lang="en-US" altLang="zh-CN" sz="2400" kern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T</m:t>
                    </m:r>
                  </m:oMath>
                </a14:m>
                <a:endParaRPr kumimoji="1" lang="en-US" altLang="zh-CN" sz="2400" kern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Font typeface="Wingdings" pitchFamily="2" charset="2"/>
                  <a:buNone/>
                </a:pPr>
                <a:r>
                  <a:rPr kumimoji="1" lang="zh-CN" altLang="en-US" sz="2400" kern="0" dirty="0">
                    <a:ea typeface="Cambria Math" panose="02040503050406030204" pitchFamily="18" charset="0"/>
                  </a:rPr>
                  <a:t>      </a:t>
                </a:r>
                <a:r>
                  <a:rPr kumimoji="1" lang="en-US" altLang="zh-CN" sz="2400" kern="0" dirty="0">
                    <a:ea typeface="Cambria Math" panose="02040503050406030204" pitchFamily="18" charset="0"/>
                  </a:rPr>
                  <a:t>|</a:t>
                </a:r>
                <a:r>
                  <a:rPr kumimoji="1" lang="zh-CN" altLang="en-US" sz="2400" kern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i="1" kern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⊥</m:t>
                    </m:r>
                  </m:oMath>
                </a14:m>
                <a:endParaRPr kumimoji="1" lang="en-US" altLang="zh-CN" sz="2400" kern="0" dirty="0"/>
              </a:p>
              <a:p>
                <a:pPr marL="0" indent="0">
                  <a:buFont typeface="Wingdings" pitchFamily="2" charset="2"/>
                  <a:buNone/>
                </a:pPr>
                <a:r>
                  <a:rPr kumimoji="1" lang="zh-CN" altLang="en-US" sz="2400" kern="0" dirty="0"/>
                  <a:t>      </a:t>
                </a:r>
                <a:r>
                  <a:rPr kumimoji="1" lang="en-US" altLang="zh-CN" sz="2400" kern="0" dirty="0"/>
                  <a:t>|</a:t>
                </a:r>
                <a:r>
                  <a:rPr kumimoji="1" lang="zh-CN" altLang="en-US" sz="2400" kern="0" dirty="0"/>
                  <a:t> </a:t>
                </a:r>
                <a:r>
                  <a:rPr kumimoji="1" lang="en-US" altLang="zh-CN" sz="2400" i="1" kern="0" dirty="0">
                    <a:latin typeface="Cambria Math" panose="02040503050406030204" pitchFamily="18" charset="0"/>
                  </a:rPr>
                  <a:t>P</a:t>
                </a:r>
                <a:r>
                  <a:rPr kumimoji="1" lang="zh-CN" altLang="en-US" sz="2400" kern="0" dirty="0"/>
                  <a:t> </a:t>
                </a:r>
                <a14:m>
                  <m:oMath xmlns:m="http://schemas.openxmlformats.org/officeDocument/2006/math">
                    <m:r>
                      <a:rPr kumimoji="1" lang="zh-CN" altLang="en-US" sz="2400" i="1" kern="0">
                        <a:latin typeface="Cambria Math" panose="02040503050406030204" pitchFamily="18" charset="0"/>
                      </a:rPr>
                      <m:t>∨</m:t>
                    </m:r>
                  </m:oMath>
                </a14:m>
                <a:r>
                  <a:rPr kumimoji="1" lang="zh-CN" altLang="en-US" sz="2400" i="1" kern="0" dirty="0">
                    <a:latin typeface="Cambria Math" panose="02040503050406030204" pitchFamily="18" charset="0"/>
                  </a:rPr>
                  <a:t> </a:t>
                </a:r>
                <a:r>
                  <a:rPr kumimoji="1" lang="en-US" altLang="zh-CN" sz="2400" i="1" kern="0" dirty="0">
                    <a:latin typeface="Cambria Math" panose="02040503050406030204" pitchFamily="18" charset="0"/>
                  </a:rPr>
                  <a:t>P</a:t>
                </a:r>
              </a:p>
              <a:p>
                <a:pPr marL="0" indent="0">
                  <a:buFont typeface="Wingdings" pitchFamily="2" charset="2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1" lang="zh-CN" altLang="en-US" sz="2400" kern="0" dirty="0" smtClean="0"/>
                        <m:t>      </m:t>
                      </m:r>
                      <m:r>
                        <m:rPr>
                          <m:nor/>
                        </m:rPr>
                        <a:rPr kumimoji="1" lang="en-US" altLang="zh-CN" sz="2400" kern="0" dirty="0"/>
                        <m:t>|</m:t>
                      </m:r>
                      <m:r>
                        <m:rPr>
                          <m:nor/>
                        </m:rPr>
                        <a:rPr kumimoji="1" lang="zh-CN" altLang="en-US" sz="2400" kern="0" dirty="0"/>
                        <m:t> </m:t>
                      </m:r>
                      <m:r>
                        <m:rPr>
                          <m:nor/>
                        </m:rPr>
                        <a:rPr kumimoji="1" lang="en-US" altLang="zh-CN" sz="2400" i="1" kern="0" dirty="0">
                          <a:latin typeface="Cambria Math" panose="02040503050406030204" pitchFamily="18" charset="0"/>
                        </a:rPr>
                        <m:t>P</m:t>
                      </m:r>
                      <m:r>
                        <a:rPr kumimoji="1" lang="zh-CN" altLang="en-US" sz="2400" i="1" kern="0">
                          <a:latin typeface="Cambria Math" panose="02040503050406030204" pitchFamily="18" charset="0"/>
                        </a:rPr>
                        <m:t>∧</m:t>
                      </m:r>
                      <m:r>
                        <m:rPr>
                          <m:nor/>
                        </m:rPr>
                        <a:rPr kumimoji="1" lang="en-US" altLang="zh-CN" sz="2400" i="1" kern="0" dirty="0">
                          <a:latin typeface="Cambria Math" panose="02040503050406030204" pitchFamily="18" charset="0"/>
                        </a:rPr>
                        <m:t>P</m:t>
                      </m:r>
                    </m:oMath>
                  </m:oMathPara>
                </a14:m>
                <a:endParaRPr kumimoji="1" lang="en-US" altLang="zh-CN" sz="2400" i="1" kern="0" dirty="0">
                  <a:latin typeface="Cambria Math" panose="02040503050406030204" pitchFamily="18" charset="0"/>
                </a:endParaRPr>
              </a:p>
              <a:p>
                <a:pPr marL="0" indent="0">
                  <a:buFont typeface="Wingdings" pitchFamily="2" charset="2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1" lang="zh-CN" altLang="en-US" sz="2400" kern="0" dirty="0" smtClean="0"/>
                        <m:t>      </m:t>
                      </m:r>
                      <m:r>
                        <m:rPr>
                          <m:nor/>
                        </m:rPr>
                        <a:rPr kumimoji="1" lang="en-US" altLang="zh-CN" sz="2400" kern="0" dirty="0"/>
                        <m:t>|</m:t>
                      </m:r>
                      <m:r>
                        <m:rPr>
                          <m:nor/>
                        </m:rPr>
                        <a:rPr kumimoji="1" lang="zh-CN" altLang="en-US" sz="2400" kern="0" dirty="0"/>
                        <m:t> </m:t>
                      </m:r>
                      <m:r>
                        <m:rPr>
                          <m:nor/>
                        </m:rPr>
                        <a:rPr kumimoji="1" lang="en-US" altLang="zh-CN" sz="2400" i="1" kern="0" dirty="0">
                          <a:latin typeface="Cambria Math" panose="02040503050406030204" pitchFamily="18" charset="0"/>
                        </a:rPr>
                        <m:t>P</m:t>
                      </m:r>
                      <m:r>
                        <a:rPr kumimoji="1" lang="zh-CN" altLang="en-US" sz="2400" i="1" kern="0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m:rPr>
                          <m:nor/>
                        </m:rPr>
                        <a:rPr kumimoji="1" lang="en-US" altLang="zh-CN" sz="2400" i="1" kern="0" dirty="0">
                          <a:latin typeface="Cambria Math" panose="02040503050406030204" pitchFamily="18" charset="0"/>
                        </a:rPr>
                        <m:t>P</m:t>
                      </m:r>
                    </m:oMath>
                  </m:oMathPara>
                </a14:m>
                <a:endParaRPr kumimoji="1" lang="en-US" altLang="zh-CN" sz="2400" i="1" kern="0" dirty="0">
                  <a:latin typeface="Cambria Math" panose="02040503050406030204" pitchFamily="18" charset="0"/>
                </a:endParaRPr>
              </a:p>
              <a:p>
                <a:pPr marL="0" indent="0">
                  <a:buFont typeface="Wingdings" pitchFamily="2" charset="2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1" lang="zh-CN" altLang="en-US" sz="2400" kern="0" dirty="0" smtClean="0"/>
                        <m:t>      </m:t>
                      </m:r>
                      <m:r>
                        <m:rPr>
                          <m:nor/>
                        </m:rPr>
                        <a:rPr kumimoji="1" lang="en-US" altLang="zh-CN" sz="2400" kern="0" dirty="0"/>
                        <m:t>|</m:t>
                      </m:r>
                      <m:r>
                        <a:rPr kumimoji="1" lang="zh-CN" altLang="en-US" sz="2400" i="1" kern="0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CN" sz="2400" i="1" ker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¬</m:t>
                      </m:r>
                      <m:r>
                        <m:rPr>
                          <m:nor/>
                        </m:rPr>
                        <a:rPr kumimoji="1" lang="en-US" altLang="zh-CN" sz="2400" i="1" kern="0" dirty="0">
                          <a:latin typeface="Cambria Math" panose="02040503050406030204" pitchFamily="18" charset="0"/>
                        </a:rPr>
                        <m:t>P</m:t>
                      </m:r>
                    </m:oMath>
                  </m:oMathPara>
                </a14:m>
                <a:endParaRPr kumimoji="1" lang="en-US" altLang="zh-CN" sz="2400" i="1" kern="0" dirty="0">
                  <a:latin typeface="Cambria Math" panose="02040503050406030204" pitchFamily="18" charset="0"/>
                </a:endParaRPr>
              </a:p>
              <a:p>
                <a:pPr marL="0" indent="0">
                  <a:buFont typeface="Wingdings" pitchFamily="2" charset="2"/>
                  <a:buNone/>
                </a:pPr>
                <a:r>
                  <a:rPr kumimoji="1" lang="zh-CN" altLang="en-US" sz="2400" kern="0" dirty="0"/>
                  <a:t>      </a:t>
                </a:r>
                <a:r>
                  <a:rPr kumimoji="1" lang="en-US" altLang="zh-CN" sz="2400" kern="0" dirty="0"/>
                  <a:t>|</a:t>
                </a:r>
                <a:r>
                  <a:rPr kumimoji="1" lang="zh-CN" altLang="en-US" sz="2400" kern="0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i="1" kern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kumimoji="1" lang="en-US" altLang="zh-CN" sz="2400" i="1" kern="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kumimoji="1" lang="en-US" altLang="zh-CN" sz="2400" i="1" kern="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kumimoji="1" lang="en-US" altLang="zh-CN" sz="2400" i="1" kern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endParaRPr kumimoji="1" lang="en-US" altLang="zh-CN" sz="2400" kern="0" dirty="0"/>
              </a:p>
              <a:p>
                <a:pPr marL="0" indent="0">
                  <a:buFont typeface="Wingdings" pitchFamily="2" charset="2"/>
                  <a:buNone/>
                </a:pPr>
                <a:r>
                  <a:rPr kumimoji="1" lang="zh-CN" altLang="en-US" sz="2400" kern="0" dirty="0"/>
                  <a:t>      </a:t>
                </a:r>
                <a:r>
                  <a:rPr kumimoji="1" lang="en-US" altLang="zh-CN" sz="2400" kern="0" dirty="0"/>
                  <a:t>|</a:t>
                </a:r>
                <a:r>
                  <a:rPr kumimoji="1" lang="zh-CN" altLang="en-US" sz="2400" kern="0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i="1" kern="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  <m:r>
                      <a:rPr kumimoji="1" lang="en-US" altLang="zh-CN" sz="2400" i="1" kern="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kumimoji="1" lang="en-US" altLang="zh-CN" sz="2400" i="1" kern="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m:rPr>
                        <m:nor/>
                      </m:rPr>
                      <a:rPr kumimoji="1" lang="en-US" altLang="zh-CN" sz="2400" i="1" kern="0" dirty="0"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endParaRPr kumimoji="1" lang="en-US" altLang="zh-CN" sz="2400" kern="0" dirty="0"/>
              </a:p>
            </p:txBody>
          </p:sp>
        </mc:Choice>
        <mc:Fallback xmlns="">
          <p:sp>
            <p:nvSpPr>
              <p:cNvPr id="19" name="内容占位符 2">
                <a:extLst>
                  <a:ext uri="{FF2B5EF4-FFF2-40B4-BE49-F238E27FC236}">
                    <a16:creationId xmlns:a16="http://schemas.microsoft.com/office/drawing/2014/main" id="{80D5A982-3100-9840-8BE0-B3046C61C8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800600" y="1981200"/>
                <a:ext cx="4114800" cy="4114800"/>
              </a:xfrm>
              <a:prstGeom prst="rect">
                <a:avLst/>
              </a:prstGeom>
              <a:blipFill>
                <a:blip r:embed="rId3"/>
                <a:stretch>
                  <a:fillRect l="-2154" t="-1235" b="-15741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552400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DC0D70-EC34-6140-A737-EAD0416DE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Bound</a:t>
            </a:r>
            <a:r>
              <a:rPr kumimoji="1" lang="zh-CN" altLang="en-US" dirty="0"/>
              <a:t> </a:t>
            </a:r>
            <a:r>
              <a:rPr kumimoji="1" lang="en-US" altLang="zh-CN" dirty="0"/>
              <a:t>and</a:t>
            </a:r>
            <a:r>
              <a:rPr kumimoji="1" lang="zh-CN" altLang="en-US" dirty="0"/>
              <a:t> </a:t>
            </a:r>
            <a:r>
              <a:rPr kumimoji="1" lang="en-US" altLang="zh-CN" dirty="0"/>
              <a:t>free</a:t>
            </a:r>
            <a:r>
              <a:rPr kumimoji="1" lang="zh-CN" altLang="en-US" dirty="0"/>
              <a:t> </a:t>
            </a:r>
            <a:r>
              <a:rPr kumimoji="1" lang="en-US" altLang="zh-CN" dirty="0"/>
              <a:t>variables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B845C1F5-D480-6543-8DC7-6F0639BFED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1" lang="en-US" altLang="zh-CN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kumimoji="1" lang="en-US" altLang="zh-CN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kumimoji="1" lang="en-US" altLang="zh-CN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kumimoji="1" lang="zh-CN" altLang="en-US" i="1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∃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m:rPr>
                          <m:nor/>
                        </m:rPr>
                        <a:rPr kumimoji="1" lang="en-US" altLang="zh-CN" i="1" dirty="0">
                          <a:latin typeface="Cambria Math" panose="02040503050406030204" pitchFamily="18" charset="0"/>
                        </a:rPr>
                        <m:t>P</m:t>
                      </m:r>
                      <m:d>
                        <m:dPr>
                          <m:ctrlPr>
                            <a:rPr kumimoji="1" lang="en-US" altLang="zh-CN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kumimoji="1" lang="en-US" altLang="zh-CN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1" lang="en-US" altLang="zh-CN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~(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∃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kumimoji="1" lang="en-US" altLang="zh-CN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kumimoji="1" lang="en-US" altLang="zh-CN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kumimoji="1" lang="zh-CN" altLang="en-US" i="1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.(</m:t>
                      </m:r>
                      <m:r>
                        <m:rPr>
                          <m:nor/>
                        </m:rPr>
                        <a:rPr kumimoji="1" lang="en-US" altLang="zh-CN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m:rPr>
                          <m:nor/>
                        </m:rPr>
                        <a:rPr kumimoji="1" lang="en-US" altLang="zh-CN" i="1" dirty="0">
                          <a:latin typeface="Cambria Math" panose="02040503050406030204" pitchFamily="18" charset="0"/>
                        </a:rPr>
                        <m:t>P</m:t>
                      </m:r>
                      <m:d>
                        <m:dPr>
                          <m:ctrlPr>
                            <a:rPr kumimoji="1" lang="en-US" altLang="zh-CN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kumimoji="1" lang="en-US" altLang="zh-CN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kumimoji="1" lang="en-US" altLang="zh-CN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kumimoji="1" lang="en-US" altLang="zh-CN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kumimoji="1" lang="en-US" altLang="zh-CN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kumimoji="1" lang="zh-CN" alt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kumimoji="1" lang="en-US" altLang="zh-CN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kumimoji="1" lang="en-US" altLang="zh-CN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kumimoji="1" lang="en-US" altLang="zh-CN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kumimoji="1" lang="zh-CN" altLang="en-US" i="1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kumimoji="1" lang="en-US" altLang="zh-CN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</m:oMath>
                  </m:oMathPara>
                </a14:m>
                <a:endParaRPr kumimoji="1" lang="en-US" altLang="zh-CN" dirty="0"/>
              </a:p>
              <a:p>
                <a:pPr marL="0" indent="0">
                  <a:buNone/>
                </a:pPr>
                <a:endParaRPr kumimoji="1" lang="en-US" altLang="zh-CN" dirty="0"/>
              </a:p>
              <a:p>
                <a:pPr marL="0" indent="0">
                  <a:buNone/>
                </a:pPr>
                <a:r>
                  <a:rPr kumimoji="1" lang="en-US" altLang="zh-CN" dirty="0"/>
                  <a:t>Think</a:t>
                </a:r>
                <a:r>
                  <a:rPr kumimoji="1" lang="zh-CN" altLang="en-US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</m:oMath>
                </a14:m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or</a:t>
                </a:r>
                <a:r>
                  <a:rPr kumimoji="1" lang="zh-CN" altLang="en-US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 </m:t>
                    </m:r>
                    <m:r>
                      <a:rPr kumimoji="1" lang="zh-CN" altLang="en-US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1" lang="en-US" altLang="zh-CN" dirty="0"/>
                  <a:t>as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functions,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with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 err="1"/>
                  <a:t>var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as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arguments---bound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var.</a:t>
                </a:r>
              </a:p>
              <a:p>
                <a:pPr marL="0" indent="0">
                  <a:buNone/>
                </a:pPr>
                <a:r>
                  <a:rPr kumimoji="1" lang="en-US" altLang="zh-CN" dirty="0"/>
                  <a:t>Think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free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 err="1"/>
                  <a:t>vars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as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global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or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outer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vars.</a:t>
                </a:r>
              </a:p>
              <a:p>
                <a:pPr marL="0" indent="0">
                  <a:buNone/>
                </a:pPr>
                <a:r>
                  <a:rPr kumimoji="1" lang="en-US" altLang="zh-CN" dirty="0"/>
                  <a:t>Think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substitution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as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function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calls.</a:t>
                </a:r>
                <a:r>
                  <a:rPr kumimoji="1" lang="zh-CN" altLang="en-US" dirty="0"/>
                  <a:t> </a:t>
                </a:r>
                <a:endParaRPr kumimoji="1" lang="en-US" altLang="zh-CN" dirty="0"/>
              </a:p>
              <a:p>
                <a:pPr marL="0" indent="0">
                  <a:buNone/>
                </a:pPr>
                <a:endParaRPr kumimoji="1" lang="en-US" altLang="zh-CN" b="0" dirty="0"/>
              </a:p>
              <a:p>
                <a:pPr marL="0" indent="0">
                  <a:buNone/>
                </a:pPr>
                <a:endParaRPr kumimoji="1" lang="en-US" altLang="zh-CN" dirty="0"/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B845C1F5-D480-6543-8DC7-6F0639BFED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94" b="-2307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949848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55BE095-F684-734A-B8FA-3C4579FF3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Bound</a:t>
            </a:r>
            <a:r>
              <a:rPr kumimoji="1" lang="zh-CN" altLang="en-US" dirty="0"/>
              <a:t> </a:t>
            </a:r>
            <a:r>
              <a:rPr kumimoji="1" lang="en-US" altLang="zh-CN" dirty="0"/>
              <a:t>variables:</a:t>
            </a:r>
            <a:r>
              <a:rPr kumimoji="1" lang="zh-CN" altLang="en-US" dirty="0"/>
              <a:t> </a:t>
            </a:r>
            <a:r>
              <a:rPr kumimoji="1" lang="en-US" altLang="zh-CN" dirty="0"/>
              <a:t>BV(P)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B9F51CE8-5406-694B-A53A-BDDE3CD23F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altLang="zh-CN" dirty="0"/>
                  <a:t>BV(r(...))       </a:t>
                </a:r>
                <a:r>
                  <a:rPr lang="zh-CN" altLang="en-US" dirty="0"/>
                  <a:t>   </a:t>
                </a:r>
                <a:r>
                  <a:rPr lang="en-US" altLang="zh-CN" dirty="0"/>
                  <a:t>=</a:t>
                </a:r>
                <a:r>
                  <a:rPr lang="zh-CN" altLang="en-US" dirty="0"/>
                  <a:t>  </a:t>
                </a:r>
                <a14:m>
                  <m:oMath xmlns:m="http://schemas.openxmlformats.org/officeDocument/2006/math">
                    <m:r>
                      <a:rPr lang="zh-CN" altLang="en-US" i="1" smtClean="0">
                        <a:latin typeface="Cambria Math" panose="02040503050406030204" pitchFamily="18" charset="0"/>
                      </a:rPr>
                      <m:t>∅</m:t>
                    </m:r>
                  </m:oMath>
                </a14:m>
                <a:br>
                  <a:rPr lang="en-US" altLang="zh-CN" dirty="0"/>
                </a:br>
                <a:r>
                  <a:rPr lang="en-US" altLang="zh-CN" dirty="0"/>
                  <a:t>BV(P1/\P2)       = BV(P1) </a:t>
                </a:r>
                <a14:m>
                  <m:oMath xmlns:m="http://schemas.openxmlformats.org/officeDocument/2006/math">
                    <m:r>
                      <a:rPr lang="en-US" altLang="zh-CN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  <m:r>
                      <a:rPr lang="zh-CN" alt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CN" dirty="0"/>
                  <a:t>BV(P2)</a:t>
                </a:r>
                <a:br>
                  <a:rPr lang="en-US" altLang="zh-CN" dirty="0"/>
                </a:br>
                <a:r>
                  <a:rPr lang="en-US" altLang="zh-CN" dirty="0"/>
                  <a:t>BV(P1\/P2)       = BV(P1)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</m:oMath>
                </a14:m>
                <a:r>
                  <a:rPr lang="en-US" altLang="zh-CN" dirty="0"/>
                  <a:t> BV(P2)</a:t>
                </a:r>
                <a:br>
                  <a:rPr lang="en-US" altLang="zh-CN" dirty="0"/>
                </a:br>
                <a:r>
                  <a:rPr lang="en-US" altLang="zh-CN" dirty="0"/>
                  <a:t>BV(P1-&gt;P2)      = BV(P1)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</m:oMath>
                </a14:m>
                <a:r>
                  <a:rPr lang="en-US" altLang="zh-CN" dirty="0"/>
                  <a:t> BV(P2)</a:t>
                </a:r>
                <a:br>
                  <a:rPr lang="en-US" altLang="zh-CN" dirty="0"/>
                </a:br>
                <a:r>
                  <a:rPr lang="en-US" altLang="zh-CN" dirty="0"/>
                  <a:t>BV(</a:t>
                </a:r>
                <a14:m>
                  <m:oMath xmlns:m="http://schemas.openxmlformats.org/officeDocument/2006/math">
                    <m:r>
                      <a:rPr kumimoji="1" lang="en-US" altLang="zh-CN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</m:oMath>
                </a14:m>
                <a:r>
                  <a:rPr lang="en-US" altLang="zh-CN" dirty="0" err="1"/>
                  <a:t>x.P</a:t>
                </a:r>
                <a:r>
                  <a:rPr lang="en-US" altLang="zh-CN" dirty="0"/>
                  <a:t>)  </a:t>
                </a:r>
                <a:r>
                  <a:rPr lang="zh-CN" altLang="en-US" dirty="0"/>
                  <a:t>        </a:t>
                </a:r>
                <a:r>
                  <a:rPr lang="en-US" altLang="zh-CN" dirty="0"/>
                  <a:t>= {x}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</m:oMath>
                </a14:m>
                <a:r>
                  <a:rPr lang="en-US" altLang="zh-CN" dirty="0"/>
                  <a:t> BV(P)</a:t>
                </a:r>
                <a:br>
                  <a:rPr lang="en-US" altLang="zh-CN" dirty="0"/>
                </a:br>
                <a:r>
                  <a:rPr lang="en-US" altLang="zh-CN" dirty="0"/>
                  <a:t>BV(</a:t>
                </a:r>
                <a14:m>
                  <m:oMath xmlns:m="http://schemas.openxmlformats.org/officeDocument/2006/math">
                    <m:r>
                      <a:rPr kumimoji="1" lang="en-US" altLang="zh-CN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</m:oMath>
                </a14:m>
                <a:r>
                  <a:rPr lang="en-US" altLang="zh-CN" dirty="0" err="1"/>
                  <a:t>x.P</a:t>
                </a:r>
                <a:r>
                  <a:rPr lang="en-US" altLang="zh-CN" dirty="0"/>
                  <a:t>)  </a:t>
                </a:r>
                <a:r>
                  <a:rPr lang="zh-CN" altLang="en-US" dirty="0"/>
                  <a:t>        </a:t>
                </a:r>
                <a:r>
                  <a:rPr lang="en-US" altLang="zh-CN" dirty="0"/>
                  <a:t>= {x}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</m:oMath>
                </a14:m>
                <a:r>
                  <a:rPr lang="en-US" altLang="zh-CN" dirty="0"/>
                  <a:t> BV(P)</a:t>
                </a:r>
                <a:endParaRPr kumimoji="1" lang="zh-CN" altLang="en-US" dirty="0"/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B9F51CE8-5406-694B-A53A-BDDE3CD23F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94" t="-21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388925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5EC971-9C0D-FB48-A3ED-5ADCE37D8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Free</a:t>
            </a:r>
            <a:r>
              <a:rPr kumimoji="1" lang="zh-CN" altLang="en-US" dirty="0"/>
              <a:t> </a:t>
            </a:r>
            <a:r>
              <a:rPr kumimoji="1" lang="en-US" altLang="zh-CN" dirty="0"/>
              <a:t>variables:</a:t>
            </a:r>
            <a:r>
              <a:rPr kumimoji="1" lang="zh-CN" altLang="en-US" dirty="0"/>
              <a:t> </a:t>
            </a:r>
            <a:r>
              <a:rPr kumimoji="1" lang="en-US" altLang="zh-CN" dirty="0"/>
              <a:t>FV(P)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E6804AB9-1096-B541-AD58-2E5409CCD82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62000" y="2017713"/>
                <a:ext cx="8193088" cy="411480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altLang="zh-CN" sz="2800" dirty="0"/>
                  <a:t>FV_E(c)             </a:t>
                </a:r>
                <a:r>
                  <a:rPr lang="zh-CN" altLang="en-US" sz="2800" dirty="0"/>
                  <a:t>   </a:t>
                </a:r>
                <a:r>
                  <a:rPr lang="en-US" altLang="zh-CN" sz="2800" dirty="0"/>
                  <a:t>= {}</a:t>
                </a:r>
                <a:br>
                  <a:rPr lang="en-US" altLang="zh-CN" sz="2800" dirty="0"/>
                </a:br>
                <a:r>
                  <a:rPr lang="en-US" altLang="zh-CN" sz="2800" dirty="0"/>
                  <a:t>FV_E(x)             </a:t>
                </a:r>
                <a:r>
                  <a:rPr lang="zh-CN" altLang="en-US" sz="2800" dirty="0"/>
                  <a:t>   </a:t>
                </a:r>
                <a:r>
                  <a:rPr lang="en-US" altLang="zh-CN" sz="2800" dirty="0"/>
                  <a:t>= {x}</a:t>
                </a:r>
                <a:br>
                  <a:rPr lang="en-US" altLang="zh-CN" sz="2800" dirty="0"/>
                </a:br>
                <a:r>
                  <a:rPr lang="en-US" altLang="zh-CN" sz="2800" dirty="0"/>
                  <a:t>FV_E(f(E1, ..., </a:t>
                </a:r>
                <a:r>
                  <a:rPr lang="en-US" altLang="zh-CN" sz="2800" dirty="0" err="1"/>
                  <a:t>En</a:t>
                </a:r>
                <a:r>
                  <a:rPr lang="en-US" altLang="zh-CN" sz="2800" dirty="0"/>
                  <a:t>) = FV_E(E1) </a:t>
                </a:r>
                <a14:m>
                  <m:oMath xmlns:m="http://schemas.openxmlformats.org/officeDocument/2006/math">
                    <m:r>
                      <a:rPr lang="en-US" altLang="zh-CN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</m:oMath>
                </a14:m>
                <a:r>
                  <a:rPr lang="en-US" altLang="zh-CN" sz="2800" dirty="0"/>
                  <a:t> ... </a:t>
                </a:r>
                <a14:m>
                  <m:oMath xmlns:m="http://schemas.openxmlformats.org/officeDocument/2006/math">
                    <m:r>
                      <a:rPr lang="en-US" altLang="zh-CN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</m:oMath>
                </a14:m>
                <a:r>
                  <a:rPr lang="en-US" altLang="zh-CN" sz="2800" dirty="0"/>
                  <a:t> FV_E(</a:t>
                </a:r>
                <a:r>
                  <a:rPr lang="en-US" altLang="zh-CN" sz="2800" dirty="0" err="1"/>
                  <a:t>En</a:t>
                </a:r>
                <a:r>
                  <a:rPr lang="en-US" altLang="zh-CN" sz="2800" dirty="0"/>
                  <a:t>)</a:t>
                </a:r>
              </a:p>
              <a:p>
                <a:pPr marL="0" indent="0">
                  <a:buNone/>
                </a:pPr>
                <a:br>
                  <a:rPr lang="en-US" altLang="zh-CN" sz="2800" dirty="0"/>
                </a:br>
                <a:r>
                  <a:rPr lang="en-US" altLang="zh-CN" sz="2800" dirty="0"/>
                  <a:t>FV(r(E1, ..., </a:t>
                </a:r>
                <a:r>
                  <a:rPr lang="en-US" altLang="zh-CN" sz="2800" dirty="0" err="1"/>
                  <a:t>En</a:t>
                </a:r>
                <a:r>
                  <a:rPr lang="en-US" altLang="zh-CN" sz="2800" dirty="0"/>
                  <a:t>)) </a:t>
                </a:r>
                <a:r>
                  <a:rPr lang="zh-CN" altLang="en-US" sz="2800" dirty="0"/>
                  <a:t>  </a:t>
                </a:r>
                <a:r>
                  <a:rPr lang="en-US" altLang="zh-CN" sz="2800" dirty="0"/>
                  <a:t>= FV_E(E1) </a:t>
                </a:r>
                <a14:m>
                  <m:oMath xmlns:m="http://schemas.openxmlformats.org/officeDocument/2006/math">
                    <m:r>
                      <a:rPr lang="en-US" altLang="zh-CN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</m:oMath>
                </a14:m>
                <a:r>
                  <a:rPr lang="en-US" altLang="zh-CN" sz="2800" dirty="0"/>
                  <a:t> ... </a:t>
                </a:r>
                <a14:m>
                  <m:oMath xmlns:m="http://schemas.openxmlformats.org/officeDocument/2006/math">
                    <m:r>
                      <a:rPr lang="en-US" altLang="zh-CN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</m:oMath>
                </a14:m>
                <a:r>
                  <a:rPr lang="en-US" altLang="zh-CN" sz="2800" dirty="0"/>
                  <a:t> FV_E(</a:t>
                </a:r>
                <a:r>
                  <a:rPr lang="en-US" altLang="zh-CN" sz="2800" dirty="0" err="1"/>
                  <a:t>En</a:t>
                </a:r>
                <a:r>
                  <a:rPr lang="en-US" altLang="zh-CN" sz="2800" dirty="0"/>
                  <a:t>)</a:t>
                </a:r>
                <a:br>
                  <a:rPr lang="en-US" altLang="zh-CN" sz="2800" dirty="0"/>
                </a:br>
                <a:r>
                  <a:rPr lang="en-US" altLang="zh-CN" sz="2800" dirty="0"/>
                  <a:t>FV(P1/\P2)         </a:t>
                </a:r>
                <a:r>
                  <a:rPr lang="zh-CN" altLang="en-US" sz="2800" dirty="0"/>
                  <a:t>  </a:t>
                </a:r>
                <a:r>
                  <a:rPr lang="en-US" altLang="zh-CN" sz="2800" dirty="0"/>
                  <a:t>= FV(P1) </a:t>
                </a:r>
                <a14:m>
                  <m:oMath xmlns:m="http://schemas.openxmlformats.org/officeDocument/2006/math">
                    <m:r>
                      <a:rPr lang="en-US" altLang="zh-CN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</m:oMath>
                </a14:m>
                <a:r>
                  <a:rPr lang="en-US" altLang="zh-CN" sz="2800" dirty="0"/>
                  <a:t> FV(P2)</a:t>
                </a:r>
                <a:br>
                  <a:rPr lang="en-US" altLang="zh-CN" sz="2800" dirty="0"/>
                </a:br>
                <a:r>
                  <a:rPr lang="en-US" altLang="zh-CN" sz="2800" dirty="0"/>
                  <a:t>FV(P1\/P2)         </a:t>
                </a:r>
                <a:r>
                  <a:rPr lang="zh-CN" altLang="en-US" sz="2800" dirty="0"/>
                  <a:t>  </a:t>
                </a:r>
                <a:r>
                  <a:rPr lang="en-US" altLang="zh-CN" sz="2800" dirty="0"/>
                  <a:t>= FV(P1) </a:t>
                </a:r>
                <a14:m>
                  <m:oMath xmlns:m="http://schemas.openxmlformats.org/officeDocument/2006/math">
                    <m:r>
                      <a:rPr lang="en-US" altLang="zh-CN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</m:oMath>
                </a14:m>
                <a:r>
                  <a:rPr lang="en-US" altLang="zh-CN" sz="2800" dirty="0"/>
                  <a:t> FV(P2)</a:t>
                </a:r>
                <a:br>
                  <a:rPr lang="en-US" altLang="zh-CN" sz="2800" dirty="0"/>
                </a:br>
                <a:r>
                  <a:rPr lang="en-US" altLang="zh-CN" sz="2800" dirty="0"/>
                  <a:t>FV(P1-&gt;P2)         </a:t>
                </a:r>
                <a:r>
                  <a:rPr lang="zh-CN" altLang="en-US" sz="2800" dirty="0"/>
                  <a:t> </a:t>
                </a:r>
                <a:r>
                  <a:rPr lang="en-US" altLang="zh-CN" sz="2800" dirty="0"/>
                  <a:t>= FV(P1) </a:t>
                </a:r>
                <a14:m>
                  <m:oMath xmlns:m="http://schemas.openxmlformats.org/officeDocument/2006/math">
                    <m:r>
                      <a:rPr lang="en-US" altLang="zh-CN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 </m:t>
                    </m:r>
                  </m:oMath>
                </a14:m>
                <a:r>
                  <a:rPr lang="en-US" altLang="zh-CN" sz="2800" dirty="0"/>
                  <a:t>FV(P2)</a:t>
                </a:r>
                <a:br>
                  <a:rPr lang="en-US" altLang="zh-CN" sz="2800" dirty="0"/>
                </a:br>
                <a:r>
                  <a:rPr lang="en-US" altLang="zh-CN" sz="2800" dirty="0"/>
                  <a:t>FV(</a:t>
                </a:r>
                <a14:m>
                  <m:oMath xmlns:m="http://schemas.openxmlformats.org/officeDocument/2006/math">
                    <m:r>
                      <a:rPr kumimoji="1" lang="en-US" altLang="zh-CN" sz="28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</m:oMath>
                </a14:m>
                <a:r>
                  <a:rPr lang="en-US" altLang="zh-CN" sz="2800" dirty="0" err="1"/>
                  <a:t>x.P</a:t>
                </a:r>
                <a:r>
                  <a:rPr lang="en-US" altLang="zh-CN" sz="2800" dirty="0"/>
                  <a:t>)    </a:t>
                </a:r>
                <a:r>
                  <a:rPr lang="zh-CN" altLang="en-US" sz="2800" dirty="0"/>
                  <a:t>          </a:t>
                </a:r>
                <a:r>
                  <a:rPr lang="en-US" altLang="zh-CN" sz="2800" dirty="0"/>
                  <a:t>= FV(P) - {x}</a:t>
                </a:r>
                <a:br>
                  <a:rPr lang="en-US" altLang="zh-CN" sz="2800" dirty="0"/>
                </a:br>
                <a:r>
                  <a:rPr lang="en-US" altLang="zh-CN" sz="2800" dirty="0"/>
                  <a:t>FV(</a:t>
                </a:r>
                <a14:m>
                  <m:oMath xmlns:m="http://schemas.openxmlformats.org/officeDocument/2006/math">
                    <m:r>
                      <a:rPr kumimoji="1" lang="en-US" altLang="zh-CN" sz="28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</m:oMath>
                </a14:m>
                <a:r>
                  <a:rPr lang="en-US" altLang="zh-CN" sz="2800" dirty="0" err="1"/>
                  <a:t>x.P</a:t>
                </a:r>
                <a:r>
                  <a:rPr lang="en-US" altLang="zh-CN" sz="2800" dirty="0"/>
                  <a:t>)    </a:t>
                </a:r>
                <a:r>
                  <a:rPr lang="zh-CN" altLang="en-US" sz="2800" dirty="0"/>
                  <a:t>          </a:t>
                </a:r>
                <a:r>
                  <a:rPr lang="en-US" altLang="zh-CN" sz="2800" dirty="0"/>
                  <a:t>= FV(P) - {x}</a:t>
                </a:r>
                <a:endParaRPr kumimoji="1" lang="zh-CN" altLang="en-US" sz="2800" dirty="0"/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E6804AB9-1096-B541-AD58-2E5409CCD82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62000" y="2017713"/>
                <a:ext cx="8193088" cy="4114800"/>
              </a:xfrm>
              <a:blipFill>
                <a:blip r:embed="rId2"/>
                <a:stretch>
                  <a:fillRect l="-1705" t="-1538" b="-12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02848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标题 1">
                <a:extLst>
                  <a:ext uri="{FF2B5EF4-FFF2-40B4-BE49-F238E27FC236}">
                    <a16:creationId xmlns:a16="http://schemas.microsoft.com/office/drawing/2014/main" id="{CC6588B6-7C48-EB49-9405-6EDBB77DB73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kumimoji="1" lang="en-US" altLang="zh-CN" dirty="0"/>
                  <a:t>Substitution: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P[x</a:t>
                </a:r>
                <a14:m>
                  <m:oMath xmlns:m="http://schemas.openxmlformats.org/officeDocument/2006/math">
                    <m:r>
                      <a:rPr kumimoji="1" lang="en-US" altLang="zh-CN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</m:oMath>
                </a14:m>
                <a:r>
                  <a:rPr kumimoji="1" lang="en-US" altLang="zh-CN" dirty="0"/>
                  <a:t>E]</a:t>
                </a:r>
                <a:endParaRPr kumimoji="1" lang="zh-CN" altLang="en-US" dirty="0"/>
              </a:p>
            </p:txBody>
          </p:sp>
        </mc:Choice>
        <mc:Fallback xmlns="">
          <p:sp>
            <p:nvSpPr>
              <p:cNvPr id="2" name="标题 1">
                <a:extLst>
                  <a:ext uri="{FF2B5EF4-FFF2-40B4-BE49-F238E27FC236}">
                    <a16:creationId xmlns:a16="http://schemas.microsoft.com/office/drawing/2014/main" id="{CC6588B6-7C48-EB49-9405-6EDBB77DB7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3094" b="-1896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9D363E59-429D-9548-9A35-C363B8B5A0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altLang="zh-CN" sz="2000" dirty="0"/>
                  <a:t>x[x</a:t>
                </a:r>
                <a14:m>
                  <m:oMath xmlns:m="http://schemas.openxmlformats.org/officeDocument/2006/math">
                    <m:r>
                      <a:rPr kumimoji="1" lang="zh-CN" altLang="en-US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kumimoji="1" lang="en-US" altLang="zh-CN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r>
                      <m:rPr>
                        <m:sty m:val="p"/>
                      </m:rPr>
                      <a:rPr kumimoji="1" lang="en-US" altLang="zh-CN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lang="en-US" altLang="zh-CN" sz="2000" dirty="0"/>
                  <a:t>]                 = E</a:t>
                </a:r>
                <a:br>
                  <a:rPr lang="en-US" altLang="zh-CN" sz="2000" dirty="0"/>
                </a:br>
                <a:r>
                  <a:rPr lang="en-US" altLang="zh-CN" sz="2000" dirty="0"/>
                  <a:t>y[x</a:t>
                </a:r>
                <a:r>
                  <a:rPr kumimoji="1" lang="zh-CN" altLang="en-US" sz="2000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r>
                      <m:rPr>
                        <m:sty m:val="p"/>
                      </m:rPr>
                      <a:rPr kumimoji="1" lang="en-US" altLang="zh-CN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lang="en-US" altLang="zh-CN" sz="2000" dirty="0"/>
                  <a:t>]                 = y </a:t>
                </a:r>
                <a:r>
                  <a:rPr lang="zh-CN" altLang="en-US" sz="2000" dirty="0"/>
                  <a:t>         </a:t>
                </a:r>
                <a:r>
                  <a:rPr lang="en-US" altLang="zh-CN" sz="2000" dirty="0"/>
                  <a:t>where</a:t>
                </a:r>
                <a:r>
                  <a:rPr lang="zh-CN" altLang="en-US" sz="2000" dirty="0"/>
                  <a:t> </a:t>
                </a:r>
                <a:r>
                  <a:rPr lang="en-US" altLang="zh-CN" sz="2000" dirty="0"/>
                  <a:t>x!=y</a:t>
                </a:r>
                <a:br>
                  <a:rPr lang="en-US" altLang="zh-CN" sz="2000" dirty="0"/>
                </a:br>
                <a:r>
                  <a:rPr lang="en-US" altLang="zh-CN" sz="2000" dirty="0"/>
                  <a:t>f(E1, ..., </a:t>
                </a:r>
                <a:r>
                  <a:rPr lang="en-US" altLang="zh-CN" sz="2000" dirty="0" err="1"/>
                  <a:t>En</a:t>
                </a:r>
                <a:r>
                  <a:rPr lang="en-US" altLang="zh-CN" sz="2000" dirty="0"/>
                  <a:t>)[x</a:t>
                </a:r>
                <a:r>
                  <a:rPr kumimoji="1" lang="en-US" altLang="zh-CN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r>
                      <m:rPr>
                        <m:sty m:val="p"/>
                      </m:rPr>
                      <a:rPr kumimoji="1" lang="en-US" altLang="zh-CN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lang="en-US" altLang="zh-CN" sz="2000" dirty="0"/>
                  <a:t>] = f(E1[x</a:t>
                </a:r>
                <a:r>
                  <a:rPr kumimoji="1" lang="en-US" altLang="zh-CN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 </m:t>
                    </m:r>
                  </m:oMath>
                </a14:m>
                <a:r>
                  <a:rPr lang="en-US" altLang="zh-CN" sz="2000" dirty="0"/>
                  <a:t>E], ..., </a:t>
                </a:r>
                <a:r>
                  <a:rPr lang="en-US" altLang="zh-CN" sz="2000" dirty="0" err="1"/>
                  <a:t>En</a:t>
                </a:r>
                <a:r>
                  <a:rPr lang="en-US" altLang="zh-CN" sz="2000" dirty="0"/>
                  <a:t>[x</a:t>
                </a:r>
                <a:r>
                  <a:rPr kumimoji="1" lang="en-US" altLang="zh-CN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 </m:t>
                    </m:r>
                  </m:oMath>
                </a14:m>
                <a:r>
                  <a:rPr lang="en-US" altLang="zh-CN" sz="2000" dirty="0"/>
                  <a:t>E])</a:t>
                </a:r>
              </a:p>
              <a:p>
                <a:pPr marL="0" indent="0">
                  <a:buNone/>
                </a:pPr>
                <a:br>
                  <a:rPr lang="en-US" altLang="zh-CN" sz="2000" dirty="0"/>
                </a:br>
                <a:r>
                  <a:rPr lang="en-US" altLang="zh-CN" sz="2000" dirty="0"/>
                  <a:t>r(E1, ..., </a:t>
                </a:r>
                <a:r>
                  <a:rPr lang="en-US" altLang="zh-CN" sz="2000" dirty="0" err="1"/>
                  <a:t>En</a:t>
                </a:r>
                <a:r>
                  <a:rPr lang="en-US" altLang="zh-CN" sz="2000" dirty="0"/>
                  <a:t>)[x</a:t>
                </a:r>
                <a:r>
                  <a:rPr kumimoji="1" lang="en-US" altLang="zh-CN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r>
                      <m:rPr>
                        <m:sty m:val="p"/>
                      </m:rPr>
                      <a:rPr kumimoji="1" lang="en-US" altLang="zh-CN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lang="en-US" altLang="zh-CN" sz="2000" dirty="0"/>
                  <a:t>]</a:t>
                </a:r>
                <a:r>
                  <a:rPr lang="zh-CN" altLang="en-US" sz="2000" dirty="0"/>
                  <a:t> </a:t>
                </a:r>
                <a:r>
                  <a:rPr lang="en-US" altLang="zh-CN" sz="2000" dirty="0"/>
                  <a:t>= r(E1[x</a:t>
                </a:r>
                <a:r>
                  <a:rPr kumimoji="1" lang="en-US" altLang="zh-CN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 </m:t>
                    </m:r>
                  </m:oMath>
                </a14:m>
                <a:r>
                  <a:rPr lang="en-US" altLang="zh-CN" sz="2000" dirty="0"/>
                  <a:t>E], ..., </a:t>
                </a:r>
                <a:r>
                  <a:rPr lang="en-US" altLang="zh-CN" sz="2000" dirty="0" err="1"/>
                  <a:t>En</a:t>
                </a:r>
                <a:r>
                  <a:rPr lang="en-US" altLang="zh-CN" sz="2000" dirty="0"/>
                  <a:t>[x</a:t>
                </a:r>
                <a:r>
                  <a:rPr kumimoji="1" lang="en-US" altLang="zh-CN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 </m:t>
                    </m:r>
                  </m:oMath>
                </a14:m>
                <a:r>
                  <a:rPr lang="en-US" altLang="zh-CN" sz="2000" dirty="0"/>
                  <a:t>E])</a:t>
                </a:r>
                <a:br>
                  <a:rPr lang="en-US" altLang="zh-CN" sz="2000" dirty="0"/>
                </a:br>
                <a:r>
                  <a:rPr lang="en-US" altLang="zh-CN" sz="2000" dirty="0"/>
                  <a:t>(P1 /\ P2)[x</a:t>
                </a:r>
                <a:r>
                  <a:rPr kumimoji="1" lang="en-US" altLang="zh-CN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r>
                      <m:rPr>
                        <m:sty m:val="p"/>
                      </m:rPr>
                      <a:rPr kumimoji="1" lang="en-US" altLang="zh-CN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lang="en-US" altLang="zh-CN" sz="2000" dirty="0"/>
                  <a:t>]     = P1[x</a:t>
                </a:r>
                <a:r>
                  <a:rPr kumimoji="1" lang="en-US" altLang="zh-CN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 </m:t>
                    </m:r>
                  </m:oMath>
                </a14:m>
                <a:r>
                  <a:rPr lang="en-US" altLang="zh-CN" sz="2000" dirty="0"/>
                  <a:t>E] /\ P2[x</a:t>
                </a:r>
                <a:r>
                  <a:rPr kumimoji="1" lang="en-US" altLang="zh-CN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 </m:t>
                    </m:r>
                  </m:oMath>
                </a14:m>
                <a:r>
                  <a:rPr lang="en-US" altLang="zh-CN" sz="2000" dirty="0"/>
                  <a:t>E]</a:t>
                </a:r>
                <a:br>
                  <a:rPr lang="en-US" altLang="zh-CN" sz="2000" dirty="0"/>
                </a:br>
                <a:r>
                  <a:rPr lang="en-US" altLang="zh-CN" sz="2000" dirty="0"/>
                  <a:t>(P1 \/ P2)[x</a:t>
                </a:r>
                <a:r>
                  <a:rPr kumimoji="1" lang="en-US" altLang="zh-CN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r>
                      <m:rPr>
                        <m:sty m:val="p"/>
                      </m:rPr>
                      <a:rPr kumimoji="1" lang="en-US" altLang="zh-CN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lang="en-US" altLang="zh-CN" sz="2000" dirty="0"/>
                  <a:t>]     = P1[x</a:t>
                </a:r>
                <a:r>
                  <a:rPr kumimoji="1" lang="en-US" altLang="zh-CN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 </m:t>
                    </m:r>
                  </m:oMath>
                </a14:m>
                <a:r>
                  <a:rPr lang="en-US" altLang="zh-CN" sz="2000" dirty="0"/>
                  <a:t>E] \/ P2[x</a:t>
                </a:r>
                <a:r>
                  <a:rPr kumimoji="1" lang="en-US" altLang="zh-CN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 </m:t>
                    </m:r>
                  </m:oMath>
                </a14:m>
                <a:r>
                  <a:rPr lang="en-US" altLang="zh-CN" sz="2000" dirty="0"/>
                  <a:t>E]</a:t>
                </a:r>
                <a:br>
                  <a:rPr lang="en-US" altLang="zh-CN" sz="2000" dirty="0"/>
                </a:br>
                <a:r>
                  <a:rPr lang="en-US" altLang="zh-CN" sz="2000" dirty="0"/>
                  <a:t>(P1 </a:t>
                </a:r>
                <a14:m>
                  <m:oMath xmlns:m="http://schemas.openxmlformats.org/officeDocument/2006/math">
                    <m:r>
                      <a:rPr kumimoji="1" lang="zh-CN" altLang="en-US" sz="2000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altLang="zh-CN" sz="2000" dirty="0"/>
                  <a:t> P2)[x</a:t>
                </a:r>
                <a:r>
                  <a:rPr kumimoji="1" lang="en-US" altLang="zh-CN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r>
                      <m:rPr>
                        <m:sty m:val="p"/>
                      </m:rPr>
                      <a:rPr kumimoji="1" lang="en-US" altLang="zh-CN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lang="en-US" altLang="zh-CN" sz="2000" dirty="0"/>
                  <a:t>]     = P1[x</a:t>
                </a:r>
                <a:r>
                  <a:rPr kumimoji="1" lang="en-US" altLang="zh-CN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r>
                      <m:rPr>
                        <m:sty m:val="p"/>
                      </m:rPr>
                      <a:rPr kumimoji="1" lang="en-US" altLang="zh-CN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lang="en-US" altLang="zh-CN" sz="2000" dirty="0"/>
                  <a:t>] </a:t>
                </a:r>
                <a14:m>
                  <m:oMath xmlns:m="http://schemas.openxmlformats.org/officeDocument/2006/math">
                    <m:r>
                      <a:rPr kumimoji="1" lang="zh-CN" altLang="en-US" sz="2000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altLang="zh-CN" sz="2000" dirty="0"/>
                  <a:t> P2[x</a:t>
                </a:r>
                <a:r>
                  <a:rPr kumimoji="1" lang="en-US" altLang="zh-CN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r>
                      <m:rPr>
                        <m:sty m:val="p"/>
                      </m:rPr>
                      <a:rPr kumimoji="1" lang="en-US" altLang="zh-CN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lang="en-US" altLang="zh-CN" sz="2000" dirty="0"/>
                  <a:t>]</a:t>
                </a:r>
                <a:br>
                  <a:rPr lang="en-US" altLang="zh-CN" sz="2000" dirty="0"/>
                </a:br>
                <a:r>
                  <a:rPr lang="en-US" altLang="zh-CN" sz="2000" dirty="0"/>
                  <a:t>(</a:t>
                </a:r>
                <a14:m>
                  <m:oMath xmlns:m="http://schemas.openxmlformats.org/officeDocument/2006/math">
                    <m:r>
                      <a:rPr kumimoji="1" lang="en-US" altLang="zh-CN" sz="20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</m:oMath>
                </a14:m>
                <a:r>
                  <a:rPr lang="en-US" altLang="zh-CN" sz="2000" dirty="0" err="1"/>
                  <a:t>x.P</a:t>
                </a:r>
                <a:r>
                  <a:rPr lang="en-US" altLang="zh-CN" sz="2000" dirty="0"/>
                  <a:t>)[x</a:t>
                </a:r>
                <a:r>
                  <a:rPr kumimoji="1" lang="en-US" altLang="zh-CN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r>
                      <m:rPr>
                        <m:sty m:val="p"/>
                      </m:rPr>
                      <a:rPr kumimoji="1" lang="en-US" altLang="zh-CN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lang="en-US" altLang="zh-CN" sz="2000" dirty="0"/>
                  <a:t>]     </a:t>
                </a:r>
                <a:r>
                  <a:rPr lang="zh-CN" altLang="en-US" sz="2000" dirty="0"/>
                  <a:t>     </a:t>
                </a:r>
                <a:r>
                  <a:rPr lang="en-US" altLang="zh-CN" sz="2000" dirty="0"/>
                  <a:t>= </a:t>
                </a:r>
                <a14:m>
                  <m:oMath xmlns:m="http://schemas.openxmlformats.org/officeDocument/2006/math">
                    <m:r>
                      <a:rPr kumimoji="1" lang="en-US" altLang="zh-CN" sz="20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</m:oMath>
                </a14:m>
                <a:r>
                  <a:rPr lang="en-US" altLang="zh-CN" sz="2000" dirty="0" err="1"/>
                  <a:t>x.P</a:t>
                </a:r>
                <a:br>
                  <a:rPr lang="en-US" altLang="zh-CN" sz="2000" dirty="0"/>
                </a:br>
                <a:r>
                  <a:rPr lang="en-US" altLang="zh-CN" sz="2000" dirty="0"/>
                  <a:t>(</a:t>
                </a:r>
                <a14:m>
                  <m:oMath xmlns:m="http://schemas.openxmlformats.org/officeDocument/2006/math">
                    <m:r>
                      <a:rPr kumimoji="1" lang="en-US" altLang="zh-CN" sz="20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</m:oMath>
                </a14:m>
                <a:r>
                  <a:rPr lang="en-US" altLang="zh-CN" sz="2000" dirty="0" err="1"/>
                  <a:t>y.P</a:t>
                </a:r>
                <a:r>
                  <a:rPr lang="en-US" altLang="zh-CN" sz="2000" dirty="0"/>
                  <a:t>)[x</a:t>
                </a:r>
                <a:r>
                  <a:rPr kumimoji="1" lang="en-US" altLang="zh-CN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r>
                      <m:rPr>
                        <m:sty m:val="p"/>
                      </m:rPr>
                      <a:rPr kumimoji="1" lang="en-US" altLang="zh-CN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lang="en-US" altLang="zh-CN" sz="2000" dirty="0"/>
                  <a:t>]     </a:t>
                </a:r>
                <a:r>
                  <a:rPr lang="zh-CN" altLang="en-US" sz="2000" dirty="0"/>
                  <a:t>     </a:t>
                </a:r>
                <a:r>
                  <a:rPr lang="en-US" altLang="zh-CN" sz="2000" dirty="0"/>
                  <a:t>= (</a:t>
                </a:r>
                <a14:m>
                  <m:oMath xmlns:m="http://schemas.openxmlformats.org/officeDocument/2006/math">
                    <m:r>
                      <a:rPr kumimoji="1" lang="en-US" altLang="zh-CN" sz="20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</m:oMath>
                </a14:m>
                <a:r>
                  <a:rPr lang="en-US" altLang="zh-CN" sz="2000" dirty="0" err="1"/>
                  <a:t>z.P</a:t>
                </a:r>
                <a:r>
                  <a:rPr lang="en-US" altLang="zh-CN" sz="2000" dirty="0"/>
                  <a:t>[y</a:t>
                </a:r>
                <a:r>
                  <a:rPr kumimoji="1" lang="en-US" altLang="zh-CN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 </m:t>
                    </m:r>
                  </m:oMath>
                </a14:m>
                <a:r>
                  <a:rPr lang="en-US" altLang="zh-CN" sz="2000" dirty="0"/>
                  <a:t>z])[x</a:t>
                </a:r>
                <a:r>
                  <a:rPr kumimoji="1" lang="en-US" altLang="zh-CN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r>
                      <m:rPr>
                        <m:sty m:val="p"/>
                      </m:rPr>
                      <a:rPr kumimoji="1" lang="en-US" altLang="zh-CN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lang="en-US" altLang="zh-CN" sz="2000" dirty="0"/>
                  <a:t>]   where z if fresh</a:t>
                </a:r>
                <a:br>
                  <a:rPr lang="en-US" altLang="zh-CN" sz="2000" dirty="0"/>
                </a:br>
                <a:r>
                  <a:rPr lang="en-US" altLang="zh-CN" sz="2000" dirty="0"/>
                  <a:t>(</a:t>
                </a:r>
                <a14:m>
                  <m:oMath xmlns:m="http://schemas.openxmlformats.org/officeDocument/2006/math">
                    <m:r>
                      <a:rPr kumimoji="1" lang="en-US" altLang="zh-CN" sz="20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</m:oMath>
                </a14:m>
                <a:r>
                  <a:rPr lang="en-US" altLang="zh-CN" sz="2000" dirty="0" err="1"/>
                  <a:t>x.P</a:t>
                </a:r>
                <a:r>
                  <a:rPr lang="en-US" altLang="zh-CN" sz="2000" dirty="0"/>
                  <a:t>)[x</a:t>
                </a:r>
                <a:r>
                  <a:rPr kumimoji="1" lang="en-US" altLang="zh-CN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r>
                      <m:rPr>
                        <m:sty m:val="p"/>
                      </m:rPr>
                      <a:rPr kumimoji="1" lang="en-US" altLang="zh-CN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lang="en-US" altLang="zh-CN" sz="2000" dirty="0"/>
                  <a:t>]     </a:t>
                </a:r>
                <a:r>
                  <a:rPr lang="zh-CN" altLang="en-US" sz="2000" dirty="0"/>
                  <a:t>     </a:t>
                </a:r>
                <a:r>
                  <a:rPr lang="en-US" altLang="zh-CN" sz="2000" dirty="0"/>
                  <a:t>= </a:t>
                </a:r>
                <a14:m>
                  <m:oMath xmlns:m="http://schemas.openxmlformats.org/officeDocument/2006/math">
                    <m:r>
                      <a:rPr kumimoji="1" lang="en-US" altLang="zh-CN" sz="20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</m:oMath>
                </a14:m>
                <a:r>
                  <a:rPr lang="en-US" altLang="zh-CN" sz="2000" dirty="0" err="1"/>
                  <a:t>x.P</a:t>
                </a:r>
                <a:br>
                  <a:rPr lang="en-US" altLang="zh-CN" sz="2000" dirty="0"/>
                </a:br>
                <a:r>
                  <a:rPr lang="en-US" altLang="zh-CN" sz="2000" dirty="0"/>
                  <a:t>(</a:t>
                </a:r>
                <a14:m>
                  <m:oMath xmlns:m="http://schemas.openxmlformats.org/officeDocument/2006/math">
                    <m:r>
                      <a:rPr kumimoji="1" lang="en-US" altLang="zh-CN" sz="20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</m:oMath>
                </a14:m>
                <a:r>
                  <a:rPr lang="en-US" altLang="zh-CN" sz="2000" dirty="0" err="1"/>
                  <a:t>y.P</a:t>
                </a:r>
                <a:r>
                  <a:rPr lang="en-US" altLang="zh-CN" sz="2000" dirty="0"/>
                  <a:t>)[x</a:t>
                </a:r>
                <a:r>
                  <a:rPr kumimoji="1" lang="en-US" altLang="zh-CN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r>
                      <m:rPr>
                        <m:sty m:val="p"/>
                      </m:rPr>
                      <a:rPr kumimoji="1" lang="en-US" altLang="zh-CN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lang="en-US" altLang="zh-CN" sz="2000" dirty="0"/>
                  <a:t>]     </a:t>
                </a:r>
                <a:r>
                  <a:rPr lang="zh-CN" altLang="en-US" sz="2000" dirty="0"/>
                  <a:t>     </a:t>
                </a:r>
                <a:r>
                  <a:rPr lang="en-US" altLang="zh-CN" sz="2000" dirty="0"/>
                  <a:t>= (</a:t>
                </a:r>
                <a14:m>
                  <m:oMath xmlns:m="http://schemas.openxmlformats.org/officeDocument/2006/math">
                    <m:r>
                      <a:rPr kumimoji="1" lang="en-US" altLang="zh-CN" sz="20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</m:oMath>
                </a14:m>
                <a:r>
                  <a:rPr lang="en-US" altLang="zh-CN" sz="2000" dirty="0" err="1"/>
                  <a:t>z.P</a:t>
                </a:r>
                <a:r>
                  <a:rPr lang="en-US" altLang="zh-CN" sz="2000" dirty="0"/>
                  <a:t>[y</a:t>
                </a:r>
                <a:r>
                  <a:rPr kumimoji="1" lang="en-US" altLang="zh-CN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 </m:t>
                    </m:r>
                  </m:oMath>
                </a14:m>
                <a:r>
                  <a:rPr lang="en-US" altLang="zh-CN" sz="2000" dirty="0"/>
                  <a:t>z])[x</a:t>
                </a:r>
                <a:r>
                  <a:rPr kumimoji="1" lang="en-US" altLang="zh-CN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r>
                      <m:rPr>
                        <m:sty m:val="p"/>
                      </m:rPr>
                      <a:rPr kumimoji="1" lang="en-US" altLang="zh-CN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lang="en-US" altLang="zh-CN" sz="2000" dirty="0"/>
                  <a:t>]   where z if fresh</a:t>
                </a:r>
                <a:endParaRPr kumimoji="1" lang="zh-CN" altLang="en-US" sz="2000" dirty="0"/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9D363E59-429D-9548-9A35-C363B8B5A0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653" t="-61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38967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标题 1">
                <a:extLst>
                  <a:ext uri="{FF2B5EF4-FFF2-40B4-BE49-F238E27FC236}">
                    <a16:creationId xmlns:a16="http://schemas.microsoft.com/office/drawing/2014/main" id="{52C04A3F-6397-934A-A5B2-8EBB122AC08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kumimoji="1" lang="en-US" altLang="zh-CN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kumimoji="1" lang="en-US" altLang="zh-CN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kumimoji="1" lang="en-US" altLang="zh-CN" dirty="0"/>
                  <a:t>renaming</a:t>
                </a:r>
                <a:endParaRPr kumimoji="1" lang="zh-CN" altLang="en-US" dirty="0"/>
              </a:p>
            </p:txBody>
          </p:sp>
        </mc:Choice>
        <mc:Fallback xmlns="">
          <p:sp>
            <p:nvSpPr>
              <p:cNvPr id="2" name="标题 1">
                <a:extLst>
                  <a:ext uri="{FF2B5EF4-FFF2-40B4-BE49-F238E27FC236}">
                    <a16:creationId xmlns:a16="http://schemas.microsoft.com/office/drawing/2014/main" id="{52C04A3F-6397-934A-A5B2-8EBB122AC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651" b="-1896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A00FE12B-1735-5D42-8843-EEEA0C16D32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altLang="zh-CN" dirty="0"/>
                  <a:t>(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</m:oMath>
                </a14:m>
                <a:r>
                  <a:rPr lang="en-US" altLang="zh-CN" dirty="0" err="1"/>
                  <a:t>y.x</a:t>
                </a:r>
                <a:r>
                  <a:rPr lang="en-US" altLang="zh-CN" dirty="0"/>
                  <a:t>)[x</a:t>
                </a:r>
                <a:r>
                  <a:rPr kumimoji="1" lang="en-US" altLang="zh-CN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 </m:t>
                    </m:r>
                  </m:oMath>
                </a14:m>
                <a:r>
                  <a:rPr lang="en-US" altLang="zh-CN" dirty="0"/>
                  <a:t>y] = </a:t>
                </a:r>
                <a14:m>
                  <m:oMath xmlns:m="http://schemas.openxmlformats.org/officeDocument/2006/math">
                    <m:r>
                      <a:rPr lang="en-US" altLang="zh-CN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</m:oMath>
                </a14:m>
                <a:r>
                  <a:rPr lang="en-US" altLang="zh-CN" dirty="0" err="1"/>
                  <a:t>y.y</a:t>
                </a:r>
                <a:endParaRPr lang="en-US" altLang="zh-CN" dirty="0"/>
              </a:p>
              <a:p>
                <a:pPr marL="0" indent="0">
                  <a:buNone/>
                </a:pPr>
                <a:endParaRPr kumimoji="1" lang="en-US" altLang="zh-CN" dirty="0"/>
              </a:p>
              <a:p>
                <a:pPr marL="0" indent="0">
                  <a:buNone/>
                </a:pPr>
                <a:r>
                  <a:rPr lang="en-US" altLang="zh-CN" dirty="0"/>
                  <a:t>(</a:t>
                </a:r>
                <a14:m>
                  <m:oMath xmlns:m="http://schemas.openxmlformats.org/officeDocument/2006/math">
                    <m:r>
                      <a:rPr lang="en-US" altLang="zh-CN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</m:oMath>
                </a14:m>
                <a:r>
                  <a:rPr lang="en-US" altLang="zh-CN" dirty="0" err="1"/>
                  <a:t>y.x</a:t>
                </a:r>
                <a:r>
                  <a:rPr lang="en-US" altLang="zh-CN" dirty="0"/>
                  <a:t>)[x</a:t>
                </a:r>
                <a:r>
                  <a:rPr kumimoji="1" lang="en-US" altLang="zh-CN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 </m:t>
                    </m:r>
                  </m:oMath>
                </a14:m>
                <a:r>
                  <a:rPr lang="en-US" altLang="zh-CN" dirty="0"/>
                  <a:t>y]</a:t>
                </a:r>
                <a:br>
                  <a:rPr lang="en-US" altLang="zh-CN" dirty="0"/>
                </a:br>
                <a:r>
                  <a:rPr lang="en-US" altLang="zh-CN" dirty="0"/>
                  <a:t>= (</a:t>
                </a:r>
                <a14:m>
                  <m:oMath xmlns:m="http://schemas.openxmlformats.org/officeDocument/2006/math">
                    <m:r>
                      <a:rPr lang="en-US" altLang="zh-CN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</m:oMath>
                </a14:m>
                <a:r>
                  <a:rPr lang="en-US" altLang="zh-CN" dirty="0" err="1"/>
                  <a:t>z.x</a:t>
                </a:r>
                <a:r>
                  <a:rPr lang="en-US" altLang="zh-CN" dirty="0"/>
                  <a:t>[y</a:t>
                </a:r>
                <a:r>
                  <a:rPr kumimoji="1" lang="en-US" altLang="zh-CN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 </m:t>
                    </m:r>
                  </m:oMath>
                </a14:m>
                <a:r>
                  <a:rPr lang="en-US" altLang="zh-CN" dirty="0"/>
                  <a:t>z])[x</a:t>
                </a:r>
                <a:r>
                  <a:rPr kumimoji="1" lang="en-US" altLang="zh-CN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 </m:t>
                    </m:r>
                  </m:oMath>
                </a14:m>
                <a:r>
                  <a:rPr lang="en-US" altLang="zh-CN" dirty="0"/>
                  <a:t>y]</a:t>
                </a:r>
                <a:br>
                  <a:rPr lang="en-US" altLang="zh-CN" dirty="0"/>
                </a:br>
                <a:r>
                  <a:rPr lang="en-US" altLang="zh-CN" dirty="0"/>
                  <a:t>= (</a:t>
                </a:r>
                <a14:m>
                  <m:oMath xmlns:m="http://schemas.openxmlformats.org/officeDocument/2006/math">
                    <m:r>
                      <a:rPr lang="en-US" altLang="zh-CN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</m:oMath>
                </a14:m>
                <a:r>
                  <a:rPr lang="en-US" altLang="zh-CN" dirty="0" err="1"/>
                  <a:t>z.x</a:t>
                </a:r>
                <a:r>
                  <a:rPr lang="en-US" altLang="zh-CN" dirty="0"/>
                  <a:t>)[x</a:t>
                </a:r>
                <a:r>
                  <a:rPr kumimoji="1" lang="en-US" altLang="zh-CN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 </m:t>
                    </m:r>
                  </m:oMath>
                </a14:m>
                <a:r>
                  <a:rPr lang="en-US" altLang="zh-CN" dirty="0"/>
                  <a:t>y]</a:t>
                </a:r>
                <a:br>
                  <a:rPr lang="en-US" altLang="zh-CN" dirty="0"/>
                </a:br>
                <a:r>
                  <a:rPr lang="en-US" altLang="zh-CN" dirty="0"/>
                  <a:t>= </a:t>
                </a:r>
                <a14:m>
                  <m:oMath xmlns:m="http://schemas.openxmlformats.org/officeDocument/2006/math">
                    <m:r>
                      <a:rPr lang="en-US" altLang="zh-CN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</m:oMath>
                </a14:m>
                <a:r>
                  <a:rPr lang="en-US" altLang="zh-CN" dirty="0" err="1"/>
                  <a:t>z.y</a:t>
                </a:r>
                <a:endParaRPr kumimoji="1" lang="en-US" altLang="zh-CN" dirty="0"/>
              </a:p>
              <a:p>
                <a:pPr marL="0" indent="0">
                  <a:buNone/>
                </a:pPr>
                <a:endParaRPr kumimoji="1" lang="zh-CN" altLang="en-US" dirty="0"/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A00FE12B-1735-5D42-8843-EEEA0C16D3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794" t="-21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971568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9C17B9B-B834-E347-80F2-CCDBC8D91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 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1622823-CB4B-6B47-ABD2-04954DD6D5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en-US" altLang="zh-CN" dirty="0"/>
          </a:p>
          <a:p>
            <a:pPr marL="0" indent="0" algn="ctr">
              <a:buNone/>
            </a:pPr>
            <a:r>
              <a:rPr kumimoji="1" lang="en-US" altLang="zh-CN" i="1" dirty="0"/>
              <a:t>Predicate</a:t>
            </a:r>
            <a:r>
              <a:rPr kumimoji="1" lang="zh-CN" altLang="en-US" i="1" dirty="0"/>
              <a:t> </a:t>
            </a:r>
            <a:r>
              <a:rPr kumimoji="1" lang="en-US" altLang="zh-CN" i="1" dirty="0"/>
              <a:t>logic:</a:t>
            </a:r>
          </a:p>
          <a:p>
            <a:pPr marL="0" indent="0" algn="ctr">
              <a:buNone/>
            </a:pPr>
            <a:r>
              <a:rPr kumimoji="1" lang="en-US" altLang="zh-CN" i="1" dirty="0"/>
              <a:t>the</a:t>
            </a:r>
            <a:r>
              <a:rPr kumimoji="1" lang="zh-CN" altLang="en-US" i="1" dirty="0"/>
              <a:t> </a:t>
            </a:r>
            <a:r>
              <a:rPr kumimoji="1" lang="en-US" altLang="zh-CN" i="1" dirty="0"/>
              <a:t>proof</a:t>
            </a:r>
            <a:r>
              <a:rPr kumimoji="1" lang="zh-CN" altLang="en-US" i="1" dirty="0"/>
              <a:t> </a:t>
            </a:r>
            <a:r>
              <a:rPr kumimoji="1" lang="en-US" altLang="zh-CN" i="1" dirty="0"/>
              <a:t>theory</a:t>
            </a:r>
            <a:endParaRPr kumimoji="1" lang="zh-CN" altLang="en-US" i="1" dirty="0"/>
          </a:p>
        </p:txBody>
      </p:sp>
    </p:spTree>
    <p:extLst>
      <p:ext uri="{BB962C8B-B14F-4D97-AF65-F5344CB8AC3E}">
        <p14:creationId xmlns:p14="http://schemas.microsoft.com/office/powerpoint/2010/main" val="7201201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B97F270-AA76-8A4B-8B8C-F775F99A0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Natural</a:t>
            </a:r>
            <a:r>
              <a:rPr kumimoji="1" lang="zh-CN" altLang="en-US" dirty="0"/>
              <a:t> </a:t>
            </a:r>
            <a:r>
              <a:rPr kumimoji="1" lang="en-US" altLang="zh-CN" dirty="0"/>
              <a:t>deduction:</a:t>
            </a:r>
            <a:r>
              <a:rPr kumimoji="1" lang="zh-CN" altLang="en-US" dirty="0"/>
              <a:t> </a:t>
            </a:r>
            <a:r>
              <a:rPr kumimoji="1" lang="en-US" altLang="zh-CN" dirty="0"/>
              <a:t>judgments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DB11951C-1764-D141-AF08-2BA3416EEA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82688" y="2017713"/>
                <a:ext cx="7772400" cy="4114800"/>
              </a:xfrm>
            </p:spPr>
            <p:txBody>
              <a:bodyPr/>
              <a:lstStyle/>
              <a:p>
                <a:r>
                  <a:rPr kumimoji="1" lang="en-US" altLang="zh-CN" dirty="0"/>
                  <a:t>Judgment: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l-GR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Γ</m:t>
                      </m:r>
                      <m:r>
                        <a:rPr kumimoji="1" lang="el-GR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kumimoji="1" lang="en-US" altLang="zh-CN" dirty="0"/>
              </a:p>
              <a:p>
                <a:pPr marL="0" indent="0">
                  <a:buNone/>
                </a:pPr>
                <a:r>
                  <a:rPr kumimoji="1" lang="en-US" altLang="zh-CN" dirty="0"/>
                  <a:t>Where</a:t>
                </a:r>
                <a:r>
                  <a:rPr kumimoji="1" lang="zh-CN" alt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1" lang="el-GR" altLang="zh-CN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  <m:r>
                      <a:rPr kumimoji="1" lang="zh-CN" alt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kumimoji="1" lang="en-US" altLang="zh-CN">
                        <a:latin typeface="Cambria Math" panose="02040503050406030204" pitchFamily="18" charset="0"/>
                      </a:rPr>
                      <m:t>is</m:t>
                    </m:r>
                    <m:r>
                      <a:rPr kumimoji="1" lang="zh-CN" altLang="en-US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kumimoji="1" lang="en-US" altLang="zh-CN">
                        <a:latin typeface="Cambria Math" panose="02040503050406030204" pitchFamily="18" charset="0"/>
                      </a:rPr>
                      <m:t>a</m:t>
                    </m:r>
                    <m:r>
                      <a:rPr kumimoji="1" lang="zh-CN" altLang="en-US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kumimoji="1" lang="en-US" altLang="zh-CN">
                        <a:latin typeface="Cambria Math" panose="02040503050406030204" pitchFamily="18" charset="0"/>
                      </a:rPr>
                      <m:t>list</m:t>
                    </m:r>
                    <m:r>
                      <a:rPr kumimoji="1" lang="zh-CN" altLang="en-US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kumimoji="1" lang="en-US" altLang="zh-CN">
                        <a:latin typeface="Cambria Math" panose="02040503050406030204" pitchFamily="18" charset="0"/>
                      </a:rPr>
                      <m:t>of</m:t>
                    </m:r>
                    <m:r>
                      <a:rPr kumimoji="1" lang="zh-CN" altLang="en-US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kumimoji="1" lang="en-US" altLang="zh-CN">
                        <a:latin typeface="Cambria Math" panose="02040503050406030204" pitchFamily="18" charset="0"/>
                      </a:rPr>
                      <m:t>propostions</m:t>
                    </m:r>
                    <m:r>
                      <a:rPr kumimoji="1" lang="zh-CN" alt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kumimoji="1" lang="en-US" altLang="zh-CN" b="0" i="0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</a:rPr>
                      <m:t>or</m:t>
                    </m:r>
                    <m:r>
                      <a:rPr kumimoji="1" lang="zh-CN" altLang="en-US" b="0" i="0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kumimoji="1" lang="en-US" altLang="zh-CN" b="0" i="0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</a:rPr>
                      <m:t>variables</m:t>
                    </m:r>
                    <m:r>
                      <a:rPr kumimoji="1" lang="en-US" altLang="zh-CN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zh-CN" altLang="en-US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kumimoji="1" lang="en-US" altLang="zh-CN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n-US" altLang="zh-CN">
                          <a:latin typeface="Cambria Math" panose="02040503050406030204" pitchFamily="18" charset="0"/>
                        </a:rPr>
                        <m:t>P</m:t>
                      </m:r>
                      <m:r>
                        <a:rPr kumimoji="1" lang="zh-CN" altLang="en-US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kumimoji="1" lang="en-US" altLang="zh-CN">
                          <a:latin typeface="Cambria Math" panose="02040503050406030204" pitchFamily="18" charset="0"/>
                        </a:rPr>
                        <m:t>is</m:t>
                      </m:r>
                      <m:r>
                        <a:rPr kumimoji="1" lang="zh-CN" altLang="en-US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kumimoji="1" lang="en-US" altLang="zh-CN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kumimoji="1" lang="zh-CN" altLang="en-US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kumimoji="1" lang="en-US" altLang="zh-CN">
                          <a:latin typeface="Cambria Math" panose="02040503050406030204" pitchFamily="18" charset="0"/>
                        </a:rPr>
                        <m:t>single</m:t>
                      </m:r>
                      <m:r>
                        <a:rPr kumimoji="1" lang="zh-CN" altLang="en-US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kumimoji="1" lang="en-US" altLang="zh-CN">
                          <a:latin typeface="Cambria Math" panose="02040503050406030204" pitchFamily="18" charset="0"/>
                        </a:rPr>
                        <m:t>propostion</m:t>
                      </m:r>
                      <m:r>
                        <a:rPr kumimoji="1" lang="en-US" altLang="zh-CN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kumimoji="1" lang="en-US" altLang="zh-CN" dirty="0"/>
              </a:p>
              <a:p>
                <a:pPr marL="0" indent="0">
                  <a:buNone/>
                </a:pPr>
                <a:r>
                  <a:rPr kumimoji="1" lang="en-US" altLang="zh-CN" dirty="0"/>
                  <a:t>Meaning: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under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the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assumption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,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P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is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provable.</a:t>
                </a:r>
              </a:p>
              <a:p>
                <a:pPr marL="0" indent="0">
                  <a:buNone/>
                </a:pPr>
                <a:r>
                  <a:rPr kumimoji="1" lang="en-US" altLang="zh-CN" dirty="0"/>
                  <a:t>Example:</a:t>
                </a:r>
                <a:r>
                  <a:rPr kumimoji="1" lang="zh-CN" altLang="en-US" dirty="0"/>
                  <a:t> </a:t>
                </a:r>
                <a:r>
                  <a:rPr kumimoji="1" lang="en-US" altLang="zh-CN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P,</a:t>
                </a:r>
                <a:r>
                  <a:rPr kumimoji="1" lang="zh-CN" alt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kumimoji="1" lang="en-US" altLang="zh-CN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Q,</a:t>
                </a:r>
                <a:r>
                  <a:rPr kumimoji="1" lang="zh-CN" alt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kumimoji="1" lang="en-US" altLang="zh-CN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R,</a:t>
                </a:r>
                <a:r>
                  <a:rPr kumimoji="1" lang="zh-CN" alt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kumimoji="1" lang="en-US" altLang="zh-CN" i="1" dirty="0">
                    <a:solidFill>
                      <a:srgbClr val="0432FF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x,</a:t>
                </a:r>
                <a:r>
                  <a:rPr kumimoji="1" lang="zh-CN" altLang="en-US" i="1" dirty="0">
                    <a:solidFill>
                      <a:srgbClr val="0432FF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kumimoji="1" lang="en-US" altLang="zh-CN" i="1" dirty="0">
                    <a:solidFill>
                      <a:srgbClr val="0432FF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y,</a:t>
                </a:r>
                <a:r>
                  <a:rPr kumimoji="1" lang="zh-CN" altLang="en-US" i="1" dirty="0">
                    <a:solidFill>
                      <a:srgbClr val="0432FF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kumimoji="1" lang="en-US" altLang="zh-CN" i="1" dirty="0">
                    <a:solidFill>
                      <a:srgbClr val="0432FF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z</a:t>
                </a:r>
                <a:r>
                  <a:rPr kumimoji="1" lang="zh-CN" alt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l-GR" altLang="zh-C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⊢</m:t>
                    </m:r>
                    <m:r>
                      <a:rPr kumimoji="1" lang="en-US" altLang="zh-C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DB11951C-1764-D141-AF08-2BA3416EEA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82688" y="2017713"/>
                <a:ext cx="7772400" cy="4114800"/>
              </a:xfrm>
              <a:blipFill>
                <a:blip r:embed="rId2"/>
                <a:stretch>
                  <a:fillRect l="-1794" t="-1846" b="-892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60833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C5C8C1-95A8-6D47-90B6-BED85A6FE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Natural</a:t>
            </a:r>
            <a:r>
              <a:rPr kumimoji="1" lang="zh-CN" altLang="en-US" dirty="0"/>
              <a:t> </a:t>
            </a:r>
            <a:r>
              <a:rPr kumimoji="1" lang="en-US" altLang="zh-CN" dirty="0"/>
              <a:t>deduction:</a:t>
            </a:r>
            <a:r>
              <a:rPr kumimoji="1" lang="zh-CN" altLang="en-US" dirty="0"/>
              <a:t> </a:t>
            </a:r>
            <a:br>
              <a:rPr kumimoji="1" lang="en-US" altLang="zh-CN" dirty="0"/>
            </a:br>
            <a:r>
              <a:rPr kumimoji="1" lang="en-US" altLang="zh-CN" dirty="0"/>
              <a:t>Inference</a:t>
            </a:r>
            <a:r>
              <a:rPr kumimoji="1" lang="zh-CN" altLang="en-US" dirty="0"/>
              <a:t> </a:t>
            </a:r>
            <a:r>
              <a:rPr kumimoji="1" lang="en-US" altLang="zh-CN" dirty="0"/>
              <a:t>rules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9A1F45E-C259-C14C-94F2-A3D20B173D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Each</a:t>
            </a:r>
            <a:r>
              <a:rPr kumimoji="1" lang="zh-CN" altLang="en-US" dirty="0"/>
              <a:t> </a:t>
            </a:r>
            <a:r>
              <a:rPr kumimoji="1" lang="en-US" altLang="zh-CN" dirty="0"/>
              <a:t>rule</a:t>
            </a:r>
            <a:r>
              <a:rPr kumimoji="1" lang="zh-CN" altLang="en-US" dirty="0"/>
              <a:t> </a:t>
            </a:r>
            <a:r>
              <a:rPr kumimoji="1" lang="en-US" altLang="zh-CN" dirty="0"/>
              <a:t>takes</a:t>
            </a:r>
            <a:r>
              <a:rPr kumimoji="1" lang="zh-CN" altLang="en-US" dirty="0"/>
              <a:t> </a:t>
            </a:r>
            <a:r>
              <a:rPr kumimoji="1" lang="en-US" altLang="zh-CN" dirty="0"/>
              <a:t>this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form:</a:t>
            </a:r>
            <a:endParaRPr kumimoji="1" lang="zh-CN" altLang="en-US" dirty="0"/>
          </a:p>
          <a:p>
            <a:endParaRPr kumimoji="1" lang="zh-CN" altLang="en-US" dirty="0"/>
          </a:p>
        </p:txBody>
      </p:sp>
      <p:cxnSp>
        <p:nvCxnSpPr>
          <p:cNvPr id="4" name="直线连接符 3">
            <a:extLst>
              <a:ext uri="{FF2B5EF4-FFF2-40B4-BE49-F238E27FC236}">
                <a16:creationId xmlns:a16="http://schemas.microsoft.com/office/drawing/2014/main" id="{CF6781F8-2CA5-874A-A9E9-ED1F95971B0B}"/>
              </a:ext>
            </a:extLst>
          </p:cNvPr>
          <p:cNvCxnSpPr>
            <a:cxnSpLocks/>
          </p:cNvCxnSpPr>
          <p:nvPr/>
        </p:nvCxnSpPr>
        <p:spPr>
          <a:xfrm>
            <a:off x="2209800" y="3505200"/>
            <a:ext cx="52578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73444813-500E-8643-BF18-6D570FB4FB8D}"/>
                  </a:ext>
                </a:extLst>
              </p:cNvPr>
              <p:cNvSpPr txBox="1"/>
              <p:nvPr/>
            </p:nvSpPr>
            <p:spPr>
              <a:xfrm>
                <a:off x="2057400" y="2965212"/>
                <a:ext cx="18288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l-GR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Γ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kumimoji="1" lang="el-GR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73444813-500E-8643-BF18-6D570FB4FB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400" y="2965212"/>
                <a:ext cx="18288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A0D8887A-20CF-1944-AEE8-880AACF5FB86}"/>
                  </a:ext>
                </a:extLst>
              </p:cNvPr>
              <p:cNvSpPr txBox="1"/>
              <p:nvPr/>
            </p:nvSpPr>
            <p:spPr>
              <a:xfrm>
                <a:off x="5943600" y="2985265"/>
                <a:ext cx="18288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l-GR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Γ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kumimoji="1" lang="el-GR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A0D8887A-20CF-1944-AEE8-880AACF5FB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600" y="2985265"/>
                <a:ext cx="182880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6055B54E-AEDA-F04B-9BA4-77C9E058086D}"/>
                  </a:ext>
                </a:extLst>
              </p:cNvPr>
              <p:cNvSpPr txBox="1"/>
              <p:nvPr/>
            </p:nvSpPr>
            <p:spPr>
              <a:xfrm>
                <a:off x="3886200" y="3675857"/>
                <a:ext cx="18288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l-GR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Γ</m:t>
                      </m:r>
                      <m:r>
                        <a:rPr kumimoji="1" lang="el-GR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6055B54E-AEDA-F04B-9BA4-77C9E05808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6200" y="3675857"/>
                <a:ext cx="182880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D37A2006-3181-924D-AB72-1844F9754B08}"/>
                  </a:ext>
                </a:extLst>
              </p:cNvPr>
              <p:cNvSpPr txBox="1"/>
              <p:nvPr/>
            </p:nvSpPr>
            <p:spPr>
              <a:xfrm>
                <a:off x="3992479" y="2951203"/>
                <a:ext cx="18288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D37A2006-3181-924D-AB72-1844F9754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2479" y="2951203"/>
                <a:ext cx="182880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3F41C649-FF6D-844C-88A4-D4AA27DA5119}"/>
                  </a:ext>
                </a:extLst>
              </p:cNvPr>
              <p:cNvSpPr txBox="1"/>
              <p:nvPr/>
            </p:nvSpPr>
            <p:spPr>
              <a:xfrm>
                <a:off x="7055017" y="3306525"/>
                <a:ext cx="18288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𝑛𝑎𝑚𝑒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3F41C649-FF6D-844C-88A4-D4AA27DA51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5017" y="3306525"/>
                <a:ext cx="1828800" cy="369332"/>
              </a:xfrm>
              <a:prstGeom prst="rect">
                <a:avLst/>
              </a:prstGeom>
              <a:blipFill>
                <a:blip r:embed="rId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文本框 12">
            <a:extLst>
              <a:ext uri="{FF2B5EF4-FFF2-40B4-BE49-F238E27FC236}">
                <a16:creationId xmlns:a16="http://schemas.microsoft.com/office/drawing/2014/main" id="{57E5A9D3-6A5F-5D45-8D66-3FCE2274EB8B}"/>
              </a:ext>
            </a:extLst>
          </p:cNvPr>
          <p:cNvSpPr txBox="1"/>
          <p:nvPr/>
        </p:nvSpPr>
        <p:spPr>
          <a:xfrm>
            <a:off x="990600" y="4572000"/>
            <a:ext cx="49530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hypotheses</a:t>
            </a:r>
            <a:r>
              <a:rPr kumimoji="1" lang="zh-CN" altLang="en-US" dirty="0"/>
              <a:t> </a:t>
            </a:r>
            <a:r>
              <a:rPr kumimoji="1" lang="en-US" altLang="zh-CN" dirty="0"/>
              <a:t>(above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line)</a:t>
            </a:r>
          </a:p>
          <a:p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conclusion</a:t>
            </a:r>
            <a:r>
              <a:rPr kumimoji="1" lang="zh-CN" altLang="en-US" dirty="0"/>
              <a:t> </a:t>
            </a:r>
            <a:r>
              <a:rPr kumimoji="1" lang="en-US" altLang="zh-CN" dirty="0"/>
              <a:t>(below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line)</a:t>
            </a:r>
          </a:p>
          <a:p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rule</a:t>
            </a:r>
            <a:r>
              <a:rPr kumimoji="1" lang="zh-CN" altLang="en-US" dirty="0"/>
              <a:t> </a:t>
            </a:r>
            <a:r>
              <a:rPr kumimoji="1" lang="en-US" altLang="zh-CN" dirty="0"/>
              <a:t>name</a:t>
            </a:r>
            <a:r>
              <a:rPr kumimoji="1" lang="zh-CN" altLang="en-US" dirty="0"/>
              <a:t> </a:t>
            </a:r>
            <a:r>
              <a:rPr kumimoji="1" lang="en-US" altLang="zh-CN" dirty="0"/>
              <a:t>(right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line)</a:t>
            </a:r>
          </a:p>
          <a:p>
            <a:endParaRPr kumimoji="1" lang="en-US" altLang="zh-CN" dirty="0"/>
          </a:p>
          <a:p>
            <a:r>
              <a:rPr kumimoji="1" lang="en-US" altLang="zh-CN" dirty="0"/>
              <a:t>If</a:t>
            </a:r>
            <a:r>
              <a:rPr kumimoji="1" lang="zh-CN" altLang="en-US" dirty="0"/>
              <a:t> </a:t>
            </a:r>
            <a:r>
              <a:rPr kumimoji="1" lang="en-US" altLang="zh-CN" dirty="0"/>
              <a:t>n==0,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then</a:t>
            </a:r>
            <a:r>
              <a:rPr kumimoji="1" lang="zh-CN" altLang="en-US" dirty="0"/>
              <a:t> </a:t>
            </a:r>
            <a:r>
              <a:rPr kumimoji="1" lang="en-US" altLang="zh-CN" dirty="0"/>
              <a:t>this</a:t>
            </a:r>
            <a:r>
              <a:rPr kumimoji="1" lang="zh-CN" altLang="en-US" dirty="0"/>
              <a:t> </a:t>
            </a:r>
            <a:r>
              <a:rPr kumimoji="1" lang="en-US" altLang="zh-CN" dirty="0"/>
              <a:t>rule</a:t>
            </a:r>
            <a:r>
              <a:rPr kumimoji="1" lang="zh-CN" altLang="en-US" dirty="0"/>
              <a:t> </a:t>
            </a:r>
            <a:r>
              <a:rPr kumimoji="1" lang="en-US" altLang="zh-CN" dirty="0"/>
              <a:t>is</a:t>
            </a:r>
            <a:r>
              <a:rPr kumimoji="1" lang="zh-CN" altLang="en-US" dirty="0"/>
              <a:t> </a:t>
            </a:r>
            <a:r>
              <a:rPr kumimoji="1" lang="en-US" altLang="zh-CN" dirty="0"/>
              <a:t>called</a:t>
            </a:r>
            <a:r>
              <a:rPr kumimoji="1" lang="zh-CN" altLang="en-US" dirty="0"/>
              <a:t> </a:t>
            </a:r>
            <a:r>
              <a:rPr kumimoji="1" lang="en-US" altLang="zh-CN" dirty="0"/>
              <a:t>an</a:t>
            </a:r>
            <a:r>
              <a:rPr kumimoji="1" lang="zh-CN" altLang="en-US" dirty="0"/>
              <a:t> </a:t>
            </a:r>
            <a:r>
              <a:rPr kumimoji="1" lang="en-US" altLang="zh-CN" dirty="0"/>
              <a:t>axiom;</a:t>
            </a:r>
          </a:p>
          <a:p>
            <a:r>
              <a:rPr kumimoji="1" lang="en-US" altLang="zh-CN" dirty="0"/>
              <a:t>Or</a:t>
            </a:r>
            <a:r>
              <a:rPr kumimoji="1" lang="zh-CN" altLang="en-US" dirty="0"/>
              <a:t> </a:t>
            </a:r>
            <a:r>
              <a:rPr kumimoji="1" lang="en-US" altLang="zh-CN" dirty="0"/>
              <a:t>else</a:t>
            </a:r>
            <a:r>
              <a:rPr kumimoji="1" lang="zh-CN" altLang="en-US" dirty="0"/>
              <a:t> </a:t>
            </a:r>
            <a:r>
              <a:rPr kumimoji="1" lang="en-US" altLang="zh-CN" dirty="0"/>
              <a:t>called</a:t>
            </a:r>
            <a:r>
              <a:rPr kumimoji="1" lang="zh-CN" altLang="en-US" dirty="0"/>
              <a:t> </a:t>
            </a:r>
            <a:r>
              <a:rPr kumimoji="1" lang="en-US" altLang="zh-CN" dirty="0"/>
              <a:t>a</a:t>
            </a:r>
            <a:r>
              <a:rPr kumimoji="1" lang="zh-CN" altLang="en-US" dirty="0"/>
              <a:t> </a:t>
            </a:r>
            <a:r>
              <a:rPr kumimoji="1" lang="en-US" altLang="zh-CN" dirty="0"/>
              <a:t>rule.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290786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C5C8C1-95A8-6D47-90B6-BED85A6FE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Natural</a:t>
            </a:r>
            <a:r>
              <a:rPr kumimoji="1" lang="zh-CN" altLang="en-US" dirty="0"/>
              <a:t> </a:t>
            </a:r>
            <a:r>
              <a:rPr kumimoji="1" lang="en-US" altLang="zh-CN" dirty="0"/>
              <a:t>deduction:</a:t>
            </a:r>
            <a:r>
              <a:rPr kumimoji="1" lang="zh-CN" altLang="en-US" dirty="0"/>
              <a:t> </a:t>
            </a:r>
            <a:br>
              <a:rPr kumimoji="1" lang="en-US" altLang="zh-CN" dirty="0"/>
            </a:br>
            <a:r>
              <a:rPr kumimoji="1" lang="en-US" altLang="zh-CN" dirty="0"/>
              <a:t>Inference</a:t>
            </a:r>
            <a:r>
              <a:rPr kumimoji="1" lang="zh-CN" altLang="en-US" dirty="0"/>
              <a:t> </a:t>
            </a:r>
            <a:r>
              <a:rPr kumimoji="1" lang="en-US" altLang="zh-CN" dirty="0"/>
              <a:t>rules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9A1F45E-C259-C14C-94F2-A3D20B173D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Rule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</a:t>
            </a:r>
            <a:r>
              <a:rPr kumimoji="1" lang="zh-CN" altLang="en-US" dirty="0"/>
              <a:t> </a:t>
            </a:r>
            <a:r>
              <a:rPr kumimoji="1" lang="en-US" altLang="zh-CN" dirty="0"/>
              <a:t>props:</a:t>
            </a:r>
            <a:endParaRPr kumimoji="1" lang="zh-CN" altLang="en-US" dirty="0"/>
          </a:p>
          <a:p>
            <a:endParaRPr kumimoji="1" lang="zh-CN" altLang="en-US" dirty="0"/>
          </a:p>
        </p:txBody>
      </p:sp>
      <p:cxnSp>
        <p:nvCxnSpPr>
          <p:cNvPr id="4" name="直线连接符 3">
            <a:extLst>
              <a:ext uri="{FF2B5EF4-FFF2-40B4-BE49-F238E27FC236}">
                <a16:creationId xmlns:a16="http://schemas.microsoft.com/office/drawing/2014/main" id="{CF6781F8-2CA5-874A-A9E9-ED1F95971B0B}"/>
              </a:ext>
            </a:extLst>
          </p:cNvPr>
          <p:cNvCxnSpPr>
            <a:cxnSpLocks/>
          </p:cNvCxnSpPr>
          <p:nvPr/>
        </p:nvCxnSpPr>
        <p:spPr>
          <a:xfrm>
            <a:off x="2209800" y="3505200"/>
            <a:ext cx="52578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6055B54E-AEDA-F04B-9BA4-77C9E058086D}"/>
                  </a:ext>
                </a:extLst>
              </p:cNvPr>
              <p:cNvSpPr txBox="1"/>
              <p:nvPr/>
            </p:nvSpPr>
            <p:spPr>
              <a:xfrm>
                <a:off x="3657600" y="3675857"/>
                <a:ext cx="18288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l-GR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Γ</m:t>
                      </m:r>
                      <m:r>
                        <a:rPr kumimoji="1" lang="el-GR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a:rPr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m:rPr>
                          <m:sty m:val="p"/>
                        </m:rPr>
                        <a:rPr lang="en-US" altLang="zh-CN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6055B54E-AEDA-F04B-9BA4-77C9E05808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0" y="3675857"/>
                <a:ext cx="18288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3F41C649-FF6D-844C-88A4-D4AA27DA5119}"/>
                  </a:ext>
                </a:extLst>
              </p:cNvPr>
              <p:cNvSpPr txBox="1"/>
              <p:nvPr/>
            </p:nvSpPr>
            <p:spPr>
              <a:xfrm>
                <a:off x="7055017" y="3306525"/>
                <a:ext cx="18288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m:rPr>
                          <m:sty m:val="p"/>
                        </m:rPr>
                        <a:rPr lang="en-US" altLang="zh-CN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I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3F41C649-FF6D-844C-88A4-D4AA27DA51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5017" y="3306525"/>
                <a:ext cx="1828800" cy="369332"/>
              </a:xfrm>
              <a:prstGeom prst="rect">
                <a:avLst/>
              </a:prstGeom>
              <a:blipFill>
                <a:blip r:embed="rId3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B9964256-8AD6-5A41-8851-B1E6CB31618E}"/>
                  </a:ext>
                </a:extLst>
              </p:cNvPr>
              <p:cNvSpPr txBox="1"/>
              <p:nvPr/>
            </p:nvSpPr>
            <p:spPr>
              <a:xfrm>
                <a:off x="3657600" y="3048000"/>
                <a:ext cx="18288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l-GR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Γ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kumimoji="1" lang="zh-CN" alt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  <m:r>
                        <a:rPr kumimoji="1" lang="el-GR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B9964256-8AD6-5A41-8851-B1E6CB3161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0" y="3048000"/>
                <a:ext cx="182880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直线连接符 10">
            <a:extLst>
              <a:ext uri="{FF2B5EF4-FFF2-40B4-BE49-F238E27FC236}">
                <a16:creationId xmlns:a16="http://schemas.microsoft.com/office/drawing/2014/main" id="{1DE8F00E-8645-524B-9C7A-F09F7C3F27F3}"/>
              </a:ext>
            </a:extLst>
          </p:cNvPr>
          <p:cNvCxnSpPr>
            <a:cxnSpLocks/>
          </p:cNvCxnSpPr>
          <p:nvPr/>
        </p:nvCxnSpPr>
        <p:spPr>
          <a:xfrm>
            <a:off x="2209800" y="5251211"/>
            <a:ext cx="52578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792AA9AC-E93D-C540-A5D9-B9848F1383AD}"/>
                  </a:ext>
                </a:extLst>
              </p:cNvPr>
              <p:cNvSpPr txBox="1"/>
              <p:nvPr/>
            </p:nvSpPr>
            <p:spPr>
              <a:xfrm>
                <a:off x="3886200" y="5421868"/>
                <a:ext cx="18288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l-GR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Γ</m:t>
                      </m:r>
                      <m:r>
                        <a:rPr kumimoji="1" lang="el-GR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↦</m:t>
                      </m:r>
                      <m:r>
                        <m:rPr>
                          <m:sty m:val="p"/>
                        </m:rPr>
                        <a:rPr kumimoji="1" lang="en-US" altLang="zh-CN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E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792AA9AC-E93D-C540-A5D9-B9848F1383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6200" y="5421868"/>
                <a:ext cx="1828800" cy="369332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15175C89-1BF0-B249-B0FF-B90C515B668A}"/>
                  </a:ext>
                </a:extLst>
              </p:cNvPr>
              <p:cNvSpPr txBox="1"/>
              <p:nvPr/>
            </p:nvSpPr>
            <p:spPr>
              <a:xfrm>
                <a:off x="7055017" y="5052536"/>
                <a:ext cx="18288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15175C89-1BF0-B249-B0FF-B90C515B66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5017" y="5052536"/>
                <a:ext cx="1828800" cy="369332"/>
              </a:xfrm>
              <a:prstGeom prst="rect">
                <a:avLst/>
              </a:prstGeom>
              <a:blipFill>
                <a:blip r:embed="rId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ABDCC3B1-4AE1-BA42-B2B4-BE78339E1968}"/>
                  </a:ext>
                </a:extLst>
              </p:cNvPr>
              <p:cNvSpPr txBox="1"/>
              <p:nvPr/>
            </p:nvSpPr>
            <p:spPr>
              <a:xfrm>
                <a:off x="3810000" y="4794011"/>
                <a:ext cx="18288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l-GR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Γ</m:t>
                      </m:r>
                      <m:r>
                        <a:rPr kumimoji="1" lang="el-GR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a:rPr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m:rPr>
                          <m:sty m:val="p"/>
                        </m:rPr>
                        <a:rPr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  <m:r>
                        <a:rPr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ABDCC3B1-4AE1-BA42-B2B4-BE78339E19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0" y="4794011"/>
                <a:ext cx="18288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53419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C5C8C1-95A8-6D47-90B6-BED85A6FE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Natural</a:t>
            </a:r>
            <a:r>
              <a:rPr kumimoji="1" lang="zh-CN" altLang="en-US" dirty="0"/>
              <a:t> </a:t>
            </a:r>
            <a:r>
              <a:rPr kumimoji="1" lang="en-US" altLang="zh-CN" dirty="0"/>
              <a:t>deduction:</a:t>
            </a:r>
            <a:r>
              <a:rPr kumimoji="1" lang="zh-CN" altLang="en-US" dirty="0"/>
              <a:t> </a:t>
            </a:r>
            <a:br>
              <a:rPr kumimoji="1" lang="en-US" altLang="zh-CN" dirty="0"/>
            </a:br>
            <a:r>
              <a:rPr kumimoji="1" lang="en-US" altLang="zh-CN" dirty="0"/>
              <a:t>Inference</a:t>
            </a:r>
            <a:r>
              <a:rPr kumimoji="1" lang="zh-CN" altLang="en-US" dirty="0"/>
              <a:t> </a:t>
            </a:r>
            <a:r>
              <a:rPr kumimoji="1" lang="en-US" altLang="zh-CN" dirty="0"/>
              <a:t>rules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9A1F45E-C259-C14C-94F2-A3D20B173D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Rule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</a:t>
            </a:r>
            <a:r>
              <a:rPr kumimoji="1" lang="zh-CN" altLang="en-US" dirty="0"/>
              <a:t> </a:t>
            </a:r>
            <a:r>
              <a:rPr kumimoji="1" lang="en-US" altLang="zh-CN" dirty="0"/>
              <a:t>props:</a:t>
            </a:r>
            <a:endParaRPr kumimoji="1" lang="zh-CN" altLang="en-US" dirty="0"/>
          </a:p>
          <a:p>
            <a:endParaRPr kumimoji="1" lang="zh-CN" altLang="en-US" dirty="0"/>
          </a:p>
        </p:txBody>
      </p:sp>
      <p:cxnSp>
        <p:nvCxnSpPr>
          <p:cNvPr id="4" name="直线连接符 3">
            <a:extLst>
              <a:ext uri="{FF2B5EF4-FFF2-40B4-BE49-F238E27FC236}">
                <a16:creationId xmlns:a16="http://schemas.microsoft.com/office/drawing/2014/main" id="{CF6781F8-2CA5-874A-A9E9-ED1F95971B0B}"/>
              </a:ext>
            </a:extLst>
          </p:cNvPr>
          <p:cNvCxnSpPr>
            <a:cxnSpLocks/>
          </p:cNvCxnSpPr>
          <p:nvPr/>
        </p:nvCxnSpPr>
        <p:spPr>
          <a:xfrm>
            <a:off x="2209800" y="3505200"/>
            <a:ext cx="52578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6055B54E-AEDA-F04B-9BA4-77C9E058086D}"/>
                  </a:ext>
                </a:extLst>
              </p:cNvPr>
              <p:cNvSpPr txBox="1"/>
              <p:nvPr/>
            </p:nvSpPr>
            <p:spPr>
              <a:xfrm>
                <a:off x="3657600" y="3675857"/>
                <a:ext cx="18288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l-GR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Γ</m:t>
                      </m:r>
                      <m:r>
                        <a:rPr kumimoji="1" lang="el-GR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∃</m:t>
                      </m:r>
                      <m:r>
                        <m:rPr>
                          <m:sty m:val="p"/>
                        </m:rPr>
                        <a:rPr lang="en-US" altLang="zh-CN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6055B54E-AEDA-F04B-9BA4-77C9E05808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0" y="3675857"/>
                <a:ext cx="18288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3F41C649-FF6D-844C-88A4-D4AA27DA5119}"/>
                  </a:ext>
                </a:extLst>
              </p:cNvPr>
              <p:cNvSpPr txBox="1"/>
              <p:nvPr/>
            </p:nvSpPr>
            <p:spPr>
              <a:xfrm>
                <a:off x="7055017" y="3306525"/>
                <a:ext cx="18288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∃</m:t>
                      </m:r>
                      <m:r>
                        <m:rPr>
                          <m:sty m:val="p"/>
                        </m:rPr>
                        <a:rPr lang="en-US" altLang="zh-CN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I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3F41C649-FF6D-844C-88A4-D4AA27DA51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5017" y="3306525"/>
                <a:ext cx="1828800" cy="369332"/>
              </a:xfrm>
              <a:prstGeom prst="rect">
                <a:avLst/>
              </a:prstGeom>
              <a:blipFill>
                <a:blip r:embed="rId3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B9964256-8AD6-5A41-8851-B1E6CB31618E}"/>
                  </a:ext>
                </a:extLst>
              </p:cNvPr>
              <p:cNvSpPr txBox="1"/>
              <p:nvPr/>
            </p:nvSpPr>
            <p:spPr>
              <a:xfrm>
                <a:off x="3657600" y="3048000"/>
                <a:ext cx="18288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l-GR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Γ</m:t>
                      </m:r>
                      <m:r>
                        <a:rPr kumimoji="1" lang="el-GR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↦</m:t>
                      </m:r>
                      <m:r>
                        <m:rPr>
                          <m:sty m:val="p"/>
                        </m:rPr>
                        <a:rPr kumimoji="1" lang="en-US" altLang="zh-CN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E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B9964256-8AD6-5A41-8851-B1E6CB3161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0" y="3048000"/>
                <a:ext cx="1828800" cy="369332"/>
              </a:xfrm>
              <a:prstGeom prst="rect">
                <a:avLst/>
              </a:prstGeom>
              <a:blipFill>
                <a:blip r:embed="rId4"/>
                <a:stretch>
                  <a:fillRect b="-17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直线连接符 10">
            <a:extLst>
              <a:ext uri="{FF2B5EF4-FFF2-40B4-BE49-F238E27FC236}">
                <a16:creationId xmlns:a16="http://schemas.microsoft.com/office/drawing/2014/main" id="{1DE8F00E-8645-524B-9C7A-F09F7C3F27F3}"/>
              </a:ext>
            </a:extLst>
          </p:cNvPr>
          <p:cNvCxnSpPr>
            <a:cxnSpLocks/>
          </p:cNvCxnSpPr>
          <p:nvPr/>
        </p:nvCxnSpPr>
        <p:spPr>
          <a:xfrm>
            <a:off x="2209800" y="5251211"/>
            <a:ext cx="52578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792AA9AC-E93D-C540-A5D9-B9848F1383AD}"/>
                  </a:ext>
                </a:extLst>
              </p:cNvPr>
              <p:cNvSpPr txBox="1"/>
              <p:nvPr/>
            </p:nvSpPr>
            <p:spPr>
              <a:xfrm>
                <a:off x="3886200" y="5421868"/>
                <a:ext cx="18288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l-GR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Γ</m:t>
                      </m:r>
                      <m:r>
                        <a:rPr kumimoji="1" lang="el-GR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a:rPr kumimoji="1" lang="en-US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792AA9AC-E93D-C540-A5D9-B9848F1383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6200" y="5421868"/>
                <a:ext cx="1828800" cy="369332"/>
              </a:xfrm>
              <a:prstGeom prst="rect">
                <a:avLst/>
              </a:prstGeom>
              <a:blipFill>
                <a:blip r:embed="rId5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15175C89-1BF0-B249-B0FF-B90C515B668A}"/>
                  </a:ext>
                </a:extLst>
              </p:cNvPr>
              <p:cNvSpPr txBox="1"/>
              <p:nvPr/>
            </p:nvSpPr>
            <p:spPr>
              <a:xfrm>
                <a:off x="7055017" y="5052536"/>
                <a:ext cx="18288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∃</m:t>
                      </m:r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15175C89-1BF0-B249-B0FF-B90C515B66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5017" y="5052536"/>
                <a:ext cx="1828800" cy="369332"/>
              </a:xfrm>
              <a:prstGeom prst="rect">
                <a:avLst/>
              </a:prstGeom>
              <a:blipFill>
                <a:blip r:embed="rId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0C0C8AA4-A367-4B4B-9515-4EA47BFFA3B4}"/>
                  </a:ext>
                </a:extLst>
              </p:cNvPr>
              <p:cNvSpPr txBox="1"/>
              <p:nvPr/>
            </p:nvSpPr>
            <p:spPr>
              <a:xfrm>
                <a:off x="2819400" y="4812268"/>
                <a:ext cx="18288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l-GR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Γ</m:t>
                      </m:r>
                      <m:r>
                        <a:rPr kumimoji="1" lang="el-GR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∃</m:t>
                      </m:r>
                      <m:r>
                        <m:rPr>
                          <m:sty m:val="p"/>
                        </m:rPr>
                        <a:rPr lang="en-US" altLang="zh-CN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0C0C8AA4-A367-4B4B-9515-4EA47BFFA3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9400" y="4812268"/>
                <a:ext cx="182880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2BCC7F0D-01ED-1749-A279-1235734A46BD}"/>
                  </a:ext>
                </a:extLst>
              </p:cNvPr>
              <p:cNvSpPr txBox="1"/>
              <p:nvPr/>
            </p:nvSpPr>
            <p:spPr>
              <a:xfrm>
                <a:off x="4953000" y="4800600"/>
                <a:ext cx="18288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l-GR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Γ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kumimoji="1" lang="zh-CN" alt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kumimoji="1" lang="el-GR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2BCC7F0D-01ED-1749-A279-1235734A46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3000" y="4800600"/>
                <a:ext cx="1828800" cy="369332"/>
              </a:xfrm>
              <a:prstGeom prst="rect">
                <a:avLst/>
              </a:prstGeom>
              <a:blipFill>
                <a:blip r:embed="rId8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47122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C5C8C1-95A8-6D47-90B6-BED85A6FE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Example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39A1F45E-C259-C14C-94F2-A3D20B173D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82688" y="2017713"/>
                <a:ext cx="7772400" cy="4114800"/>
              </a:xfrm>
            </p:spPr>
            <p:txBody>
              <a:bodyPr/>
              <a:lstStyle/>
              <a:p>
                <a:r>
                  <a:rPr kumimoji="1" lang="en-US" altLang="zh-CN" dirty="0"/>
                  <a:t>Try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to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prove:</a:t>
                </a:r>
                <a14:m>
                  <m:oMath xmlns:m="http://schemas.openxmlformats.org/officeDocument/2006/math">
                    <m:r>
                      <a:rPr kumimoji="1" lang="zh-CN" altLang="en-US" sz="27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kumimoji="1" lang="en-US" altLang="zh-CN" sz="27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  <m:r>
                      <a:rPr kumimoji="1" lang="en-US" altLang="zh-CN" sz="27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kumimoji="1" lang="en-US" altLang="zh-CN" sz="27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.(</m:t>
                    </m:r>
                    <m:r>
                      <a:rPr kumimoji="1" lang="en-US" altLang="zh-CN" sz="27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kumimoji="1" lang="en-US" altLang="zh-CN" sz="27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sz="27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kumimoji="1" lang="zh-CN" altLang="en-US" sz="2700" i="1">
                        <a:latin typeface="Cambria Math" panose="02040503050406030204" pitchFamily="18" charset="0"/>
                      </a:rPr>
                      <m:t>→</m:t>
                    </m:r>
                    <m:r>
                      <a:rPr kumimoji="1" lang="en-US" altLang="zh-CN" sz="2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⊥)</m:t>
                    </m:r>
                    <m:r>
                      <a:rPr kumimoji="1" lang="zh-CN" altLang="en-US" sz="2700" i="1">
                        <a:latin typeface="Cambria Math" panose="02040503050406030204" pitchFamily="18" charset="0"/>
                      </a:rPr>
                      <m:t>→</m:t>
                    </m:r>
                    <m:r>
                      <a:rPr kumimoji="1" lang="en-US" altLang="zh-CN" sz="27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sz="27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kumimoji="1" lang="en-US" altLang="zh-CN" sz="27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kumimoji="1" lang="en-US" altLang="zh-CN" sz="27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kumimoji="1" lang="en-US" altLang="zh-CN" sz="27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kumimoji="1" lang="en-US" altLang="zh-CN" sz="27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sz="27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kumimoji="1" lang="zh-CN" altLang="en-US" sz="2700" i="1">
                        <a:latin typeface="Cambria Math" panose="02040503050406030204" pitchFamily="18" charset="0"/>
                      </a:rPr>
                      <m:t>→</m:t>
                    </m:r>
                    <m:r>
                      <a:rPr kumimoji="1" lang="en-US" altLang="zh-CN" sz="2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⊥</m:t>
                    </m:r>
                    <m:r>
                      <a:rPr kumimoji="1" lang="en-US" altLang="zh-CN" sz="27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kumimoji="1" lang="zh-CN" altLang="en-US" sz="2700" dirty="0"/>
              </a:p>
              <a:p>
                <a:pPr marL="0" indent="0">
                  <a:buNone/>
                </a:pPr>
                <a:endParaRPr kumimoji="1" lang="zh-CN" altLang="en-US" dirty="0"/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39A1F45E-C259-C14C-94F2-A3D20B173D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82688" y="2017713"/>
                <a:ext cx="7772400" cy="4114800"/>
              </a:xfrm>
              <a:blipFill>
                <a:blip r:embed="rId2"/>
                <a:stretch>
                  <a:fillRect l="-489" t="-184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直线连接符 3">
            <a:extLst>
              <a:ext uri="{FF2B5EF4-FFF2-40B4-BE49-F238E27FC236}">
                <a16:creationId xmlns:a16="http://schemas.microsoft.com/office/drawing/2014/main" id="{CF6781F8-2CA5-874A-A9E9-ED1F95971B0B}"/>
              </a:ext>
            </a:extLst>
          </p:cNvPr>
          <p:cNvCxnSpPr>
            <a:cxnSpLocks/>
          </p:cNvCxnSpPr>
          <p:nvPr/>
        </p:nvCxnSpPr>
        <p:spPr>
          <a:xfrm>
            <a:off x="1066800" y="6318012"/>
            <a:ext cx="39624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6055B54E-AEDA-F04B-9BA4-77C9E058086D}"/>
                  </a:ext>
                </a:extLst>
              </p:cNvPr>
              <p:cNvSpPr txBox="1"/>
              <p:nvPr/>
            </p:nvSpPr>
            <p:spPr>
              <a:xfrm>
                <a:off x="914400" y="6488668"/>
                <a:ext cx="41910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l-GR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∃</m:t>
                      </m:r>
                      <m:r>
                        <a:rPr kumimoji="1" lang="en-US" altLang="zh-CN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.(</m:t>
                      </m:r>
                      <m:r>
                        <a:rPr kumimoji="1" lang="en-US" altLang="zh-CN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kumimoji="1" lang="en-US" altLang="zh-CN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kumimoji="1" lang="zh-CN" altLang="en-US" i="1" ker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⊥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kumimoji="1" lang="zh-CN" altLang="en-US" i="1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kumimoji="1" lang="en-US" altLang="zh-CN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kumimoji="1" lang="zh-CN" altLang="en-US" i="1" ker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⊥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zh-CN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6055B54E-AEDA-F04B-9BA4-77C9E05808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6488668"/>
                <a:ext cx="4191000" cy="369332"/>
              </a:xfrm>
              <a:prstGeom prst="rect">
                <a:avLst/>
              </a:prstGeom>
              <a:blipFill>
                <a:blip r:embed="rId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3A56FFD1-2B98-2540-877B-1F30B78B2F23}"/>
                  </a:ext>
                </a:extLst>
              </p:cNvPr>
              <p:cNvSpPr txBox="1"/>
              <p:nvPr/>
            </p:nvSpPr>
            <p:spPr>
              <a:xfrm>
                <a:off x="4495800" y="6117812"/>
                <a:ext cx="18288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kumimoji="1" lang="zh-CN" altLang="en-US" i="1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3A56FFD1-2B98-2540-877B-1F30B78B2F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5800" y="6117812"/>
                <a:ext cx="1828800" cy="369332"/>
              </a:xfrm>
              <a:prstGeom prst="rect">
                <a:avLst/>
              </a:prstGeom>
              <a:blipFill>
                <a:blip r:embed="rId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直线连接符 9">
            <a:extLst>
              <a:ext uri="{FF2B5EF4-FFF2-40B4-BE49-F238E27FC236}">
                <a16:creationId xmlns:a16="http://schemas.microsoft.com/office/drawing/2014/main" id="{0730C507-87E2-4346-9E9F-9D350AA55E7A}"/>
              </a:ext>
            </a:extLst>
          </p:cNvPr>
          <p:cNvCxnSpPr>
            <a:cxnSpLocks/>
          </p:cNvCxnSpPr>
          <p:nvPr/>
        </p:nvCxnSpPr>
        <p:spPr>
          <a:xfrm>
            <a:off x="1066800" y="5715000"/>
            <a:ext cx="41148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线连接符 11">
            <a:extLst>
              <a:ext uri="{FF2B5EF4-FFF2-40B4-BE49-F238E27FC236}">
                <a16:creationId xmlns:a16="http://schemas.microsoft.com/office/drawing/2014/main" id="{AF2C20C9-08D9-3547-AEB0-7704A7CF473C}"/>
              </a:ext>
            </a:extLst>
          </p:cNvPr>
          <p:cNvCxnSpPr>
            <a:cxnSpLocks/>
          </p:cNvCxnSpPr>
          <p:nvPr/>
        </p:nvCxnSpPr>
        <p:spPr>
          <a:xfrm>
            <a:off x="246062" y="5165685"/>
            <a:ext cx="790733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B1B8B66F-2597-2642-98CD-B82A7B14C2E9}"/>
                  </a:ext>
                </a:extLst>
              </p:cNvPr>
              <p:cNvSpPr txBox="1"/>
              <p:nvPr/>
            </p:nvSpPr>
            <p:spPr>
              <a:xfrm>
                <a:off x="4648200" y="5486400"/>
                <a:ext cx="18288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B1B8B66F-2597-2642-98CD-B82A7B14C2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8200" y="5486400"/>
                <a:ext cx="1828800" cy="369332"/>
              </a:xfrm>
              <a:prstGeom prst="rect">
                <a:avLst/>
              </a:prstGeom>
              <a:blipFill>
                <a:blip r:embed="rId5"/>
                <a:stretch>
                  <a:fillRect b="-17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1F979907-E948-F94F-9D57-5EB7E0FC8245}"/>
                  </a:ext>
                </a:extLst>
              </p:cNvPr>
              <p:cNvSpPr txBox="1"/>
              <p:nvPr/>
            </p:nvSpPr>
            <p:spPr>
              <a:xfrm>
                <a:off x="8153400" y="4981019"/>
                <a:ext cx="87471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kumimoji="1" lang="en-US" altLang="zh-CN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1F979907-E948-F94F-9D57-5EB7E0FC82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3400" y="4981019"/>
                <a:ext cx="874712" cy="369332"/>
              </a:xfrm>
              <a:prstGeom prst="rect">
                <a:avLst/>
              </a:prstGeom>
              <a:blipFill>
                <a:blip r:embed="rId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4F74B2A9-30DF-3E4A-A871-F6A4D4DB2614}"/>
                  </a:ext>
                </a:extLst>
              </p:cNvPr>
              <p:cNvSpPr txBox="1"/>
              <p:nvPr/>
            </p:nvSpPr>
            <p:spPr>
              <a:xfrm>
                <a:off x="1066800" y="5867400"/>
                <a:ext cx="41910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∃</m:t>
                      </m:r>
                      <m:r>
                        <a:rPr kumimoji="1" lang="en-US" altLang="zh-CN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.(</m:t>
                      </m:r>
                      <m:r>
                        <a:rPr kumimoji="1" lang="en-US" altLang="zh-CN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kumimoji="1" lang="en-US" altLang="zh-CN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kumimoji="1" lang="zh-CN" altLang="en-US" i="1" ker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⊥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kumimoji="1" lang="el-GR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kumimoji="1" lang="en-US" altLang="zh-CN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kumimoji="1" lang="zh-CN" altLang="en-US" i="1" ker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⊥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zh-CN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4F74B2A9-30DF-3E4A-A871-F6A4D4DB2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800" y="5867400"/>
                <a:ext cx="4191000" cy="369332"/>
              </a:xfrm>
              <a:prstGeom prst="rect">
                <a:avLst/>
              </a:prstGeom>
              <a:blipFill>
                <a:blip r:embed="rId7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8828CF53-600E-E649-852C-8C297178AA38}"/>
                  </a:ext>
                </a:extLst>
              </p:cNvPr>
              <p:cNvSpPr txBox="1"/>
              <p:nvPr/>
            </p:nvSpPr>
            <p:spPr>
              <a:xfrm>
                <a:off x="1066800" y="5257800"/>
                <a:ext cx="41910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∃</m:t>
                      </m:r>
                      <m:r>
                        <a:rPr kumimoji="1" lang="en-US" altLang="zh-CN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d>
                        <m:dPr>
                          <m:ctrlPr>
                            <a:rPr kumimoji="1" lang="en-US" altLang="zh-CN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kumimoji="1" lang="en-US" altLang="zh-CN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kumimoji="1" lang="zh-CN" altLang="en-US" i="1" kern="0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⊥</m:t>
                          </m:r>
                        </m:e>
                      </m:d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kumimoji="1" lang="zh-CN" alt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kumimoji="1" lang="en-US" altLang="zh-CN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kumimoji="1" lang="el-GR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a:rPr kumimoji="1" lang="zh-CN" alt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⊥</m:t>
                      </m:r>
                    </m:oMath>
                  </m:oMathPara>
                </a14:m>
                <a:endParaRPr kumimoji="1" lang="en-US" altLang="zh-CN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8828CF53-600E-E649-852C-8C297178AA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800" y="5257800"/>
                <a:ext cx="4191000" cy="369332"/>
              </a:xfrm>
              <a:prstGeom prst="rect">
                <a:avLst/>
              </a:prstGeom>
              <a:blipFill>
                <a:blip r:embed="rId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B18E6A00-E2AE-BE4F-93FE-004D20F4AF0B}"/>
                  </a:ext>
                </a:extLst>
              </p:cNvPr>
              <p:cNvSpPr txBox="1"/>
              <p:nvPr/>
            </p:nvSpPr>
            <p:spPr>
              <a:xfrm>
                <a:off x="44544" y="4717653"/>
                <a:ext cx="41148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∃</m:t>
                      </m:r>
                      <m:r>
                        <a:rPr kumimoji="1" lang="en-US" altLang="zh-CN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d>
                        <m:dPr>
                          <m:ctrlPr>
                            <a:rPr kumimoji="1" lang="en-US" altLang="zh-CN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kumimoji="1" lang="en-US" altLang="zh-CN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kumimoji="1" lang="zh-CN" altLang="en-US" i="1" kern="0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⊥</m:t>
                          </m:r>
                        </m:e>
                      </m:d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kumimoji="1" lang="zh-CN" alt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kumimoji="1" lang="en-US" altLang="zh-CN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kumimoji="1" lang="el-GR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kumimoji="1" lang="zh-CN" altLang="en-US" i="1" ker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⊥</m:t>
                      </m:r>
                    </m:oMath>
                  </m:oMathPara>
                </a14:m>
                <a:endParaRPr kumimoji="1" lang="en-US" altLang="zh-CN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B18E6A00-E2AE-BE4F-93FE-004D20F4AF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44" y="4717653"/>
                <a:ext cx="4114800" cy="369332"/>
              </a:xfrm>
              <a:prstGeom prst="rect">
                <a:avLst/>
              </a:prstGeom>
              <a:blipFill>
                <a:blip r:embed="rId9"/>
                <a:stretch>
                  <a:fillRect b="-967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99C9CCB4-D243-2E49-A549-248EA128B288}"/>
                  </a:ext>
                </a:extLst>
              </p:cNvPr>
              <p:cNvSpPr txBox="1"/>
              <p:nvPr/>
            </p:nvSpPr>
            <p:spPr>
              <a:xfrm>
                <a:off x="4343400" y="4796353"/>
                <a:ext cx="41910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∃</m:t>
                      </m:r>
                      <m:r>
                        <a:rPr kumimoji="1" lang="en-US" altLang="zh-CN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d>
                        <m:dPr>
                          <m:ctrlPr>
                            <a:rPr kumimoji="1" lang="en-US" altLang="zh-CN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kumimoji="1" lang="en-US" altLang="zh-CN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kumimoji="1" lang="zh-CN" altLang="en-US" i="1" kern="0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⊥</m:t>
                          </m:r>
                        </m:e>
                      </m:d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kumimoji="1" lang="zh-CN" alt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kumimoji="1" lang="en-US" altLang="zh-CN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kumimoji="1" lang="el-GR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zh-CN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99C9CCB4-D243-2E49-A549-248EA128B2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3400" y="4796353"/>
                <a:ext cx="4191000" cy="369332"/>
              </a:xfrm>
              <a:prstGeom prst="rect">
                <a:avLst/>
              </a:prstGeom>
              <a:blipFill>
                <a:blip r:embed="rId10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直线连接符 24">
            <a:extLst>
              <a:ext uri="{FF2B5EF4-FFF2-40B4-BE49-F238E27FC236}">
                <a16:creationId xmlns:a16="http://schemas.microsoft.com/office/drawing/2014/main" id="{94A13831-650C-C74B-B21C-95DF11512932}"/>
              </a:ext>
            </a:extLst>
          </p:cNvPr>
          <p:cNvCxnSpPr>
            <a:cxnSpLocks/>
          </p:cNvCxnSpPr>
          <p:nvPr/>
        </p:nvCxnSpPr>
        <p:spPr>
          <a:xfrm>
            <a:off x="228600" y="4648200"/>
            <a:ext cx="38862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7BD7B196-3DBA-0C42-BCA5-8865C62D82B5}"/>
                  </a:ext>
                </a:extLst>
              </p:cNvPr>
              <p:cNvSpPr txBox="1"/>
              <p:nvPr/>
            </p:nvSpPr>
            <p:spPr>
              <a:xfrm>
                <a:off x="152400" y="3505200"/>
                <a:ext cx="43434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∃</m:t>
                      </m:r>
                      <m:r>
                        <a:rPr kumimoji="1" lang="en-US" altLang="zh-CN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d>
                        <m:dPr>
                          <m:ctrlPr>
                            <a:rPr kumimoji="1" lang="en-US" altLang="zh-CN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kumimoji="1" lang="en-US" altLang="zh-CN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kumimoji="1" lang="zh-CN" altLang="en-US" i="1" kern="0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⊥</m:t>
                          </m:r>
                        </m:e>
                      </m:d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kumimoji="1" lang="zh-CN" alt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kumimoji="1" lang="en-US" altLang="zh-CN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kumimoji="1" lang="el-GR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∃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.(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kumimoji="1" lang="zh-CN" altLang="en-US" i="1" ker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⊥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zh-CN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7BD7B196-3DBA-0C42-BCA5-8865C62D82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400" y="3505200"/>
                <a:ext cx="4343400" cy="369332"/>
              </a:xfrm>
              <a:prstGeom prst="rect">
                <a:avLst/>
              </a:prstGeom>
              <a:blipFill>
                <a:blip r:embed="rId11"/>
                <a:stretch>
                  <a:fillRect b="-1379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5F9B7215-2052-2B49-9DB7-ED5C983911F7}"/>
                  </a:ext>
                </a:extLst>
              </p:cNvPr>
              <p:cNvSpPr txBox="1"/>
              <p:nvPr/>
            </p:nvSpPr>
            <p:spPr>
              <a:xfrm>
                <a:off x="152400" y="3962400"/>
                <a:ext cx="4343400" cy="6399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∃</m:t>
                      </m:r>
                      <m:r>
                        <a:rPr kumimoji="1" lang="en-US" altLang="zh-CN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d>
                        <m:dPr>
                          <m:ctrlPr>
                            <a:rPr kumimoji="1" lang="en-US" altLang="zh-CN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kumimoji="1" lang="en-US" altLang="zh-CN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kumimoji="1" lang="zh-CN" altLang="en-US" i="1" kern="0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⊥</m:t>
                          </m:r>
                        </m:e>
                      </m:d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kumimoji="1" lang="zh-CN" alt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kumimoji="1" lang="en-US" altLang="zh-CN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kumimoji="1" lang="en-US" altLang="zh-CN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kumimoji="1" lang="zh-CN" alt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CN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kumimoji="1" lang="en-US" altLang="zh-CN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CN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kumimoji="1" lang="en-US" altLang="zh-CN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kumimoji="1" lang="zh-CN" altLang="en-US" i="1" ker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⊥</m:t>
                      </m:r>
                      <m:r>
                        <a:rPr kumimoji="1" lang="el-GR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kumimoji="1" lang="zh-CN" altLang="en-US" i="1" ker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⊥</m:t>
                      </m:r>
                    </m:oMath>
                  </m:oMathPara>
                </a14:m>
                <a:endParaRPr kumimoji="1" lang="en-US" altLang="zh-CN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5F9B7215-2052-2B49-9DB7-ED5C983911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400" y="3962400"/>
                <a:ext cx="4343400" cy="639983"/>
              </a:xfrm>
              <a:prstGeom prst="rect">
                <a:avLst/>
              </a:prstGeom>
              <a:blipFill>
                <a:blip r:embed="rId12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直线连接符 28">
            <a:extLst>
              <a:ext uri="{FF2B5EF4-FFF2-40B4-BE49-F238E27FC236}">
                <a16:creationId xmlns:a16="http://schemas.microsoft.com/office/drawing/2014/main" id="{B3F6679E-D063-EC45-B608-18B7B27935B3}"/>
              </a:ext>
            </a:extLst>
          </p:cNvPr>
          <p:cNvCxnSpPr>
            <a:cxnSpLocks/>
          </p:cNvCxnSpPr>
          <p:nvPr/>
        </p:nvCxnSpPr>
        <p:spPr>
          <a:xfrm>
            <a:off x="228600" y="3429000"/>
            <a:ext cx="41148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线连接符 31">
            <a:extLst>
              <a:ext uri="{FF2B5EF4-FFF2-40B4-BE49-F238E27FC236}">
                <a16:creationId xmlns:a16="http://schemas.microsoft.com/office/drawing/2014/main" id="{A8B17971-AB2F-8444-B352-596600C6840E}"/>
              </a:ext>
            </a:extLst>
          </p:cNvPr>
          <p:cNvCxnSpPr>
            <a:cxnSpLocks/>
          </p:cNvCxnSpPr>
          <p:nvPr/>
        </p:nvCxnSpPr>
        <p:spPr>
          <a:xfrm>
            <a:off x="4800600" y="3874532"/>
            <a:ext cx="35814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线连接符 32">
            <a:extLst>
              <a:ext uri="{FF2B5EF4-FFF2-40B4-BE49-F238E27FC236}">
                <a16:creationId xmlns:a16="http://schemas.microsoft.com/office/drawing/2014/main" id="{A76447EA-0231-5949-B6F8-A4E097B087CB}"/>
              </a:ext>
            </a:extLst>
          </p:cNvPr>
          <p:cNvCxnSpPr>
            <a:cxnSpLocks/>
          </p:cNvCxnSpPr>
          <p:nvPr/>
        </p:nvCxnSpPr>
        <p:spPr>
          <a:xfrm>
            <a:off x="4800600" y="4648200"/>
            <a:ext cx="35814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DD2B63AB-8806-A446-B181-B35A500B5682}"/>
                  </a:ext>
                </a:extLst>
              </p:cNvPr>
              <p:cNvSpPr txBox="1"/>
              <p:nvPr/>
            </p:nvSpPr>
            <p:spPr>
              <a:xfrm>
                <a:off x="3505201" y="4415353"/>
                <a:ext cx="18288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∃</m:t>
                      </m:r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DD2B63AB-8806-A446-B181-B35A500B56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5201" y="4415353"/>
                <a:ext cx="1828800" cy="369332"/>
              </a:xfrm>
              <a:prstGeom prst="rect">
                <a:avLst/>
              </a:prstGeom>
              <a:blipFill>
                <a:blip r:embed="rId13"/>
                <a:stretch>
                  <a:fillRect b="-17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AF3A58FB-7E68-E143-B8B9-C5F9A6C079B1}"/>
                  </a:ext>
                </a:extLst>
              </p:cNvPr>
              <p:cNvSpPr txBox="1"/>
              <p:nvPr/>
            </p:nvSpPr>
            <p:spPr>
              <a:xfrm>
                <a:off x="7754144" y="4434413"/>
                <a:ext cx="18288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AF3A58FB-7E68-E143-B8B9-C5F9A6C079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4144" y="4434413"/>
                <a:ext cx="1828800" cy="369332"/>
              </a:xfrm>
              <a:prstGeom prst="rect">
                <a:avLst/>
              </a:prstGeom>
              <a:blipFill>
                <a:blip r:embed="rId1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66D0B302-BF12-9347-95BF-6DD530BB3F33}"/>
                  </a:ext>
                </a:extLst>
              </p:cNvPr>
              <p:cNvSpPr txBox="1"/>
              <p:nvPr/>
            </p:nvSpPr>
            <p:spPr>
              <a:xfrm>
                <a:off x="4572000" y="4059198"/>
                <a:ext cx="41910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∃</m:t>
                      </m:r>
                      <m:r>
                        <a:rPr kumimoji="1" lang="en-US" altLang="zh-CN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d>
                        <m:dPr>
                          <m:ctrlPr>
                            <a:rPr kumimoji="1" lang="en-US" altLang="zh-CN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kumimoji="1" lang="en-US" altLang="zh-CN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kumimoji="1" lang="zh-CN" altLang="en-US" i="1" kern="0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⊥</m:t>
                          </m:r>
                        </m:e>
                      </m:d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kumimoji="1" lang="zh-CN" alt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kumimoji="1" lang="en-US" altLang="zh-CN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kumimoji="1" lang="el-GR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a:rPr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zh-CN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66D0B302-BF12-9347-95BF-6DD530BB3F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4059198"/>
                <a:ext cx="4191000" cy="369332"/>
              </a:xfrm>
              <a:prstGeom prst="rect">
                <a:avLst/>
              </a:prstGeom>
              <a:blipFill>
                <a:blip r:embed="rId15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01F86EBF-5EFA-E147-8679-CCE6FA7117C8}"/>
                  </a:ext>
                </a:extLst>
              </p:cNvPr>
              <p:cNvSpPr txBox="1"/>
              <p:nvPr/>
            </p:nvSpPr>
            <p:spPr>
              <a:xfrm>
                <a:off x="7772400" y="3642356"/>
                <a:ext cx="18288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𝑉𝑎𝑟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01F86EBF-5EFA-E147-8679-CCE6FA7117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400" y="3642356"/>
                <a:ext cx="1828800" cy="369332"/>
              </a:xfrm>
              <a:prstGeom prst="rect">
                <a:avLst/>
              </a:prstGeom>
              <a:blipFill>
                <a:blip r:embed="rId1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49424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8ED064A-70B2-F64D-BC19-E094182EF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Proof</a:t>
            </a:r>
            <a:r>
              <a:rPr kumimoji="1" lang="zh-CN" altLang="en-US" dirty="0"/>
              <a:t> </a:t>
            </a:r>
            <a:r>
              <a:rPr kumimoji="1" lang="en-US" altLang="zh-CN" dirty="0"/>
              <a:t>engineering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08EE45E-418C-D444-A3E0-65936DD023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There</a:t>
            </a:r>
            <a:r>
              <a:rPr kumimoji="1" lang="zh-CN" altLang="en-US" dirty="0"/>
              <a:t> </a:t>
            </a:r>
            <a:r>
              <a:rPr kumimoji="1" lang="en-US" altLang="zh-CN" dirty="0"/>
              <a:t>has</a:t>
            </a:r>
            <a:r>
              <a:rPr kumimoji="1" lang="zh-CN" altLang="en-US" dirty="0"/>
              <a:t> </a:t>
            </a:r>
            <a:r>
              <a:rPr kumimoji="1" lang="en-US" altLang="zh-CN" dirty="0"/>
              <a:t>been</a:t>
            </a:r>
            <a:r>
              <a:rPr kumimoji="1" lang="zh-CN" altLang="en-US" dirty="0"/>
              <a:t> </a:t>
            </a:r>
            <a:r>
              <a:rPr kumimoji="1" lang="en-US" altLang="zh-CN" dirty="0"/>
              <a:t>great</a:t>
            </a:r>
            <a:r>
              <a:rPr kumimoji="1" lang="zh-CN" altLang="en-US" dirty="0"/>
              <a:t> </a:t>
            </a:r>
            <a:r>
              <a:rPr kumimoji="1" lang="en-US" altLang="zh-CN" dirty="0"/>
              <a:t>advancement</a:t>
            </a:r>
            <a:r>
              <a:rPr kumimoji="1" lang="zh-CN" altLang="en-US" dirty="0"/>
              <a:t> </a:t>
            </a:r>
            <a:r>
              <a:rPr kumimoji="1" lang="en-US" altLang="zh-CN" dirty="0"/>
              <a:t>in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automatic</a:t>
            </a:r>
            <a:r>
              <a:rPr kumimoji="1" lang="zh-CN" altLang="en-US" dirty="0"/>
              <a:t> </a:t>
            </a:r>
            <a:r>
              <a:rPr kumimoji="1" lang="en-US" altLang="zh-CN" dirty="0"/>
              <a:t>or</a:t>
            </a:r>
            <a:r>
              <a:rPr kumimoji="1" lang="zh-CN" altLang="en-US" dirty="0"/>
              <a:t> </a:t>
            </a:r>
            <a:r>
              <a:rPr kumimoji="1" lang="en-US" altLang="zh-CN" dirty="0"/>
              <a:t>semiautomatic</a:t>
            </a:r>
            <a:r>
              <a:rPr kumimoji="1" lang="zh-CN" altLang="en-US" dirty="0"/>
              <a:t> </a:t>
            </a:r>
            <a:r>
              <a:rPr kumimoji="1" lang="en-US" altLang="zh-CN" dirty="0"/>
              <a:t>proof</a:t>
            </a:r>
            <a:r>
              <a:rPr kumimoji="1" lang="zh-CN" altLang="en-US" dirty="0"/>
              <a:t> </a:t>
            </a:r>
            <a:r>
              <a:rPr kumimoji="1" lang="en-US" altLang="zh-CN" dirty="0"/>
              <a:t>assistant</a:t>
            </a:r>
          </a:p>
          <a:p>
            <a:pPr lvl="1"/>
            <a:r>
              <a:rPr kumimoji="1" lang="en-US" altLang="zh-CN" dirty="0"/>
              <a:t>Thus,</a:t>
            </a:r>
            <a:r>
              <a:rPr kumimoji="1" lang="zh-CN" altLang="en-US" dirty="0"/>
              <a:t> </a:t>
            </a:r>
            <a:r>
              <a:rPr kumimoji="1" lang="en-US" altLang="zh-CN" dirty="0"/>
              <a:t>we</a:t>
            </a:r>
            <a:r>
              <a:rPr kumimoji="1" lang="zh-CN" altLang="en-US" dirty="0"/>
              <a:t> </a:t>
            </a:r>
            <a:r>
              <a:rPr kumimoji="1" lang="en-US" altLang="zh-CN" dirty="0"/>
              <a:t>can</a:t>
            </a:r>
            <a:r>
              <a:rPr kumimoji="1" lang="zh-CN" altLang="en-US" dirty="0"/>
              <a:t> </a:t>
            </a:r>
            <a:r>
              <a:rPr kumimoji="1" lang="en-US" altLang="zh-CN" dirty="0"/>
              <a:t>conduct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above</a:t>
            </a:r>
            <a:r>
              <a:rPr kumimoji="1" lang="zh-CN" altLang="en-US" dirty="0"/>
              <a:t> </a:t>
            </a:r>
            <a:r>
              <a:rPr kumimoji="1" lang="en-US" altLang="zh-CN" dirty="0"/>
              <a:t>proof</a:t>
            </a:r>
            <a:r>
              <a:rPr kumimoji="1" lang="zh-CN" altLang="en-US" dirty="0"/>
              <a:t> </a:t>
            </a:r>
            <a:r>
              <a:rPr kumimoji="1" lang="en-US" altLang="zh-CN" dirty="0"/>
              <a:t>using</a:t>
            </a:r>
            <a:r>
              <a:rPr kumimoji="1" lang="zh-CN" altLang="en-US" dirty="0"/>
              <a:t> </a:t>
            </a:r>
            <a:r>
              <a:rPr kumimoji="1" lang="en-US" altLang="zh-CN" dirty="0"/>
              <a:t>such</a:t>
            </a:r>
            <a:r>
              <a:rPr kumimoji="1" lang="zh-CN" altLang="en-US" dirty="0"/>
              <a:t> </a:t>
            </a:r>
            <a:r>
              <a:rPr kumimoji="1" lang="en-US" altLang="zh-CN" dirty="0"/>
              <a:t>assistant</a:t>
            </a:r>
          </a:p>
          <a:p>
            <a:pPr lvl="1"/>
            <a:r>
              <a:rPr kumimoji="1" lang="en-US" altLang="zh-CN" dirty="0"/>
              <a:t>So</a:t>
            </a:r>
            <a:r>
              <a:rPr kumimoji="1" lang="zh-CN" altLang="en-US" dirty="0"/>
              <a:t> </a:t>
            </a:r>
            <a:r>
              <a:rPr kumimoji="1" lang="en-US" altLang="zh-CN" dirty="0"/>
              <a:t>CS</a:t>
            </a:r>
            <a:r>
              <a:rPr kumimoji="1" lang="zh-CN" altLang="en-US" dirty="0"/>
              <a:t> </a:t>
            </a:r>
            <a:r>
              <a:rPr kumimoji="1" lang="en-US" altLang="zh-CN" dirty="0"/>
              <a:t>also</a:t>
            </a:r>
            <a:r>
              <a:rPr kumimoji="1" lang="zh-CN" altLang="en-US" dirty="0"/>
              <a:t> </a:t>
            </a:r>
            <a:r>
              <a:rPr kumimoji="1" lang="en-US" altLang="zh-CN" dirty="0"/>
              <a:t>boosts</a:t>
            </a:r>
            <a:r>
              <a:rPr kumimoji="1" lang="zh-CN" altLang="en-US" dirty="0"/>
              <a:t> </a:t>
            </a:r>
            <a:r>
              <a:rPr kumimoji="1" lang="en-US" altLang="zh-CN" dirty="0"/>
              <a:t>math.</a:t>
            </a:r>
          </a:p>
          <a:p>
            <a:pPr lvl="1"/>
            <a:r>
              <a:rPr kumimoji="1" lang="en-US" altLang="zh-CN" dirty="0"/>
              <a:t>Let’s</a:t>
            </a:r>
            <a:r>
              <a:rPr kumimoji="1" lang="zh-CN" altLang="en-US" dirty="0"/>
              <a:t> </a:t>
            </a:r>
            <a:r>
              <a:rPr kumimoji="1" lang="en-US" altLang="zh-CN" dirty="0"/>
              <a:t>just</a:t>
            </a:r>
            <a:r>
              <a:rPr kumimoji="1" lang="zh-CN" altLang="en-US" dirty="0"/>
              <a:t> </a:t>
            </a:r>
            <a:r>
              <a:rPr kumimoji="1" lang="en-US" altLang="zh-CN" dirty="0"/>
              <a:t>study</a:t>
            </a:r>
            <a:r>
              <a:rPr kumimoji="1" lang="zh-CN" altLang="en-US" dirty="0"/>
              <a:t> </a:t>
            </a:r>
            <a:r>
              <a:rPr kumimoji="1" lang="en-US" altLang="zh-CN" dirty="0"/>
              <a:t>one</a:t>
            </a:r>
            <a:r>
              <a:rPr kumimoji="1" lang="zh-CN" altLang="en-US" dirty="0"/>
              <a:t> </a:t>
            </a:r>
            <a:r>
              <a:rPr kumimoji="1" lang="en-US" altLang="zh-CN" dirty="0"/>
              <a:t>example</a:t>
            </a:r>
          </a:p>
          <a:p>
            <a:pPr lvl="2"/>
            <a:r>
              <a:rPr kumimoji="1" lang="en-US" altLang="zh-CN" dirty="0"/>
              <a:t>You</a:t>
            </a:r>
            <a:r>
              <a:rPr kumimoji="1" lang="zh-CN" altLang="en-US" dirty="0"/>
              <a:t> </a:t>
            </a:r>
            <a:r>
              <a:rPr kumimoji="1" lang="en-US" altLang="zh-CN" dirty="0"/>
              <a:t>will</a:t>
            </a:r>
            <a:r>
              <a:rPr kumimoji="1" lang="zh-CN" altLang="en-US" dirty="0"/>
              <a:t> </a:t>
            </a:r>
            <a:r>
              <a:rPr kumimoji="1" lang="en-US" altLang="zh-CN" dirty="0"/>
              <a:t>do</a:t>
            </a:r>
            <a:r>
              <a:rPr kumimoji="1" lang="zh-CN" altLang="en-US" dirty="0"/>
              <a:t> </a:t>
            </a:r>
            <a:r>
              <a:rPr kumimoji="1" lang="en-US" altLang="zh-CN" dirty="0"/>
              <a:t>more</a:t>
            </a:r>
            <a:r>
              <a:rPr kumimoji="1" lang="zh-CN" altLang="en-US" dirty="0"/>
              <a:t> </a:t>
            </a:r>
            <a:r>
              <a:rPr kumimoji="1" lang="en-US" altLang="zh-CN" dirty="0"/>
              <a:t>in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2</a:t>
            </a:r>
            <a:r>
              <a:rPr kumimoji="1" lang="en-US" altLang="zh-CN" baseline="30000" dirty="0"/>
              <a:t>nd</a:t>
            </a:r>
            <a:r>
              <a:rPr kumimoji="1" lang="zh-CN" altLang="en-US" dirty="0"/>
              <a:t> </a:t>
            </a:r>
            <a:r>
              <a:rPr kumimoji="1" lang="en-US" altLang="zh-CN" dirty="0"/>
              <a:t>assignment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390807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9C17B9B-B834-E347-80F2-CCDBC8D91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 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1622823-CB4B-6B47-ABD2-04954DD6D5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en-US" altLang="zh-CN" dirty="0"/>
          </a:p>
          <a:p>
            <a:pPr marL="0" indent="0" algn="ctr">
              <a:buNone/>
            </a:pPr>
            <a:r>
              <a:rPr kumimoji="1" lang="en-US" altLang="zh-CN" i="1" dirty="0"/>
              <a:t>Predicate</a:t>
            </a:r>
            <a:r>
              <a:rPr kumimoji="1" lang="zh-CN" altLang="en-US" i="1" dirty="0"/>
              <a:t> </a:t>
            </a:r>
            <a:r>
              <a:rPr kumimoji="1" lang="en-US" altLang="zh-CN" i="1" dirty="0"/>
              <a:t>logic:</a:t>
            </a:r>
          </a:p>
          <a:p>
            <a:pPr marL="0" indent="0" algn="ctr">
              <a:buNone/>
            </a:pPr>
            <a:r>
              <a:rPr kumimoji="1" lang="en-US" altLang="zh-CN" i="1" dirty="0"/>
              <a:t>Semantics</a:t>
            </a:r>
            <a:endParaRPr kumimoji="1" lang="zh-CN" altLang="en-US" i="1" dirty="0"/>
          </a:p>
        </p:txBody>
      </p:sp>
    </p:spTree>
    <p:extLst>
      <p:ext uri="{BB962C8B-B14F-4D97-AF65-F5344CB8AC3E}">
        <p14:creationId xmlns:p14="http://schemas.microsoft.com/office/powerpoint/2010/main" val="41596625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8ED064A-70B2-F64D-BC19-E094182EF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Semantics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08EE45E-418C-D444-A3E0-65936DD023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above</a:t>
            </a:r>
            <a:r>
              <a:rPr kumimoji="1" lang="zh-CN" altLang="en-US" dirty="0"/>
              <a:t> </a:t>
            </a:r>
            <a:r>
              <a:rPr kumimoji="1" lang="en-US" altLang="zh-CN" dirty="0"/>
              <a:t>proof</a:t>
            </a:r>
            <a:r>
              <a:rPr kumimoji="1" lang="zh-CN" altLang="en-US" dirty="0"/>
              <a:t> </a:t>
            </a:r>
            <a:r>
              <a:rPr kumimoji="1" lang="en-US" altLang="zh-CN" dirty="0"/>
              <a:t>system</a:t>
            </a:r>
            <a:r>
              <a:rPr kumimoji="1" lang="zh-CN" altLang="en-US" dirty="0"/>
              <a:t> </a:t>
            </a:r>
            <a:r>
              <a:rPr kumimoji="1" lang="en-US" altLang="zh-CN" dirty="0"/>
              <a:t>cares</a:t>
            </a:r>
            <a:r>
              <a:rPr kumimoji="1" lang="zh-CN" altLang="en-US" dirty="0"/>
              <a:t> </a:t>
            </a:r>
            <a:r>
              <a:rPr kumimoji="1" lang="en-US" altLang="zh-CN" dirty="0"/>
              <a:t>about</a:t>
            </a:r>
            <a:r>
              <a:rPr kumimoji="1" lang="zh-CN" altLang="en-US" dirty="0"/>
              <a:t> </a:t>
            </a:r>
            <a:r>
              <a:rPr kumimoji="1" lang="en-US" altLang="zh-CN" dirty="0"/>
              <a:t>when</a:t>
            </a:r>
            <a:r>
              <a:rPr kumimoji="1" lang="zh-CN" altLang="en-US" dirty="0"/>
              <a:t> </a:t>
            </a:r>
            <a:r>
              <a:rPr kumimoji="1" lang="en-US" altLang="zh-CN" dirty="0"/>
              <a:t>a</a:t>
            </a:r>
            <a:r>
              <a:rPr kumimoji="1" lang="zh-CN" altLang="en-US" dirty="0"/>
              <a:t> </a:t>
            </a:r>
            <a:r>
              <a:rPr kumimoji="1" lang="en-US" altLang="zh-CN" dirty="0"/>
              <a:t>proposition</a:t>
            </a:r>
            <a:r>
              <a:rPr kumimoji="1" lang="zh-CN" altLang="en-US" dirty="0"/>
              <a:t> </a:t>
            </a:r>
            <a:r>
              <a:rPr kumimoji="1" lang="en-US" altLang="zh-CN" dirty="0"/>
              <a:t>is</a:t>
            </a:r>
            <a:r>
              <a:rPr kumimoji="1" lang="zh-CN" altLang="en-US" dirty="0"/>
              <a:t> </a:t>
            </a:r>
            <a:r>
              <a:rPr kumimoji="1" lang="en-US" altLang="zh-CN" dirty="0"/>
              <a:t>provable</a:t>
            </a:r>
          </a:p>
          <a:p>
            <a:pPr lvl="1"/>
            <a:r>
              <a:rPr kumimoji="1" lang="en-US" altLang="zh-CN" dirty="0"/>
              <a:t>Axioms</a:t>
            </a:r>
            <a:r>
              <a:rPr kumimoji="1" lang="zh-CN" altLang="en-US" dirty="0"/>
              <a:t> </a:t>
            </a:r>
            <a:r>
              <a:rPr kumimoji="1" lang="en-US" altLang="zh-CN" dirty="0"/>
              <a:t>and</a:t>
            </a:r>
            <a:r>
              <a:rPr kumimoji="1" lang="zh-CN" altLang="en-US" dirty="0"/>
              <a:t> </a:t>
            </a:r>
            <a:r>
              <a:rPr kumimoji="1" lang="en-US" altLang="zh-CN" dirty="0"/>
              <a:t>proof</a:t>
            </a:r>
            <a:r>
              <a:rPr kumimoji="1" lang="zh-CN" altLang="en-US" dirty="0"/>
              <a:t> </a:t>
            </a:r>
            <a:r>
              <a:rPr kumimoji="1" lang="en-US" altLang="zh-CN" dirty="0"/>
              <a:t>rules</a:t>
            </a:r>
          </a:p>
          <a:p>
            <a:r>
              <a:rPr kumimoji="1" lang="en-US" altLang="zh-CN" dirty="0"/>
              <a:t>Roughly,</a:t>
            </a:r>
            <a:r>
              <a:rPr kumimoji="1" lang="zh-CN" altLang="en-US" dirty="0"/>
              <a:t> </a:t>
            </a:r>
            <a:r>
              <a:rPr kumimoji="1" lang="en-US" altLang="zh-CN" dirty="0"/>
              <a:t>semantics</a:t>
            </a:r>
            <a:r>
              <a:rPr kumimoji="1" lang="zh-CN" altLang="en-US" dirty="0"/>
              <a:t> </a:t>
            </a:r>
            <a:r>
              <a:rPr kumimoji="1" lang="en-US" altLang="zh-CN" dirty="0"/>
              <a:t>is</a:t>
            </a:r>
            <a:r>
              <a:rPr kumimoji="1" lang="zh-CN" altLang="en-US" dirty="0"/>
              <a:t> </a:t>
            </a:r>
            <a:r>
              <a:rPr kumimoji="1" lang="en-US" altLang="zh-CN" dirty="0"/>
              <a:t>more</a:t>
            </a:r>
            <a:r>
              <a:rPr kumimoji="1" lang="zh-CN" altLang="en-US" dirty="0"/>
              <a:t> </a:t>
            </a:r>
            <a:r>
              <a:rPr kumimoji="1" lang="en-US" altLang="zh-CN" dirty="0"/>
              <a:t>about</a:t>
            </a:r>
            <a:r>
              <a:rPr kumimoji="1" lang="zh-CN" altLang="en-US" dirty="0"/>
              <a:t> </a:t>
            </a:r>
            <a:r>
              <a:rPr kumimoji="1" lang="en-US" altLang="zh-CN" dirty="0">
                <a:solidFill>
                  <a:srgbClr val="0432FF"/>
                </a:solidFill>
              </a:rPr>
              <a:t>computation</a:t>
            </a:r>
          </a:p>
          <a:p>
            <a:pPr lvl="1"/>
            <a:r>
              <a:rPr kumimoji="1" lang="en-US" altLang="zh-CN" dirty="0"/>
              <a:t>Models</a:t>
            </a:r>
            <a:r>
              <a:rPr kumimoji="1" lang="zh-CN" altLang="en-US" dirty="0"/>
              <a:t> </a:t>
            </a:r>
            <a:r>
              <a:rPr kumimoji="1" lang="en-US" altLang="zh-CN" dirty="0"/>
              <a:t>and</a:t>
            </a:r>
            <a:r>
              <a:rPr kumimoji="1" lang="zh-CN" altLang="en-US" dirty="0"/>
              <a:t> </a:t>
            </a:r>
            <a:r>
              <a:rPr kumimoji="1" lang="en-US" altLang="zh-CN" dirty="0"/>
              <a:t>computation</a:t>
            </a:r>
            <a:r>
              <a:rPr kumimoji="1" lang="zh-CN" altLang="en-US" dirty="0"/>
              <a:t> </a:t>
            </a:r>
            <a:r>
              <a:rPr kumimoji="1" lang="en-US" altLang="zh-CN" dirty="0"/>
              <a:t>rules</a:t>
            </a:r>
          </a:p>
          <a:p>
            <a:pPr lvl="1"/>
            <a:r>
              <a:rPr kumimoji="1" lang="en-US" altLang="zh-CN" dirty="0"/>
              <a:t>To</a:t>
            </a:r>
            <a:r>
              <a:rPr kumimoji="1" lang="zh-CN" altLang="en-US" dirty="0"/>
              <a:t> </a:t>
            </a:r>
            <a:r>
              <a:rPr kumimoji="1" lang="en-US" altLang="zh-CN" dirty="0"/>
              <a:t>obtain</a:t>
            </a:r>
            <a:r>
              <a:rPr kumimoji="1" lang="zh-CN" altLang="en-US" dirty="0"/>
              <a:t> </a:t>
            </a:r>
            <a:r>
              <a:rPr kumimoji="1" lang="en-US" altLang="zh-CN" dirty="0"/>
              <a:t>a</a:t>
            </a:r>
            <a:r>
              <a:rPr kumimoji="1" lang="zh-CN" altLang="en-US" dirty="0"/>
              <a:t> </a:t>
            </a:r>
            <a:r>
              <a:rPr kumimoji="1" lang="en-US" altLang="zh-CN" dirty="0"/>
              <a:t>result</a:t>
            </a:r>
            <a:r>
              <a:rPr kumimoji="1" lang="zh-CN" altLang="en-US" dirty="0"/>
              <a:t> </a:t>
            </a:r>
            <a:r>
              <a:rPr kumimoji="1" lang="en-US" altLang="zh-CN" dirty="0"/>
              <a:t>of</a:t>
            </a:r>
            <a:r>
              <a:rPr kumimoji="1" lang="zh-CN" altLang="en-US" dirty="0"/>
              <a:t> </a:t>
            </a:r>
            <a:r>
              <a:rPr kumimoji="1" lang="en-US" altLang="zh-CN" dirty="0"/>
              <a:t>“true”</a:t>
            </a:r>
            <a:r>
              <a:rPr kumimoji="1" lang="zh-CN" altLang="en-US" dirty="0"/>
              <a:t> </a:t>
            </a:r>
            <a:r>
              <a:rPr kumimoji="1" lang="en-US" altLang="zh-CN" dirty="0"/>
              <a:t>or</a:t>
            </a:r>
            <a:r>
              <a:rPr kumimoji="1" lang="zh-CN" altLang="en-US" dirty="0"/>
              <a:t> </a:t>
            </a:r>
            <a:r>
              <a:rPr kumimoji="1" lang="en-US" altLang="zh-CN" dirty="0"/>
              <a:t>“false”</a:t>
            </a:r>
          </a:p>
        </p:txBody>
      </p:sp>
    </p:spTree>
    <p:extLst>
      <p:ext uri="{BB962C8B-B14F-4D97-AF65-F5344CB8AC3E}">
        <p14:creationId xmlns:p14="http://schemas.microsoft.com/office/powerpoint/2010/main" val="306504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549B58B-4C46-A545-934B-51D90020F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Motivation</a:t>
            </a:r>
            <a:endParaRPr kumimoji="1" lang="zh-CN" altLang="en-US" dirty="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E7EB2AA6-6BDE-5A4F-ACE4-A3C03AD78C7E}"/>
              </a:ext>
            </a:extLst>
          </p:cNvPr>
          <p:cNvSpPr/>
          <p:nvPr/>
        </p:nvSpPr>
        <p:spPr>
          <a:xfrm>
            <a:off x="4648200" y="1905000"/>
            <a:ext cx="1524000" cy="1905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A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6AF9A543-793C-A241-96EC-D588C2D2D24C}"/>
              </a:ext>
            </a:extLst>
          </p:cNvPr>
          <p:cNvSpPr/>
          <p:nvPr/>
        </p:nvSpPr>
        <p:spPr>
          <a:xfrm>
            <a:off x="7010400" y="1905000"/>
            <a:ext cx="1447800" cy="1905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cxnSp>
        <p:nvCxnSpPr>
          <p:cNvPr id="7" name="直线箭头连接符 6">
            <a:extLst>
              <a:ext uri="{FF2B5EF4-FFF2-40B4-BE49-F238E27FC236}">
                <a16:creationId xmlns:a16="http://schemas.microsoft.com/office/drawing/2014/main" id="{52A7FE3E-1ECC-B64F-94B8-F71FC278B00E}"/>
              </a:ext>
            </a:extLst>
          </p:cNvPr>
          <p:cNvCxnSpPr>
            <a:cxnSpLocks/>
            <a:stCxn id="4" idx="6"/>
            <a:endCxn id="5" idx="2"/>
          </p:cNvCxnSpPr>
          <p:nvPr/>
        </p:nvCxnSpPr>
        <p:spPr>
          <a:xfrm>
            <a:off x="6172200" y="2857500"/>
            <a:ext cx="8382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0F7454EE-8E32-814F-AC4E-250A02EA173F}"/>
              </a:ext>
            </a:extLst>
          </p:cNvPr>
          <p:cNvSpPr txBox="1"/>
          <p:nvPr/>
        </p:nvSpPr>
        <p:spPr>
          <a:xfrm>
            <a:off x="6408821" y="2488168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V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内容占位符 2">
                <a:extLst>
                  <a:ext uri="{FF2B5EF4-FFF2-40B4-BE49-F238E27FC236}">
                    <a16:creationId xmlns:a16="http://schemas.microsoft.com/office/drawing/2014/main" id="{C17775C8-6C23-9C41-A289-F6C791E373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57400"/>
                <a:ext cx="3770312" cy="411480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kumimoji="1" lang="en-US" altLang="zh-CN" sz="2400" dirty="0"/>
                  <a:t>E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::=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x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|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c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|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f(E,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…,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E)</a:t>
                </a:r>
              </a:p>
              <a:p>
                <a:pPr marL="0" indent="0">
                  <a:buNone/>
                </a:pPr>
                <a:r>
                  <a:rPr kumimoji="1" lang="en-US" altLang="zh-CN" sz="2400" dirty="0"/>
                  <a:t>R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::=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r(E,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…,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E)</a:t>
                </a:r>
                <a:r>
                  <a:rPr kumimoji="1" lang="zh-CN" altLang="en-US" sz="2400" dirty="0"/>
                  <a:t>       </a:t>
                </a:r>
                <a:endParaRPr kumimoji="1" lang="en-US" altLang="zh-CN" sz="2400" dirty="0"/>
              </a:p>
              <a:p>
                <a:pPr marL="0" indent="0">
                  <a:buNone/>
                </a:pPr>
                <a:r>
                  <a:rPr kumimoji="1" lang="en-US" altLang="zh-CN" sz="2400" i="1" dirty="0">
                    <a:latin typeface="Cambria Math" panose="02040503050406030204" pitchFamily="18" charset="0"/>
                  </a:rPr>
                  <a:t>P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::=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R</a:t>
                </a:r>
              </a:p>
              <a:p>
                <a:pPr marL="0" indent="0">
                  <a:buNone/>
                </a:pPr>
                <a:r>
                  <a:rPr kumimoji="1" lang="zh-CN" altLang="en-US" sz="2400" dirty="0"/>
                  <a:t>      </a:t>
                </a:r>
                <a:r>
                  <a:rPr kumimoji="1" lang="en-US" altLang="zh-CN" sz="2400" dirty="0"/>
                  <a:t>|</a:t>
                </a:r>
                <a14:m>
                  <m:oMath xmlns:m="http://schemas.openxmlformats.org/officeDocument/2006/math">
                    <m:r>
                      <a:rPr kumimoji="1" lang="zh-CN" alt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kumimoji="1" lang="en-US" altLang="zh-CN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T</m:t>
                    </m:r>
                  </m:oMath>
                </a14:m>
                <a:endParaRPr kumimoji="1" lang="en-US" altLang="zh-CN" sz="2400" b="0" i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kumimoji="1" lang="zh-CN" altLang="en-US" sz="2400" dirty="0">
                    <a:ea typeface="Cambria Math" panose="02040503050406030204" pitchFamily="18" charset="0"/>
                  </a:rPr>
                  <a:t>      </a:t>
                </a:r>
                <a:r>
                  <a:rPr kumimoji="1" lang="en-US" altLang="zh-CN" sz="2400" dirty="0">
                    <a:ea typeface="Cambria Math" panose="02040503050406030204" pitchFamily="18" charset="0"/>
                  </a:rPr>
                  <a:t>|</a:t>
                </a:r>
                <a:r>
                  <a:rPr kumimoji="1" lang="zh-CN" altLang="en-US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⊥</m:t>
                    </m:r>
                  </m:oMath>
                </a14:m>
                <a:endParaRPr kumimoji="1" lang="en-US" altLang="zh-CN" sz="2400" dirty="0"/>
              </a:p>
              <a:p>
                <a:pPr marL="0" indent="0">
                  <a:buNone/>
                </a:pPr>
                <a:r>
                  <a:rPr kumimoji="1" lang="zh-CN" altLang="en-US" sz="2400" dirty="0"/>
                  <a:t>      </a:t>
                </a:r>
                <a:r>
                  <a:rPr kumimoji="1" lang="en-US" altLang="zh-CN" sz="2400" dirty="0"/>
                  <a:t>|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i="1" dirty="0">
                    <a:latin typeface="Cambria Math" panose="02040503050406030204" pitchFamily="18" charset="0"/>
                  </a:rPr>
                  <a:t>P</a:t>
                </a:r>
                <a:r>
                  <a:rPr kumimoji="1" lang="zh-CN" altLang="en-US" sz="2400" dirty="0"/>
                  <a:t> </a:t>
                </a:r>
                <a14:m>
                  <m:oMath xmlns:m="http://schemas.openxmlformats.org/officeDocument/2006/math">
                    <m:r>
                      <a:rPr kumimoji="1" lang="zh-CN" altLang="en-US" sz="2400" i="1">
                        <a:latin typeface="Cambria Math" panose="02040503050406030204" pitchFamily="18" charset="0"/>
                      </a:rPr>
                      <m:t>∨</m:t>
                    </m:r>
                  </m:oMath>
                </a14:m>
                <a:r>
                  <a:rPr kumimoji="1" lang="zh-CN" altLang="en-US" sz="2400" i="1" dirty="0">
                    <a:latin typeface="Cambria Math" panose="02040503050406030204" pitchFamily="18" charset="0"/>
                  </a:rPr>
                  <a:t> </a:t>
                </a:r>
                <a:r>
                  <a:rPr kumimoji="1" lang="en-US" altLang="zh-CN" sz="2400" i="1" dirty="0">
                    <a:latin typeface="Cambria Math" panose="02040503050406030204" pitchFamily="18" charset="0"/>
                  </a:rPr>
                  <a:t>P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1" lang="zh-CN" altLang="en-US" sz="2400" b="0" i="0" dirty="0" smtClean="0"/>
                        <m:t>      </m:t>
                      </m:r>
                      <m:r>
                        <m:rPr>
                          <m:nor/>
                        </m:rPr>
                        <a:rPr kumimoji="1" lang="en-US" altLang="zh-CN" sz="2400" dirty="0"/>
                        <m:t>|</m:t>
                      </m:r>
                      <m:r>
                        <m:rPr>
                          <m:nor/>
                        </m:rPr>
                        <a:rPr kumimoji="1" lang="zh-CN" altLang="en-US" sz="2400" dirty="0"/>
                        <m:t> </m:t>
                      </m:r>
                      <m:r>
                        <m:rPr>
                          <m:nor/>
                        </m:rPr>
                        <a:rPr kumimoji="1" lang="en-US" altLang="zh-CN" sz="2400" i="1" dirty="0">
                          <a:latin typeface="Cambria Math" panose="02040503050406030204" pitchFamily="18" charset="0"/>
                        </a:rPr>
                        <m:t>P</m:t>
                      </m:r>
                      <m:r>
                        <a:rPr kumimoji="1" lang="zh-CN" altLang="en-US" sz="2400" i="1">
                          <a:latin typeface="Cambria Math" panose="02040503050406030204" pitchFamily="18" charset="0"/>
                        </a:rPr>
                        <m:t>∧</m:t>
                      </m:r>
                      <m:r>
                        <m:rPr>
                          <m:nor/>
                        </m:rPr>
                        <a:rPr kumimoji="1" lang="en-US" altLang="zh-CN" sz="2400" i="1" dirty="0">
                          <a:latin typeface="Cambria Math" panose="02040503050406030204" pitchFamily="18" charset="0"/>
                        </a:rPr>
                        <m:t>P</m:t>
                      </m:r>
                    </m:oMath>
                  </m:oMathPara>
                </a14:m>
                <a:endParaRPr kumimoji="1" lang="en-US" altLang="zh-CN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1" lang="zh-CN" altLang="en-US" sz="2400" b="0" i="0" dirty="0" smtClean="0"/>
                        <m:t>      </m:t>
                      </m:r>
                      <m:r>
                        <m:rPr>
                          <m:nor/>
                        </m:rPr>
                        <a:rPr kumimoji="1" lang="en-US" altLang="zh-CN" sz="2400" dirty="0"/>
                        <m:t>|</m:t>
                      </m:r>
                      <m:r>
                        <m:rPr>
                          <m:nor/>
                        </m:rPr>
                        <a:rPr kumimoji="1" lang="zh-CN" altLang="en-US" sz="2400" dirty="0"/>
                        <m:t> </m:t>
                      </m:r>
                      <m:r>
                        <m:rPr>
                          <m:nor/>
                        </m:rPr>
                        <a:rPr kumimoji="1" lang="en-US" altLang="zh-CN" sz="2400" i="1" dirty="0">
                          <a:latin typeface="Cambria Math" panose="02040503050406030204" pitchFamily="18" charset="0"/>
                        </a:rPr>
                        <m:t>P</m:t>
                      </m:r>
                      <m:r>
                        <a:rPr kumimoji="1" lang="zh-CN" altLang="en-US" sz="240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m:rPr>
                          <m:nor/>
                        </m:rPr>
                        <a:rPr kumimoji="1" lang="en-US" altLang="zh-CN" sz="2400" i="1" dirty="0">
                          <a:latin typeface="Cambria Math" panose="02040503050406030204" pitchFamily="18" charset="0"/>
                        </a:rPr>
                        <m:t>P</m:t>
                      </m:r>
                    </m:oMath>
                  </m:oMathPara>
                </a14:m>
                <a:endParaRPr kumimoji="1" lang="en-US" altLang="zh-CN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1" lang="zh-CN" altLang="en-US" sz="2400" b="0" i="0" dirty="0" smtClean="0"/>
                        <m:t>      </m:t>
                      </m:r>
                      <m:r>
                        <m:rPr>
                          <m:nor/>
                        </m:rPr>
                        <a:rPr kumimoji="1" lang="en-US" altLang="zh-CN" sz="2400" dirty="0"/>
                        <m:t>|</m:t>
                      </m:r>
                      <m:r>
                        <a:rPr kumimoji="1" lang="zh-CN" altLang="en-US" sz="24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¬</m:t>
                      </m:r>
                      <m:r>
                        <m:rPr>
                          <m:nor/>
                        </m:rPr>
                        <a:rPr kumimoji="1" lang="en-US" altLang="zh-CN" sz="2400" i="1" dirty="0">
                          <a:latin typeface="Cambria Math" panose="02040503050406030204" pitchFamily="18" charset="0"/>
                        </a:rPr>
                        <m:t>P</m:t>
                      </m:r>
                    </m:oMath>
                  </m:oMathPara>
                </a14:m>
                <a:endParaRPr kumimoji="1" lang="en-US" altLang="zh-CN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kumimoji="1" lang="zh-CN" altLang="en-US" sz="2400" dirty="0"/>
                  <a:t>      </a:t>
                </a:r>
                <a:r>
                  <a:rPr kumimoji="1" lang="en-US" altLang="zh-CN" sz="2400" dirty="0"/>
                  <a:t>|</a:t>
                </a:r>
                <a:r>
                  <a:rPr kumimoji="1" lang="zh-CN" altLang="en-US" sz="2400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kumimoji="1" lang="en-US" altLang="zh-CN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kumimoji="1" lang="en-US" altLang="zh-CN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kumimoji="1" lang="en-US" altLang="zh-CN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endParaRPr kumimoji="1" lang="en-US" altLang="zh-CN" sz="2400" dirty="0"/>
              </a:p>
              <a:p>
                <a:pPr marL="0" indent="0">
                  <a:buNone/>
                </a:pPr>
                <a:r>
                  <a:rPr kumimoji="1" lang="zh-CN" altLang="en-US" sz="2400" dirty="0"/>
                  <a:t>      </a:t>
                </a:r>
                <a:r>
                  <a:rPr kumimoji="1" lang="en-US" altLang="zh-CN" sz="2400" dirty="0"/>
                  <a:t>|</a:t>
                </a:r>
                <a:r>
                  <a:rPr kumimoji="1" lang="zh-CN" altLang="en-US" sz="2400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  <m:r>
                      <a:rPr kumimoji="1" lang="en-US" altLang="zh-CN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kumimoji="1" lang="en-US" altLang="zh-CN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m:rPr>
                        <m:nor/>
                      </m:rPr>
                      <a:rPr kumimoji="1" lang="en-US" altLang="zh-CN" sz="2400" i="1" dirty="0"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endParaRPr kumimoji="1" lang="en-US" altLang="zh-CN" sz="2400" dirty="0"/>
              </a:p>
            </p:txBody>
          </p:sp>
        </mc:Choice>
        <mc:Fallback xmlns="">
          <p:sp>
            <p:nvSpPr>
              <p:cNvPr id="10" name="内容占位符 2">
                <a:extLst>
                  <a:ext uri="{FF2B5EF4-FFF2-40B4-BE49-F238E27FC236}">
                    <a16:creationId xmlns:a16="http://schemas.microsoft.com/office/drawing/2014/main" id="{C17775C8-6C23-9C41-A289-F6C791E373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57400"/>
                <a:ext cx="3770312" cy="4114800"/>
              </a:xfrm>
              <a:blipFill>
                <a:blip r:embed="rId2"/>
                <a:stretch>
                  <a:fillRect l="-2349" t="-1231" b="-156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A629BA1A-91A1-3748-8B88-61496970F16D}"/>
                  </a:ext>
                </a:extLst>
              </p:cNvPr>
              <p:cNvSpPr txBox="1"/>
              <p:nvPr/>
            </p:nvSpPr>
            <p:spPr>
              <a:xfrm>
                <a:off x="7277100" y="3876174"/>
                <a:ext cx="9144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ℳ</m:t>
                      </m:r>
                    </m:oMath>
                  </m:oMathPara>
                </a14:m>
                <a:endParaRPr kumimoji="1" lang="zh-CN" altLang="en-US" dirty="0"/>
              </a:p>
            </p:txBody>
          </p:sp>
        </mc:Choice>
        <mc:Fallback xmlns="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A629BA1A-91A1-3748-8B88-61496970F1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7100" y="3876174"/>
                <a:ext cx="91440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13288BF1-14E6-A04C-B83C-C194FC5CCE7A}"/>
                  </a:ext>
                </a:extLst>
              </p:cNvPr>
              <p:cNvSpPr txBox="1"/>
              <p:nvPr/>
            </p:nvSpPr>
            <p:spPr>
              <a:xfrm>
                <a:off x="7277100" y="1925234"/>
                <a:ext cx="914400" cy="1262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p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ℳ</m:t>
                          </m:r>
                          <m:r>
                            <m:rPr>
                              <m:nor/>
                            </m:rPr>
                            <a:rPr kumimoji="1" lang="en-US" altLang="zh-CN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p>
                      </m:sSup>
                    </m:oMath>
                  </m:oMathPara>
                </a14:m>
                <a:endParaRPr kumimoji="1" lang="en-US" altLang="zh-CN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ℳ</m:t>
                          </m:r>
                          <m:r>
                            <m:rPr>
                              <m:nor/>
                            </m:rPr>
                            <a:rPr kumimoji="1" lang="en-US" altLang="zh-CN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p>
                      </m:sSup>
                    </m:oMath>
                  </m:oMathPara>
                </a14:m>
                <a:endParaRPr kumimoji="1" lang="en-US" altLang="zh-CN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kumimoji="1" lang="en-US" altLang="zh-CN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ℳ</m:t>
                          </m:r>
                          <m:r>
                            <m:rPr>
                              <m:nor/>
                            </m:rPr>
                            <a:rPr kumimoji="1" lang="en-US" altLang="zh-CN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p>
                      </m:sSup>
                    </m:oMath>
                  </m:oMathPara>
                </a14:m>
                <a:endParaRPr kumimoji="1" lang="en-US" altLang="zh-CN" b="0" dirty="0">
                  <a:ea typeface="Cambria Math" panose="02040503050406030204" pitchFamily="18" charset="0"/>
                </a:endParaRPr>
              </a:p>
              <a:p>
                <a:endParaRPr kumimoji="1" lang="zh-CN" altLang="en-US" dirty="0"/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13288BF1-14E6-A04C-B83C-C194FC5CCE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7100" y="1925234"/>
                <a:ext cx="914400" cy="1262140"/>
              </a:xfrm>
              <a:prstGeom prst="rect">
                <a:avLst/>
              </a:prstGeom>
              <a:blipFill>
                <a:blip r:embed="rId4"/>
                <a:stretch>
                  <a:fillRect t="-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0" name="表格 19">
                <a:extLst>
                  <a:ext uri="{FF2B5EF4-FFF2-40B4-BE49-F238E27FC236}">
                    <a16:creationId xmlns:a16="http://schemas.microsoft.com/office/drawing/2014/main" id="{128F52CA-C578-0244-AF98-3B358A473BC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04270037"/>
                  </p:ext>
                </p:extLst>
              </p:nvPr>
            </p:nvGraphicFramePr>
            <p:xfrm>
              <a:off x="5402179" y="4734426"/>
              <a:ext cx="3505200" cy="1524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168400">
                      <a:extLst>
                        <a:ext uri="{9D8B030D-6E8A-4147-A177-3AD203B41FA5}">
                          <a16:colId xmlns:a16="http://schemas.microsoft.com/office/drawing/2014/main" val="209537290"/>
                        </a:ext>
                      </a:extLst>
                    </a:gridCol>
                    <a:gridCol w="1168400">
                      <a:extLst>
                        <a:ext uri="{9D8B030D-6E8A-4147-A177-3AD203B41FA5}">
                          <a16:colId xmlns:a16="http://schemas.microsoft.com/office/drawing/2014/main" val="3455548352"/>
                        </a:ext>
                      </a:extLst>
                    </a:gridCol>
                    <a:gridCol w="1168400">
                      <a:extLst>
                        <a:ext uri="{9D8B030D-6E8A-4147-A177-3AD203B41FA5}">
                          <a16:colId xmlns:a16="http://schemas.microsoft.com/office/drawing/2014/main" val="3054683460"/>
                        </a:ext>
                      </a:extLst>
                    </a:gridCol>
                  </a:tblGrid>
                  <a:tr h="227628"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P</a:t>
                          </a:r>
                          <a:endParaRPr lang="zh-CN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CN" sz="1400" dirty="0"/>
                            <a:t>Q</a:t>
                          </a:r>
                          <a:endParaRPr lang="zh-CN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1" lang="en-US" altLang="zh-CN" sz="1400" b="1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𝐏</m:t>
                              </m:r>
                            </m:oMath>
                          </a14:m>
                          <a:r>
                            <a:rPr lang="en-US" altLang="zh-CN" sz="1400" dirty="0"/>
                            <a:t>\/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1400" b="1" i="1" dirty="0" smtClean="0">
                                  <a:latin typeface="Cambria Math" panose="02040503050406030204" pitchFamily="18" charset="0"/>
                                </a:rPr>
                                <m:t>𝑸</m:t>
                              </m:r>
                            </m:oMath>
                          </a14:m>
                          <a:endParaRPr lang="zh-CN" alt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87749223"/>
                      </a:ext>
                    </a:extLst>
                  </a:tr>
                  <a:tr h="227628"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T</a:t>
                          </a:r>
                          <a:endParaRPr lang="zh-CN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T</a:t>
                          </a:r>
                          <a:endParaRPr lang="zh-CN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T</a:t>
                          </a:r>
                          <a:endParaRPr lang="zh-CN" alt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20270863"/>
                      </a:ext>
                    </a:extLst>
                  </a:tr>
                  <a:tr h="227628"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T</a:t>
                          </a:r>
                          <a:endParaRPr lang="zh-CN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F</a:t>
                          </a:r>
                          <a:endParaRPr lang="zh-CN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T</a:t>
                          </a:r>
                          <a:endParaRPr lang="zh-CN" alt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3805057"/>
                      </a:ext>
                    </a:extLst>
                  </a:tr>
                  <a:tr h="227628"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F</a:t>
                          </a:r>
                          <a:endParaRPr lang="zh-CN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T</a:t>
                          </a:r>
                          <a:endParaRPr lang="zh-CN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T</a:t>
                          </a:r>
                          <a:endParaRPr lang="zh-CN" alt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06916579"/>
                      </a:ext>
                    </a:extLst>
                  </a:tr>
                  <a:tr h="227628"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F</a:t>
                          </a:r>
                          <a:endParaRPr lang="zh-CN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F</a:t>
                          </a:r>
                          <a:endParaRPr lang="zh-CN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  <a:endParaRPr lang="zh-CN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05367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0" name="表格 19">
                <a:extLst>
                  <a:ext uri="{FF2B5EF4-FFF2-40B4-BE49-F238E27FC236}">
                    <a16:creationId xmlns:a16="http://schemas.microsoft.com/office/drawing/2014/main" id="{128F52CA-C578-0244-AF98-3B358A473BC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04270037"/>
                  </p:ext>
                </p:extLst>
              </p:nvPr>
            </p:nvGraphicFramePr>
            <p:xfrm>
              <a:off x="5402179" y="4734426"/>
              <a:ext cx="3505200" cy="1524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168400">
                      <a:extLst>
                        <a:ext uri="{9D8B030D-6E8A-4147-A177-3AD203B41FA5}">
                          <a16:colId xmlns:a16="http://schemas.microsoft.com/office/drawing/2014/main" val="209537290"/>
                        </a:ext>
                      </a:extLst>
                    </a:gridCol>
                    <a:gridCol w="1168400">
                      <a:extLst>
                        <a:ext uri="{9D8B030D-6E8A-4147-A177-3AD203B41FA5}">
                          <a16:colId xmlns:a16="http://schemas.microsoft.com/office/drawing/2014/main" val="3455548352"/>
                        </a:ext>
                      </a:extLst>
                    </a:gridCol>
                    <a:gridCol w="1168400">
                      <a:extLst>
                        <a:ext uri="{9D8B030D-6E8A-4147-A177-3AD203B41FA5}">
                          <a16:colId xmlns:a16="http://schemas.microsoft.com/office/drawing/2014/main" val="3054683460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P</a:t>
                          </a:r>
                          <a:endParaRPr lang="zh-CN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CN" sz="1400" dirty="0"/>
                            <a:t>Q</a:t>
                          </a:r>
                          <a:endParaRPr lang="zh-CN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5"/>
                          <a:stretch>
                            <a:fillRect l="-202174" r="-1087" b="-4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7749223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T</a:t>
                          </a:r>
                          <a:endParaRPr lang="zh-CN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T</a:t>
                          </a:r>
                          <a:endParaRPr lang="zh-CN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T</a:t>
                          </a:r>
                          <a:endParaRPr lang="zh-CN" alt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20270863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T</a:t>
                          </a:r>
                          <a:endParaRPr lang="zh-CN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F</a:t>
                          </a:r>
                          <a:endParaRPr lang="zh-CN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T</a:t>
                          </a:r>
                          <a:endParaRPr lang="zh-CN" alt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3805057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F</a:t>
                          </a:r>
                          <a:endParaRPr lang="zh-CN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T</a:t>
                          </a:r>
                          <a:endParaRPr lang="zh-CN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T</a:t>
                          </a:r>
                          <a:endParaRPr lang="zh-CN" alt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06916579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F</a:t>
                          </a:r>
                          <a:endParaRPr lang="zh-CN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F</a:t>
                          </a:r>
                          <a:endParaRPr lang="zh-CN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  <a:endParaRPr lang="zh-CN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05367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D8813B3B-037D-8247-A9DD-B9ECC44808B7}"/>
                  </a:ext>
                </a:extLst>
              </p:cNvPr>
              <p:cNvSpPr txBox="1"/>
              <p:nvPr/>
            </p:nvSpPr>
            <p:spPr>
              <a:xfrm>
                <a:off x="3276600" y="3874835"/>
                <a:ext cx="1371600" cy="5447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kumimoji="1" lang="en-US" altLang="zh-CN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l-GR" altLang="zh-CN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⊨</m:t>
                          </m:r>
                        </m:e>
                        <m:sub>
                          <m:r>
                            <a:rPr kumimoji="1" lang="en-US" altLang="zh-CN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  <m:sup>
                          <m:r>
                            <a:rPr kumimoji="1" lang="en-US" altLang="zh-CN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ℳ</m:t>
                          </m:r>
                        </m:sup>
                      </m:sSubSup>
                      <m:r>
                        <m:rPr>
                          <m:nor/>
                        </m:rPr>
                        <a:rPr kumimoji="1" lang="en-US" altLang="zh-CN" sz="2800" dirty="0">
                          <a:solidFill>
                            <a:schemeClr val="tx1"/>
                          </a:solidFill>
                        </a:rPr>
                        <m:t>P</m:t>
                      </m:r>
                    </m:oMath>
                  </m:oMathPara>
                </a14:m>
                <a:endParaRPr kumimoji="1" lang="zh-CN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D8813B3B-037D-8247-A9DD-B9ECC4480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6600" y="3874835"/>
                <a:ext cx="1371600" cy="544765"/>
              </a:xfrm>
              <a:prstGeom prst="rect">
                <a:avLst/>
              </a:prstGeom>
              <a:blipFill>
                <a:blip r:embed="rId6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文本框 23">
            <a:extLst>
              <a:ext uri="{FF2B5EF4-FFF2-40B4-BE49-F238E27FC236}">
                <a16:creationId xmlns:a16="http://schemas.microsoft.com/office/drawing/2014/main" id="{C87E25F9-7DED-6147-A34B-08F4F8B8C181}"/>
              </a:ext>
            </a:extLst>
          </p:cNvPr>
          <p:cNvSpPr txBox="1"/>
          <p:nvPr/>
        </p:nvSpPr>
        <p:spPr>
          <a:xfrm>
            <a:off x="6629399" y="1143000"/>
            <a:ext cx="23145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C</a:t>
            </a:r>
            <a:r>
              <a:rPr kumimoji="1" lang="zh-CN" altLang="en-US" dirty="0"/>
              <a:t> </a:t>
            </a:r>
            <a:r>
              <a:rPr kumimoji="1" lang="en-US" altLang="zh-CN" dirty="0"/>
              <a:t>is</a:t>
            </a:r>
            <a:r>
              <a:rPr kumimoji="1" lang="zh-CN" altLang="en-US" dirty="0"/>
              <a:t> </a:t>
            </a:r>
            <a:r>
              <a:rPr kumimoji="1" lang="en-US" altLang="zh-CN" dirty="0"/>
              <a:t>often</a:t>
            </a:r>
            <a:r>
              <a:rPr kumimoji="1" lang="zh-CN" altLang="en-US" dirty="0"/>
              <a:t> </a:t>
            </a:r>
            <a:r>
              <a:rPr kumimoji="1" lang="en-US" altLang="zh-CN" dirty="0"/>
              <a:t>treated</a:t>
            </a:r>
            <a:r>
              <a:rPr kumimoji="1" lang="zh-CN" altLang="en-US" dirty="0"/>
              <a:t> </a:t>
            </a:r>
            <a:r>
              <a:rPr kumimoji="1" lang="en-US" altLang="zh-CN" dirty="0"/>
              <a:t>as</a:t>
            </a:r>
            <a:r>
              <a:rPr kumimoji="1" lang="zh-CN" altLang="en-US" dirty="0"/>
              <a:t> </a:t>
            </a:r>
            <a:r>
              <a:rPr kumimoji="1" lang="en-US" altLang="zh-CN" dirty="0"/>
              <a:t>a</a:t>
            </a:r>
            <a:r>
              <a:rPr kumimoji="1" lang="zh-CN" altLang="en-US" dirty="0"/>
              <a:t> </a:t>
            </a:r>
            <a:r>
              <a:rPr kumimoji="1" lang="en-US" altLang="zh-CN" dirty="0"/>
              <a:t>0-arity</a:t>
            </a:r>
            <a:r>
              <a:rPr kumimoji="1" lang="zh-CN" altLang="en-US" dirty="0"/>
              <a:t> </a:t>
            </a:r>
            <a:r>
              <a:rPr kumimoji="1" lang="en-US" altLang="zh-CN" dirty="0"/>
              <a:t>function.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864504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549B58B-4C46-A545-934B-51D90020F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Motivation</a:t>
            </a:r>
            <a:endParaRPr kumimoji="1" lang="zh-CN" altLang="en-US" dirty="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E7EB2AA6-6BDE-5A4F-ACE4-A3C03AD78C7E}"/>
              </a:ext>
            </a:extLst>
          </p:cNvPr>
          <p:cNvSpPr/>
          <p:nvPr/>
        </p:nvSpPr>
        <p:spPr>
          <a:xfrm>
            <a:off x="4648200" y="1905000"/>
            <a:ext cx="1524000" cy="1905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A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6AF9A543-793C-A241-96EC-D588C2D2D24C}"/>
              </a:ext>
            </a:extLst>
          </p:cNvPr>
          <p:cNvSpPr/>
          <p:nvPr/>
        </p:nvSpPr>
        <p:spPr>
          <a:xfrm>
            <a:off x="7010400" y="1905000"/>
            <a:ext cx="1447800" cy="1905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cxnSp>
        <p:nvCxnSpPr>
          <p:cNvPr id="7" name="直线箭头连接符 6">
            <a:extLst>
              <a:ext uri="{FF2B5EF4-FFF2-40B4-BE49-F238E27FC236}">
                <a16:creationId xmlns:a16="http://schemas.microsoft.com/office/drawing/2014/main" id="{52A7FE3E-1ECC-B64F-94B8-F71FC278B00E}"/>
              </a:ext>
            </a:extLst>
          </p:cNvPr>
          <p:cNvCxnSpPr>
            <a:cxnSpLocks/>
            <a:stCxn id="4" idx="6"/>
            <a:endCxn id="5" idx="2"/>
          </p:cNvCxnSpPr>
          <p:nvPr/>
        </p:nvCxnSpPr>
        <p:spPr>
          <a:xfrm>
            <a:off x="6172200" y="2857500"/>
            <a:ext cx="8382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0F7454EE-8E32-814F-AC4E-250A02EA173F}"/>
              </a:ext>
            </a:extLst>
          </p:cNvPr>
          <p:cNvSpPr txBox="1"/>
          <p:nvPr/>
        </p:nvSpPr>
        <p:spPr>
          <a:xfrm>
            <a:off x="6408821" y="2488168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V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内容占位符 2">
                <a:extLst>
                  <a:ext uri="{FF2B5EF4-FFF2-40B4-BE49-F238E27FC236}">
                    <a16:creationId xmlns:a16="http://schemas.microsoft.com/office/drawing/2014/main" id="{C17775C8-6C23-9C41-A289-F6C791E373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57400"/>
                <a:ext cx="3770312" cy="411480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kumimoji="1" lang="en-US" altLang="zh-CN" sz="2400" dirty="0"/>
                  <a:t>E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::=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x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|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c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|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f(E,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…,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E)</a:t>
                </a:r>
              </a:p>
              <a:p>
                <a:pPr marL="0" indent="0">
                  <a:buNone/>
                </a:pPr>
                <a:r>
                  <a:rPr kumimoji="1" lang="en-US" altLang="zh-CN" sz="2400" dirty="0"/>
                  <a:t>R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::=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r(E,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…,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E)</a:t>
                </a:r>
                <a:r>
                  <a:rPr kumimoji="1" lang="zh-CN" altLang="en-US" sz="2400" dirty="0"/>
                  <a:t>       </a:t>
                </a:r>
                <a:endParaRPr kumimoji="1" lang="en-US" altLang="zh-CN" sz="2400" dirty="0"/>
              </a:p>
              <a:p>
                <a:pPr marL="0" indent="0">
                  <a:buNone/>
                </a:pPr>
                <a:r>
                  <a:rPr kumimoji="1" lang="en-US" altLang="zh-CN" sz="2400" i="1" dirty="0">
                    <a:latin typeface="Cambria Math" panose="02040503050406030204" pitchFamily="18" charset="0"/>
                  </a:rPr>
                  <a:t>P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::=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R</a:t>
                </a:r>
              </a:p>
              <a:p>
                <a:pPr marL="0" indent="0">
                  <a:buNone/>
                </a:pPr>
                <a:r>
                  <a:rPr kumimoji="1" lang="zh-CN" altLang="en-US" sz="2400" dirty="0"/>
                  <a:t>      </a:t>
                </a:r>
                <a:r>
                  <a:rPr kumimoji="1" lang="en-US" altLang="zh-CN" sz="2400" dirty="0"/>
                  <a:t>|</a:t>
                </a:r>
                <a14:m>
                  <m:oMath xmlns:m="http://schemas.openxmlformats.org/officeDocument/2006/math">
                    <m:r>
                      <a:rPr kumimoji="1" lang="zh-CN" alt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kumimoji="1" lang="en-US" altLang="zh-CN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T</m:t>
                    </m:r>
                  </m:oMath>
                </a14:m>
                <a:endParaRPr kumimoji="1" lang="en-US" altLang="zh-CN" sz="2400" b="0" i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kumimoji="1" lang="zh-CN" altLang="en-US" sz="2400" dirty="0">
                    <a:ea typeface="Cambria Math" panose="02040503050406030204" pitchFamily="18" charset="0"/>
                  </a:rPr>
                  <a:t>      </a:t>
                </a:r>
                <a:r>
                  <a:rPr kumimoji="1" lang="en-US" altLang="zh-CN" sz="2400" dirty="0">
                    <a:ea typeface="Cambria Math" panose="02040503050406030204" pitchFamily="18" charset="0"/>
                  </a:rPr>
                  <a:t>|</a:t>
                </a:r>
                <a:r>
                  <a:rPr kumimoji="1" lang="zh-CN" altLang="en-US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⊥</m:t>
                    </m:r>
                  </m:oMath>
                </a14:m>
                <a:endParaRPr kumimoji="1" lang="en-US" altLang="zh-CN" sz="2400" dirty="0"/>
              </a:p>
              <a:p>
                <a:pPr marL="0" indent="0">
                  <a:buNone/>
                </a:pPr>
                <a:r>
                  <a:rPr kumimoji="1" lang="zh-CN" altLang="en-US" sz="2400" dirty="0"/>
                  <a:t>      </a:t>
                </a:r>
                <a:r>
                  <a:rPr kumimoji="1" lang="en-US" altLang="zh-CN" sz="2400" dirty="0"/>
                  <a:t>|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i="1" dirty="0">
                    <a:latin typeface="Cambria Math" panose="02040503050406030204" pitchFamily="18" charset="0"/>
                  </a:rPr>
                  <a:t>P</a:t>
                </a:r>
                <a:r>
                  <a:rPr kumimoji="1" lang="zh-CN" altLang="en-US" sz="2400" dirty="0"/>
                  <a:t> </a:t>
                </a:r>
                <a14:m>
                  <m:oMath xmlns:m="http://schemas.openxmlformats.org/officeDocument/2006/math">
                    <m:r>
                      <a:rPr kumimoji="1" lang="zh-CN" altLang="en-US" sz="2400" i="1">
                        <a:latin typeface="Cambria Math" panose="02040503050406030204" pitchFamily="18" charset="0"/>
                      </a:rPr>
                      <m:t>∨</m:t>
                    </m:r>
                  </m:oMath>
                </a14:m>
                <a:r>
                  <a:rPr kumimoji="1" lang="zh-CN" altLang="en-US" sz="2400" i="1" dirty="0">
                    <a:latin typeface="Cambria Math" panose="02040503050406030204" pitchFamily="18" charset="0"/>
                  </a:rPr>
                  <a:t> </a:t>
                </a:r>
                <a:r>
                  <a:rPr kumimoji="1" lang="en-US" altLang="zh-CN" sz="2400" i="1" dirty="0">
                    <a:latin typeface="Cambria Math" panose="02040503050406030204" pitchFamily="18" charset="0"/>
                  </a:rPr>
                  <a:t>P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1" lang="zh-CN" altLang="en-US" sz="2400" b="0" i="0" dirty="0" smtClean="0"/>
                        <m:t>      </m:t>
                      </m:r>
                      <m:r>
                        <m:rPr>
                          <m:nor/>
                        </m:rPr>
                        <a:rPr kumimoji="1" lang="en-US" altLang="zh-CN" sz="2400" dirty="0"/>
                        <m:t>|</m:t>
                      </m:r>
                      <m:r>
                        <m:rPr>
                          <m:nor/>
                        </m:rPr>
                        <a:rPr kumimoji="1" lang="zh-CN" altLang="en-US" sz="2400" dirty="0"/>
                        <m:t> </m:t>
                      </m:r>
                      <m:r>
                        <m:rPr>
                          <m:nor/>
                        </m:rPr>
                        <a:rPr kumimoji="1" lang="en-US" altLang="zh-CN" sz="2400" i="1" dirty="0">
                          <a:latin typeface="Cambria Math" panose="02040503050406030204" pitchFamily="18" charset="0"/>
                        </a:rPr>
                        <m:t>P</m:t>
                      </m:r>
                      <m:r>
                        <a:rPr kumimoji="1" lang="zh-CN" altLang="en-US" sz="2400" i="1">
                          <a:latin typeface="Cambria Math" panose="02040503050406030204" pitchFamily="18" charset="0"/>
                        </a:rPr>
                        <m:t>∧</m:t>
                      </m:r>
                      <m:r>
                        <m:rPr>
                          <m:nor/>
                        </m:rPr>
                        <a:rPr kumimoji="1" lang="en-US" altLang="zh-CN" sz="2400" i="1" dirty="0">
                          <a:latin typeface="Cambria Math" panose="02040503050406030204" pitchFamily="18" charset="0"/>
                        </a:rPr>
                        <m:t>P</m:t>
                      </m:r>
                    </m:oMath>
                  </m:oMathPara>
                </a14:m>
                <a:endParaRPr kumimoji="1" lang="en-US" altLang="zh-CN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1" lang="zh-CN" altLang="en-US" sz="2400" b="0" i="0" dirty="0" smtClean="0"/>
                        <m:t>      </m:t>
                      </m:r>
                      <m:r>
                        <m:rPr>
                          <m:nor/>
                        </m:rPr>
                        <a:rPr kumimoji="1" lang="en-US" altLang="zh-CN" sz="2400" dirty="0"/>
                        <m:t>|</m:t>
                      </m:r>
                      <m:r>
                        <m:rPr>
                          <m:nor/>
                        </m:rPr>
                        <a:rPr kumimoji="1" lang="zh-CN" altLang="en-US" sz="2400" dirty="0"/>
                        <m:t> </m:t>
                      </m:r>
                      <m:r>
                        <m:rPr>
                          <m:nor/>
                        </m:rPr>
                        <a:rPr kumimoji="1" lang="en-US" altLang="zh-CN" sz="2400" i="1" dirty="0">
                          <a:latin typeface="Cambria Math" panose="02040503050406030204" pitchFamily="18" charset="0"/>
                        </a:rPr>
                        <m:t>P</m:t>
                      </m:r>
                      <m:r>
                        <a:rPr kumimoji="1" lang="zh-CN" altLang="en-US" sz="240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m:rPr>
                          <m:nor/>
                        </m:rPr>
                        <a:rPr kumimoji="1" lang="en-US" altLang="zh-CN" sz="2400" i="1" dirty="0">
                          <a:latin typeface="Cambria Math" panose="02040503050406030204" pitchFamily="18" charset="0"/>
                        </a:rPr>
                        <m:t>P</m:t>
                      </m:r>
                    </m:oMath>
                  </m:oMathPara>
                </a14:m>
                <a:endParaRPr kumimoji="1" lang="en-US" altLang="zh-CN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1" lang="zh-CN" altLang="en-US" sz="2400" b="0" i="0" dirty="0" smtClean="0"/>
                        <m:t>      </m:t>
                      </m:r>
                      <m:r>
                        <m:rPr>
                          <m:nor/>
                        </m:rPr>
                        <a:rPr kumimoji="1" lang="en-US" altLang="zh-CN" sz="2400" dirty="0"/>
                        <m:t>|</m:t>
                      </m:r>
                      <m:r>
                        <a:rPr kumimoji="1" lang="zh-CN" altLang="en-US" sz="24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¬</m:t>
                      </m:r>
                      <m:r>
                        <m:rPr>
                          <m:nor/>
                        </m:rPr>
                        <a:rPr kumimoji="1" lang="en-US" altLang="zh-CN" sz="2400" i="1" dirty="0">
                          <a:latin typeface="Cambria Math" panose="02040503050406030204" pitchFamily="18" charset="0"/>
                        </a:rPr>
                        <m:t>P</m:t>
                      </m:r>
                    </m:oMath>
                  </m:oMathPara>
                </a14:m>
                <a:endParaRPr kumimoji="1" lang="en-US" altLang="zh-CN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kumimoji="1" lang="zh-CN" altLang="en-US" sz="2400" dirty="0"/>
                  <a:t>      </a:t>
                </a:r>
                <a:r>
                  <a:rPr kumimoji="1" lang="en-US" altLang="zh-CN" sz="2400" dirty="0"/>
                  <a:t>|</a:t>
                </a:r>
                <a:r>
                  <a:rPr kumimoji="1" lang="zh-CN" altLang="en-US" sz="2400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kumimoji="1" lang="en-US" altLang="zh-CN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kumimoji="1" lang="en-US" altLang="zh-CN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kumimoji="1" lang="en-US" altLang="zh-CN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endParaRPr kumimoji="1" lang="en-US" altLang="zh-CN" sz="2400" dirty="0"/>
              </a:p>
              <a:p>
                <a:pPr marL="0" indent="0">
                  <a:buNone/>
                </a:pPr>
                <a:r>
                  <a:rPr kumimoji="1" lang="zh-CN" altLang="en-US" sz="2400" dirty="0"/>
                  <a:t>      </a:t>
                </a:r>
                <a:r>
                  <a:rPr kumimoji="1" lang="en-US" altLang="zh-CN" sz="2400" dirty="0"/>
                  <a:t>|</a:t>
                </a:r>
                <a:r>
                  <a:rPr kumimoji="1" lang="zh-CN" altLang="en-US" sz="2400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  <m:r>
                      <a:rPr kumimoji="1" lang="en-US" altLang="zh-CN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kumimoji="1" lang="en-US" altLang="zh-CN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m:rPr>
                        <m:nor/>
                      </m:rPr>
                      <a:rPr kumimoji="1" lang="en-US" altLang="zh-CN" sz="2400" i="1" dirty="0"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endParaRPr kumimoji="1" lang="en-US" altLang="zh-CN" sz="2400" dirty="0"/>
              </a:p>
            </p:txBody>
          </p:sp>
        </mc:Choice>
        <mc:Fallback xmlns="">
          <p:sp>
            <p:nvSpPr>
              <p:cNvPr id="10" name="内容占位符 2">
                <a:extLst>
                  <a:ext uri="{FF2B5EF4-FFF2-40B4-BE49-F238E27FC236}">
                    <a16:creationId xmlns:a16="http://schemas.microsoft.com/office/drawing/2014/main" id="{C17775C8-6C23-9C41-A289-F6C791E373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57400"/>
                <a:ext cx="3770312" cy="4114800"/>
              </a:xfrm>
              <a:blipFill>
                <a:blip r:embed="rId2"/>
                <a:stretch>
                  <a:fillRect l="-2349" t="-1231" b="-156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A629BA1A-91A1-3748-8B88-61496970F16D}"/>
                  </a:ext>
                </a:extLst>
              </p:cNvPr>
              <p:cNvSpPr txBox="1"/>
              <p:nvPr/>
            </p:nvSpPr>
            <p:spPr>
              <a:xfrm>
                <a:off x="7277100" y="3876174"/>
                <a:ext cx="9144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ℳ</m:t>
                      </m:r>
                    </m:oMath>
                  </m:oMathPara>
                </a14:m>
                <a:endParaRPr kumimoji="1" lang="zh-CN" altLang="en-US" dirty="0"/>
              </a:p>
            </p:txBody>
          </p:sp>
        </mc:Choice>
        <mc:Fallback xmlns="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A629BA1A-91A1-3748-8B88-61496970F1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7100" y="3876174"/>
                <a:ext cx="91440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13288BF1-14E6-A04C-B83C-C194FC5CCE7A}"/>
                  </a:ext>
                </a:extLst>
              </p:cNvPr>
              <p:cNvSpPr txBox="1"/>
              <p:nvPr/>
            </p:nvSpPr>
            <p:spPr>
              <a:xfrm>
                <a:off x="7277100" y="1925234"/>
                <a:ext cx="914400" cy="1262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p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ℳ</m:t>
                          </m:r>
                          <m:r>
                            <m:rPr>
                              <m:nor/>
                            </m:rPr>
                            <a:rPr kumimoji="1" lang="en-US" altLang="zh-CN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p>
                      </m:sSup>
                    </m:oMath>
                  </m:oMathPara>
                </a14:m>
                <a:endParaRPr kumimoji="1" lang="en-US" altLang="zh-CN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ℳ</m:t>
                          </m:r>
                          <m:r>
                            <m:rPr>
                              <m:nor/>
                            </m:rPr>
                            <a:rPr kumimoji="1" lang="en-US" altLang="zh-CN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p>
                      </m:sSup>
                    </m:oMath>
                  </m:oMathPara>
                </a14:m>
                <a:endParaRPr kumimoji="1" lang="en-US" altLang="zh-CN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kumimoji="1" lang="en-US" altLang="zh-CN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ℳ</m:t>
                          </m:r>
                          <m:r>
                            <m:rPr>
                              <m:nor/>
                            </m:rPr>
                            <a:rPr kumimoji="1" lang="en-US" altLang="zh-CN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p>
                      </m:sSup>
                    </m:oMath>
                  </m:oMathPara>
                </a14:m>
                <a:endParaRPr kumimoji="1" lang="en-US" altLang="zh-CN" b="0" dirty="0">
                  <a:ea typeface="Cambria Math" panose="02040503050406030204" pitchFamily="18" charset="0"/>
                </a:endParaRPr>
              </a:p>
              <a:p>
                <a:endParaRPr kumimoji="1" lang="zh-CN" altLang="en-US" dirty="0"/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13288BF1-14E6-A04C-B83C-C194FC5CCE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7100" y="1925234"/>
                <a:ext cx="914400" cy="1262140"/>
              </a:xfrm>
              <a:prstGeom prst="rect">
                <a:avLst/>
              </a:prstGeom>
              <a:blipFill>
                <a:blip r:embed="rId4"/>
                <a:stretch>
                  <a:fillRect t="-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0" name="表格 19">
                <a:extLst>
                  <a:ext uri="{FF2B5EF4-FFF2-40B4-BE49-F238E27FC236}">
                    <a16:creationId xmlns:a16="http://schemas.microsoft.com/office/drawing/2014/main" id="{128F52CA-C578-0244-AF98-3B358A473BC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5402179" y="4734426"/>
              <a:ext cx="3505200" cy="1524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168400">
                      <a:extLst>
                        <a:ext uri="{9D8B030D-6E8A-4147-A177-3AD203B41FA5}">
                          <a16:colId xmlns:a16="http://schemas.microsoft.com/office/drawing/2014/main" val="209537290"/>
                        </a:ext>
                      </a:extLst>
                    </a:gridCol>
                    <a:gridCol w="1168400">
                      <a:extLst>
                        <a:ext uri="{9D8B030D-6E8A-4147-A177-3AD203B41FA5}">
                          <a16:colId xmlns:a16="http://schemas.microsoft.com/office/drawing/2014/main" val="3455548352"/>
                        </a:ext>
                      </a:extLst>
                    </a:gridCol>
                    <a:gridCol w="1168400">
                      <a:extLst>
                        <a:ext uri="{9D8B030D-6E8A-4147-A177-3AD203B41FA5}">
                          <a16:colId xmlns:a16="http://schemas.microsoft.com/office/drawing/2014/main" val="3054683460"/>
                        </a:ext>
                      </a:extLst>
                    </a:gridCol>
                  </a:tblGrid>
                  <a:tr h="227628"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P</a:t>
                          </a:r>
                          <a:endParaRPr lang="zh-CN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CN" sz="1400" dirty="0"/>
                            <a:t>Q</a:t>
                          </a:r>
                          <a:endParaRPr lang="zh-CN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1" lang="en-US" altLang="zh-CN" sz="1400" b="1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𝐏</m:t>
                              </m:r>
                            </m:oMath>
                          </a14:m>
                          <a:r>
                            <a:rPr lang="en-US" altLang="zh-CN" sz="1400" dirty="0"/>
                            <a:t>\/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1400" b="1" i="1" dirty="0" smtClean="0">
                                  <a:latin typeface="Cambria Math" panose="02040503050406030204" pitchFamily="18" charset="0"/>
                                </a:rPr>
                                <m:t>𝑸</m:t>
                              </m:r>
                            </m:oMath>
                          </a14:m>
                          <a:endParaRPr lang="zh-CN" alt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87749223"/>
                      </a:ext>
                    </a:extLst>
                  </a:tr>
                  <a:tr h="227628"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T</a:t>
                          </a:r>
                          <a:endParaRPr lang="zh-CN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T</a:t>
                          </a:r>
                          <a:endParaRPr lang="zh-CN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T</a:t>
                          </a:r>
                          <a:endParaRPr lang="zh-CN" alt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20270863"/>
                      </a:ext>
                    </a:extLst>
                  </a:tr>
                  <a:tr h="227628"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T</a:t>
                          </a:r>
                          <a:endParaRPr lang="zh-CN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F</a:t>
                          </a:r>
                          <a:endParaRPr lang="zh-CN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T</a:t>
                          </a:r>
                          <a:endParaRPr lang="zh-CN" alt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3805057"/>
                      </a:ext>
                    </a:extLst>
                  </a:tr>
                  <a:tr h="227628"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F</a:t>
                          </a:r>
                          <a:endParaRPr lang="zh-CN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T</a:t>
                          </a:r>
                          <a:endParaRPr lang="zh-CN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T</a:t>
                          </a:r>
                          <a:endParaRPr lang="zh-CN" alt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06916579"/>
                      </a:ext>
                    </a:extLst>
                  </a:tr>
                  <a:tr h="227628"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F</a:t>
                          </a:r>
                          <a:endParaRPr lang="zh-CN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F</a:t>
                          </a:r>
                          <a:endParaRPr lang="zh-CN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  <a:endParaRPr lang="zh-CN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05367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0" name="表格 19">
                <a:extLst>
                  <a:ext uri="{FF2B5EF4-FFF2-40B4-BE49-F238E27FC236}">
                    <a16:creationId xmlns:a16="http://schemas.microsoft.com/office/drawing/2014/main" id="{128F52CA-C578-0244-AF98-3B358A473BC0}"/>
                  </a:ext>
                </a:extLst>
              </p:cNvPr>
              <p:cNvGraphicFramePr>
                <a:graphicFrameLocks noGrp="1"/>
              </p:cNvGraphicFramePr>
              <p:nvPr>
                <p:extLst/>
              </p:nvPr>
            </p:nvGraphicFramePr>
            <p:xfrm>
              <a:off x="5402179" y="4734426"/>
              <a:ext cx="3505200" cy="1524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168400">
                      <a:extLst>
                        <a:ext uri="{9D8B030D-6E8A-4147-A177-3AD203B41FA5}">
                          <a16:colId xmlns:a16="http://schemas.microsoft.com/office/drawing/2014/main" val="209537290"/>
                        </a:ext>
                      </a:extLst>
                    </a:gridCol>
                    <a:gridCol w="1168400">
                      <a:extLst>
                        <a:ext uri="{9D8B030D-6E8A-4147-A177-3AD203B41FA5}">
                          <a16:colId xmlns:a16="http://schemas.microsoft.com/office/drawing/2014/main" val="3455548352"/>
                        </a:ext>
                      </a:extLst>
                    </a:gridCol>
                    <a:gridCol w="1168400">
                      <a:extLst>
                        <a:ext uri="{9D8B030D-6E8A-4147-A177-3AD203B41FA5}">
                          <a16:colId xmlns:a16="http://schemas.microsoft.com/office/drawing/2014/main" val="3054683460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P</a:t>
                          </a:r>
                          <a:endParaRPr lang="zh-CN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CN" sz="1400" dirty="0"/>
                            <a:t>Q</a:t>
                          </a:r>
                          <a:endParaRPr lang="zh-CN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5"/>
                          <a:stretch>
                            <a:fillRect l="-202174" r="-1087" b="-4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7749223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T</a:t>
                          </a:r>
                          <a:endParaRPr lang="zh-CN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T</a:t>
                          </a:r>
                          <a:endParaRPr lang="zh-CN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T</a:t>
                          </a:r>
                          <a:endParaRPr lang="zh-CN" alt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20270863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T</a:t>
                          </a:r>
                          <a:endParaRPr lang="zh-CN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F</a:t>
                          </a:r>
                          <a:endParaRPr lang="zh-CN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T</a:t>
                          </a:r>
                          <a:endParaRPr lang="zh-CN" alt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3805057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F</a:t>
                          </a:r>
                          <a:endParaRPr lang="zh-CN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T</a:t>
                          </a:r>
                          <a:endParaRPr lang="zh-CN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T</a:t>
                          </a:r>
                          <a:endParaRPr lang="zh-CN" alt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06916579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F</a:t>
                          </a:r>
                          <a:endParaRPr lang="zh-CN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/>
                            <a:t>F</a:t>
                          </a:r>
                          <a:endParaRPr lang="zh-CN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400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  <a:endParaRPr lang="zh-CN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05367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D8813B3B-037D-8247-A9DD-B9ECC44808B7}"/>
                  </a:ext>
                </a:extLst>
              </p:cNvPr>
              <p:cNvSpPr txBox="1"/>
              <p:nvPr/>
            </p:nvSpPr>
            <p:spPr>
              <a:xfrm>
                <a:off x="3276600" y="3876174"/>
                <a:ext cx="1371600" cy="5447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kumimoji="1" lang="en-US" altLang="zh-CN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l-GR" altLang="zh-CN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⊨</m:t>
                          </m:r>
                        </m:e>
                        <m:sub>
                          <m:r>
                            <a:rPr kumimoji="1" lang="en-US" altLang="zh-CN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  <m:sup>
                          <m:r>
                            <a:rPr kumimoji="1" lang="en-US" altLang="zh-CN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ℳ</m:t>
                          </m:r>
                        </m:sup>
                      </m:sSubSup>
                      <m:r>
                        <m:rPr>
                          <m:nor/>
                        </m:rPr>
                        <a:rPr kumimoji="1" lang="en-US" altLang="zh-CN" sz="2800" dirty="0">
                          <a:solidFill>
                            <a:schemeClr val="tx1"/>
                          </a:solidFill>
                        </a:rPr>
                        <m:t>P</m:t>
                      </m:r>
                    </m:oMath>
                  </m:oMathPara>
                </a14:m>
                <a:endParaRPr kumimoji="1" lang="zh-CN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D8813B3B-037D-8247-A9DD-B9ECC4480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6600" y="3876174"/>
                <a:ext cx="1371600" cy="544765"/>
              </a:xfrm>
              <a:prstGeom prst="rect">
                <a:avLst/>
              </a:prstGeom>
              <a:blipFill>
                <a:blip r:embed="rId6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27E1BAB0-F0A4-4146-B3E4-3FB322FB5566}"/>
                  </a:ext>
                </a:extLst>
              </p:cNvPr>
              <p:cNvSpPr txBox="1"/>
              <p:nvPr/>
            </p:nvSpPr>
            <p:spPr>
              <a:xfrm>
                <a:off x="3276600" y="4727740"/>
                <a:ext cx="1981200" cy="19389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CN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ℳ</m:t>
                    </m:r>
                    <m:r>
                      <a:rPr kumimoji="1" lang="zh-CN" alt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1" lang="en-US" altLang="zh-CN" sz="2400" dirty="0">
                    <a:solidFill>
                      <a:schemeClr val="tx1"/>
                    </a:solidFill>
                  </a:rPr>
                  <a:t>=</a:t>
                </a:r>
                <a:r>
                  <a:rPr kumimoji="1" lang="zh-CN" altLang="en-US" sz="2400" dirty="0">
                    <a:solidFill>
                      <a:schemeClr val="tx1"/>
                    </a:solidFill>
                  </a:rPr>
                  <a:t> </a:t>
                </a:r>
                <a:r>
                  <a:rPr kumimoji="1" lang="en-US" altLang="zh-CN" sz="2400" dirty="0">
                    <a:solidFill>
                      <a:schemeClr val="tx1"/>
                    </a:solidFill>
                  </a:rPr>
                  <a:t>Z</a:t>
                </a:r>
              </a:p>
              <a:p>
                <a:r>
                  <a:rPr kumimoji="1" lang="en-US" altLang="zh-CN" sz="2400" dirty="0">
                    <a:solidFill>
                      <a:schemeClr val="tx1"/>
                    </a:solidFill>
                  </a:rPr>
                  <a:t>f</a:t>
                </a:r>
                <a:r>
                  <a:rPr kumimoji="1" lang="zh-CN" altLang="en-US" sz="2400" dirty="0">
                    <a:solidFill>
                      <a:schemeClr val="tx1"/>
                    </a:solidFill>
                  </a:rPr>
                  <a:t>   </a:t>
                </a:r>
                <a:r>
                  <a:rPr kumimoji="1" lang="en-US" altLang="zh-CN" sz="2400" dirty="0">
                    <a:solidFill>
                      <a:schemeClr val="tx1"/>
                    </a:solidFill>
                  </a:rPr>
                  <a:t>=</a:t>
                </a:r>
                <a:r>
                  <a:rPr kumimoji="1" lang="zh-CN" altLang="en-US" sz="2400" dirty="0">
                    <a:solidFill>
                      <a:schemeClr val="tx1"/>
                    </a:solidFill>
                  </a:rPr>
                  <a:t> </a:t>
                </a:r>
                <a:r>
                  <a:rPr kumimoji="1" lang="en-US" altLang="zh-CN" sz="2400" dirty="0">
                    <a:solidFill>
                      <a:schemeClr val="tx1"/>
                    </a:solidFill>
                  </a:rPr>
                  <a:t>+</a:t>
                </a:r>
              </a:p>
              <a:p>
                <a:r>
                  <a:rPr kumimoji="1" lang="en-US" altLang="zh-CN" sz="2400" dirty="0">
                    <a:solidFill>
                      <a:schemeClr val="tx1"/>
                    </a:solidFill>
                  </a:rPr>
                  <a:t>r</a:t>
                </a:r>
                <a:r>
                  <a:rPr kumimoji="1" lang="zh-CN" altLang="en-US" sz="2400" dirty="0">
                    <a:solidFill>
                      <a:schemeClr val="tx1"/>
                    </a:solidFill>
                  </a:rPr>
                  <a:t>   </a:t>
                </a:r>
                <a:r>
                  <a:rPr kumimoji="1" lang="en-US" altLang="zh-CN" sz="2400" dirty="0">
                    <a:solidFill>
                      <a:schemeClr val="tx1"/>
                    </a:solidFill>
                  </a:rPr>
                  <a:t>=</a:t>
                </a:r>
                <a:r>
                  <a:rPr kumimoji="1" lang="zh-CN" altLang="en-US" sz="2400" dirty="0">
                    <a:solidFill>
                      <a:schemeClr val="tx1"/>
                    </a:solidFill>
                  </a:rPr>
                  <a:t> </a:t>
                </a:r>
                <a:r>
                  <a:rPr kumimoji="1" lang="en-US" altLang="zh-CN" sz="2400" dirty="0">
                    <a:solidFill>
                      <a:schemeClr val="tx1"/>
                    </a:solidFill>
                  </a:rPr>
                  <a:t>‘=‘</a:t>
                </a:r>
              </a:p>
              <a:p>
                <a:endParaRPr kumimoji="1" lang="en-US" altLang="zh-CN" sz="2400" dirty="0"/>
              </a:p>
              <a:p>
                <a:r>
                  <a:rPr kumimoji="1" lang="en-US" altLang="zh-CN" sz="2400" dirty="0"/>
                  <a:t>r(f(x,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0),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x)</a:t>
                </a:r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27E1BAB0-F0A4-4146-B3E4-3FB322FB55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6600" y="4727740"/>
                <a:ext cx="1981200" cy="1938992"/>
              </a:xfrm>
              <a:prstGeom prst="rect">
                <a:avLst/>
              </a:prstGeom>
              <a:blipFill>
                <a:blip r:embed="rId7"/>
                <a:stretch>
                  <a:fillRect l="-4459" t="-2614" b="-588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7723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22B1687-FD96-8647-B68F-E94971DD9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Model-based</a:t>
            </a:r>
            <a:r>
              <a:rPr kumimoji="1" lang="zh-CN" altLang="en-US" dirty="0"/>
              <a:t> </a:t>
            </a:r>
            <a:r>
              <a:rPr kumimoji="1" lang="en-US" altLang="zh-CN" dirty="0"/>
              <a:t>semantics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内容占位符 2">
                <a:extLst>
                  <a:ext uri="{FF2B5EF4-FFF2-40B4-BE49-F238E27FC236}">
                    <a16:creationId xmlns:a16="http://schemas.microsoft.com/office/drawing/2014/main" id="{476C358B-5243-5E43-A469-EDADD766D33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57400"/>
                <a:ext cx="5867400" cy="4114800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kumimoji="1" lang="en-US" altLang="zh-CN" sz="24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kumimoji="1" lang="el-GR" altLang="zh-CN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⊨</m:t>
                        </m:r>
                      </m:e>
                      <m:sub>
                        <m:r>
                          <a:rPr kumimoji="1" lang="en-US" altLang="zh-CN" sz="2400" i="1">
                            <a:latin typeface="Cambria Math" panose="02040503050406030204" pitchFamily="18" charset="0"/>
                          </a:rPr>
                          <m:t>𝑉</m:t>
                        </m:r>
                      </m:sub>
                      <m:sup>
                        <m:r>
                          <a:rPr kumimoji="1" lang="en-US" altLang="zh-CN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ℳ</m:t>
                        </m:r>
                      </m:sup>
                    </m:sSubSup>
                    <m:r>
                      <a:rPr kumimoji="1"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1" lang="en-US" altLang="zh-CN" sz="2400" dirty="0"/>
                  <a:t>r(E,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…,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E)</a:t>
                </a:r>
                <a:r>
                  <a:rPr kumimoji="1" lang="zh-CN" altLang="en-US" sz="2400" dirty="0"/>
                  <a:t>  </a:t>
                </a:r>
                <a:r>
                  <a:rPr kumimoji="1" lang="en-US" altLang="zh-CN" sz="2400" dirty="0"/>
                  <a:t>=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r</a:t>
                </a:r>
                <a14:m>
                  <m:oMath xmlns:m="http://schemas.openxmlformats.org/officeDocument/2006/math">
                    <m:r>
                      <a:rPr kumimoji="1" lang="en-US" altLang="zh-CN" sz="2400" i="1" baseline="30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ℳ</m:t>
                    </m:r>
                  </m:oMath>
                </a14:m>
                <a:r>
                  <a:rPr kumimoji="1" lang="en-US" altLang="zh-CN" sz="2400" dirty="0"/>
                  <a:t>(V(E),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…,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V(E))</a:t>
                </a:r>
                <a:r>
                  <a:rPr kumimoji="1" lang="zh-CN" altLang="en-US" sz="2400" dirty="0"/>
                  <a:t> </a:t>
                </a:r>
                <a:endParaRPr kumimoji="1" lang="en-US" altLang="zh-CN" sz="24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kumimoji="1" lang="en-US" altLang="zh-CN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kumimoji="1" lang="el-GR" altLang="zh-CN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⊨</m:t>
                        </m:r>
                      </m:e>
                      <m:sub>
                        <m:r>
                          <a:rPr kumimoji="1" lang="en-US" altLang="zh-CN" sz="2400" i="1">
                            <a:latin typeface="Cambria Math" panose="02040503050406030204" pitchFamily="18" charset="0"/>
                          </a:rPr>
                          <m:t>𝑉</m:t>
                        </m:r>
                      </m:sub>
                      <m:sup>
                        <m:r>
                          <a:rPr kumimoji="1" lang="en-US" altLang="zh-CN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ℳ</m:t>
                        </m:r>
                      </m:sup>
                    </m:sSubSup>
                    <m:r>
                      <m:rPr>
                        <m:sty m:val="p"/>
                      </m:rPr>
                      <a:rPr kumimoji="1" lang="en-US" altLang="zh-CN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kumimoji="1" lang="zh-CN" altLang="en-US" sz="2400" b="0" i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                   </a:t>
                </a:r>
                <a:r>
                  <a:rPr kumimoji="1" lang="en-US" altLang="zh-CN" sz="2400" b="0" i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=</a:t>
                </a:r>
                <a:r>
                  <a:rPr kumimoji="1" lang="zh-CN" altLang="en-US" sz="2400" b="0" i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kumimoji="1" lang="en-US" altLang="zh-CN" sz="2400" b="0" i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T</a:t>
                </a:r>
                <a:r>
                  <a:rPr kumimoji="1" lang="zh-CN" altLang="en-US" sz="2400" b="0" i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               </a:t>
                </a:r>
                <a:endParaRPr kumimoji="1" lang="en-US" altLang="zh-CN" sz="2400" b="0" i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kumimoji="1" lang="en-US" altLang="zh-CN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kumimoji="1" lang="el-GR" altLang="zh-CN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⊨</m:t>
                        </m:r>
                      </m:e>
                      <m:sub>
                        <m:r>
                          <a:rPr kumimoji="1" lang="en-US" altLang="zh-CN" sz="2400" i="1">
                            <a:latin typeface="Cambria Math" panose="02040503050406030204" pitchFamily="18" charset="0"/>
                          </a:rPr>
                          <m:t>𝑉</m:t>
                        </m:r>
                      </m:sub>
                      <m:sup>
                        <m:r>
                          <a:rPr kumimoji="1" lang="en-US" altLang="zh-CN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ℳ</m:t>
                        </m:r>
                      </m:sup>
                    </m:sSubSup>
                    <m:r>
                      <a:rPr kumimoji="1" lang="en-US" altLang="zh-CN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⊥</m:t>
                    </m:r>
                  </m:oMath>
                </a14:m>
                <a:r>
                  <a:rPr kumimoji="1" lang="zh-CN" altLang="en-US" sz="2400" dirty="0"/>
                  <a:t>               </a:t>
                </a:r>
                <a:r>
                  <a:rPr kumimoji="1" lang="en-US" altLang="zh-CN" sz="2400" dirty="0"/>
                  <a:t>=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F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kumimoji="1" lang="en-US" altLang="zh-CN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kumimoji="1" lang="el-GR" altLang="zh-CN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⊨</m:t>
                        </m:r>
                      </m:e>
                      <m:sub>
                        <m:r>
                          <a:rPr kumimoji="1" lang="en-US" altLang="zh-CN" sz="2400" i="1">
                            <a:latin typeface="Cambria Math" panose="02040503050406030204" pitchFamily="18" charset="0"/>
                          </a:rPr>
                          <m:t>𝑉</m:t>
                        </m:r>
                      </m:sub>
                      <m:sup>
                        <m:r>
                          <a:rPr kumimoji="1" lang="en-US" altLang="zh-CN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ℳ</m:t>
                        </m:r>
                      </m:sup>
                    </m:sSubSup>
                  </m:oMath>
                </a14:m>
                <a:r>
                  <a:rPr kumimoji="1" lang="en-US" altLang="zh-CN" sz="2400" i="1" dirty="0">
                    <a:latin typeface="Cambria Math" panose="02040503050406030204" pitchFamily="18" charset="0"/>
                  </a:rPr>
                  <a:t>P</a:t>
                </a:r>
                <a:r>
                  <a:rPr kumimoji="1" lang="zh-CN" altLang="en-US" sz="2400" dirty="0"/>
                  <a:t> </a:t>
                </a:r>
                <a14:m>
                  <m:oMath xmlns:m="http://schemas.openxmlformats.org/officeDocument/2006/math">
                    <m:r>
                      <a:rPr kumimoji="1" lang="zh-CN" altLang="en-US" sz="2400" i="1">
                        <a:latin typeface="Cambria Math" panose="02040503050406030204" pitchFamily="18" charset="0"/>
                      </a:rPr>
                      <m:t>∨</m:t>
                    </m:r>
                  </m:oMath>
                </a14:m>
                <a:r>
                  <a:rPr kumimoji="1" lang="zh-CN" altLang="en-US" sz="2400" i="1" dirty="0">
                    <a:latin typeface="Cambria Math" panose="02040503050406030204" pitchFamily="18" charset="0"/>
                  </a:rPr>
                  <a:t> </a:t>
                </a:r>
                <a:r>
                  <a:rPr kumimoji="1" lang="en-US" altLang="zh-CN" sz="2400" i="1" dirty="0">
                    <a:latin typeface="Cambria Math" panose="02040503050406030204" pitchFamily="18" charset="0"/>
                  </a:rPr>
                  <a:t>P</a:t>
                </a:r>
                <a:r>
                  <a:rPr kumimoji="1" lang="zh-CN" altLang="en-US" sz="2400" i="1" dirty="0">
                    <a:latin typeface="Cambria Math" panose="02040503050406030204" pitchFamily="18" charset="0"/>
                  </a:rPr>
                  <a:t>              </a:t>
                </a:r>
                <a:r>
                  <a:rPr kumimoji="1" lang="en-US" altLang="zh-CN" sz="2400" dirty="0">
                    <a:latin typeface="Cambria Math" panose="02040503050406030204" pitchFamily="18" charset="0"/>
                  </a:rPr>
                  <a:t>=</a:t>
                </a:r>
                <a:r>
                  <a:rPr kumimoji="1" lang="zh-CN" altLang="en-US" sz="2400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kumimoji="1" lang="en-US" altLang="zh-CN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l-GR" altLang="zh-CN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⊨</m:t>
                        </m:r>
                      </m:e>
                      <m:sub>
                        <m:r>
                          <a:rPr kumimoji="1" lang="en-US" altLang="zh-CN" sz="2400" i="1">
                            <a:latin typeface="Cambria Math" panose="02040503050406030204" pitchFamily="18" charset="0"/>
                          </a:rPr>
                          <m:t>𝑉</m:t>
                        </m:r>
                      </m:sub>
                      <m:sup>
                        <m:r>
                          <a:rPr kumimoji="1" lang="en-US" altLang="zh-CN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ℳ</m:t>
                        </m:r>
                      </m:sup>
                    </m:sSubSup>
                  </m:oMath>
                </a14:m>
                <a:r>
                  <a:rPr kumimoji="1" lang="en-US" altLang="zh-CN" sz="2400" i="1" dirty="0">
                    <a:latin typeface="Cambria Math" panose="02040503050406030204" pitchFamily="18" charset="0"/>
                  </a:rPr>
                  <a:t>P</a:t>
                </a:r>
                <a:r>
                  <a:rPr kumimoji="1" lang="en-US" altLang="zh-CN" sz="2400" dirty="0"/>
                  <a:t>)</a:t>
                </a:r>
                <a14:m>
                  <m:oMath xmlns:m="http://schemas.openxmlformats.org/officeDocument/2006/math">
                    <m:r>
                      <a:rPr kumimoji="1" lang="zh-CN" alt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zh-CN" altLang="en-US" sz="2400" i="1" smtClean="0">
                        <a:latin typeface="Cambria Math" panose="02040503050406030204" pitchFamily="18" charset="0"/>
                      </a:rPr>
                      <m:t>∨</m:t>
                    </m:r>
                    <m:sSubSup>
                      <m:sSubSupPr>
                        <m:ctrlPr>
                          <a:rPr kumimoji="1" lang="en-US" altLang="zh-CN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l-GR" altLang="zh-CN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⊨</m:t>
                        </m:r>
                      </m:e>
                      <m:sub>
                        <m:r>
                          <a:rPr kumimoji="1" lang="en-US" altLang="zh-CN" sz="2400" i="1">
                            <a:latin typeface="Cambria Math" panose="02040503050406030204" pitchFamily="18" charset="0"/>
                          </a:rPr>
                          <m:t>𝑉</m:t>
                        </m:r>
                      </m:sub>
                      <m:sup>
                        <m:r>
                          <a:rPr kumimoji="1" lang="en-US" altLang="zh-CN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ℳ</m:t>
                        </m:r>
                      </m:sup>
                    </m:sSubSup>
                  </m:oMath>
                </a14:m>
                <a:r>
                  <a:rPr kumimoji="1" lang="en-US" altLang="zh-CN" sz="2400" i="1" dirty="0">
                    <a:latin typeface="Cambria Math" panose="02040503050406030204" pitchFamily="18" charset="0"/>
                  </a:rPr>
                  <a:t>P</a:t>
                </a:r>
                <a:r>
                  <a:rPr kumimoji="1" lang="zh-CN" altLang="en-US" sz="2400" i="1" dirty="0">
                    <a:latin typeface="Cambria Math" panose="02040503050406030204" pitchFamily="18" charset="0"/>
                  </a:rPr>
                  <a:t> </a:t>
                </a:r>
                <a:r>
                  <a:rPr kumimoji="1" lang="en-US" altLang="zh-CN" sz="2400" i="1" dirty="0">
                    <a:latin typeface="Cambria Math" panose="02040503050406030204" pitchFamily="18" charset="0"/>
                  </a:rPr>
                  <a:t>)</a:t>
                </a:r>
                <a:endParaRPr kumimoji="1" lang="en-US" altLang="zh-CN" sz="24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kumimoji="1" lang="en-US" altLang="zh-CN" sz="24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kumimoji="1" lang="el-GR" altLang="zh-CN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⊨</m:t>
                        </m:r>
                      </m:e>
                      <m:sub>
                        <m:r>
                          <a:rPr kumimoji="1" lang="en-US" altLang="zh-CN" sz="2400" i="1">
                            <a:latin typeface="Cambria Math" panose="02040503050406030204" pitchFamily="18" charset="0"/>
                          </a:rPr>
                          <m:t>𝑉</m:t>
                        </m:r>
                      </m:sub>
                      <m:sup>
                        <m:r>
                          <a:rPr kumimoji="1" lang="en-US" altLang="zh-CN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ℳ</m:t>
                        </m:r>
                      </m:sup>
                    </m:sSubSup>
                    <m:r>
                      <m:rPr>
                        <m:nor/>
                      </m:rPr>
                      <a:rPr kumimoji="1" lang="en-US" altLang="zh-CN" sz="2400" i="1" dirty="0">
                        <a:latin typeface="Cambria Math" panose="02040503050406030204" pitchFamily="18" charset="0"/>
                      </a:rPr>
                      <m:t>P</m:t>
                    </m:r>
                    <m:r>
                      <a:rPr kumimoji="1" lang="zh-CN" altLang="en-US" sz="2400" i="1">
                        <a:latin typeface="Cambria Math" panose="02040503050406030204" pitchFamily="18" charset="0"/>
                      </a:rPr>
                      <m:t>∧</m:t>
                    </m:r>
                    <m:r>
                      <m:rPr>
                        <m:nor/>
                      </m:rPr>
                      <a:rPr kumimoji="1" lang="en-US" altLang="zh-CN" sz="2400" i="1" dirty="0"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r>
                  <a:rPr kumimoji="1" lang="zh-CN" altLang="en-US" sz="2400" i="1" dirty="0">
                    <a:latin typeface="Cambria Math" panose="02040503050406030204" pitchFamily="18" charset="0"/>
                  </a:rPr>
                  <a:t>             </a:t>
                </a:r>
                <a:r>
                  <a:rPr kumimoji="1" lang="en-US" altLang="zh-CN" sz="2400" dirty="0">
                    <a:latin typeface="Cambria Math" panose="02040503050406030204" pitchFamily="18" charset="0"/>
                  </a:rPr>
                  <a:t>=</a:t>
                </a:r>
                <a:r>
                  <a:rPr kumimoji="1" lang="zh-CN" altLang="en-US" sz="2400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kumimoji="1" lang="en-US" altLang="zh-CN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kumimoji="1" lang="en-US" altLang="zh-CN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l-GR" altLang="zh-CN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⊨</m:t>
                        </m:r>
                      </m:e>
                      <m:sub>
                        <m:r>
                          <a:rPr kumimoji="1" lang="en-US" altLang="zh-CN" sz="2400" i="1">
                            <a:latin typeface="Cambria Math" panose="02040503050406030204" pitchFamily="18" charset="0"/>
                          </a:rPr>
                          <m:t>𝑉</m:t>
                        </m:r>
                      </m:sub>
                      <m:sup>
                        <m:r>
                          <a:rPr kumimoji="1" lang="en-US" altLang="zh-CN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ℳ</m:t>
                        </m:r>
                      </m:sup>
                    </m:sSubSup>
                  </m:oMath>
                </a14:m>
                <a:r>
                  <a:rPr kumimoji="1" lang="en-US" altLang="zh-CN" sz="2400" i="1" dirty="0">
                    <a:latin typeface="Cambria Math" panose="02040503050406030204" pitchFamily="18" charset="0"/>
                  </a:rPr>
                  <a:t>P</a:t>
                </a:r>
                <a:r>
                  <a:rPr kumimoji="1" lang="en-US" altLang="zh-CN" sz="2400" dirty="0"/>
                  <a:t>)</a:t>
                </a:r>
                <a14:m>
                  <m:oMath xmlns:m="http://schemas.openxmlformats.org/officeDocument/2006/math">
                    <m:r>
                      <a:rPr kumimoji="1" lang="zh-CN" alt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zh-CN" altLang="en-US" sz="2400" i="1">
                        <a:latin typeface="Cambria Math" panose="02040503050406030204" pitchFamily="18" charset="0"/>
                      </a:rPr>
                      <m:t>∧</m:t>
                    </m:r>
                    <m:sSubSup>
                      <m:sSubSupPr>
                        <m:ctrlPr>
                          <a:rPr kumimoji="1" lang="en-US" altLang="zh-CN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kumimoji="1" lang="en-US" altLang="zh-CN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l-GR" altLang="zh-CN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⊨</m:t>
                        </m:r>
                      </m:e>
                      <m:sub>
                        <m:r>
                          <a:rPr kumimoji="1" lang="en-US" altLang="zh-CN" sz="2400" i="1">
                            <a:latin typeface="Cambria Math" panose="02040503050406030204" pitchFamily="18" charset="0"/>
                          </a:rPr>
                          <m:t>𝑉</m:t>
                        </m:r>
                      </m:sub>
                      <m:sup>
                        <m:r>
                          <a:rPr kumimoji="1" lang="en-US" altLang="zh-CN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ℳ</m:t>
                        </m:r>
                      </m:sup>
                    </m:sSubSup>
                  </m:oMath>
                </a14:m>
                <a:r>
                  <a:rPr kumimoji="1" lang="en-US" altLang="zh-CN" sz="2400" i="1" dirty="0">
                    <a:latin typeface="Cambria Math" panose="02040503050406030204" pitchFamily="18" charset="0"/>
                  </a:rPr>
                  <a:t>P</a:t>
                </a:r>
                <a:r>
                  <a:rPr kumimoji="1" lang="zh-CN" altLang="en-US" sz="2400" i="1" dirty="0">
                    <a:latin typeface="Cambria Math" panose="02040503050406030204" pitchFamily="18" charset="0"/>
                  </a:rPr>
                  <a:t> </a:t>
                </a:r>
                <a:r>
                  <a:rPr kumimoji="1" lang="en-US" altLang="zh-CN" sz="2400" i="1" dirty="0">
                    <a:latin typeface="Cambria Math" panose="02040503050406030204" pitchFamily="18" charset="0"/>
                  </a:rPr>
                  <a:t>)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kumimoji="1" lang="en-US" altLang="zh-CN" sz="24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kumimoji="1" lang="el-GR" altLang="zh-CN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⊨</m:t>
                        </m:r>
                      </m:e>
                      <m:sub>
                        <m:r>
                          <a:rPr kumimoji="1" lang="en-US" altLang="zh-CN" sz="2400" i="1">
                            <a:latin typeface="Cambria Math" panose="02040503050406030204" pitchFamily="18" charset="0"/>
                          </a:rPr>
                          <m:t>𝑉</m:t>
                        </m:r>
                      </m:sub>
                      <m:sup>
                        <m:r>
                          <a:rPr kumimoji="1" lang="en-US" altLang="zh-CN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ℳ</m:t>
                        </m:r>
                      </m:sup>
                    </m:sSubSup>
                    <m:r>
                      <m:rPr>
                        <m:nor/>
                      </m:rPr>
                      <a:rPr kumimoji="1" lang="en-US" altLang="zh-CN" sz="2400" i="1" dirty="0">
                        <a:latin typeface="Cambria Math" panose="02040503050406030204" pitchFamily="18" charset="0"/>
                      </a:rPr>
                      <m:t>P</m:t>
                    </m:r>
                    <m:r>
                      <a:rPr kumimoji="1" lang="zh-CN" altLang="en-US" sz="240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nor/>
                      </m:rPr>
                      <a:rPr kumimoji="1" lang="en-US" altLang="zh-CN" sz="2400" i="1" dirty="0"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r>
                  <a:rPr kumimoji="1" lang="zh-CN" altLang="en-US" sz="2400" i="1" dirty="0">
                    <a:latin typeface="Cambria Math" panose="02040503050406030204" pitchFamily="18" charset="0"/>
                  </a:rPr>
                  <a:t>            </a:t>
                </a:r>
                <a:r>
                  <a:rPr kumimoji="1" lang="en-US" altLang="zh-CN" sz="2400" dirty="0">
                    <a:latin typeface="Cambria Math" panose="02040503050406030204" pitchFamily="18" charset="0"/>
                  </a:rPr>
                  <a:t>=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kumimoji="1" lang="en-US" altLang="zh-CN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kumimoji="1" lang="en-US" altLang="zh-CN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l-GR" altLang="zh-CN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⊨</m:t>
                        </m:r>
                      </m:e>
                      <m:sub>
                        <m:r>
                          <a:rPr kumimoji="1" lang="en-US" altLang="zh-CN" sz="2400" i="1">
                            <a:latin typeface="Cambria Math" panose="02040503050406030204" pitchFamily="18" charset="0"/>
                          </a:rPr>
                          <m:t>𝑉</m:t>
                        </m:r>
                      </m:sub>
                      <m:sup>
                        <m:r>
                          <a:rPr kumimoji="1" lang="en-US" altLang="zh-CN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ℳ</m:t>
                        </m:r>
                      </m:sup>
                    </m:sSubSup>
                  </m:oMath>
                </a14:m>
                <a:r>
                  <a:rPr kumimoji="1" lang="en-US" altLang="zh-CN" sz="2400" i="1" dirty="0">
                    <a:latin typeface="Cambria Math" panose="02040503050406030204" pitchFamily="18" charset="0"/>
                  </a:rPr>
                  <a:t>P</a:t>
                </a:r>
                <a:r>
                  <a:rPr kumimoji="1" lang="en-US" altLang="zh-CN" sz="2400" dirty="0"/>
                  <a:t>)</a:t>
                </a:r>
                <a14:m>
                  <m:oMath xmlns:m="http://schemas.openxmlformats.org/officeDocument/2006/math">
                    <m:r>
                      <a:rPr kumimoji="1" lang="zh-CN" alt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zh-CN" altLang="en-US" sz="2400" i="1">
                        <a:latin typeface="Cambria Math" panose="02040503050406030204" pitchFamily="18" charset="0"/>
                      </a:rPr>
                      <m:t>→</m:t>
                    </m:r>
                    <m:sSubSup>
                      <m:sSubSupPr>
                        <m:ctrlPr>
                          <a:rPr kumimoji="1" lang="en-US" altLang="zh-CN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kumimoji="1" lang="en-US" altLang="zh-CN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l-GR" altLang="zh-CN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⊨</m:t>
                        </m:r>
                      </m:e>
                      <m:sub>
                        <m:r>
                          <a:rPr kumimoji="1" lang="en-US" altLang="zh-CN" sz="2400" i="1">
                            <a:latin typeface="Cambria Math" panose="02040503050406030204" pitchFamily="18" charset="0"/>
                          </a:rPr>
                          <m:t>𝑉</m:t>
                        </m:r>
                      </m:sub>
                      <m:sup>
                        <m:r>
                          <a:rPr kumimoji="1" lang="en-US" altLang="zh-CN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ℳ</m:t>
                        </m:r>
                      </m:sup>
                    </m:sSubSup>
                  </m:oMath>
                </a14:m>
                <a:r>
                  <a:rPr kumimoji="1" lang="en-US" altLang="zh-CN" sz="2400" i="1" dirty="0">
                    <a:latin typeface="Cambria Math" panose="02040503050406030204" pitchFamily="18" charset="0"/>
                  </a:rPr>
                  <a:t>P</a:t>
                </a:r>
                <a:r>
                  <a:rPr kumimoji="1" lang="zh-CN" altLang="en-US" sz="2400" i="1" dirty="0">
                    <a:latin typeface="Cambria Math" panose="02040503050406030204" pitchFamily="18" charset="0"/>
                  </a:rPr>
                  <a:t> </a:t>
                </a:r>
                <a:r>
                  <a:rPr kumimoji="1" lang="en-US" altLang="zh-CN" sz="2400" i="1" dirty="0">
                    <a:latin typeface="Cambria Math" panose="02040503050406030204" pitchFamily="18" charset="0"/>
                  </a:rPr>
                  <a:t>)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kumimoji="1" lang="en-US" altLang="zh-CN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kumimoji="1" lang="el-GR" altLang="zh-CN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⊨</m:t>
                        </m:r>
                      </m:e>
                      <m:sub>
                        <m:r>
                          <a:rPr kumimoji="1" lang="en-US" altLang="zh-CN" sz="2400" i="1">
                            <a:latin typeface="Cambria Math" panose="02040503050406030204" pitchFamily="18" charset="0"/>
                          </a:rPr>
                          <m:t>𝑉</m:t>
                        </m:r>
                      </m:sub>
                      <m:sup>
                        <m:r>
                          <a:rPr kumimoji="1" lang="en-US" altLang="zh-CN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ℳ</m:t>
                        </m:r>
                      </m:sup>
                    </m:sSubSup>
                    <m:r>
                      <a:rPr kumimoji="1"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  <m:r>
                      <m:rPr>
                        <m:nor/>
                      </m:rPr>
                      <a:rPr kumimoji="1" lang="en-US" altLang="zh-CN" sz="2400" i="1" dirty="0"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r>
                  <a:rPr kumimoji="1" lang="zh-CN" altLang="en-US" sz="2400" i="1" dirty="0">
                    <a:latin typeface="Cambria Math" panose="02040503050406030204" pitchFamily="18" charset="0"/>
                  </a:rPr>
                  <a:t>                  </a:t>
                </a:r>
                <a:r>
                  <a:rPr kumimoji="1" lang="en-US" altLang="zh-CN" sz="2400" dirty="0">
                    <a:latin typeface="Cambria Math" panose="02040503050406030204" pitchFamily="18" charset="0"/>
                  </a:rPr>
                  <a:t>=</a:t>
                </a:r>
                <a:r>
                  <a:rPr kumimoji="1" lang="en-US" altLang="zh-CN" sz="2400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 </m:t>
                    </m:r>
                    <m:sSubSup>
                      <m:sSubSupPr>
                        <m:ctrlPr>
                          <a:rPr kumimoji="1" lang="en-US" altLang="zh-CN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kumimoji="1" lang="en-US" altLang="zh-CN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l-GR" altLang="zh-CN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⊨</m:t>
                        </m:r>
                      </m:e>
                      <m:sub>
                        <m:r>
                          <a:rPr kumimoji="1" lang="en-US" altLang="zh-CN" sz="2400" i="1">
                            <a:latin typeface="Cambria Math" panose="02040503050406030204" pitchFamily="18" charset="0"/>
                          </a:rPr>
                          <m:t>𝑉</m:t>
                        </m:r>
                      </m:sub>
                      <m:sup>
                        <m:r>
                          <a:rPr kumimoji="1" lang="en-US" altLang="zh-CN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ℳ</m:t>
                        </m:r>
                      </m:sup>
                    </m:sSubSup>
                  </m:oMath>
                </a14:m>
                <a:r>
                  <a:rPr kumimoji="1" lang="en-US" altLang="zh-CN" sz="2400" i="1" dirty="0">
                    <a:latin typeface="Cambria Math" panose="02040503050406030204" pitchFamily="18" charset="0"/>
                  </a:rPr>
                  <a:t>P</a:t>
                </a:r>
                <a:r>
                  <a:rPr kumimoji="1" lang="en-US" altLang="zh-CN" sz="2400" dirty="0"/>
                  <a:t>)</a:t>
                </a:r>
                <a:endParaRPr kumimoji="1" lang="en-US" altLang="zh-CN" sz="24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kumimoji="1" lang="en-US" altLang="zh-CN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kumimoji="1" lang="el-GR" altLang="zh-CN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⊨</m:t>
                        </m:r>
                      </m:e>
                      <m:sub>
                        <m:r>
                          <a:rPr kumimoji="1" lang="en-US" altLang="zh-CN" sz="2400" i="1">
                            <a:latin typeface="Cambria Math" panose="02040503050406030204" pitchFamily="18" charset="0"/>
                          </a:rPr>
                          <m:t>𝑉</m:t>
                        </m:r>
                      </m:sub>
                      <m:sup>
                        <m:r>
                          <a:rPr kumimoji="1" lang="en-US" altLang="zh-CN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ℳ</m:t>
                        </m:r>
                      </m:sup>
                    </m:sSubSup>
                    <m:r>
                      <a:rPr kumimoji="1" lang="en-US" altLang="zh-CN" sz="2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kumimoji="1" lang="en-US" altLang="zh-CN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kumimoji="1" lang="en-US" altLang="zh-CN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kumimoji="1" lang="en-US" altLang="zh-CN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kumimoji="1" lang="zh-CN" altLang="en-US" sz="2400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            </a:t>
                </a:r>
                <a:r>
                  <a:rPr kumimoji="1" lang="zh-CN" altLang="en-US" sz="24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kumimoji="1" lang="en-US" altLang="zh-CN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=</a:t>
                </a:r>
                <a:r>
                  <a:rPr kumimoji="1" lang="en-US" altLang="zh-CN" sz="2400" i="1" dirty="0">
                    <a:latin typeface="Cambria Math" panose="02040503050406030204" pitchFamily="18" charset="0"/>
                  </a:rPr>
                  <a:t>P</a:t>
                </a:r>
                <a:r>
                  <a:rPr kumimoji="1" lang="en-US" altLang="zh-CN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kumimoji="1"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kumimoji="1"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r>
                      <m:rPr>
                        <m:sty m:val="p"/>
                      </m:rPr>
                      <a:rPr kumimoji="1" lang="en-US" altLang="zh-CN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c</m:t>
                    </m:r>
                    <m:r>
                      <a:rPr kumimoji="1"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kumimoji="1" lang="zh-CN" altLang="en-US" sz="24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    </a:t>
                </a:r>
                <a:r>
                  <a:rPr kumimoji="1" lang="en-US" altLang="zh-CN" sz="24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for</a:t>
                </a:r>
                <a:r>
                  <a:rPr kumimoji="1" lang="zh-CN" altLang="en-US" sz="24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kumimoji="1" lang="en-US" altLang="zh-CN" sz="24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all</a:t>
                </a:r>
                <a:r>
                  <a:rPr kumimoji="1" lang="zh-CN" altLang="en-US" sz="24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kumimoji="1" lang="en-US" altLang="zh-CN" sz="24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c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kumimoji="1" lang="en-US" altLang="zh-CN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kumimoji="1" lang="el-GR" altLang="zh-CN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⊨</m:t>
                        </m:r>
                      </m:e>
                      <m:sub>
                        <m:r>
                          <a:rPr kumimoji="1" lang="en-US" altLang="zh-CN" sz="2400" i="1">
                            <a:latin typeface="Cambria Math" panose="02040503050406030204" pitchFamily="18" charset="0"/>
                          </a:rPr>
                          <m:t>𝑉</m:t>
                        </m:r>
                      </m:sub>
                      <m:sup>
                        <m:r>
                          <a:rPr kumimoji="1" lang="en-US" altLang="zh-CN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ℳ</m:t>
                        </m:r>
                      </m:sup>
                    </m:sSubSup>
                    <m:r>
                      <a:rPr kumimoji="1" lang="en-US" altLang="zh-CN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  <m:r>
                      <a:rPr kumimoji="1" lang="en-US" altLang="zh-CN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kumimoji="1" lang="en-US" altLang="zh-CN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m:rPr>
                        <m:nor/>
                      </m:rPr>
                      <a:rPr kumimoji="1" lang="en-US" altLang="zh-CN" sz="2400" i="1" dirty="0"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r>
                  <a:rPr kumimoji="1" lang="zh-CN" altLang="en-US" sz="2400" dirty="0"/>
                  <a:t>          </a:t>
                </a:r>
                <a:r>
                  <a:rPr kumimoji="1" lang="en-US" altLang="zh-CN" sz="2400" dirty="0"/>
                  <a:t>=</a:t>
                </a:r>
                <a:r>
                  <a:rPr kumimoji="1" lang="en-US" altLang="zh-CN" sz="2400" i="1" dirty="0">
                    <a:latin typeface="Cambria Math" panose="02040503050406030204" pitchFamily="18" charset="0"/>
                  </a:rPr>
                  <a:t>P</a:t>
                </a:r>
                <a:r>
                  <a:rPr kumimoji="1" lang="en-US" altLang="zh-CN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kumimoji="1"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kumimoji="1"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r>
                      <m:rPr>
                        <m:sty m:val="p"/>
                      </m:rPr>
                      <a:rPr kumimoji="1" lang="en-US" altLang="zh-CN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c</m:t>
                    </m:r>
                    <m:r>
                      <a:rPr kumimoji="1"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kumimoji="1" lang="zh-CN" alt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    </a:t>
                </a:r>
                <a:r>
                  <a:rPr kumimoji="1" lang="en-US" altLang="zh-CN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for</a:t>
                </a:r>
                <a:r>
                  <a:rPr kumimoji="1" lang="zh-CN" alt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kumimoji="1" lang="en-US" altLang="zh-CN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some</a:t>
                </a:r>
                <a:r>
                  <a:rPr kumimoji="1" lang="zh-CN" alt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kumimoji="1" lang="en-US" altLang="zh-CN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c</a:t>
                </a:r>
              </a:p>
            </p:txBody>
          </p:sp>
        </mc:Choice>
        <mc:Fallback xmlns="">
          <p:sp>
            <p:nvSpPr>
              <p:cNvPr id="8" name="内容占位符 2">
                <a:extLst>
                  <a:ext uri="{FF2B5EF4-FFF2-40B4-BE49-F238E27FC236}">
                    <a16:creationId xmlns:a16="http://schemas.microsoft.com/office/drawing/2014/main" id="{476C358B-5243-5E43-A469-EDADD766D3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57400"/>
                <a:ext cx="5867400" cy="4114800"/>
              </a:xfrm>
              <a:blipFill>
                <a:blip r:embed="rId2"/>
                <a:stretch>
                  <a:fillRect t="-923" b="-430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397727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22B1687-FD96-8647-B68F-E94971DD9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Validity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26628001-60D0-6E4D-B3E9-D35DC4AB03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kumimoji="1" lang="en-US" altLang="zh-CN" dirty="0"/>
                  <a:t>If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for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any</a:t>
                </a:r>
                <a:r>
                  <a:rPr kumimoji="1" lang="zh-CN" altLang="en-US" dirty="0">
                    <a:solidFill>
                      <a:srgbClr val="0432FF"/>
                    </a:solidFill>
                  </a:rPr>
                  <a:t> </a:t>
                </a:r>
                <a:r>
                  <a:rPr kumimoji="1" lang="en-US" altLang="zh-CN" dirty="0"/>
                  <a:t>interpretation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V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and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any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model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ℳ</a:t>
                </a:r>
                <a:r>
                  <a:rPr kumimoji="1" lang="en-US" altLang="zh-CN" dirty="0"/>
                  <a:t>,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we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have: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kumimoji="1" lang="en-US" altLang="zh-CN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kumimoji="1" lang="el-GR" altLang="zh-CN" i="1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⊨</m:t>
                        </m:r>
                      </m:e>
                      <m:sub>
                        <m:r>
                          <a:rPr kumimoji="1" lang="en-US" altLang="zh-CN" i="1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sub>
                      <m:sup>
                        <m:r>
                          <a:rPr kumimoji="1" lang="en-US" altLang="zh-CN" i="1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ℳ</m:t>
                        </m:r>
                      </m:sup>
                    </m:sSubSup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1" lang="en-US" altLang="zh-CN" dirty="0">
                    <a:solidFill>
                      <a:srgbClr val="0432FF"/>
                    </a:solidFill>
                  </a:rPr>
                  <a:t>P </a:t>
                </a:r>
              </a:p>
              <a:p>
                <a:pPr marL="0" indent="0">
                  <a:buNone/>
                </a:pPr>
                <a:r>
                  <a:rPr kumimoji="1" lang="en-US" altLang="zh-CN" dirty="0"/>
                  <a:t>Then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P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is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valid,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simply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write: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kumimoji="1" lang="el-GR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⊨ </m:t>
                    </m:r>
                  </m:oMath>
                </a14:m>
                <a:r>
                  <a:rPr kumimoji="1" lang="en-US" altLang="zh-CN" dirty="0">
                    <a:solidFill>
                      <a:srgbClr val="0432FF"/>
                    </a:solidFill>
                  </a:rPr>
                  <a:t>P</a:t>
                </a:r>
              </a:p>
              <a:p>
                <a:pPr marL="0" indent="0">
                  <a:buNone/>
                </a:pPr>
                <a:r>
                  <a:rPr kumimoji="1" lang="en-US" altLang="zh-CN" dirty="0"/>
                  <a:t>Can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be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generalized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to: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1" lang="el-GR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  <m:r>
                      <a:rPr kumimoji="1" lang="el-GR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⊨ </m:t>
                    </m:r>
                  </m:oMath>
                </a14:m>
                <a:r>
                  <a:rPr kumimoji="1" lang="en-US" altLang="zh-CN" dirty="0">
                    <a:solidFill>
                      <a:srgbClr val="0432FF"/>
                    </a:solidFill>
                  </a:rPr>
                  <a:t>P</a:t>
                </a:r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26628001-60D0-6E4D-B3E9-D35DC4AB03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94" t="-1846" b="-246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137077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64FBD2D-42C9-6B4A-B091-D6E94AF8E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Remarks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85517318-6343-D044-8F6A-2C7F7912B6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kumimoji="1" lang="en-US" altLang="zh-CN" dirty="0"/>
                  <a:t>From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computation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point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of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view,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the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validity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is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hard,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if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not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impossible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to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check</a:t>
                </a:r>
              </a:p>
              <a:p>
                <a:pPr lvl="1"/>
                <a:r>
                  <a:rPr kumimoji="1" lang="en-US" altLang="zh-CN" dirty="0"/>
                  <a:t>There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may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be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infinite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models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 ℳ</a:t>
                </a:r>
                <a:endParaRPr kumimoji="1" lang="en-US" altLang="zh-CN" dirty="0"/>
              </a:p>
              <a:p>
                <a:pPr lvl="1"/>
                <a:r>
                  <a:rPr kumimoji="1" lang="en-US" altLang="zh-CN" dirty="0"/>
                  <a:t>There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may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be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infinite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valuations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V</a:t>
                </a:r>
              </a:p>
              <a:p>
                <a:pPr lvl="1"/>
                <a:r>
                  <a:rPr kumimoji="1" lang="en-US" altLang="zh-CN" dirty="0"/>
                  <a:t>Even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for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single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model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ℳ</a:t>
                </a:r>
                <a:r>
                  <a:rPr kumimoji="1" lang="en-US" altLang="zh-CN" dirty="0"/>
                  <a:t>,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there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may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be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infinite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elements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for</a:t>
                </a:r>
                <a:r>
                  <a:rPr kumimoji="1" lang="zh-CN" altLang="en-US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i="1" dirty="0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</m:oMath>
                </a14:m>
                <a:endParaRPr kumimoji="1" lang="en-US" altLang="zh-CN" dirty="0">
                  <a:solidFill>
                    <a:srgbClr val="0432FF"/>
                  </a:solidFill>
                  <a:ea typeface="Cambria Math" panose="02040503050406030204" pitchFamily="18" charset="0"/>
                </a:endParaRPr>
              </a:p>
              <a:p>
                <a:r>
                  <a:rPr kumimoji="1" lang="en-US" altLang="zh-CN" dirty="0"/>
                  <a:t>We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have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more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to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say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in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future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lectures</a:t>
                </a:r>
                <a:endParaRPr kumimoji="1" lang="zh-CN" altLang="en-US" dirty="0"/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85517318-6343-D044-8F6A-2C7F7912B6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89" t="-1846" b="-430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28796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24F95CA-3FC8-384F-980D-3CBC5A2A8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Two</a:t>
            </a:r>
            <a:r>
              <a:rPr kumimoji="1" lang="zh-CN" altLang="en-US" dirty="0"/>
              <a:t> </a:t>
            </a:r>
            <a:r>
              <a:rPr kumimoji="1" lang="en-US" altLang="zh-CN" dirty="0"/>
              <a:t>notions</a:t>
            </a:r>
            <a:r>
              <a:rPr kumimoji="1" lang="zh-CN" altLang="en-US" dirty="0"/>
              <a:t> </a:t>
            </a:r>
            <a:r>
              <a:rPr kumimoji="1" lang="en-US" altLang="zh-CN" dirty="0"/>
              <a:t>of</a:t>
            </a:r>
            <a:r>
              <a:rPr kumimoji="1" lang="zh-CN" altLang="en-US" dirty="0"/>
              <a:t> </a:t>
            </a:r>
            <a:r>
              <a:rPr kumimoji="1" lang="en-US" altLang="zh-CN" dirty="0"/>
              <a:t>validity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21D3F8DB-4881-D64D-BFB2-2CCAFB64B2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kumimoji="1" lang="en-US" altLang="zh-CN" dirty="0"/>
                  <a:t>In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proof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theory,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we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carry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out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proofs: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1" lang="el-GR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  <m:r>
                      <a:rPr kumimoji="1" lang="el-GR" altLang="zh-CN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⊢</m:t>
                    </m:r>
                  </m:oMath>
                </a14:m>
                <a:r>
                  <a:rPr kumimoji="1" lang="zh-CN" altLang="en-US" i="1" dirty="0">
                    <a:latin typeface="Cambria Math" panose="02040503050406030204" pitchFamily="18" charset="0"/>
                  </a:rPr>
                  <a:t> 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P </a:t>
                </a:r>
              </a:p>
              <a:p>
                <a:pPr marL="0" indent="0">
                  <a:buNone/>
                </a:pPr>
                <a:r>
                  <a:rPr kumimoji="1" lang="en-US" altLang="zh-CN" dirty="0"/>
                  <a:t>In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model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theory,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we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do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computations: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1" lang="el-GR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  <m:r>
                      <a:rPr kumimoji="1" lang="el-GR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⊨</m:t>
                    </m:r>
                  </m:oMath>
                </a14:m>
                <a:r>
                  <a:rPr kumimoji="1" lang="zh-CN" altLang="en-US" dirty="0">
                    <a:solidFill>
                      <a:srgbClr val="0432FF"/>
                    </a:solidFill>
                  </a:rPr>
                  <a:t> 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P</a:t>
                </a:r>
              </a:p>
              <a:p>
                <a:r>
                  <a:rPr kumimoji="1" lang="en-US" altLang="zh-CN" dirty="0"/>
                  <a:t>It’s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natural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to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expect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that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they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both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are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coherent!</a:t>
                </a:r>
              </a:p>
              <a:p>
                <a:pPr lvl="1"/>
                <a:endParaRPr kumimoji="1" lang="en-US" altLang="zh-CN" dirty="0"/>
              </a:p>
              <a:p>
                <a:pPr marL="0" indent="0">
                  <a:buNone/>
                </a:pPr>
                <a:endParaRPr kumimoji="1" lang="en-US" altLang="zh-CN" dirty="0">
                  <a:solidFill>
                    <a:srgbClr val="0432FF"/>
                  </a:solidFill>
                </a:endParaRPr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21D3F8DB-4881-D64D-BFB2-2CCAFB64B2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94" t="-1846" r="-16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6370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E01EA8-AC32-3349-B989-7CF3DBF49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Soundness</a:t>
            </a:r>
            <a:r>
              <a:rPr kumimoji="1" lang="zh-CN" altLang="en-US" dirty="0"/>
              <a:t> </a:t>
            </a:r>
            <a:r>
              <a:rPr kumimoji="1" lang="en-US" altLang="zh-CN" dirty="0"/>
              <a:t>and</a:t>
            </a:r>
            <a:r>
              <a:rPr kumimoji="1" lang="zh-CN" altLang="en-US" dirty="0"/>
              <a:t> </a:t>
            </a:r>
            <a:r>
              <a:rPr kumimoji="1" lang="en-US" altLang="zh-CN" dirty="0"/>
              <a:t>completeness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BE4E6888-208F-1D4F-BEB4-A26C845C09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kumimoji="1" lang="en-US" altLang="zh-CN" dirty="0"/>
                  <a:t>Soundness: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1" lang="el-GR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  <m:r>
                      <a:rPr kumimoji="1" lang="el-GR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⊢</m:t>
                    </m:r>
                  </m:oMath>
                </a14:m>
                <a:r>
                  <a:rPr kumimoji="1" lang="zh-CN" altLang="en-US" i="1" dirty="0">
                    <a:latin typeface="Cambria Math" panose="02040503050406030204" pitchFamily="18" charset="0"/>
                  </a:rPr>
                  <a:t> 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P </a:t>
                </a:r>
                <a:r>
                  <a:rPr kumimoji="1" lang="zh-CN" altLang="en-US" dirty="0">
                    <a:solidFill>
                      <a:srgbClr val="0432FF"/>
                    </a:solidFill>
                  </a:rPr>
                  <a:t> 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=&gt;</a:t>
                </a:r>
                <a:r>
                  <a:rPr kumimoji="1" lang="zh-CN" altLang="en-US" dirty="0">
                    <a:solidFill>
                      <a:srgbClr val="0432FF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1" lang="el-GR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  <m:r>
                      <a:rPr kumimoji="1" lang="el-GR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⊨</m:t>
                    </m:r>
                  </m:oMath>
                </a14:m>
                <a:r>
                  <a:rPr kumimoji="1" lang="zh-CN" altLang="en-US" dirty="0">
                    <a:solidFill>
                      <a:srgbClr val="0432FF"/>
                    </a:solidFill>
                  </a:rPr>
                  <a:t> 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P</a:t>
                </a:r>
              </a:p>
              <a:p>
                <a:pPr marL="0" indent="0">
                  <a:buNone/>
                </a:pPr>
                <a:r>
                  <a:rPr kumimoji="1" lang="en-US" altLang="zh-CN" dirty="0"/>
                  <a:t>Completeness: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1" lang="el-GR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  <m:r>
                      <a:rPr kumimoji="1" lang="el-GR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⊨</m:t>
                    </m:r>
                    <m:r>
                      <m:rPr>
                        <m:nor/>
                      </m:rPr>
                      <a:rPr kumimoji="1" lang="zh-CN" altLang="en-US" dirty="0">
                        <a:solidFill>
                          <a:srgbClr val="0432FF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kumimoji="1" lang="en-US" altLang="zh-CN" dirty="0">
                        <a:solidFill>
                          <a:srgbClr val="0432FF"/>
                        </a:solidFill>
                      </a:rPr>
                      <m:t>P</m:t>
                    </m:r>
                    <m:r>
                      <a:rPr kumimoji="1" lang="en-US" altLang="zh-CN" b="0" i="1" dirty="0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</a:rPr>
                      <m:t>=&gt;</m:t>
                    </m:r>
                    <m:r>
                      <m:rPr>
                        <m:sty m:val="p"/>
                      </m:rPr>
                      <a:rPr kumimoji="1" lang="el-GR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  <m:r>
                      <a:rPr kumimoji="1" lang="el-GR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⊢</m:t>
                    </m:r>
                  </m:oMath>
                </a14:m>
                <a:r>
                  <a:rPr kumimoji="1" lang="zh-CN" altLang="en-US" i="1" dirty="0">
                    <a:latin typeface="Cambria Math" panose="02040503050406030204" pitchFamily="18" charset="0"/>
                  </a:rPr>
                  <a:t> 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P</a:t>
                </a:r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BE4E6888-208F-1D4F-BEB4-A26C845C09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94" t="-184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90360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24F61-E0F1-8230-E066-DAA769993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43656B-0524-8AE8-DB7E-023C457F7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 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F62AA88-CBB3-A5FC-EA71-D57252F199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en-US" altLang="zh-CN" dirty="0"/>
          </a:p>
          <a:p>
            <a:pPr marL="0" indent="0" algn="ctr">
              <a:buNone/>
            </a:pPr>
            <a:r>
              <a:rPr kumimoji="1" lang="en-US" altLang="zh-CN" i="1" dirty="0"/>
              <a:t>Encoding</a:t>
            </a:r>
            <a:r>
              <a:rPr kumimoji="1" lang="zh-CN" altLang="en-US" i="1" dirty="0"/>
              <a:t> </a:t>
            </a:r>
            <a:r>
              <a:rPr kumimoji="1" lang="en-US" altLang="zh-CN" i="1" dirty="0"/>
              <a:t>Predicate</a:t>
            </a:r>
            <a:r>
              <a:rPr kumimoji="1" lang="zh-CN" altLang="en-US" i="1" dirty="0"/>
              <a:t> </a:t>
            </a:r>
            <a:r>
              <a:rPr kumimoji="1" lang="en-US" altLang="zh-CN" i="1" dirty="0"/>
              <a:t>logic</a:t>
            </a:r>
            <a:r>
              <a:rPr kumimoji="1" lang="zh-CN" altLang="en-US" i="1" dirty="0"/>
              <a:t> </a:t>
            </a:r>
            <a:r>
              <a:rPr kumimoji="1" lang="en-US" altLang="zh-CN" i="1" dirty="0"/>
              <a:t>in</a:t>
            </a:r>
            <a:r>
              <a:rPr kumimoji="1" lang="zh-CN" altLang="en-US" i="1" dirty="0"/>
              <a:t> </a:t>
            </a:r>
            <a:r>
              <a:rPr kumimoji="1" lang="en-US" altLang="zh-CN" i="1" dirty="0"/>
              <a:t>Z3</a:t>
            </a:r>
          </a:p>
        </p:txBody>
      </p:sp>
    </p:spTree>
    <p:extLst>
      <p:ext uri="{BB962C8B-B14F-4D97-AF65-F5344CB8AC3E}">
        <p14:creationId xmlns:p14="http://schemas.microsoft.com/office/powerpoint/2010/main" val="146138881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2BC32-6BD4-AE57-72E7-85555C9EB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CAA493-5762-A559-ACD4-D43FAE369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Key</a:t>
            </a:r>
            <a:r>
              <a:rPr kumimoji="1" lang="zh-CN" altLang="en-US" dirty="0"/>
              <a:t> </a:t>
            </a:r>
            <a:r>
              <a:rPr kumimoji="1" lang="en-US" altLang="zh-CN" dirty="0"/>
              <a:t>steps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D2806A3-D990-A471-01CB-DCD0084C2C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sz="2400" dirty="0"/>
              <a:t>#1:</a:t>
            </a:r>
            <a:r>
              <a:rPr kumimoji="1" lang="zh-CN" altLang="en-US" sz="2400" dirty="0"/>
              <a:t> </a:t>
            </a:r>
            <a:r>
              <a:rPr kumimoji="1" lang="en-US" altLang="zh-CN" sz="2400" dirty="0"/>
              <a:t>create</a:t>
            </a:r>
            <a:r>
              <a:rPr kumimoji="1" lang="zh-CN" altLang="en-US" sz="2400" dirty="0"/>
              <a:t> </a:t>
            </a:r>
            <a:r>
              <a:rPr kumimoji="1" lang="en-US" altLang="zh-CN" sz="2400" dirty="0"/>
              <a:t>target</a:t>
            </a:r>
            <a:r>
              <a:rPr kumimoji="1" lang="zh-CN" altLang="en-US" sz="2400" dirty="0"/>
              <a:t> </a:t>
            </a:r>
            <a:r>
              <a:rPr kumimoji="1" lang="en-US" altLang="zh-CN" sz="2400" dirty="0"/>
              <a:t>domains</a:t>
            </a:r>
          </a:p>
          <a:p>
            <a:pPr lvl="1"/>
            <a:r>
              <a:rPr kumimoji="1" lang="en-US" altLang="zh-CN" sz="2000" dirty="0"/>
              <a:t>using</a:t>
            </a:r>
            <a:r>
              <a:rPr kumimoji="1" lang="zh-CN" altLang="en-US" sz="2000" dirty="0">
                <a:solidFill>
                  <a:srgbClr val="0432FF"/>
                </a:solidFill>
              </a:rPr>
              <a:t> </a:t>
            </a:r>
            <a:r>
              <a:rPr kumimoji="1" lang="en-US" altLang="zh-CN" sz="2000" dirty="0">
                <a:solidFill>
                  <a:srgbClr val="0432FF"/>
                </a:solidFill>
              </a:rPr>
              <a:t>“sort” </a:t>
            </a:r>
          </a:p>
          <a:p>
            <a:pPr lvl="1"/>
            <a:r>
              <a:rPr kumimoji="1" lang="en-US" altLang="zh-CN" sz="2000" dirty="0"/>
              <a:t>e.g.,</a:t>
            </a:r>
            <a:r>
              <a:rPr kumimoji="1" lang="zh-CN" altLang="en-US" sz="2000" dirty="0"/>
              <a:t> </a:t>
            </a:r>
            <a:r>
              <a:rPr kumimoji="1" lang="en-US" altLang="zh-CN" sz="2000" dirty="0"/>
              <a:t>to</a:t>
            </a:r>
            <a:r>
              <a:rPr kumimoji="1" lang="zh-CN" altLang="en-US" sz="2000" dirty="0"/>
              <a:t> </a:t>
            </a:r>
            <a:r>
              <a:rPr kumimoji="1" lang="en-US" altLang="zh-CN" sz="2000" dirty="0"/>
              <a:t>represent</a:t>
            </a:r>
            <a:r>
              <a:rPr kumimoji="1" lang="zh-CN" altLang="en-US" sz="2000" dirty="0"/>
              <a:t> </a:t>
            </a:r>
            <a:r>
              <a:rPr kumimoji="1" lang="en-US" altLang="zh-CN" sz="2000" dirty="0"/>
              <a:t>“person”:</a:t>
            </a:r>
          </a:p>
          <a:p>
            <a:pPr lvl="2"/>
            <a:r>
              <a:rPr kumimoji="1" lang="en-US" altLang="zh-CN" sz="2000" dirty="0" err="1">
                <a:solidFill>
                  <a:srgbClr val="0432FF"/>
                </a:solidFill>
              </a:rPr>
              <a:t>person_sort</a:t>
            </a:r>
            <a:r>
              <a:rPr kumimoji="1" lang="zh-CN" altLang="en-US" sz="2000" dirty="0">
                <a:solidFill>
                  <a:srgbClr val="0432FF"/>
                </a:solidFill>
              </a:rPr>
              <a:t> </a:t>
            </a:r>
            <a:r>
              <a:rPr kumimoji="1" lang="en-US" altLang="zh-CN" sz="2000" dirty="0">
                <a:solidFill>
                  <a:srgbClr val="0432FF"/>
                </a:solidFill>
              </a:rPr>
              <a:t>=</a:t>
            </a:r>
            <a:r>
              <a:rPr kumimoji="1" lang="zh-CN" altLang="en-US" sz="2000" dirty="0">
                <a:solidFill>
                  <a:srgbClr val="0432FF"/>
                </a:solidFill>
              </a:rPr>
              <a:t> </a:t>
            </a:r>
            <a:r>
              <a:rPr kumimoji="1" lang="en-US" altLang="zh-CN" sz="2000" dirty="0" err="1">
                <a:solidFill>
                  <a:srgbClr val="0432FF"/>
                </a:solidFill>
              </a:rPr>
              <a:t>DeclareSort</a:t>
            </a:r>
            <a:r>
              <a:rPr kumimoji="1" lang="en-US" altLang="zh-CN" sz="2000" dirty="0">
                <a:solidFill>
                  <a:srgbClr val="0432FF"/>
                </a:solidFill>
              </a:rPr>
              <a:t>(“</a:t>
            </a:r>
            <a:r>
              <a:rPr kumimoji="1" lang="en-US" altLang="zh-CN" sz="2000" dirty="0" err="1">
                <a:solidFill>
                  <a:srgbClr val="0432FF"/>
                </a:solidFill>
              </a:rPr>
              <a:t>person_sort</a:t>
            </a:r>
            <a:r>
              <a:rPr kumimoji="1" lang="en-US" altLang="zh-CN" sz="2000" dirty="0">
                <a:solidFill>
                  <a:srgbClr val="0432FF"/>
                </a:solidFill>
              </a:rPr>
              <a:t>”)</a:t>
            </a:r>
          </a:p>
          <a:p>
            <a:r>
              <a:rPr kumimoji="1" lang="en-US" altLang="zh-CN" sz="2400" dirty="0"/>
              <a:t>#2:</a:t>
            </a:r>
            <a:r>
              <a:rPr kumimoji="1" lang="zh-CN" altLang="en-US" sz="2400" dirty="0"/>
              <a:t> </a:t>
            </a:r>
            <a:r>
              <a:rPr kumimoji="1" lang="en-US" altLang="zh-CN" sz="2400" dirty="0"/>
              <a:t>declare</a:t>
            </a:r>
            <a:r>
              <a:rPr kumimoji="1" lang="zh-CN" altLang="en-US" sz="2400" dirty="0"/>
              <a:t> </a:t>
            </a:r>
            <a:r>
              <a:rPr kumimoji="1" lang="en-US" altLang="zh-CN" sz="2400" dirty="0"/>
              <a:t>variables</a:t>
            </a:r>
            <a:r>
              <a:rPr kumimoji="1" lang="zh-CN" altLang="en-US" sz="2400" dirty="0"/>
              <a:t> </a:t>
            </a:r>
            <a:r>
              <a:rPr kumimoji="1" lang="en-US" altLang="zh-CN" sz="2400" dirty="0"/>
              <a:t>and</a:t>
            </a:r>
            <a:r>
              <a:rPr kumimoji="1" lang="zh-CN" altLang="en-US" sz="2400" dirty="0"/>
              <a:t> </a:t>
            </a:r>
            <a:r>
              <a:rPr kumimoji="1" lang="en-US" altLang="zh-CN" sz="2400" dirty="0"/>
              <a:t>functions</a:t>
            </a:r>
            <a:r>
              <a:rPr kumimoji="1" lang="zh-CN" altLang="en-US" sz="2400" dirty="0"/>
              <a:t> </a:t>
            </a:r>
            <a:r>
              <a:rPr kumimoji="1" lang="en-US" altLang="zh-CN" sz="2400" dirty="0" err="1"/>
              <a:t>w.r.t.</a:t>
            </a:r>
            <a:r>
              <a:rPr kumimoji="1" lang="zh-CN" altLang="en-US" sz="2400" dirty="0"/>
              <a:t> </a:t>
            </a:r>
            <a:r>
              <a:rPr kumimoji="1" lang="en-US" altLang="zh-CN" sz="2400" dirty="0"/>
              <a:t>"sort”</a:t>
            </a:r>
          </a:p>
          <a:p>
            <a:pPr lvl="1"/>
            <a:r>
              <a:rPr kumimoji="1" lang="en-US" altLang="zh-CN" sz="2000" dirty="0"/>
              <a:t>note</a:t>
            </a:r>
            <a:r>
              <a:rPr kumimoji="1" lang="zh-CN" altLang="en-US" sz="2000" dirty="0"/>
              <a:t> </a:t>
            </a:r>
            <a:r>
              <a:rPr kumimoji="1" lang="en-US" altLang="zh-CN" sz="2000" dirty="0"/>
              <a:t>that</a:t>
            </a:r>
            <a:r>
              <a:rPr kumimoji="1" lang="zh-CN" altLang="en-US" sz="2000" dirty="0"/>
              <a:t> </a:t>
            </a:r>
            <a:r>
              <a:rPr kumimoji="1" lang="en-US" altLang="zh-CN" sz="2000" dirty="0"/>
              <a:t>Z3</a:t>
            </a:r>
            <a:r>
              <a:rPr kumimoji="1" lang="zh-CN" altLang="en-US" sz="2000" dirty="0"/>
              <a:t> </a:t>
            </a:r>
            <a:r>
              <a:rPr kumimoji="1" lang="en-US" altLang="zh-CN" sz="2000" dirty="0"/>
              <a:t>treats</a:t>
            </a:r>
            <a:r>
              <a:rPr kumimoji="1" lang="zh-CN" altLang="en-US" sz="2000" dirty="0"/>
              <a:t> </a:t>
            </a:r>
            <a:r>
              <a:rPr kumimoji="1" lang="en-US" altLang="zh-CN" sz="2000" dirty="0"/>
              <a:t>predicates</a:t>
            </a:r>
            <a:r>
              <a:rPr kumimoji="1" lang="zh-CN" altLang="en-US" sz="2000" dirty="0"/>
              <a:t> </a:t>
            </a:r>
            <a:r>
              <a:rPr kumimoji="1" lang="en-US" altLang="zh-CN" sz="2000" dirty="0"/>
              <a:t>as</a:t>
            </a:r>
            <a:r>
              <a:rPr kumimoji="1" lang="zh-CN" altLang="en-US" sz="2000" dirty="0"/>
              <a:t> </a:t>
            </a:r>
            <a:r>
              <a:rPr kumimoji="1" lang="en-US" altLang="zh-CN" sz="2000" dirty="0"/>
              <a:t>bool-valued</a:t>
            </a:r>
            <a:r>
              <a:rPr kumimoji="1" lang="zh-CN" altLang="en-US" sz="2000" dirty="0"/>
              <a:t> </a:t>
            </a:r>
            <a:r>
              <a:rPr kumimoji="1" lang="en-US" altLang="zh-CN" sz="2000" dirty="0"/>
              <a:t>functions</a:t>
            </a:r>
          </a:p>
          <a:p>
            <a:pPr lvl="1"/>
            <a:r>
              <a:rPr kumimoji="1" lang="en-US" altLang="zh-CN" sz="2000" dirty="0"/>
              <a:t>e.g.,</a:t>
            </a:r>
            <a:r>
              <a:rPr kumimoji="1" lang="zh-CN" altLang="en-US" sz="2000" dirty="0"/>
              <a:t> </a:t>
            </a:r>
            <a:r>
              <a:rPr kumimoji="1" lang="en-US" altLang="zh-CN" sz="2000" dirty="0"/>
              <a:t>“a</a:t>
            </a:r>
            <a:r>
              <a:rPr kumimoji="1" lang="zh-CN" altLang="en-US" sz="2000" dirty="0"/>
              <a:t> </a:t>
            </a:r>
            <a:r>
              <a:rPr kumimoji="1" lang="en-US" altLang="zh-CN" sz="2000" dirty="0"/>
              <a:t>person</a:t>
            </a:r>
            <a:r>
              <a:rPr kumimoji="1" lang="zh-CN" altLang="en-US" sz="2000" dirty="0"/>
              <a:t> </a:t>
            </a:r>
            <a:r>
              <a:rPr kumimoji="1" lang="en-US" altLang="zh-CN" sz="2000" dirty="0"/>
              <a:t>named</a:t>
            </a:r>
            <a:r>
              <a:rPr kumimoji="1" lang="zh-CN" altLang="en-US" sz="2000"/>
              <a:t> </a:t>
            </a:r>
            <a:r>
              <a:rPr kumimoji="1" lang="en-US" altLang="zh-CN" sz="2000"/>
              <a:t>zhangsan</a:t>
            </a:r>
            <a:r>
              <a:rPr kumimoji="1" lang="en-US" altLang="zh-CN" sz="2000" dirty="0"/>
              <a:t>”:</a:t>
            </a:r>
          </a:p>
          <a:p>
            <a:pPr lvl="2"/>
            <a:r>
              <a:rPr kumimoji="1" lang="en-US" altLang="zh-CN" sz="2000" dirty="0" err="1">
                <a:solidFill>
                  <a:srgbClr val="0432FF"/>
                </a:solidFill>
              </a:rPr>
              <a:t>zhangsan</a:t>
            </a:r>
            <a:r>
              <a:rPr kumimoji="1" lang="zh-CN" altLang="en-US" sz="2000" dirty="0">
                <a:solidFill>
                  <a:srgbClr val="0432FF"/>
                </a:solidFill>
              </a:rPr>
              <a:t> </a:t>
            </a:r>
            <a:r>
              <a:rPr kumimoji="1" lang="en-US" altLang="zh-CN" sz="2000" dirty="0">
                <a:solidFill>
                  <a:srgbClr val="0432FF"/>
                </a:solidFill>
              </a:rPr>
              <a:t>=</a:t>
            </a:r>
            <a:r>
              <a:rPr kumimoji="1" lang="zh-CN" altLang="en-US" sz="2000" dirty="0">
                <a:solidFill>
                  <a:srgbClr val="0432FF"/>
                </a:solidFill>
              </a:rPr>
              <a:t> </a:t>
            </a:r>
            <a:r>
              <a:rPr kumimoji="1" lang="en-US" altLang="zh-CN" sz="2000" dirty="0">
                <a:solidFill>
                  <a:srgbClr val="0432FF"/>
                </a:solidFill>
              </a:rPr>
              <a:t>Const(“</a:t>
            </a:r>
            <a:r>
              <a:rPr kumimoji="1" lang="en-US" altLang="zh-CN" sz="2000" dirty="0" err="1">
                <a:solidFill>
                  <a:srgbClr val="0432FF"/>
                </a:solidFill>
              </a:rPr>
              <a:t>zhangsan</a:t>
            </a:r>
            <a:r>
              <a:rPr kumimoji="1" lang="en-US" altLang="zh-CN" sz="2000" dirty="0">
                <a:solidFill>
                  <a:srgbClr val="0432FF"/>
                </a:solidFill>
              </a:rPr>
              <a:t>”,</a:t>
            </a:r>
            <a:r>
              <a:rPr kumimoji="1" lang="zh-CN" altLang="en-US" sz="2000" dirty="0">
                <a:solidFill>
                  <a:srgbClr val="0432FF"/>
                </a:solidFill>
              </a:rPr>
              <a:t> </a:t>
            </a:r>
            <a:r>
              <a:rPr kumimoji="1" lang="en-US" altLang="zh-CN" sz="2000" dirty="0" err="1">
                <a:solidFill>
                  <a:srgbClr val="0432FF"/>
                </a:solidFill>
              </a:rPr>
              <a:t>person_sort</a:t>
            </a:r>
            <a:r>
              <a:rPr kumimoji="1" lang="en-US" altLang="zh-CN" sz="2000" dirty="0">
                <a:solidFill>
                  <a:srgbClr val="0432FF"/>
                </a:solidFill>
              </a:rPr>
              <a:t>)</a:t>
            </a:r>
          </a:p>
          <a:p>
            <a:pPr lvl="2"/>
            <a:r>
              <a:rPr kumimoji="1" lang="en-US" altLang="zh-CN" sz="2000" dirty="0" err="1">
                <a:solidFill>
                  <a:srgbClr val="0432FF"/>
                </a:solidFill>
              </a:rPr>
              <a:t>is_student</a:t>
            </a:r>
            <a:r>
              <a:rPr kumimoji="1" lang="zh-CN" altLang="en-US" sz="2000" dirty="0">
                <a:solidFill>
                  <a:srgbClr val="0432FF"/>
                </a:solidFill>
              </a:rPr>
              <a:t> </a:t>
            </a:r>
            <a:r>
              <a:rPr kumimoji="1" lang="en-US" altLang="zh-CN" sz="2000" dirty="0">
                <a:solidFill>
                  <a:srgbClr val="0432FF"/>
                </a:solidFill>
              </a:rPr>
              <a:t>=</a:t>
            </a:r>
            <a:r>
              <a:rPr kumimoji="1" lang="zh-CN" altLang="en-US" sz="2000" dirty="0">
                <a:solidFill>
                  <a:srgbClr val="0432FF"/>
                </a:solidFill>
              </a:rPr>
              <a:t> </a:t>
            </a:r>
            <a:r>
              <a:rPr kumimoji="1" lang="en-US" altLang="zh-CN" sz="2000" dirty="0">
                <a:solidFill>
                  <a:srgbClr val="0432FF"/>
                </a:solidFill>
              </a:rPr>
              <a:t>Function(”</a:t>
            </a:r>
            <a:r>
              <a:rPr kumimoji="1" lang="en-US" altLang="zh-CN" sz="2000" dirty="0" err="1">
                <a:solidFill>
                  <a:srgbClr val="0432FF"/>
                </a:solidFill>
              </a:rPr>
              <a:t>is_student</a:t>
            </a:r>
            <a:r>
              <a:rPr kumimoji="1" lang="en-US" altLang="zh-CN" sz="2000" dirty="0">
                <a:solidFill>
                  <a:srgbClr val="0432FF"/>
                </a:solidFill>
              </a:rPr>
              <a:t>”,</a:t>
            </a:r>
            <a:r>
              <a:rPr kumimoji="1" lang="zh-CN" altLang="en-US" sz="2000" dirty="0">
                <a:solidFill>
                  <a:srgbClr val="0432FF"/>
                </a:solidFill>
              </a:rPr>
              <a:t> </a:t>
            </a:r>
            <a:r>
              <a:rPr kumimoji="1" lang="en-US" altLang="zh-CN" sz="2000" dirty="0" err="1">
                <a:solidFill>
                  <a:srgbClr val="0432FF"/>
                </a:solidFill>
              </a:rPr>
              <a:t>person_sort</a:t>
            </a:r>
            <a:r>
              <a:rPr kumimoji="1" lang="en-US" altLang="zh-CN" sz="2000" dirty="0">
                <a:solidFill>
                  <a:srgbClr val="0432FF"/>
                </a:solidFill>
              </a:rPr>
              <a:t>,</a:t>
            </a:r>
            <a:r>
              <a:rPr kumimoji="1" lang="zh-CN" altLang="en-US" sz="2000" dirty="0">
                <a:solidFill>
                  <a:srgbClr val="0432FF"/>
                </a:solidFill>
              </a:rPr>
              <a:t> </a:t>
            </a:r>
            <a:r>
              <a:rPr kumimoji="1" lang="en-US" altLang="zh-CN" sz="2000" dirty="0" err="1">
                <a:solidFill>
                  <a:srgbClr val="0432FF"/>
                </a:solidFill>
              </a:rPr>
              <a:t>boolsort</a:t>
            </a:r>
            <a:r>
              <a:rPr kumimoji="1" lang="en-US" altLang="zh-CN" sz="2000" dirty="0">
                <a:solidFill>
                  <a:srgbClr val="0432FF"/>
                </a:solidFill>
              </a:rPr>
              <a:t>())</a:t>
            </a:r>
          </a:p>
          <a:p>
            <a:pPr lvl="2"/>
            <a:r>
              <a:rPr kumimoji="1" lang="en-US" altLang="zh-CN" sz="2000" dirty="0" err="1">
                <a:solidFill>
                  <a:srgbClr val="0432FF"/>
                </a:solidFill>
              </a:rPr>
              <a:t>learn_logic</a:t>
            </a:r>
            <a:r>
              <a:rPr kumimoji="1" lang="zh-CN" altLang="en-US" sz="2000" dirty="0">
                <a:solidFill>
                  <a:srgbClr val="0432FF"/>
                </a:solidFill>
              </a:rPr>
              <a:t> </a:t>
            </a:r>
            <a:r>
              <a:rPr kumimoji="1" lang="en-US" altLang="zh-CN" sz="2000" dirty="0">
                <a:solidFill>
                  <a:srgbClr val="0432FF"/>
                </a:solidFill>
              </a:rPr>
              <a:t>=</a:t>
            </a:r>
            <a:r>
              <a:rPr kumimoji="1" lang="zh-CN" altLang="en-US" sz="2000" dirty="0">
                <a:solidFill>
                  <a:srgbClr val="0432FF"/>
                </a:solidFill>
              </a:rPr>
              <a:t> </a:t>
            </a:r>
            <a:r>
              <a:rPr kumimoji="1" lang="en-US" altLang="zh-CN" sz="2000" dirty="0">
                <a:solidFill>
                  <a:srgbClr val="0432FF"/>
                </a:solidFill>
              </a:rPr>
              <a:t>Function(”</a:t>
            </a:r>
            <a:r>
              <a:rPr kumimoji="1" lang="en-US" altLang="zh-CN" sz="2000" dirty="0" err="1">
                <a:solidFill>
                  <a:srgbClr val="0432FF"/>
                </a:solidFill>
              </a:rPr>
              <a:t>learn_logic</a:t>
            </a:r>
            <a:r>
              <a:rPr kumimoji="1" lang="en-US" altLang="zh-CN" sz="2000" dirty="0">
                <a:solidFill>
                  <a:srgbClr val="0432FF"/>
                </a:solidFill>
              </a:rPr>
              <a:t>,</a:t>
            </a:r>
            <a:r>
              <a:rPr kumimoji="1" lang="zh-CN" altLang="en-US" sz="2000" dirty="0">
                <a:solidFill>
                  <a:srgbClr val="0432FF"/>
                </a:solidFill>
              </a:rPr>
              <a:t> </a:t>
            </a:r>
            <a:r>
              <a:rPr kumimoji="1" lang="en-US" altLang="zh-CN" sz="2000" dirty="0" err="1">
                <a:solidFill>
                  <a:srgbClr val="0432FF"/>
                </a:solidFill>
              </a:rPr>
              <a:t>person_sort</a:t>
            </a:r>
            <a:r>
              <a:rPr kumimoji="1" lang="en-US" altLang="zh-CN" sz="2000" dirty="0">
                <a:solidFill>
                  <a:srgbClr val="0432FF"/>
                </a:solidFill>
              </a:rPr>
              <a:t>,</a:t>
            </a:r>
            <a:r>
              <a:rPr kumimoji="1" lang="zh-CN" altLang="en-US" sz="2000" dirty="0">
                <a:solidFill>
                  <a:srgbClr val="0432FF"/>
                </a:solidFill>
              </a:rPr>
              <a:t> </a:t>
            </a:r>
            <a:r>
              <a:rPr kumimoji="1" lang="en-US" altLang="zh-CN" sz="2000" dirty="0" err="1">
                <a:solidFill>
                  <a:srgbClr val="0432FF"/>
                </a:solidFill>
              </a:rPr>
              <a:t>boolsort</a:t>
            </a:r>
            <a:r>
              <a:rPr kumimoji="1" lang="en-US" altLang="zh-CN" sz="2000" dirty="0">
                <a:solidFill>
                  <a:srgbClr val="0432FF"/>
                </a:solidFill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31768695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A7A983-3DFA-647F-CAE2-F9FF0CD49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8E1F80-E3A7-6C09-A0B3-F46E63350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Key</a:t>
            </a:r>
            <a:r>
              <a:rPr kumimoji="1" lang="zh-CN" altLang="en-US" dirty="0"/>
              <a:t> </a:t>
            </a:r>
            <a:r>
              <a:rPr kumimoji="1" lang="en-US" altLang="zh-CN" dirty="0"/>
              <a:t>steps,</a:t>
            </a:r>
            <a:r>
              <a:rPr kumimoji="1" lang="zh-CN" altLang="en-US" dirty="0"/>
              <a:t> </a:t>
            </a:r>
            <a:r>
              <a:rPr kumimoji="1" lang="en-US" altLang="zh-CN" dirty="0" err="1"/>
              <a:t>cont</a:t>
            </a:r>
            <a:r>
              <a:rPr kumimoji="1" lang="en-US" altLang="zh-CN" dirty="0"/>
              <a:t>’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479CAEA-95ED-593B-8202-E0FD73A6D2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#3:</a:t>
            </a:r>
            <a:r>
              <a:rPr kumimoji="1" lang="zh-CN" altLang="en-US" dirty="0"/>
              <a:t> </a:t>
            </a:r>
            <a:r>
              <a:rPr kumimoji="1" lang="en-US" altLang="zh-CN" dirty="0"/>
              <a:t>build the propositions </a:t>
            </a:r>
          </a:p>
          <a:p>
            <a:pPr lvl="1"/>
            <a:r>
              <a:rPr kumimoji="1" lang="en-US" altLang="zh-CN" dirty="0"/>
              <a:t>e.g.,</a:t>
            </a:r>
            <a:r>
              <a:rPr kumimoji="1" lang="zh-CN" altLang="en-US" dirty="0"/>
              <a:t> </a:t>
            </a:r>
            <a:r>
              <a:rPr kumimoji="1" lang="en-US" altLang="zh-CN" dirty="0"/>
              <a:t>“every student should</a:t>
            </a:r>
            <a:r>
              <a:rPr kumimoji="1" lang="zh-CN" altLang="en-US" dirty="0"/>
              <a:t> </a:t>
            </a:r>
            <a:r>
              <a:rPr kumimoji="1" lang="en-US" altLang="zh-CN" dirty="0"/>
              <a:t>learn logic”:</a:t>
            </a:r>
          </a:p>
          <a:p>
            <a:pPr lvl="2"/>
            <a:r>
              <a:rPr kumimoji="1" lang="en-US" altLang="zh-CN" dirty="0" err="1">
                <a:solidFill>
                  <a:srgbClr val="0432FF"/>
                </a:solidFill>
              </a:rPr>
              <a:t>ForAll</a:t>
            </a:r>
            <a:r>
              <a:rPr kumimoji="1" lang="en-US" altLang="zh-CN" dirty="0">
                <a:solidFill>
                  <a:srgbClr val="0432FF"/>
                </a:solidFill>
              </a:rPr>
              <a:t>([Const(‘x’, </a:t>
            </a:r>
            <a:r>
              <a:rPr kumimoji="1" lang="en-US" altLang="zh-CN" dirty="0" err="1">
                <a:solidFill>
                  <a:srgbClr val="0432FF"/>
                </a:solidFill>
              </a:rPr>
              <a:t>person_sort</a:t>
            </a:r>
            <a:r>
              <a:rPr kumimoji="1" lang="en-US" altLang="zh-CN" dirty="0">
                <a:solidFill>
                  <a:srgbClr val="0432FF"/>
                </a:solidFill>
              </a:rPr>
              <a:t>)],</a:t>
            </a:r>
          </a:p>
          <a:p>
            <a:pPr marL="914400" lvl="2" indent="0">
              <a:buNone/>
            </a:pPr>
            <a:r>
              <a:rPr kumimoji="1" lang="en-US" altLang="zh-CN" dirty="0">
                <a:solidFill>
                  <a:srgbClr val="0432FF"/>
                </a:solidFill>
              </a:rPr>
              <a:t>	Implies(</a:t>
            </a:r>
            <a:r>
              <a:rPr kumimoji="1" lang="en-US" altLang="zh-CN" dirty="0" err="1">
                <a:solidFill>
                  <a:srgbClr val="0432FF"/>
                </a:solidFill>
              </a:rPr>
              <a:t>is_student</a:t>
            </a:r>
            <a:r>
              <a:rPr kumimoji="1" lang="en-US" altLang="zh-CN" dirty="0">
                <a:solidFill>
                  <a:srgbClr val="0432FF"/>
                </a:solidFill>
              </a:rPr>
              <a:t>(Const(‘x’, </a:t>
            </a:r>
            <a:r>
              <a:rPr kumimoji="1" lang="en-US" altLang="zh-CN" dirty="0" err="1">
                <a:solidFill>
                  <a:srgbClr val="0432FF"/>
                </a:solidFill>
              </a:rPr>
              <a:t>person_sort</a:t>
            </a:r>
            <a:r>
              <a:rPr kumimoji="1" lang="en-US" altLang="zh-CN" dirty="0">
                <a:solidFill>
                  <a:srgbClr val="0432FF"/>
                </a:solidFill>
              </a:rPr>
              <a:t>)), </a:t>
            </a:r>
            <a:r>
              <a:rPr kumimoji="1" lang="en-US" altLang="zh-CN" dirty="0" err="1">
                <a:solidFill>
                  <a:srgbClr val="0432FF"/>
                </a:solidFill>
              </a:rPr>
              <a:t>learn_logic</a:t>
            </a:r>
            <a:r>
              <a:rPr kumimoji="1" lang="en-US" altLang="zh-CN" dirty="0">
                <a:solidFill>
                  <a:srgbClr val="0432FF"/>
                </a:solidFill>
              </a:rPr>
              <a:t>(Const(‘x’, </a:t>
            </a:r>
            <a:r>
              <a:rPr kumimoji="1" lang="en-US" altLang="zh-CN" dirty="0" err="1">
                <a:solidFill>
                  <a:srgbClr val="0432FF"/>
                </a:solidFill>
              </a:rPr>
              <a:t>person_sort</a:t>
            </a:r>
            <a:r>
              <a:rPr kumimoji="1" lang="en-US" altLang="zh-CN" dirty="0">
                <a:solidFill>
                  <a:srgbClr val="0432FF"/>
                </a:solidFill>
              </a:rPr>
              <a:t>)))</a:t>
            </a:r>
          </a:p>
          <a:p>
            <a:r>
              <a:rPr kumimoji="1" lang="en-US" altLang="zh-CN" dirty="0"/>
              <a:t>read the code in the handout</a:t>
            </a:r>
          </a:p>
        </p:txBody>
      </p:sp>
    </p:spTree>
    <p:extLst>
      <p:ext uri="{BB962C8B-B14F-4D97-AF65-F5344CB8AC3E}">
        <p14:creationId xmlns:p14="http://schemas.microsoft.com/office/powerpoint/2010/main" val="1003041864"/>
      </p:ext>
    </p:extLst>
  </p:cSld>
  <p:clrMapOvr>
    <a:masterClrMapping/>
  </p:clrMapOvr>
</p:sld>
</file>

<file path=ppt/theme/theme1.xml><?xml version="1.0" encoding="utf-8"?>
<a:theme xmlns:a="http://schemas.openxmlformats.org/drawingml/2006/main" name="Blends">
  <a:themeElements>
    <a:clrScheme name="Blends 3">
      <a:dk1>
        <a:srgbClr val="000000"/>
      </a:dk1>
      <a:lt1>
        <a:srgbClr val="FFFFFF"/>
      </a:lt1>
      <a:dk2>
        <a:srgbClr val="333399"/>
      </a:dk2>
      <a:lt2>
        <a:srgbClr val="1C1C1C"/>
      </a:lt2>
      <a:accent1>
        <a:srgbClr val="00E4A8"/>
      </a:accent1>
      <a:accent2>
        <a:srgbClr val="FFCF01"/>
      </a:accent2>
      <a:accent3>
        <a:srgbClr val="FFFFFF"/>
      </a:accent3>
      <a:accent4>
        <a:srgbClr val="000000"/>
      </a:accent4>
      <a:accent5>
        <a:srgbClr val="AAEFD1"/>
      </a:accent5>
      <a:accent6>
        <a:srgbClr val="E7BB01"/>
      </a:accent6>
      <a:hlink>
        <a:srgbClr val="FF0000"/>
      </a:hlink>
      <a:folHlink>
        <a:srgbClr val="3333CC"/>
      </a:folHlink>
    </a:clrScheme>
    <a:fontScheme name="Blends">
      <a:majorFont>
        <a:latin typeface="Tahoma"/>
        <a:ea typeface="宋体"/>
        <a:cs typeface=""/>
      </a:majorFont>
      <a:minorFont>
        <a:latin typeface="Tahoma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Blends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2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3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4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Blends</Template>
  <TotalTime>6046</TotalTime>
  <Words>2298</Words>
  <Application>Microsoft Macintosh PowerPoint</Application>
  <PresentationFormat>全屏显示(4:3)</PresentationFormat>
  <Paragraphs>322</Paragraphs>
  <Slides>31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31</vt:i4>
      </vt:variant>
    </vt:vector>
  </HeadingPairs>
  <TitlesOfParts>
    <vt:vector size="36" baseType="lpstr">
      <vt:lpstr>Arial</vt:lpstr>
      <vt:lpstr>Cambria Math</vt:lpstr>
      <vt:lpstr>Tahoma</vt:lpstr>
      <vt:lpstr>Wingdings</vt:lpstr>
      <vt:lpstr>Blends</vt:lpstr>
      <vt:lpstr>Predicate logic</vt:lpstr>
      <vt:lpstr>Motivation</vt:lpstr>
      <vt:lpstr>Motivation</vt:lpstr>
      <vt:lpstr> </vt:lpstr>
      <vt:lpstr>The syntax</vt:lpstr>
      <vt:lpstr>Intuitions: to encode Z</vt:lpstr>
      <vt:lpstr>Intuitions: to encode set theory</vt:lpstr>
      <vt:lpstr>Bound and free variables</vt:lpstr>
      <vt:lpstr>Bound variables: BV(P)</vt:lpstr>
      <vt:lpstr>Free variables: FV(P)</vt:lpstr>
      <vt:lpstr>Substitution: P[x↦E]</vt:lpstr>
      <vt:lpstr>α-renaming</vt:lpstr>
      <vt:lpstr> </vt:lpstr>
      <vt:lpstr>Natural deduction: judgments</vt:lpstr>
      <vt:lpstr>Natural deduction:  Inference rules</vt:lpstr>
      <vt:lpstr>Natural deduction:  Inference rules</vt:lpstr>
      <vt:lpstr>Natural deduction:  Inference rules</vt:lpstr>
      <vt:lpstr>Example</vt:lpstr>
      <vt:lpstr>Proof engineering</vt:lpstr>
      <vt:lpstr> </vt:lpstr>
      <vt:lpstr>Semantics</vt:lpstr>
      <vt:lpstr>Motivation</vt:lpstr>
      <vt:lpstr>Motivation</vt:lpstr>
      <vt:lpstr>Model-based semantics</vt:lpstr>
      <vt:lpstr>Validity</vt:lpstr>
      <vt:lpstr>Remarks</vt:lpstr>
      <vt:lpstr>Two notions of validity</vt:lpstr>
      <vt:lpstr>Soundness and completeness</vt:lpstr>
      <vt:lpstr> </vt:lpstr>
      <vt:lpstr>Key steps</vt:lpstr>
      <vt:lpstr>Key steps, cont’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Overview</dc:title>
  <dc:creator>Baojian Hua</dc:creator>
  <cp:lastModifiedBy>Microsoft Office User</cp:lastModifiedBy>
  <cp:revision>2720</cp:revision>
  <cp:lastPrinted>1601-01-01T00:00:00Z</cp:lastPrinted>
  <dcterms:created xsi:type="dcterms:W3CDTF">1601-01-01T00:00:00Z</dcterms:created>
  <dcterms:modified xsi:type="dcterms:W3CDTF">2026-03-25T01:38:10Z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</Properties>
</file>
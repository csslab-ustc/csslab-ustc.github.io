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handoutMasterIdLst>
    <p:handoutMasterId r:id="rId62"/>
  </p:handoutMasterIdLst>
  <p:sldIdLst>
    <p:sldId id="256" r:id="rId2"/>
    <p:sldId id="455" r:id="rId3"/>
    <p:sldId id="472" r:id="rId4"/>
    <p:sldId id="473" r:id="rId5"/>
    <p:sldId id="507" r:id="rId6"/>
    <p:sldId id="508" r:id="rId7"/>
    <p:sldId id="509" r:id="rId8"/>
    <p:sldId id="474" r:id="rId9"/>
    <p:sldId id="511" r:id="rId10"/>
    <p:sldId id="512" r:id="rId11"/>
    <p:sldId id="513" r:id="rId12"/>
    <p:sldId id="514" r:id="rId13"/>
    <p:sldId id="510" r:id="rId14"/>
    <p:sldId id="309" r:id="rId15"/>
    <p:sldId id="515" r:id="rId16"/>
    <p:sldId id="521" r:id="rId17"/>
    <p:sldId id="522" r:id="rId18"/>
    <p:sldId id="523" r:id="rId19"/>
    <p:sldId id="524" r:id="rId20"/>
    <p:sldId id="525" r:id="rId21"/>
    <p:sldId id="516" r:id="rId22"/>
    <p:sldId id="517" r:id="rId23"/>
    <p:sldId id="518" r:id="rId24"/>
    <p:sldId id="519" r:id="rId25"/>
    <p:sldId id="520" r:id="rId26"/>
    <p:sldId id="526" r:id="rId27"/>
    <p:sldId id="527" r:id="rId28"/>
    <p:sldId id="528" r:id="rId29"/>
    <p:sldId id="529" r:id="rId30"/>
    <p:sldId id="530" r:id="rId31"/>
    <p:sldId id="531" r:id="rId32"/>
    <p:sldId id="532" r:id="rId33"/>
    <p:sldId id="287" r:id="rId34"/>
    <p:sldId id="456" r:id="rId35"/>
    <p:sldId id="475" r:id="rId36"/>
    <p:sldId id="457" r:id="rId37"/>
    <p:sldId id="490" r:id="rId38"/>
    <p:sldId id="492" r:id="rId39"/>
    <p:sldId id="493" r:id="rId40"/>
    <p:sldId id="494" r:id="rId41"/>
    <p:sldId id="495" r:id="rId42"/>
    <p:sldId id="496" r:id="rId43"/>
    <p:sldId id="497" r:id="rId44"/>
    <p:sldId id="499" r:id="rId45"/>
    <p:sldId id="500" r:id="rId46"/>
    <p:sldId id="498" r:id="rId47"/>
    <p:sldId id="491" r:id="rId48"/>
    <p:sldId id="501" r:id="rId49"/>
    <p:sldId id="430" r:id="rId50"/>
    <p:sldId id="502" r:id="rId51"/>
    <p:sldId id="503" r:id="rId52"/>
    <p:sldId id="504" r:id="rId53"/>
    <p:sldId id="505" r:id="rId54"/>
    <p:sldId id="476" r:id="rId55"/>
    <p:sldId id="477" r:id="rId56"/>
    <p:sldId id="478" r:id="rId57"/>
    <p:sldId id="479" r:id="rId58"/>
    <p:sldId id="480" r:id="rId59"/>
    <p:sldId id="481" r:id="rId60"/>
    <p:sldId id="506" r:id="rId61"/>
  </p:sldIdLst>
  <p:sldSz cx="9144000" cy="6858000" type="screen4x3"/>
  <p:notesSz cx="7099300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61"/>
    <p:restoredTop sz="94744"/>
  </p:normalViewPr>
  <p:slideViewPr>
    <p:cSldViewPr>
      <p:cViewPr varScale="1">
        <p:scale>
          <a:sx n="119" d="100"/>
          <a:sy n="119" d="100"/>
        </p:scale>
        <p:origin x="151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854" y="-96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6255887-7C20-5F40-88F5-DC07E009366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442A776-FF54-8D4A-8F1A-B5440D7A3E8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DC290E11-1746-2A4C-A43A-EB9011E0C5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02245770-81F5-604C-B1AE-5A9406AD2B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9DFDCF0-3A25-1B44-957E-06E14821E8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B63668DE-41B2-B840-8464-61D50D8F9AEF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4DD8CABA-2308-F347-8A69-17F991D1D1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BC90C53F-106A-594B-816F-FBBE09ED0C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13A923C9-0DAE-5044-82AD-0E432BFFD0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5FA28DE7-4EBE-E242-BE11-88C84DA4CA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55B07155-43D3-3342-B259-7727441EBE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5043667A-50D5-BD4A-899F-BACBE537B6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026AC772-E99A-4F46-A0AF-BDC88C893B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95ED622E-E2EB-AE47-84DA-22CE8CA45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51262C24-48BF-CD4C-937E-331BF8501E8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102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2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43F62A85-0DF1-9F4C-B6E2-275D231055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25E5B91A-4C02-F247-8E23-8E414AB52C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4893DA04-B417-5246-8AE0-91F0B65648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6A8B626B-81AA-F040-92F0-D02736E321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0411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4AC7456-85F6-DD40-81C0-4C8BD0E9F2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BAB3D1D-BE10-304F-BEFE-012D6E790D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0A960C3-CA72-8540-A7D0-1A6E75F0E4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F748D9-7FA6-E441-821E-F3F88EC4F9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9831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4C5B8B4-B421-6040-879F-D3D697BB72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7543519-18B0-7740-8051-46BAC5573B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D3F58C5-102C-E640-8D6D-6542CFC35A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B18E6-536B-3E49-87F7-F67360CCFA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9860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67775B8-8071-4E41-AB03-00486E0A22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A56D8A38-D3FC-AD48-8316-038FB054F0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CB84722-1E49-9E4D-836F-D732E94C27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9FD8DE-E3EB-EA4E-8EE7-F04FE4665C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9757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CFB82EF0-DDD0-6B4A-867E-3E6388D616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7BFB65D6-F186-3C48-B54B-497EC9B384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E2702551-92CD-8D4E-9A9F-51CB64BE93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FCA741-66C6-D343-8412-89FF6A0F853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4899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7F0065C-425F-FA4C-B6C4-FD2068F544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D7C70384-6A7F-504B-9F2A-1F5CFAAD2D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5C95F566-FAE0-7049-8CC7-F3FD419732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318140-2A5D-0E44-BF65-E264B2E441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9610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5F7FBCE8-7588-F049-A140-AC6ECEEBA4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9EDEB25C-C69B-AF49-92C5-20DDF64A0C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D7ADDEEE-A7A1-C54E-B356-0D31023DC8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8883DD-3DDB-6A4B-AF53-C06217DC1C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0811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D951196D-4FBC-5244-AE77-A0DCBCE7B1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6B8D535-A7F6-6245-AF7C-3991555EBB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900E33DC-CFB4-6940-9A06-5E57391842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099AE6-659C-DD4F-AB55-9243AB0876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134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641F442-FF5A-3E4F-B7E3-4F3B309167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4BF4FC7-F279-814B-BE9E-21CEA875BC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8FDFF4A7-138E-6343-9081-AB08C74441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EB066F-829B-004C-A374-751C561188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5361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D26FD10-20F2-BE4B-A198-B567EEE34F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95028F1-A44A-2647-AF6B-29B3299520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CDE85904-D501-6C46-A2AD-9CA56C67E9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B6E24A-3567-904B-B86C-E4AE21B6E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6655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C5833C8-4BDB-0F44-8B0D-35498B2542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89FF3E9-C35F-4E4B-8AF3-3BAD855509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E5996E1-CC22-3945-A3BF-28E3C78E72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BB2DC2-6B55-5E4C-8395-621F8054D6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945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D8F330B-6D69-3B48-94AA-84D980473E7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0019EAC-5FB6-7F49-82BE-B9C6E565D19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A7743FD-0EAE-AE43-B059-5C59C205ED2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9C3DD9A-EB2E-6F4B-B2C1-287B25CFF38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2536DE4-E734-8D4C-93F9-1098F8D02B9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863680-FD48-694E-A03B-D9033B0DA83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F170802E-96C7-5A40-9A9A-95EE098C8380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8B107CC5-4F23-7840-9D8C-A91D6DEA2F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FE065584-58F1-DF49-988D-E4179129D9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227" name="Rectangle 11">
            <a:extLst>
              <a:ext uri="{FF2B5EF4-FFF2-40B4-BE49-F238E27FC236}">
                <a16:creationId xmlns:a16="http://schemas.microsoft.com/office/drawing/2014/main" id="{BEFFB746-8CD7-AA4A-B6F9-332BF016172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8" name="Rectangle 12">
            <a:extLst>
              <a:ext uri="{FF2B5EF4-FFF2-40B4-BE49-F238E27FC236}">
                <a16:creationId xmlns:a16="http://schemas.microsoft.com/office/drawing/2014/main" id="{986FEBD8-864A-0B4D-B3B2-0C180D3B82E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9" name="Rectangle 13">
            <a:extLst>
              <a:ext uri="{FF2B5EF4-FFF2-40B4-BE49-F238E27FC236}">
                <a16:creationId xmlns:a16="http://schemas.microsoft.com/office/drawing/2014/main" id="{9EC76A7F-43CA-B94D-8105-DC195EBDA50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6CB83518-65C2-094A-AFB7-B5D18B682B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1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9" Type="http://schemas.openxmlformats.org/officeDocument/2006/relationships/image" Target="../media/image35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7" Type="http://schemas.openxmlformats.org/officeDocument/2006/relationships/image" Target="../media/image43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0.png"/><Relationship Id="rId5" Type="http://schemas.openxmlformats.org/officeDocument/2006/relationships/image" Target="../media/image110.png"/><Relationship Id="rId4" Type="http://schemas.openxmlformats.org/officeDocument/2006/relationships/image" Target="../media/image30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7" Type="http://schemas.openxmlformats.org/officeDocument/2006/relationships/image" Target="../media/image110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Relationship Id="rId5" Type="http://schemas.openxmlformats.org/officeDocument/2006/relationships/image" Target="../media/image350.png"/><Relationship Id="rId4" Type="http://schemas.openxmlformats.org/officeDocument/2006/relationships/image" Target="../media/image340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0.png"/><Relationship Id="rId3" Type="http://schemas.openxmlformats.org/officeDocument/2006/relationships/image" Target="../media/image380.png"/><Relationship Id="rId7" Type="http://schemas.openxmlformats.org/officeDocument/2006/relationships/image" Target="../media/image420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00.png"/><Relationship Id="rId4" Type="http://schemas.openxmlformats.org/officeDocument/2006/relationships/image" Target="../media/image390.png"/><Relationship Id="rId9" Type="http://schemas.openxmlformats.org/officeDocument/2006/relationships/image" Target="../media/image440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E8841FBB-64FC-1C4F-8167-C680F3EB335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Hoare logic</a:t>
            </a:r>
          </a:p>
        </p:txBody>
      </p:sp>
      <p:sp>
        <p:nvSpPr>
          <p:cNvPr id="14338" name="Rectangle 3">
            <a:extLst>
              <a:ext uri="{FF2B5EF4-FFF2-40B4-BE49-F238E27FC236}">
                <a16:creationId xmlns:a16="http://schemas.microsoft.com/office/drawing/2014/main" id="{86FDA178-BD90-9A42-AB11-13E8D0C9766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/>
              <a:t>Formal Methods Foundation</a:t>
            </a:r>
          </a:p>
          <a:p>
            <a:pPr eaLnBrk="1" hangingPunct="1"/>
            <a:r>
              <a:rPr lang="en-US" altLang="zh-CN" sz="2800" dirty="0" err="1"/>
              <a:t>Baojian</a:t>
            </a:r>
            <a:r>
              <a:rPr lang="en-US" altLang="zh-CN" sz="2800" dirty="0"/>
              <a:t> Hua</a:t>
            </a:r>
          </a:p>
          <a:p>
            <a:pPr eaLnBrk="1" hangingPunct="1"/>
            <a:r>
              <a:rPr lang="en-US" altLang="zh-CN" sz="2400" dirty="0" err="1"/>
              <a:t>bjhua@ustc.edu.cn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E3A8E4-6958-404F-9A7A-4D41ABD01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Spectrum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-US" altLang="zh-CN" dirty="0"/>
              <a:t>validation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methods</a:t>
            </a:r>
            <a:endParaRPr kumimoji="1"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3290D53-744C-F049-BD12-36467E0FC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2178650"/>
            <a:ext cx="8401050" cy="460315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52E6188-1647-5145-85E6-FAA20DE63886}"/>
              </a:ext>
            </a:extLst>
          </p:cNvPr>
          <p:cNvSpPr txBox="1"/>
          <p:nvPr/>
        </p:nvSpPr>
        <p:spPr>
          <a:xfrm>
            <a:off x="7485856" y="3048000"/>
            <a:ext cx="1581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topic</a:t>
            </a:r>
            <a:endParaRPr kumimoji="1" lang="zh-CN" altLang="en-US" dirty="0"/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62BED9D8-E1E3-2A45-B513-C33272D6531D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8077200" y="2506814"/>
            <a:ext cx="199628" cy="541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8339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8FD869-394E-7D4C-A2C1-69C6F5B4A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Overview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7A87AC-E2A9-C74B-9D30-558AE16EF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lecture’s</a:t>
            </a:r>
            <a:r>
              <a:rPr kumimoji="1" lang="zh-CN" altLang="en-US" dirty="0"/>
              <a:t> </a:t>
            </a:r>
            <a:r>
              <a:rPr kumimoji="1" lang="en-US" altLang="zh-CN" dirty="0"/>
              <a:t>topic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about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proving program correctness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based on the idea of </a:t>
            </a:r>
            <a:r>
              <a:rPr kumimoji="1" lang="en-US" altLang="zh-CN" dirty="0">
                <a:solidFill>
                  <a:srgbClr val="0432FF"/>
                </a:solidFill>
              </a:rPr>
              <a:t>Hoare logic</a:t>
            </a:r>
          </a:p>
          <a:p>
            <a:r>
              <a:rPr kumimoji="1" lang="en-US" altLang="zh-CN" dirty="0"/>
              <a:t>One of the oldest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deepest ideas in CS</a:t>
            </a:r>
          </a:p>
          <a:p>
            <a:r>
              <a:rPr kumimoji="1" lang="en-US" altLang="zh-CN" dirty="0"/>
              <a:t>Still important today</a:t>
            </a:r>
          </a:p>
          <a:p>
            <a:pPr lvl="1"/>
            <a:r>
              <a:rPr kumimoji="1" lang="en-US" altLang="zh-CN" dirty="0"/>
              <a:t>successful applications in many fields</a:t>
            </a:r>
          </a:p>
          <a:p>
            <a:pPr lvl="1"/>
            <a:r>
              <a:rPr kumimoji="1" lang="en-US" altLang="zh-CN" dirty="0"/>
              <a:t>thanks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 advancement in proof theory and constraint</a:t>
            </a:r>
            <a:r>
              <a:rPr kumimoji="1" lang="zh-CN" altLang="en-US" dirty="0"/>
              <a:t> </a:t>
            </a:r>
            <a:r>
              <a:rPr kumimoji="1" lang="en-US" altLang="zh-CN" dirty="0"/>
              <a:t>solvers/theorem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provers</a:t>
            </a:r>
          </a:p>
        </p:txBody>
      </p:sp>
    </p:spTree>
    <p:extLst>
      <p:ext uri="{BB962C8B-B14F-4D97-AF65-F5344CB8AC3E}">
        <p14:creationId xmlns:p14="http://schemas.microsoft.com/office/powerpoint/2010/main" val="4031609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C16574-30AC-A74C-958F-11DC9E34F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Capsule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history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1616A0-AD14-B14D-889B-59786C0D4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2017713"/>
            <a:ext cx="6132512" cy="4114800"/>
          </a:xfrm>
        </p:spPr>
        <p:txBody>
          <a:bodyPr/>
          <a:lstStyle/>
          <a:p>
            <a:r>
              <a:rPr lang="en-US" altLang="zh-CN" sz="2800" dirty="0"/>
              <a:t>1967: Assigning Meaning to Programs (Floyd) </a:t>
            </a:r>
          </a:p>
          <a:p>
            <a:pPr lvl="1"/>
            <a:r>
              <a:rPr lang="en-US" altLang="zh-CN" sz="2400" dirty="0"/>
              <a:t>1978 Turing Award</a:t>
            </a:r>
          </a:p>
          <a:p>
            <a:r>
              <a:rPr lang="en-US" altLang="zh-CN" sz="2800" dirty="0"/>
              <a:t>1969: An Axiomatic Basis for Computer Programming (Hoare) </a:t>
            </a:r>
          </a:p>
          <a:p>
            <a:pPr lvl="1"/>
            <a:r>
              <a:rPr lang="en-US" altLang="zh-CN" sz="2400" dirty="0"/>
              <a:t>1980 Turing Award</a:t>
            </a:r>
          </a:p>
          <a:p>
            <a:r>
              <a:rPr lang="en-US" altLang="zh-CN" sz="2800" dirty="0"/>
              <a:t>1975: Guarded Commands, </a:t>
            </a:r>
            <a:r>
              <a:rPr lang="en-US" altLang="zh-CN" sz="2800" dirty="0" err="1"/>
              <a:t>Nondeterminacy</a:t>
            </a:r>
            <a:r>
              <a:rPr lang="en-US" altLang="zh-CN" sz="2800" dirty="0"/>
              <a:t> and Formal Derivation of Programs (Dijkstra)</a:t>
            </a:r>
          </a:p>
          <a:p>
            <a:pPr lvl="1"/>
            <a:r>
              <a:rPr lang="en-US" altLang="zh-CN" sz="2400" dirty="0"/>
              <a:t>1972 Turing Award</a:t>
            </a:r>
            <a:endParaRPr kumimoji="1" lang="zh-CN" altLang="en-US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1C5EF3E-D371-5E43-9228-259A7F72EA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1905000"/>
            <a:ext cx="1295400" cy="145960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9F0B077-200A-AF44-9C6F-EE156C672F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3593206"/>
            <a:ext cx="1295400" cy="12954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5619518-DC92-0649-B1AF-2183B72FF8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6414" y="5029200"/>
            <a:ext cx="1256586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968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1B4E6-99B8-E4FA-2061-97348EE74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657C87-2E5A-92FD-4931-631FD89FB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Many Languages Today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A7B16A-B6B2-61CA-009E-D6D59E7E0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The idea of Hoare logic has been applied to many languages again and again</a:t>
            </a:r>
          </a:p>
          <a:p>
            <a:pPr lvl="1"/>
            <a:r>
              <a:rPr kumimoji="1" lang="en-US" altLang="zh-CN" dirty="0"/>
              <a:t>and even to the same language </a:t>
            </a:r>
          </a:p>
          <a:p>
            <a:r>
              <a:rPr kumimoji="1" lang="en-US" altLang="zh-CN" dirty="0"/>
              <a:t>To name a few:</a:t>
            </a:r>
          </a:p>
          <a:p>
            <a:pPr lvl="1"/>
            <a:r>
              <a:rPr kumimoji="1" lang="en-US" altLang="zh-CN" dirty="0">
                <a:solidFill>
                  <a:srgbClr val="0432FF"/>
                </a:solidFill>
              </a:rPr>
              <a:t>Dafny (C#)</a:t>
            </a:r>
            <a:r>
              <a:rPr kumimoji="1" lang="en-US" altLang="zh-CN" dirty="0"/>
              <a:t>, Boogie (</a:t>
            </a:r>
            <a:r>
              <a:rPr kumimoji="1" lang="en-US" altLang="zh-CN" dirty="0" err="1"/>
              <a:t>.Net</a:t>
            </a:r>
            <a:r>
              <a:rPr kumimoji="1" lang="en-US" altLang="zh-CN" dirty="0"/>
              <a:t> IL), F* (F#), VCC (C), </a:t>
            </a:r>
            <a:r>
              <a:rPr kumimoji="1" lang="en-US" altLang="zh-CN" dirty="0" err="1"/>
              <a:t>Prusti</a:t>
            </a:r>
            <a:r>
              <a:rPr kumimoji="1" lang="en-US" altLang="zh-CN" dirty="0"/>
              <a:t> (Rust), Creusot (Rust), Aeneas (Rust), </a:t>
            </a:r>
            <a:r>
              <a:rPr kumimoji="1" lang="en-US" altLang="zh-CN" dirty="0">
                <a:solidFill>
                  <a:srgbClr val="0432FF"/>
                </a:solidFill>
              </a:rPr>
              <a:t>Nagini</a:t>
            </a:r>
            <a:r>
              <a:rPr kumimoji="1" lang="zh-CN" altLang="en-US" dirty="0">
                <a:solidFill>
                  <a:srgbClr val="0432FF"/>
                </a:solidFill>
              </a:rPr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(Python)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 Verus (Rust),</a:t>
            </a:r>
            <a:r>
              <a:rPr kumimoji="1" lang="zh-CN" altLang="en-US" dirty="0"/>
              <a:t> </a:t>
            </a:r>
            <a:r>
              <a:rPr kumimoji="1" lang="en-US" altLang="zh-CN" dirty="0"/>
              <a:t>among</a:t>
            </a:r>
            <a:r>
              <a:rPr kumimoji="1" lang="zh-CN" altLang="en-US" dirty="0"/>
              <a:t> </a:t>
            </a:r>
            <a:r>
              <a:rPr kumimoji="1" lang="en-US" altLang="zh-CN" dirty="0"/>
              <a:t>others</a:t>
            </a:r>
          </a:p>
          <a:p>
            <a:pPr lvl="1"/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36816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2D9D6-2BEE-058D-1EA3-F4042BF5A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C645A6-2C78-9332-6904-5CCE1ADA3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Many Real-World</a:t>
            </a:r>
            <a:r>
              <a:rPr kumimoji="1" lang="zh-CN" altLang="en-US" dirty="0"/>
              <a:t> </a:t>
            </a:r>
            <a:r>
              <a:rPr kumimoji="1" lang="en-US" altLang="zh-CN" dirty="0"/>
              <a:t>Successful Stories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EEBC5D-E296-928F-B1BC-911397F9B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/>
              <a:t>CompCert</a:t>
            </a:r>
            <a:r>
              <a:rPr kumimoji="1" lang="en-US" altLang="zh-CN" dirty="0"/>
              <a:t>:</a:t>
            </a:r>
          </a:p>
          <a:p>
            <a:pPr lvl="1"/>
            <a:r>
              <a:rPr kumimoji="1" lang="en-US" altLang="zh-CN" dirty="0"/>
              <a:t>the first fully verified C compiler</a:t>
            </a:r>
          </a:p>
          <a:p>
            <a:r>
              <a:rPr kumimoji="1" lang="en-US" altLang="zh-CN" dirty="0"/>
              <a:t>seL4:</a:t>
            </a:r>
          </a:p>
          <a:p>
            <a:pPr lvl="1"/>
            <a:r>
              <a:rPr kumimoji="1" lang="en-US" altLang="zh-CN" dirty="0"/>
              <a:t>the first verified operating system (micro-)kernel</a:t>
            </a:r>
            <a:endParaRPr kumimoji="1" lang="en-US" altLang="zh-CN" dirty="0">
              <a:solidFill>
                <a:srgbClr val="0432FF"/>
              </a:solidFill>
            </a:endParaRPr>
          </a:p>
          <a:p>
            <a:pPr lvl="1"/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58617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FCBBB-07A2-2B33-ED17-F1FC9D15C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8F7249-6F49-CA82-F5F7-0E887086E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F2DC56-5CF3-DFC4-A511-9EC60201B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 algn="ctr">
              <a:buNone/>
            </a:pPr>
            <a:endParaRPr kumimoji="1" lang="en-US" altLang="zh-CN" dirty="0"/>
          </a:p>
          <a:p>
            <a:pPr marL="457200" lvl="1" indent="0" algn="ctr">
              <a:buNone/>
            </a:pPr>
            <a:endParaRPr kumimoji="1" lang="en-US" altLang="zh-CN" sz="3600" dirty="0"/>
          </a:p>
          <a:p>
            <a:pPr marL="457200" lvl="1" indent="0" algn="ctr">
              <a:buNone/>
            </a:pPr>
            <a:r>
              <a:rPr kumimoji="1" lang="en-US" altLang="zh-CN" sz="3600" dirty="0"/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3799874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0D9874-6D59-C34C-A73A-F64B387CB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Program correctness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19CD97-B7B9-5F40-8957-73DA0468A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2017713"/>
            <a:ext cx="4379912" cy="4114800"/>
          </a:xfrm>
        </p:spPr>
        <p:txBody>
          <a:bodyPr/>
          <a:lstStyle/>
          <a:p>
            <a:r>
              <a:rPr kumimoji="1" lang="en-US" altLang="zh-CN" dirty="0"/>
              <a:t>For 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program, how can we guarantee its </a:t>
            </a:r>
            <a:r>
              <a:rPr kumimoji="1" lang="en-US" altLang="zh-CN" dirty="0">
                <a:solidFill>
                  <a:srgbClr val="0432FF"/>
                </a:solidFill>
              </a:rPr>
              <a:t>correctness</a:t>
            </a:r>
            <a:r>
              <a:rPr kumimoji="1" lang="en-US" altLang="zh-CN" dirty="0"/>
              <a:t>?</a:t>
            </a:r>
          </a:p>
          <a:p>
            <a:r>
              <a:rPr kumimoji="1" lang="en-US" altLang="zh-CN" dirty="0"/>
              <a:t>But first of all, how do we express </a:t>
            </a:r>
            <a:r>
              <a:rPr kumimoji="1" lang="en-US" altLang="zh-CN" dirty="0">
                <a:solidFill>
                  <a:srgbClr val="0432FF"/>
                </a:solidFill>
              </a:rPr>
              <a:t>correctness</a:t>
            </a:r>
            <a:r>
              <a:rPr kumimoji="1" lang="en-US" altLang="zh-CN" dirty="0"/>
              <a:t>?</a:t>
            </a:r>
            <a:endParaRPr kumimoji="1"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5174E72D-E27A-0B44-B8BF-40EB651CC666}"/>
              </a:ext>
            </a:extLst>
          </p:cNvPr>
          <p:cNvSpPr txBox="1">
            <a:spLocks/>
          </p:cNvSpPr>
          <p:nvPr/>
        </p:nvSpPr>
        <p:spPr bwMode="auto">
          <a:xfrm>
            <a:off x="5715000" y="1947319"/>
            <a:ext cx="29718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kumimoji="1" lang="zh-CN" altLang="en-US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abs(n):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if(n&gt;=0):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n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else: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0-n</a:t>
            </a:r>
          </a:p>
          <a:p>
            <a:pPr marL="0" indent="0">
              <a:buFont typeface="Wingdings" pitchFamily="2" charset="2"/>
              <a:buNone/>
            </a:pPr>
            <a:endParaRPr kumimoji="1" lang="en-US" altLang="zh-CN" sz="2000" b="1" kern="0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141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9FE5C-E14C-FCDC-CD46-68BD0F3B3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624879-5665-D507-AB8F-A9140986B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Program correctness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C6F7E4-F9C2-2AB7-C27C-6DE25180D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2017713"/>
            <a:ext cx="4379912" cy="4114800"/>
          </a:xfrm>
        </p:spPr>
        <p:txBody>
          <a:bodyPr/>
          <a:lstStyle/>
          <a:p>
            <a:r>
              <a:rPr kumimoji="1" lang="en-US" altLang="zh-CN" dirty="0"/>
              <a:t>A daily practice is to leverage comments</a:t>
            </a:r>
          </a:p>
          <a:p>
            <a:pPr lvl="1"/>
            <a:r>
              <a:rPr kumimoji="1" lang="en-US" altLang="zh-CN" dirty="0"/>
              <a:t>we specify the intended </a:t>
            </a:r>
            <a:r>
              <a:rPr kumimoji="1" lang="en-US" altLang="zh-CN" dirty="0">
                <a:solidFill>
                  <a:srgbClr val="0432FF"/>
                </a:solidFill>
              </a:rPr>
              <a:t>requirements</a:t>
            </a:r>
            <a:r>
              <a:rPr kumimoji="1" lang="en-US" altLang="zh-CN" dirty="0"/>
              <a:t> via natural language</a:t>
            </a:r>
          </a:p>
          <a:p>
            <a:pPr lvl="1"/>
            <a:r>
              <a:rPr kumimoji="1" lang="en-US" altLang="zh-CN" dirty="0"/>
              <a:t>and the implementation should satisfy these requirements</a:t>
            </a:r>
            <a:endParaRPr kumimoji="1"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92110E0-1C62-B249-F1BE-E1D3503533BC}"/>
              </a:ext>
            </a:extLst>
          </p:cNvPr>
          <p:cNvSpPr txBox="1">
            <a:spLocks/>
          </p:cNvSpPr>
          <p:nvPr/>
        </p:nvSpPr>
        <p:spPr bwMode="auto">
          <a:xfrm>
            <a:off x="5715000" y="1947319"/>
            <a:ext cx="29718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1" lang="en-US" altLang="zh-CN" sz="2000" b="1" kern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pre:</a:t>
            </a:r>
            <a:r>
              <a:rPr kumimoji="1" lang="en-US" altLang="zh-CN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take any integer n as input</a:t>
            </a:r>
          </a:p>
          <a:p>
            <a:pPr marL="0" indent="0">
              <a:buNone/>
            </a:pPr>
            <a:r>
              <a:rPr kumimoji="1" lang="en-US" altLang="zh-CN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1" lang="en-US" altLang="zh-CN" sz="2000" b="1" kern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post:</a:t>
            </a:r>
            <a:r>
              <a:rPr kumimoji="1" lang="en-US" altLang="zh-CN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return an integer that is greater than</a:t>
            </a:r>
            <a:r>
              <a:rPr kumimoji="1" lang="zh-CN" altLang="en-US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kumimoji="1" lang="zh-CN" altLang="en-US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equal to 0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kumimoji="1" lang="zh-CN" altLang="en-US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abs(n:</a:t>
            </a:r>
            <a:r>
              <a:rPr kumimoji="1" lang="zh-CN" altLang="en-US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int):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if(n&gt;=0):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n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else: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0-n</a:t>
            </a:r>
          </a:p>
          <a:p>
            <a:pPr marL="0" indent="0">
              <a:buFont typeface="Wingdings" pitchFamily="2" charset="2"/>
              <a:buNone/>
            </a:pPr>
            <a:endParaRPr kumimoji="1" lang="en-US" altLang="zh-CN" sz="2000" b="1" kern="0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626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E4F20-BC9D-9BC5-9BC2-20AE93322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9A2C17-ABDF-02C9-23A5-6E8CAD490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Program correctness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210365-204D-8D55-BF33-AE845D5DE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2017713"/>
            <a:ext cx="4379912" cy="4114800"/>
          </a:xfrm>
        </p:spPr>
        <p:txBody>
          <a:bodyPr/>
          <a:lstStyle/>
          <a:p>
            <a:r>
              <a:rPr kumimoji="1" lang="en-US" altLang="zh-CN" dirty="0"/>
              <a:t>But comments suffer from several limitations for checking correctness</a:t>
            </a:r>
          </a:p>
          <a:p>
            <a:pPr lvl="1"/>
            <a:r>
              <a:rPr kumimoji="1" lang="en-US" altLang="zh-CN" dirty="0"/>
              <a:t>it is ambiguous </a:t>
            </a:r>
          </a:p>
          <a:p>
            <a:pPr lvl="1"/>
            <a:r>
              <a:rPr kumimoji="1" lang="en-US" altLang="zh-CN" dirty="0"/>
              <a:t>it does not check</a:t>
            </a:r>
          </a:p>
          <a:p>
            <a:pPr lvl="1"/>
            <a:r>
              <a:rPr kumimoji="1" lang="en-US" altLang="zh-CN" dirty="0"/>
              <a:t>it does not evolve</a:t>
            </a:r>
          </a:p>
          <a:p>
            <a:pPr lvl="1"/>
            <a:r>
              <a:rPr kumimoji="1" lang="en-US" altLang="zh-CN" dirty="0"/>
              <a:t>caveat: it targets for human, but not machine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734FB57-6366-A0E1-88E5-8F128D684259}"/>
              </a:ext>
            </a:extLst>
          </p:cNvPr>
          <p:cNvSpPr txBox="1">
            <a:spLocks/>
          </p:cNvSpPr>
          <p:nvPr/>
        </p:nvSpPr>
        <p:spPr bwMode="auto">
          <a:xfrm>
            <a:off x="5715000" y="1947319"/>
            <a:ext cx="29718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1" lang="en-US" altLang="zh-CN" sz="2000" b="1" kern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pre:</a:t>
            </a:r>
            <a:r>
              <a:rPr kumimoji="1" lang="en-US" altLang="zh-CN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take any integer n as input</a:t>
            </a:r>
          </a:p>
          <a:p>
            <a:pPr marL="0" indent="0">
              <a:buNone/>
            </a:pPr>
            <a:r>
              <a:rPr kumimoji="1" lang="en-US" altLang="zh-CN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1" lang="en-US" altLang="zh-CN" sz="2000" b="1" kern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post:</a:t>
            </a:r>
            <a:r>
              <a:rPr kumimoji="1" lang="en-US" altLang="zh-CN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return an integer that is greater than</a:t>
            </a:r>
            <a:r>
              <a:rPr kumimoji="1" lang="zh-CN" altLang="en-US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kumimoji="1" lang="zh-CN" altLang="en-US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equal to 0</a:t>
            </a:r>
          </a:p>
          <a:p>
            <a:pPr marL="0" indent="0"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kumimoji="1" lang="zh-CN" altLang="en-US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abs(n:</a:t>
            </a:r>
            <a:r>
              <a:rPr kumimoji="1" lang="zh-CN" altLang="en-US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int):</a:t>
            </a:r>
          </a:p>
          <a:p>
            <a:pPr marL="0" indent="0">
              <a:buNone/>
            </a:pPr>
            <a:r>
              <a:rPr kumimoji="1" lang="zh-CN" altLang="en-US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if(n&gt;=0):</a:t>
            </a:r>
          </a:p>
          <a:p>
            <a:pPr marL="0" indent="0"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n</a:t>
            </a:r>
          </a:p>
          <a:p>
            <a:pPr marL="0" indent="0"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else:</a:t>
            </a:r>
          </a:p>
          <a:p>
            <a:pPr marL="0" indent="0"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0-n</a:t>
            </a:r>
          </a:p>
        </p:txBody>
      </p:sp>
    </p:spTree>
    <p:extLst>
      <p:ext uri="{BB962C8B-B14F-4D97-AF65-F5344CB8AC3E}">
        <p14:creationId xmlns:p14="http://schemas.microsoft.com/office/powerpoint/2010/main" val="464193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477E9-BF35-B11D-CCCA-F5DB273AA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B3A53B-5D0A-4846-297C-E76BFC761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Program correctness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0C70F3-AF61-B8A3-7450-DA3EE22AB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2017713"/>
            <a:ext cx="4379912" cy="4114800"/>
          </a:xfrm>
        </p:spPr>
        <p:txBody>
          <a:bodyPr/>
          <a:lstStyle/>
          <a:p>
            <a:r>
              <a:rPr kumimoji="1" lang="en-US" altLang="zh-CN" dirty="0"/>
              <a:t>A better idea is to leverage logic!</a:t>
            </a:r>
          </a:p>
          <a:p>
            <a:pPr lvl="1"/>
            <a:r>
              <a:rPr kumimoji="1" lang="en-US" altLang="zh-CN" dirty="0"/>
              <a:t>we specify the requirements via logical formulas </a:t>
            </a:r>
          </a:p>
          <a:p>
            <a:pPr lvl="1"/>
            <a:r>
              <a:rPr kumimoji="1" lang="en-US" altLang="zh-CN" dirty="0"/>
              <a:t>it is checked against code automatically</a:t>
            </a:r>
          </a:p>
          <a:p>
            <a:pPr lvl="1"/>
            <a:r>
              <a:rPr kumimoji="1" lang="en-US" altLang="zh-CN" dirty="0"/>
              <a:t>it evolves with code</a:t>
            </a:r>
          </a:p>
          <a:p>
            <a:pPr lvl="1"/>
            <a:r>
              <a:rPr kumimoji="1" lang="en-US" altLang="zh-CN" dirty="0"/>
              <a:t>i.e., it targets both human and </a:t>
            </a:r>
            <a:r>
              <a:rPr kumimoji="1" lang="en-US" altLang="zh-CN" dirty="0">
                <a:solidFill>
                  <a:srgbClr val="0432FF"/>
                </a:solidFill>
              </a:rPr>
              <a:t>machine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BC1E119-2D9D-C75E-5DBE-2026ADDC0152}"/>
              </a:ext>
            </a:extLst>
          </p:cNvPr>
          <p:cNvSpPr txBox="1">
            <a:spLocks/>
          </p:cNvSpPr>
          <p:nvPr/>
        </p:nvSpPr>
        <p:spPr bwMode="auto">
          <a:xfrm>
            <a:off x="5715000" y="1947319"/>
            <a:ext cx="29718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1" lang="en-US" altLang="zh-CN" sz="2000" b="1" kern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pre:</a:t>
            </a:r>
            <a:r>
              <a:rPr kumimoji="1" lang="en-US" altLang="zh-CN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True</a:t>
            </a:r>
          </a:p>
          <a:p>
            <a:pPr marL="0" indent="0">
              <a:buNone/>
            </a:pPr>
            <a:r>
              <a:rPr kumimoji="1" lang="en-US" altLang="zh-CN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1" lang="en-US" altLang="zh-CN" sz="2000" b="1" kern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post:</a:t>
            </a:r>
            <a:r>
              <a:rPr kumimoji="1" lang="en-US" altLang="zh-CN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result&gt;=0</a:t>
            </a:r>
          </a:p>
          <a:p>
            <a:pPr marL="0" indent="0"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kumimoji="1" lang="zh-CN" altLang="en-US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abs(n:</a:t>
            </a:r>
            <a:r>
              <a:rPr kumimoji="1" lang="zh-CN" altLang="en-US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int):</a:t>
            </a:r>
          </a:p>
          <a:p>
            <a:pPr marL="0" indent="0">
              <a:buNone/>
            </a:pPr>
            <a:r>
              <a:rPr kumimoji="1" lang="zh-CN" altLang="en-US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if(n&gt;=0):</a:t>
            </a:r>
          </a:p>
          <a:p>
            <a:pPr marL="0" indent="0"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n</a:t>
            </a:r>
          </a:p>
          <a:p>
            <a:pPr marL="0" indent="0"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else:</a:t>
            </a:r>
          </a:p>
          <a:p>
            <a:pPr marL="0" indent="0"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0-n</a:t>
            </a:r>
          </a:p>
          <a:p>
            <a:pPr marL="0" indent="0">
              <a:buNone/>
            </a:pPr>
            <a:endParaRPr kumimoji="1" lang="en-US" altLang="zh-CN" sz="2000" b="1" kern="0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367E2F-D0C4-978B-58CA-51D3E15F1F15}"/>
              </a:ext>
            </a:extLst>
          </p:cNvPr>
          <p:cNvSpPr txBox="1"/>
          <p:nvPr/>
        </p:nvSpPr>
        <p:spPr>
          <a:xfrm>
            <a:off x="6781799" y="987269"/>
            <a:ext cx="2162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logical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formulae</a:t>
            </a:r>
            <a:endParaRPr kumimoji="1" lang="zh-CN" altLang="en-US" dirty="0"/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9B9A8499-55F1-49A1-7748-FE4C74C33A61}"/>
              </a:ext>
            </a:extLst>
          </p:cNvPr>
          <p:cNvCxnSpPr>
            <a:cxnSpLocks/>
          </p:cNvCxnSpPr>
          <p:nvPr/>
        </p:nvCxnSpPr>
        <p:spPr>
          <a:xfrm flipH="1">
            <a:off x="7315201" y="1356601"/>
            <a:ext cx="257571" cy="661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38843C20-2B6A-5664-8DE1-E96B12DC0DC6}"/>
              </a:ext>
            </a:extLst>
          </p:cNvPr>
          <p:cNvCxnSpPr>
            <a:cxnSpLocks/>
          </p:cNvCxnSpPr>
          <p:nvPr/>
        </p:nvCxnSpPr>
        <p:spPr>
          <a:xfrm>
            <a:off x="7572772" y="1356601"/>
            <a:ext cx="0" cy="1030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787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CA2A7C-2E88-7A99-7C74-A8D6D14BA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Redundancy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B38192-0741-6495-569A-5E6107461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key</a:t>
            </a:r>
            <a:r>
              <a:rPr kumimoji="1" lang="zh-CN" altLang="en-US" dirty="0"/>
              <a:t> </a:t>
            </a:r>
            <a:r>
              <a:rPr kumimoji="1" lang="en-US" altLang="zh-CN" dirty="0"/>
              <a:t>insight:</a:t>
            </a:r>
          </a:p>
          <a:p>
            <a:pPr lvl="1"/>
            <a:r>
              <a:rPr kumimoji="1" lang="en-US" altLang="zh-CN" dirty="0"/>
              <a:t>Leverage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redundancy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specify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check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-US" altLang="zh-CN" dirty="0"/>
              <a:t>correctness</a:t>
            </a:r>
          </a:p>
          <a:p>
            <a:r>
              <a:rPr kumimoji="1" lang="en-US" altLang="zh-CN" dirty="0"/>
              <a:t>Both comments are logic formulas are essentially redundancy</a:t>
            </a:r>
          </a:p>
          <a:p>
            <a:pPr lvl="1"/>
            <a:r>
              <a:rPr kumimoji="1" lang="en-US" altLang="zh-CN" dirty="0"/>
              <a:t>discrepancies regarding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rigorousness</a:t>
            </a:r>
          </a:p>
        </p:txBody>
      </p:sp>
    </p:spTree>
    <p:extLst>
      <p:ext uri="{BB962C8B-B14F-4D97-AF65-F5344CB8AC3E}">
        <p14:creationId xmlns:p14="http://schemas.microsoft.com/office/powerpoint/2010/main" val="1641841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F4C25-F845-EF57-6051-07F93BD8A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0B28A0-26E3-585D-78E6-517A9FB95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Scale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Complex</a:t>
            </a:r>
            <a:br>
              <a:rPr kumimoji="1" lang="en-US" altLang="zh-CN" dirty="0"/>
            </a:br>
            <a:r>
              <a:rPr kumimoji="1" lang="en-US" altLang="zh-CN" dirty="0"/>
              <a:t>Programs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CE6FAA-0C2C-14A0-FB9E-C88DC01FC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2017713"/>
            <a:ext cx="4379912" cy="4114800"/>
          </a:xfrm>
        </p:spPr>
        <p:txBody>
          <a:bodyPr/>
          <a:lstStyle/>
          <a:p>
            <a:r>
              <a:rPr kumimoji="1" lang="en-US" altLang="zh-CN" dirty="0"/>
              <a:t>For 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program, how can we guarantee </a:t>
            </a:r>
            <a:r>
              <a:rPr kumimoji="1" lang="en-US" altLang="zh-CN" dirty="0">
                <a:solidFill>
                  <a:srgbClr val="0432FF"/>
                </a:solidFill>
              </a:rPr>
              <a:t>result==5</a:t>
            </a:r>
            <a:r>
              <a:rPr kumimoji="1" lang="en-US" altLang="zh-CN" dirty="0"/>
              <a:t>?</a:t>
            </a:r>
          </a:p>
          <a:p>
            <a:r>
              <a:rPr kumimoji="1" lang="en-US" altLang="zh-CN" dirty="0"/>
              <a:t>Note that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 testing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ineffective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this:</a:t>
            </a:r>
          </a:p>
          <a:p>
            <a:pPr lvl="1"/>
            <a:r>
              <a:rPr kumimoji="1" lang="en-US" altLang="zh-CN" dirty="0"/>
              <a:t>we </a:t>
            </a:r>
            <a:r>
              <a:rPr kumimoji="1" lang="en-US" altLang="zh-CN" dirty="0">
                <a:solidFill>
                  <a:srgbClr val="FF0000"/>
                </a:solidFill>
              </a:rPr>
              <a:t>cannot</a:t>
            </a:r>
            <a:r>
              <a:rPr kumimoji="1" lang="en-US" altLang="zh-CN" dirty="0"/>
              <a:t> enumerate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possible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values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n</a:t>
            </a:r>
            <a:r>
              <a:rPr kumimoji="1" lang="en-US" altLang="zh-CN" dirty="0"/>
              <a:t>!</a:t>
            </a:r>
            <a:endParaRPr kumimoji="1"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83A5B3F-829D-5BD4-26AA-9D2A45ED18E7}"/>
              </a:ext>
            </a:extLst>
          </p:cNvPr>
          <p:cNvSpPr txBox="1">
            <a:spLocks/>
          </p:cNvSpPr>
          <p:nvPr/>
        </p:nvSpPr>
        <p:spPr bwMode="auto">
          <a:xfrm>
            <a:off x="5715000" y="1947319"/>
            <a:ext cx="29718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pre:  n&lt;0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post: result==5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kumimoji="1" lang="zh-CN" altLang="en-US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(n):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while(n&lt;5):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n = n+1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  <a:p>
            <a:pPr marL="0" indent="0">
              <a:buFont typeface="Wingdings" pitchFamily="2" charset="2"/>
              <a:buNone/>
            </a:pPr>
            <a:endParaRPr kumimoji="1" lang="en-US" altLang="zh-CN" sz="2000" b="1" kern="0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DE861A1-1509-3B91-CAAF-EEB29F49AA19}"/>
              </a:ext>
            </a:extLst>
          </p:cNvPr>
          <p:cNvSpPr txBox="1"/>
          <p:nvPr/>
        </p:nvSpPr>
        <p:spPr>
          <a:xfrm>
            <a:off x="6781799" y="987269"/>
            <a:ext cx="2162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logical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formulae</a:t>
            </a:r>
            <a:endParaRPr kumimoji="1" lang="zh-CN" altLang="en-US" dirty="0"/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4DBEF0E1-FF50-8D30-A23C-DFEE4851F337}"/>
              </a:ext>
            </a:extLst>
          </p:cNvPr>
          <p:cNvCxnSpPr>
            <a:cxnSpLocks/>
          </p:cNvCxnSpPr>
          <p:nvPr/>
        </p:nvCxnSpPr>
        <p:spPr>
          <a:xfrm flipH="1">
            <a:off x="7315201" y="1356601"/>
            <a:ext cx="257571" cy="661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53908D59-640F-F788-69EB-ED1486EC3756}"/>
              </a:ext>
            </a:extLst>
          </p:cNvPr>
          <p:cNvCxnSpPr>
            <a:cxnSpLocks/>
          </p:cNvCxnSpPr>
          <p:nvPr/>
        </p:nvCxnSpPr>
        <p:spPr>
          <a:xfrm>
            <a:off x="7572772" y="1356601"/>
            <a:ext cx="0" cy="1030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9927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18660EE2-E25A-8444-8E9D-C068A46B10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Big picture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CF5C3EF0-3D13-FD4C-ADB0-795D70EBE088}"/>
              </a:ext>
            </a:extLst>
          </p:cNvPr>
          <p:cNvSpPr/>
          <p:nvPr/>
        </p:nvSpPr>
        <p:spPr>
          <a:xfrm>
            <a:off x="3505200" y="2514600"/>
            <a:ext cx="1752600" cy="990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sz="2400" dirty="0">
                <a:solidFill>
                  <a:schemeClr val="tx1"/>
                </a:solidFill>
              </a:rPr>
              <a:t>Logic</a:t>
            </a:r>
            <a:endParaRPr kumimoji="1"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094A6A5B-756B-9B42-879D-1F5E64AE705C}"/>
              </a:ext>
            </a:extLst>
          </p:cNvPr>
          <p:cNvSpPr/>
          <p:nvPr/>
        </p:nvSpPr>
        <p:spPr>
          <a:xfrm>
            <a:off x="1752600" y="4343400"/>
            <a:ext cx="1752600" cy="990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sz="2400" dirty="0">
                <a:solidFill>
                  <a:schemeClr val="tx1"/>
                </a:solidFill>
              </a:rPr>
              <a:t>Programs</a:t>
            </a:r>
            <a:endParaRPr kumimoji="1"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96F3679E-5CF1-2D46-92EB-BA228CF587EA}"/>
              </a:ext>
            </a:extLst>
          </p:cNvPr>
          <p:cNvSpPr/>
          <p:nvPr/>
        </p:nvSpPr>
        <p:spPr>
          <a:xfrm>
            <a:off x="5324475" y="4343400"/>
            <a:ext cx="1752600" cy="990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sz="2400" dirty="0">
                <a:solidFill>
                  <a:schemeClr val="tx1"/>
                </a:solidFill>
              </a:rPr>
              <a:t>prover/</a:t>
            </a:r>
          </a:p>
          <a:p>
            <a:pPr algn="ctr">
              <a:defRPr/>
            </a:pPr>
            <a:r>
              <a:rPr kumimoji="1" lang="en-US" altLang="zh-CN" sz="2400" dirty="0">
                <a:solidFill>
                  <a:schemeClr val="tx1"/>
                </a:solidFill>
              </a:rPr>
              <a:t>solver</a:t>
            </a:r>
            <a:endParaRPr kumimoji="1" lang="zh-CN" altLang="en-US" sz="2400" dirty="0">
              <a:solidFill>
                <a:schemeClr val="tx1"/>
              </a:solidFill>
            </a:endParaRPr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F51E5772-C5C1-4448-B052-F53C90471D02}"/>
              </a:ext>
            </a:extLst>
          </p:cNvPr>
          <p:cNvCxnSpPr>
            <a:stCxn id="7" idx="0"/>
            <a:endCxn id="4" idx="2"/>
          </p:cNvCxnSpPr>
          <p:nvPr/>
        </p:nvCxnSpPr>
        <p:spPr>
          <a:xfrm flipV="1">
            <a:off x="2628900" y="3505200"/>
            <a:ext cx="1752600" cy="83820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CECFFBCE-F4D1-3245-93C9-FF059F61935C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3505200" y="4838700"/>
            <a:ext cx="1819275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DFC329C2-2AD3-9249-9953-121904F332B1}"/>
              </a:ext>
            </a:extLst>
          </p:cNvPr>
          <p:cNvCxnSpPr>
            <a:cxnSpLocks/>
            <a:stCxn id="8" idx="0"/>
            <a:endCxn id="4" idx="2"/>
          </p:cNvCxnSpPr>
          <p:nvPr/>
        </p:nvCxnSpPr>
        <p:spPr>
          <a:xfrm flipH="1" flipV="1">
            <a:off x="4381500" y="3505200"/>
            <a:ext cx="1819275" cy="83820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206A91CA-6F1F-4A4D-9729-771B2EF8752D}"/>
              </a:ext>
            </a:extLst>
          </p:cNvPr>
          <p:cNvSpPr txBox="1"/>
          <p:nvPr/>
        </p:nvSpPr>
        <p:spPr>
          <a:xfrm>
            <a:off x="381001" y="2667000"/>
            <a:ext cx="1981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/>
              <a:t>Hoare logic connects the logic and program!</a:t>
            </a:r>
            <a:endParaRPr kumimoji="1" lang="zh-CN" altLang="en-US" sz="2000" dirty="0"/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FC85E07C-EE6F-0341-8C6C-2262B9698EC9}"/>
              </a:ext>
            </a:extLst>
          </p:cNvPr>
          <p:cNvCxnSpPr>
            <a:cxnSpLocks/>
          </p:cNvCxnSpPr>
          <p:nvPr/>
        </p:nvCxnSpPr>
        <p:spPr>
          <a:xfrm>
            <a:off x="2286000" y="3352800"/>
            <a:ext cx="106680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58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26843-D076-B5AE-3BF4-B4CCC45C6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7BA18758-E74A-96E3-9E1F-BF9F94E236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2984DBF9-107F-B591-2995-48386757EC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</a:t>
            </a:r>
          </a:p>
        </p:txBody>
      </p:sp>
      <p:sp>
        <p:nvSpPr>
          <p:cNvPr id="20483" name="Rectangle 4">
            <a:extLst>
              <a:ext uri="{FF2B5EF4-FFF2-40B4-BE49-F238E27FC236}">
                <a16:creationId xmlns:a16="http://schemas.microsoft.com/office/drawing/2014/main" id="{4BA04105-06EC-847D-D99F-0141F2280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276600"/>
            <a:ext cx="6364306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i="1" dirty="0">
                <a:solidFill>
                  <a:schemeClr val="folHlink"/>
                </a:solidFill>
              </a:rPr>
              <a:t>Program</a:t>
            </a:r>
            <a:r>
              <a:rPr lang="zh-CN" altLang="en-US" sz="3600" i="1" dirty="0">
                <a:solidFill>
                  <a:schemeClr val="folHlink"/>
                </a:solidFill>
              </a:rPr>
              <a:t> </a:t>
            </a:r>
            <a:r>
              <a:rPr lang="en-US" altLang="zh-CN" sz="3600" i="1" dirty="0">
                <a:solidFill>
                  <a:schemeClr val="folHlink"/>
                </a:solidFill>
              </a:rPr>
              <a:t>Verification</a:t>
            </a:r>
            <a:r>
              <a:rPr lang="zh-CN" altLang="en-US" sz="3600" i="1" dirty="0">
                <a:solidFill>
                  <a:schemeClr val="folHlink"/>
                </a:solidFill>
              </a:rPr>
              <a:t> </a:t>
            </a:r>
            <a:r>
              <a:rPr lang="en-US" altLang="zh-CN" sz="3600" i="1" dirty="0">
                <a:solidFill>
                  <a:schemeClr val="folHlink"/>
                </a:solidFill>
              </a:rPr>
              <a:t>in</a:t>
            </a:r>
            <a:r>
              <a:rPr lang="zh-CN" altLang="en-US" sz="3600" i="1" dirty="0">
                <a:solidFill>
                  <a:schemeClr val="folHlink"/>
                </a:solidFill>
              </a:rPr>
              <a:t> </a:t>
            </a:r>
            <a:r>
              <a:rPr lang="en-US" altLang="zh-CN" sz="3600" i="1" dirty="0">
                <a:solidFill>
                  <a:schemeClr val="folHlink"/>
                </a:solidFill>
              </a:rPr>
              <a:t>Action:</a:t>
            </a:r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i="1" dirty="0">
                <a:solidFill>
                  <a:schemeClr val="folHlink"/>
                </a:solidFill>
              </a:rPr>
              <a:t>Nagini</a:t>
            </a:r>
            <a:r>
              <a:rPr lang="zh-CN" altLang="en-US" sz="3600" i="1" dirty="0">
                <a:solidFill>
                  <a:schemeClr val="folHlink"/>
                </a:solidFill>
              </a:rPr>
              <a:t> </a:t>
            </a:r>
            <a:r>
              <a:rPr lang="en-US" altLang="zh-CN" sz="3600" i="1" dirty="0">
                <a:solidFill>
                  <a:schemeClr val="folHlink"/>
                </a:solidFill>
              </a:rPr>
              <a:t>(for</a:t>
            </a:r>
            <a:r>
              <a:rPr lang="zh-CN" altLang="en-US" sz="3600" i="1" dirty="0">
                <a:solidFill>
                  <a:schemeClr val="folHlink"/>
                </a:solidFill>
              </a:rPr>
              <a:t> </a:t>
            </a:r>
            <a:r>
              <a:rPr lang="en-US" altLang="zh-CN" sz="3600" i="1" dirty="0">
                <a:solidFill>
                  <a:schemeClr val="folHlink"/>
                </a:solidFill>
              </a:rPr>
              <a:t>Python)</a:t>
            </a:r>
          </a:p>
        </p:txBody>
      </p:sp>
    </p:spTree>
    <p:extLst>
      <p:ext uri="{BB962C8B-B14F-4D97-AF65-F5344CB8AC3E}">
        <p14:creationId xmlns:p14="http://schemas.microsoft.com/office/powerpoint/2010/main" val="1815010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AF8FD-7358-6FBB-6E22-A1F14A144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BB764E-90FA-4E99-7AEE-13DD6538D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#1:</a:t>
            </a:r>
            <a:br>
              <a:rPr kumimoji="1" lang="en-US" altLang="zh-CN" dirty="0"/>
            </a:br>
            <a:r>
              <a:rPr kumimoji="1" lang="en-US" altLang="zh-CN" dirty="0"/>
              <a:t>basic</a:t>
            </a:r>
            <a:r>
              <a:rPr kumimoji="1" lang="zh-CN" altLang="en-US" dirty="0"/>
              <a:t> </a:t>
            </a:r>
            <a:r>
              <a:rPr kumimoji="1" lang="en-US" altLang="zh-CN" dirty="0"/>
              <a:t>pre-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post-conditions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21EFCC-7264-8014-9F62-C7F45F79E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1" lang="en-US" altLang="zh-CN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pre: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kumimoji="1" lang="zh-CN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kumimoji="1" lang="zh-CN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1" lang="en-US" altLang="zh-CN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post: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result &gt;= 1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(x: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int)-&gt;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int: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Requires(x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pre-condition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Ensures(Result()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the post-condition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x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444FBAF-91BF-91FA-41C5-199C8EC1A5F4}"/>
              </a:ext>
            </a:extLst>
          </p:cNvPr>
          <p:cNvSpPr txBox="1"/>
          <p:nvPr/>
        </p:nvSpPr>
        <p:spPr>
          <a:xfrm>
            <a:off x="4114800" y="5029200"/>
            <a:ext cx="48402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//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verify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case: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$ </a:t>
            </a:r>
            <a:r>
              <a:rPr kumimoji="1" lang="en-US" altLang="zh-CN" dirty="0" err="1">
                <a:solidFill>
                  <a:srgbClr val="FF0000"/>
                </a:solidFill>
              </a:rPr>
              <a:t>nagini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 err="1">
                <a:solidFill>
                  <a:srgbClr val="FF0000"/>
                </a:solidFill>
              </a:rPr>
              <a:t>hoare.py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endParaRPr kumimoji="1" lang="en-US" altLang="zh-CN" dirty="0"/>
          </a:p>
          <a:p>
            <a:r>
              <a:rPr kumimoji="1" lang="en-US" altLang="zh-CN" dirty="0"/>
              <a:t>//</a:t>
            </a:r>
            <a:r>
              <a:rPr kumimoji="1" lang="zh-CN" altLang="en-US" dirty="0"/>
              <a:t> </a:t>
            </a:r>
            <a:r>
              <a:rPr kumimoji="1" lang="en-US" altLang="zh-CN" dirty="0"/>
              <a:t>will</a:t>
            </a:r>
            <a:r>
              <a:rPr kumimoji="1" lang="zh-CN" altLang="en-US" dirty="0"/>
              <a:t> </a:t>
            </a:r>
            <a:r>
              <a:rPr kumimoji="1" lang="en-US" altLang="zh-CN" dirty="0"/>
              <a:t>verify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automatically</a:t>
            </a:r>
            <a:r>
              <a:rPr kumimoji="1" lang="zh-CN" altLang="en-US" dirty="0"/>
              <a:t> </a:t>
            </a:r>
            <a:r>
              <a:rPr kumimoji="1" lang="en-US" altLang="zh-CN" dirty="0"/>
              <a:t>(stripped):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Verification successful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Verification took 4.86 seconds.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3710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D99B8-ADA0-20CA-CF97-20144F69C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9A29CB-F851-83A1-524E-2C3BD0996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#1:</a:t>
            </a:r>
            <a:br>
              <a:rPr kumimoji="1" lang="en-US" altLang="zh-CN" dirty="0"/>
            </a:br>
            <a:r>
              <a:rPr kumimoji="1" lang="en-US" altLang="zh-CN" dirty="0"/>
              <a:t>basic</a:t>
            </a:r>
            <a:r>
              <a:rPr kumimoji="1" lang="zh-CN" altLang="en-US" dirty="0"/>
              <a:t> </a:t>
            </a:r>
            <a:r>
              <a:rPr kumimoji="1" lang="en-US" altLang="zh-CN" dirty="0"/>
              <a:t>pre-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post-conditions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5C9920-18BD-75B5-B0A5-B294B6A1F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1" lang="en-US" altLang="zh-CN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pre: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kumimoji="1" lang="zh-CN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kumimoji="1" lang="zh-CN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1" lang="en-US" altLang="zh-CN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post: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result &gt;= 1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(x: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int)-&gt;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int: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Requires(x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pre-condition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Ensures(Result()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the post-condition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x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22A992A-25B3-E144-D2C8-B0A4A769D1A7}"/>
              </a:ext>
            </a:extLst>
          </p:cNvPr>
          <p:cNvSpPr txBox="1"/>
          <p:nvPr/>
        </p:nvSpPr>
        <p:spPr>
          <a:xfrm>
            <a:off x="4114800" y="5029200"/>
            <a:ext cx="48402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Verification failed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Errors: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Postcondition of </a:t>
            </a:r>
            <a:r>
              <a:rPr kumimoji="1" lang="en-US" altLang="zh-CN" dirty="0" err="1">
                <a:solidFill>
                  <a:srgbClr val="FF0000"/>
                </a:solidFill>
              </a:rPr>
              <a:t>inc</a:t>
            </a:r>
            <a:r>
              <a:rPr kumimoji="1" lang="en-US" altLang="zh-CN" dirty="0">
                <a:solidFill>
                  <a:srgbClr val="FF0000"/>
                </a:solidFill>
              </a:rPr>
              <a:t> might not hold. Assertion Result() &gt;= 1 might not hold. (hoare.py@7.12--7.25)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Verification took 4.97 seconds.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0F3D984-C47F-47BB-17BB-51203A1D2825}"/>
              </a:ext>
            </a:extLst>
          </p:cNvPr>
          <p:cNvSpPr txBox="1"/>
          <p:nvPr/>
        </p:nvSpPr>
        <p:spPr>
          <a:xfrm>
            <a:off x="609600" y="4989356"/>
            <a:ext cx="2162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-US" altLang="zh-CN" dirty="0"/>
              <a:t>bug!</a:t>
            </a:r>
            <a:endParaRPr kumimoji="1" lang="zh-CN" altLang="en-US" dirty="0"/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EFB3DE9F-09D7-7328-F1A2-C164D5EF86CC}"/>
              </a:ext>
            </a:extLst>
          </p:cNvPr>
          <p:cNvCxnSpPr>
            <a:cxnSpLocks/>
          </p:cNvCxnSpPr>
          <p:nvPr/>
        </p:nvCxnSpPr>
        <p:spPr>
          <a:xfrm flipV="1">
            <a:off x="1600200" y="4495800"/>
            <a:ext cx="1371600" cy="493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1889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0C072-F8C6-7C6E-0192-652E046BE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67090A-072F-A06D-0CD1-0107A78F9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#1:</a:t>
            </a:r>
            <a:br>
              <a:rPr kumimoji="1" lang="en-US" altLang="zh-CN" dirty="0"/>
            </a:br>
            <a:r>
              <a:rPr kumimoji="1" lang="en-US" altLang="zh-CN" dirty="0"/>
              <a:t>basic</a:t>
            </a:r>
            <a:r>
              <a:rPr kumimoji="1" lang="zh-CN" altLang="en-US" dirty="0"/>
              <a:t> </a:t>
            </a:r>
            <a:r>
              <a:rPr kumimoji="1" lang="en-US" altLang="zh-CN" dirty="0"/>
              <a:t>pre-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post-conditions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27B35F-EF25-6AB6-AFD7-B47F9CB11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1" lang="en-US" altLang="zh-CN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pre: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kumimoji="1" lang="zh-CN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kumimoji="1" lang="zh-CN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1" lang="en-US" altLang="zh-CN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post: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result &gt;= 0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(x: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int)-&gt;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int: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Requires(x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pre-condition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Ensures(Result()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the post-condition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x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7BEAED2-CAE3-7CFD-5FAA-650413EF7567}"/>
              </a:ext>
            </a:extLst>
          </p:cNvPr>
          <p:cNvSpPr txBox="1"/>
          <p:nvPr/>
        </p:nvSpPr>
        <p:spPr>
          <a:xfrm>
            <a:off x="4114800" y="5029200"/>
            <a:ext cx="48402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Verification failed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Errors: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Postcondition of </a:t>
            </a:r>
            <a:r>
              <a:rPr kumimoji="1" lang="en-US" altLang="zh-CN" dirty="0" err="1">
                <a:solidFill>
                  <a:srgbClr val="FF0000"/>
                </a:solidFill>
              </a:rPr>
              <a:t>inc</a:t>
            </a:r>
            <a:r>
              <a:rPr kumimoji="1" lang="en-US" altLang="zh-CN" dirty="0">
                <a:solidFill>
                  <a:srgbClr val="FF0000"/>
                </a:solidFill>
              </a:rPr>
              <a:t> might not hold. Assertion Result() &gt;= 2 might not hold. (hoare.py@7.12--7.25)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Verification took 4.97 seconds.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638DB62-1551-3304-FFDA-D884B2F75D24}"/>
              </a:ext>
            </a:extLst>
          </p:cNvPr>
          <p:cNvSpPr txBox="1"/>
          <p:nvPr/>
        </p:nvSpPr>
        <p:spPr>
          <a:xfrm>
            <a:off x="4800600" y="4132487"/>
            <a:ext cx="2162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an</a:t>
            </a:r>
            <a:r>
              <a:rPr kumimoji="1" lang="zh-CN" altLang="en-US" dirty="0"/>
              <a:t> </a:t>
            </a:r>
            <a:r>
              <a:rPr kumimoji="1" lang="en-US" altLang="zh-CN" dirty="0"/>
              <a:t>assertion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bug!</a:t>
            </a:r>
            <a:endParaRPr kumimoji="1" lang="zh-CN" altLang="en-US" dirty="0"/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C9F768E2-3C64-B2C1-ED5C-4106E70E1741}"/>
              </a:ext>
            </a:extLst>
          </p:cNvPr>
          <p:cNvCxnSpPr>
            <a:cxnSpLocks/>
          </p:cNvCxnSpPr>
          <p:nvPr/>
        </p:nvCxnSpPr>
        <p:spPr>
          <a:xfrm flipH="1" flipV="1">
            <a:off x="4267200" y="3810000"/>
            <a:ext cx="801688" cy="322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197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6553A-337A-D349-4C39-C9D8FC7C0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4C2144-5264-4718-59CD-14847902B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#1:</a:t>
            </a:r>
            <a:br>
              <a:rPr kumimoji="1" lang="en-US" altLang="zh-CN" dirty="0"/>
            </a:br>
            <a:r>
              <a:rPr kumimoji="1" lang="en-US" altLang="zh-CN" dirty="0"/>
              <a:t>basic</a:t>
            </a:r>
            <a:r>
              <a:rPr kumimoji="1" lang="zh-CN" altLang="en-US" dirty="0"/>
              <a:t> </a:t>
            </a:r>
            <a:r>
              <a:rPr kumimoji="1" lang="en-US" altLang="zh-CN" dirty="0"/>
              <a:t>pre-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post-conditions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5B61F9-24C6-3077-6F3D-0A0AE95A4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1" lang="en-US" altLang="zh-CN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pre: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kumimoji="1" lang="zh-CN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kumimoji="1" lang="zh-CN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1" lang="en-US" altLang="zh-CN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post: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result &gt;= 1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(x: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int)-&gt;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int: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Requires(x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pre-condition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Ensures(Result()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the post-condition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x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B87CE3A-F1C7-4C16-3176-2BBDC5A5DB03}"/>
              </a:ext>
            </a:extLst>
          </p:cNvPr>
          <p:cNvSpPr txBox="1"/>
          <p:nvPr/>
        </p:nvSpPr>
        <p:spPr>
          <a:xfrm>
            <a:off x="4800600" y="4132487"/>
            <a:ext cx="2162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an</a:t>
            </a:r>
            <a:r>
              <a:rPr kumimoji="1" lang="zh-CN" altLang="en-US" dirty="0"/>
              <a:t> </a:t>
            </a:r>
            <a:r>
              <a:rPr kumimoji="1" lang="en-US" altLang="zh-CN" dirty="0"/>
              <a:t>assertion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bug!</a:t>
            </a:r>
            <a:endParaRPr kumimoji="1" lang="zh-CN" altLang="en-US" dirty="0"/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21D6FFEB-539B-587C-7314-30D1019DBD19}"/>
              </a:ext>
            </a:extLst>
          </p:cNvPr>
          <p:cNvCxnSpPr>
            <a:cxnSpLocks/>
          </p:cNvCxnSpPr>
          <p:nvPr/>
        </p:nvCxnSpPr>
        <p:spPr>
          <a:xfrm flipH="1" flipV="1">
            <a:off x="4267200" y="3810000"/>
            <a:ext cx="801688" cy="322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DA6ECEDC-4445-EF01-5906-5B1085899CD8}"/>
              </a:ext>
            </a:extLst>
          </p:cNvPr>
          <p:cNvSpPr txBox="1"/>
          <p:nvPr/>
        </p:nvSpPr>
        <p:spPr>
          <a:xfrm>
            <a:off x="609600" y="4989356"/>
            <a:ext cx="2162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also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-US" altLang="zh-CN" dirty="0"/>
              <a:t>bug!</a:t>
            </a:r>
            <a:endParaRPr kumimoji="1" lang="zh-CN" altLang="en-US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F93D1865-A0E2-2FD7-A0D2-381102E26574}"/>
              </a:ext>
            </a:extLst>
          </p:cNvPr>
          <p:cNvCxnSpPr>
            <a:cxnSpLocks/>
          </p:cNvCxnSpPr>
          <p:nvPr/>
        </p:nvCxnSpPr>
        <p:spPr>
          <a:xfrm flipV="1">
            <a:off x="1600200" y="4495800"/>
            <a:ext cx="1371600" cy="493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253E9CD8-0E54-EFF2-D311-4CBEE4AABFF5}"/>
              </a:ext>
            </a:extLst>
          </p:cNvPr>
          <p:cNvSpPr txBox="1"/>
          <p:nvPr/>
        </p:nvSpPr>
        <p:spPr>
          <a:xfrm>
            <a:off x="4114800" y="5221069"/>
            <a:ext cx="4840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Verification successful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Verification took 4.97 seconds.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2CAB0DA-1D5A-47A4-35E3-058409356F52}"/>
              </a:ext>
            </a:extLst>
          </p:cNvPr>
          <p:cNvSpPr txBox="1"/>
          <p:nvPr/>
        </p:nvSpPr>
        <p:spPr>
          <a:xfrm>
            <a:off x="2667000" y="5906869"/>
            <a:ext cx="6288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-US" altLang="zh-CN" dirty="0"/>
              <a:t>verification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really</a:t>
            </a:r>
            <a:r>
              <a:rPr kumimoji="1" lang="zh-CN" altLang="en-US" dirty="0"/>
              <a:t> </a:t>
            </a:r>
            <a:r>
              <a:rPr kumimoji="1" lang="en-US" altLang="zh-CN" dirty="0"/>
              <a:t>verifies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satisfies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specification!</a:t>
            </a:r>
            <a:r>
              <a:rPr kumimoji="1" lang="zh-CN" altLang="en-US" dirty="0"/>
              <a:t> </a:t>
            </a:r>
            <a:r>
              <a:rPr kumimoji="1" lang="en-US" altLang="zh-CN" dirty="0"/>
              <a:t>It</a:t>
            </a:r>
            <a:r>
              <a:rPr kumimoji="1" lang="zh-CN" altLang="en-US" dirty="0"/>
              <a:t> </a:t>
            </a:r>
            <a:r>
              <a:rPr kumimoji="1" lang="en-US" altLang="zh-CN" dirty="0"/>
              <a:t>does</a:t>
            </a:r>
            <a:r>
              <a:rPr kumimoji="1" lang="zh-CN" altLang="en-US" dirty="0"/>
              <a:t> </a:t>
            </a:r>
            <a:r>
              <a:rPr kumimoji="1" lang="en-US" altLang="zh-CN" dirty="0"/>
              <a:t>NOT</a:t>
            </a:r>
            <a:r>
              <a:rPr kumimoji="1" lang="zh-CN" altLang="en-US" dirty="0"/>
              <a:t> </a:t>
            </a:r>
            <a:r>
              <a:rPr kumimoji="1" lang="en-US" altLang="zh-CN" dirty="0"/>
              <a:t>verify</a:t>
            </a:r>
            <a:r>
              <a:rPr kumimoji="1" lang="zh-CN" altLang="en-US" dirty="0"/>
              <a:t> </a:t>
            </a:r>
            <a:r>
              <a:rPr kumimoji="1" lang="en-US" altLang="zh-CN" dirty="0"/>
              <a:t>either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-US" altLang="zh-CN" dirty="0"/>
              <a:t>or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specification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correct!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11319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6AF4D-8646-38DC-FDC0-851F29E6B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9AD3B4-D124-1693-B895-D48F26800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#1:</a:t>
            </a:r>
            <a:r>
              <a:rPr kumimoji="1" lang="zh-CN" altLang="en-US" dirty="0"/>
              <a:t> </a:t>
            </a:r>
            <a:r>
              <a:rPr kumimoji="1" lang="en-US" altLang="zh-CN" dirty="0"/>
              <a:t>fine-grained</a:t>
            </a:r>
            <a:r>
              <a:rPr kumimoji="1" lang="zh-CN" altLang="en-US" dirty="0"/>
              <a:t> </a:t>
            </a:r>
            <a:r>
              <a:rPr kumimoji="1" lang="en-US" altLang="zh-CN" dirty="0"/>
              <a:t>pre-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post-conditions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DFBB90-E24F-1BC0-8615-8B3F49F38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1" lang="en-US" altLang="zh-CN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pre: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kumimoji="1" lang="zh-CN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kumimoji="1" lang="zh-CN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1" lang="en-US" altLang="zh-CN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post: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result ==</a:t>
            </a:r>
            <a:r>
              <a:rPr kumimoji="1" lang="zh-CN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x+1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(x: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int)-&gt;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int: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Requires(x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pre-condition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Ensures(Result()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x+1)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the post-condition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x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E2C79E2-4545-4628-14CA-F291763D2B93}"/>
              </a:ext>
            </a:extLst>
          </p:cNvPr>
          <p:cNvSpPr txBox="1"/>
          <p:nvPr/>
        </p:nvSpPr>
        <p:spPr>
          <a:xfrm>
            <a:off x="188912" y="5089881"/>
            <a:ext cx="4840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Verification successful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Verification took 4.97 seconds.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5ADC9A1-2B62-A676-297F-3B37A3E5800F}"/>
              </a:ext>
            </a:extLst>
          </p:cNvPr>
          <p:cNvSpPr txBox="1"/>
          <p:nvPr/>
        </p:nvSpPr>
        <p:spPr>
          <a:xfrm>
            <a:off x="5029200" y="4343400"/>
            <a:ext cx="39258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essentially</a:t>
            </a:r>
            <a:r>
              <a:rPr kumimoji="1" lang="zh-CN" altLang="en-US" dirty="0"/>
              <a:t> 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-US" altLang="zh-CN" dirty="0"/>
              <a:t>functionality</a:t>
            </a:r>
            <a:r>
              <a:rPr kumimoji="1" lang="zh-CN" altLang="en-US" dirty="0"/>
              <a:t> </a:t>
            </a:r>
            <a:r>
              <a:rPr kumimoji="1" lang="en-US" altLang="zh-CN" dirty="0"/>
              <a:t>twice,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different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domains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Python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predicate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logic,</a:t>
            </a:r>
            <a:r>
              <a:rPr kumimoji="1" lang="zh-CN" altLang="en-US" dirty="0"/>
              <a:t> </a:t>
            </a:r>
            <a:r>
              <a:rPr kumimoji="1" lang="en-US" altLang="zh-CN" dirty="0"/>
              <a:t>respectively.</a:t>
            </a:r>
            <a:r>
              <a:rPr kumimoji="1" lang="zh-CN" altLang="en-US" dirty="0"/>
              <a:t> </a:t>
            </a:r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4E473DD6-82DC-2AD1-019F-F044695583B2}"/>
              </a:ext>
            </a:extLst>
          </p:cNvPr>
          <p:cNvCxnSpPr>
            <a:cxnSpLocks/>
          </p:cNvCxnSpPr>
          <p:nvPr/>
        </p:nvCxnSpPr>
        <p:spPr>
          <a:xfrm flipH="1" flipV="1">
            <a:off x="4837112" y="3810000"/>
            <a:ext cx="573088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DF007B19-141D-225D-A8AB-B45C5DE2A550}"/>
              </a:ext>
            </a:extLst>
          </p:cNvPr>
          <p:cNvCxnSpPr>
            <a:cxnSpLocks/>
          </p:cNvCxnSpPr>
          <p:nvPr/>
        </p:nvCxnSpPr>
        <p:spPr>
          <a:xfrm flipH="1" flipV="1">
            <a:off x="3429000" y="4380307"/>
            <a:ext cx="1607128" cy="203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28445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#2:</a:t>
            </a:r>
            <a:r>
              <a:rPr kumimoji="1" lang="zh-CN" altLang="en-US" dirty="0"/>
              <a:t> </a:t>
            </a:r>
            <a:r>
              <a:rPr kumimoji="1" lang="en-US" altLang="zh-CN" dirty="0"/>
              <a:t>branching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1" lang="en-US" altLang="zh-CN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pre: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True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1" lang="en-US" altLang="zh-CN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post: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result &gt;= 0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abs(n: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int)-&gt;int: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Requires(True)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pre-condition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Ensures(Result()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the post-condition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if(n&gt;=0):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n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else: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0-n</a:t>
            </a: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FA454A-EA81-6475-3F80-657B70460D60}"/>
              </a:ext>
            </a:extLst>
          </p:cNvPr>
          <p:cNvSpPr txBox="1"/>
          <p:nvPr/>
        </p:nvSpPr>
        <p:spPr>
          <a:xfrm>
            <a:off x="4114800" y="5029200"/>
            <a:ext cx="48402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//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verify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case: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$ </a:t>
            </a:r>
            <a:r>
              <a:rPr kumimoji="1" lang="en-US" altLang="zh-CN" dirty="0" err="1">
                <a:solidFill>
                  <a:srgbClr val="FF0000"/>
                </a:solidFill>
              </a:rPr>
              <a:t>nagini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 err="1">
                <a:solidFill>
                  <a:srgbClr val="FF0000"/>
                </a:solidFill>
              </a:rPr>
              <a:t>hoare.py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endParaRPr kumimoji="1" lang="en-US" altLang="zh-CN" dirty="0"/>
          </a:p>
          <a:p>
            <a:r>
              <a:rPr kumimoji="1" lang="en-US" altLang="zh-CN" dirty="0"/>
              <a:t>//</a:t>
            </a:r>
            <a:r>
              <a:rPr kumimoji="1" lang="zh-CN" altLang="en-US" dirty="0"/>
              <a:t> </a:t>
            </a:r>
            <a:r>
              <a:rPr kumimoji="1" lang="en-US" altLang="zh-CN" dirty="0"/>
              <a:t>will</a:t>
            </a:r>
            <a:r>
              <a:rPr kumimoji="1" lang="zh-CN" altLang="en-US" dirty="0"/>
              <a:t> </a:t>
            </a:r>
            <a:r>
              <a:rPr kumimoji="1" lang="en-US" altLang="zh-CN" dirty="0"/>
              <a:t>verify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automatically</a:t>
            </a:r>
            <a:r>
              <a:rPr kumimoji="1" lang="zh-CN" altLang="en-US" dirty="0"/>
              <a:t> </a:t>
            </a:r>
            <a:r>
              <a:rPr kumimoji="1" lang="en-US" altLang="zh-CN" dirty="0"/>
              <a:t>(stripped):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Verification successful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Verification took 4.86 seconds.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74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ED90E-6A93-A01A-E9D6-B67850F0C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C3F09C-79CB-18D6-FA12-F28044E0C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#2: branching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49AC4C-52DC-35B9-A5AD-D83C62BD9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1" lang="en-US" altLang="zh-CN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pre: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True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1" lang="en-US" altLang="zh-CN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post: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result &gt;= 0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abs(n: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int)-&gt;int: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Requires(True)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pre-condition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Ensures(Result()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the post-condition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if(n&gt;=0):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n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else: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n</a:t>
            </a: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06F9981-AEBC-E5B9-63FD-C470ECFD606E}"/>
              </a:ext>
            </a:extLst>
          </p:cNvPr>
          <p:cNvSpPr txBox="1"/>
          <p:nvPr/>
        </p:nvSpPr>
        <p:spPr>
          <a:xfrm>
            <a:off x="4114800" y="4419600"/>
            <a:ext cx="48402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Verification failed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Errors: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Postcondition of abs might not hold. Assertion Result() &gt;= 0 might not hold. (hoare.py@7.12--7.25).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Branch conditions: 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  (not n &gt;= 0) at hoare.py@9.7--9.13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Verification took 5.04 seconds.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1A0309E-D68F-330A-C254-BC7C76A222B6}"/>
              </a:ext>
            </a:extLst>
          </p:cNvPr>
          <p:cNvSpPr txBox="1"/>
          <p:nvPr/>
        </p:nvSpPr>
        <p:spPr>
          <a:xfrm>
            <a:off x="609600" y="6132356"/>
            <a:ext cx="2162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-US" altLang="zh-CN" dirty="0"/>
              <a:t>bug!</a:t>
            </a:r>
            <a:endParaRPr kumimoji="1" lang="zh-CN" altLang="en-US" dirty="0"/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A2357B83-20CF-51C4-6CF9-A1AE9A54A104}"/>
              </a:ext>
            </a:extLst>
          </p:cNvPr>
          <p:cNvCxnSpPr>
            <a:cxnSpLocks/>
          </p:cNvCxnSpPr>
          <p:nvPr/>
        </p:nvCxnSpPr>
        <p:spPr>
          <a:xfrm flipV="1">
            <a:off x="1600200" y="5638800"/>
            <a:ext cx="1371600" cy="493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53791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C415D-FE80-F432-0DE7-9D9BEE259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E541A6-6C21-871D-E36A-8011C1A16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#2: branching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109178-6C53-2168-7BAC-4D3307350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1" lang="en-US" altLang="zh-CN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pre: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True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1" lang="en-US" altLang="zh-CN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post: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result &gt;= 0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abs(n: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int)-&gt;int: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Requires(True)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pre-condition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Ensures(Result()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the post-condition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if(n&gt;=0):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n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else: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0-n</a:t>
            </a: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B65561E-1D4B-31F3-9FE3-8F4EAC7AC7EF}"/>
              </a:ext>
            </a:extLst>
          </p:cNvPr>
          <p:cNvSpPr txBox="1"/>
          <p:nvPr/>
        </p:nvSpPr>
        <p:spPr>
          <a:xfrm>
            <a:off x="4114800" y="4419600"/>
            <a:ext cx="48402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Verification failed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Errors: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Postcondition of abs might not hold. Assertion Result() &gt; 0 might not hold. (hoare.py@7.12--7.24).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Branch conditions: 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  n &gt;= 0 at hoare.py@9.7--9.13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Verification took 5.10 seconds.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F27F4C7-40FC-9478-5531-024AC0C39A83}"/>
              </a:ext>
            </a:extLst>
          </p:cNvPr>
          <p:cNvSpPr txBox="1"/>
          <p:nvPr/>
        </p:nvSpPr>
        <p:spPr>
          <a:xfrm>
            <a:off x="609600" y="3886200"/>
            <a:ext cx="2162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an</a:t>
            </a:r>
            <a:r>
              <a:rPr kumimoji="1" lang="zh-CN" altLang="en-US" dirty="0"/>
              <a:t> </a:t>
            </a:r>
            <a:r>
              <a:rPr kumimoji="1" lang="en-US" altLang="zh-CN" dirty="0"/>
              <a:t>assertion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bug!</a:t>
            </a:r>
            <a:endParaRPr kumimoji="1" lang="zh-CN" altLang="en-US" dirty="0"/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64E35388-0B1E-815C-331B-7764258D4D7E}"/>
              </a:ext>
            </a:extLst>
          </p:cNvPr>
          <p:cNvCxnSpPr>
            <a:cxnSpLocks/>
          </p:cNvCxnSpPr>
          <p:nvPr/>
        </p:nvCxnSpPr>
        <p:spPr>
          <a:xfrm flipV="1">
            <a:off x="2133600" y="3810000"/>
            <a:ext cx="1981200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42876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DD632-CAAE-406C-D344-D2AA23105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1B487B-D924-7C6A-9665-E45C79848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#2: branching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C52E88-43AC-52D6-3E53-853E69D47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1" lang="en-US" altLang="zh-CN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pre: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True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1" lang="en-US" altLang="zh-CN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post: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result &gt;= 0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abs(n: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int)-&gt;int: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Requires(True)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pre-condition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Ensures(Result()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the post-condition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if(n&gt;0):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n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else: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1-n</a:t>
            </a: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F70EE7-77C0-84AC-DECD-F17829BB885A}"/>
              </a:ext>
            </a:extLst>
          </p:cNvPr>
          <p:cNvSpPr txBox="1"/>
          <p:nvPr/>
        </p:nvSpPr>
        <p:spPr>
          <a:xfrm>
            <a:off x="4114800" y="4382869"/>
            <a:ext cx="4840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Verification successful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Verification took 4.97 seconds.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9EF11F-DFAD-AB05-18B4-367979599B97}"/>
              </a:ext>
            </a:extLst>
          </p:cNvPr>
          <p:cNvSpPr txBox="1"/>
          <p:nvPr/>
        </p:nvSpPr>
        <p:spPr>
          <a:xfrm>
            <a:off x="609600" y="3886200"/>
            <a:ext cx="2162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an</a:t>
            </a:r>
            <a:r>
              <a:rPr kumimoji="1" lang="zh-CN" altLang="en-US" dirty="0"/>
              <a:t> </a:t>
            </a:r>
            <a:r>
              <a:rPr kumimoji="1" lang="en-US" altLang="zh-CN" dirty="0"/>
              <a:t>assertion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bug!</a:t>
            </a:r>
            <a:endParaRPr kumimoji="1" lang="zh-CN" altLang="en-US" dirty="0"/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AD649088-C3E5-DEF5-7A33-5337A693972B}"/>
              </a:ext>
            </a:extLst>
          </p:cNvPr>
          <p:cNvCxnSpPr>
            <a:cxnSpLocks/>
          </p:cNvCxnSpPr>
          <p:nvPr/>
        </p:nvCxnSpPr>
        <p:spPr>
          <a:xfrm flipV="1">
            <a:off x="2133600" y="3810000"/>
            <a:ext cx="1981200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392FED08-97D4-EB16-C5EB-8655BD8D4220}"/>
              </a:ext>
            </a:extLst>
          </p:cNvPr>
          <p:cNvSpPr txBox="1"/>
          <p:nvPr/>
        </p:nvSpPr>
        <p:spPr>
          <a:xfrm>
            <a:off x="3733800" y="396240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also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-US" altLang="zh-CN" dirty="0"/>
              <a:t>bugs!</a:t>
            </a:r>
            <a:endParaRPr kumimoji="1" lang="zh-CN" altLang="en-US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01ED1353-3721-7601-4FA1-1945A2A7B1F6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2286000" y="4147066"/>
            <a:ext cx="1447800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314551AE-5E03-A96F-39AC-80F14222D13B}"/>
              </a:ext>
            </a:extLst>
          </p:cNvPr>
          <p:cNvCxnSpPr>
            <a:cxnSpLocks/>
          </p:cNvCxnSpPr>
          <p:nvPr/>
        </p:nvCxnSpPr>
        <p:spPr>
          <a:xfrm flipH="1">
            <a:off x="3124200" y="4299466"/>
            <a:ext cx="762000" cy="1110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2D866CE3-7ACB-8595-7848-4CDA33C371FE}"/>
              </a:ext>
            </a:extLst>
          </p:cNvPr>
          <p:cNvSpPr txBox="1"/>
          <p:nvPr/>
        </p:nvSpPr>
        <p:spPr>
          <a:xfrm>
            <a:off x="4114800" y="5068669"/>
            <a:ext cx="4840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-US" altLang="zh-CN" dirty="0"/>
              <a:t>verification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really</a:t>
            </a:r>
            <a:r>
              <a:rPr kumimoji="1" lang="zh-CN" altLang="en-US" dirty="0"/>
              <a:t> </a:t>
            </a:r>
            <a:r>
              <a:rPr kumimoji="1" lang="en-US" altLang="zh-CN" dirty="0"/>
              <a:t>verifies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-US" altLang="zh-CN" dirty="0"/>
              <a:t>satisfies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specification!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75121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9F004-E8FD-B9BF-677B-DB588481E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5A7AC4-B23B-F3D4-4C29-4DB53CFC4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#2:</a:t>
            </a:r>
            <a:r>
              <a:rPr kumimoji="1" lang="zh-CN" altLang="en-US" dirty="0"/>
              <a:t> </a:t>
            </a:r>
            <a:r>
              <a:rPr kumimoji="1" lang="en-US" altLang="zh-CN" dirty="0"/>
              <a:t>fine-grained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conditions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9698BE-1908-7653-843B-9A73E5C7B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1" lang="en-US" altLang="zh-CN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pre: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True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1" lang="en-US" altLang="zh-CN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post: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result == |n|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abs(n: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int)-&gt;int: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Requires(True)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pre-condition</a:t>
            </a:r>
          </a:p>
          <a:p>
            <a:pPr marL="0" indent="0">
              <a:buNone/>
            </a:pP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a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fine-grained post-condition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Ensures(Result()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n&gt;=0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0-x))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if(n&gt;=0):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n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else: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0-n</a:t>
            </a: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030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4483C-2D07-5133-ED9C-A320C8D0E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87F35D-3BAD-1678-4EEB-C09FD9B1F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#3:</a:t>
            </a:r>
            <a:r>
              <a:rPr kumimoji="1" lang="zh-CN" altLang="en-US" dirty="0"/>
              <a:t> </a:t>
            </a:r>
            <a:r>
              <a:rPr kumimoji="1" lang="en-US" altLang="zh-CN" dirty="0"/>
              <a:t>loops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9A5BCE-6F7A-034D-BC4A-E5F39029D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1" lang="en-US" altLang="zh-CN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pre: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True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1" lang="en-US" altLang="zh-CN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post: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result == 5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f(n: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int)-&gt;int: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Requires(True)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pre-condition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Ensures(Result()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the post-condition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n&lt;5: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n</a:t>
            </a: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F54DB7F-1BE1-ABEC-008B-403F6304126A}"/>
              </a:ext>
            </a:extLst>
          </p:cNvPr>
          <p:cNvSpPr txBox="1"/>
          <p:nvPr/>
        </p:nvSpPr>
        <p:spPr>
          <a:xfrm>
            <a:off x="4114800" y="4419600"/>
            <a:ext cx="48402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Verification failed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Errors: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Postcondition of f might not hold. Assertion Result() ==5 might not hold. (hoare.py@7.12--7.24).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Branch conditions: 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  not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n &lt; 5 at hoare.py@9.7--9.13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Verification took 5.10 seconds.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32807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949DC-C102-BBC2-E8F3-CECEFFC89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0C4724-F74E-3C45-094B-426121A2F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#3:</a:t>
            </a:r>
            <a:r>
              <a:rPr kumimoji="1" lang="zh-CN" altLang="en-US" dirty="0"/>
              <a:t> </a:t>
            </a:r>
            <a:r>
              <a:rPr kumimoji="1" lang="en-US" altLang="zh-CN" dirty="0"/>
              <a:t>loops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14BEB7-3CBA-ABF5-16CD-C64F2479D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1" lang="en-US" altLang="zh-CN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pre: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True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1" lang="en-US" altLang="zh-CN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post: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result == 5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f(n: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int)-&gt;int: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Requires(</a:t>
            </a:r>
            <a:r>
              <a:rPr kumimoji="1" lang="en-US" altLang="zh-CN" sz="20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n&lt;=5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pre-condition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Ensures(Result()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the post-condition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n&lt;5: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n</a:t>
            </a: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5389B75-257D-B8B7-F962-FBCEA747C0B8}"/>
              </a:ext>
            </a:extLst>
          </p:cNvPr>
          <p:cNvSpPr txBox="1"/>
          <p:nvPr/>
        </p:nvSpPr>
        <p:spPr>
          <a:xfrm>
            <a:off x="4114800" y="4419600"/>
            <a:ext cx="48402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Verification failed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Errors: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Postcondition of f might not hold. Assertion Result() ==5 might not hold. (hoare.py@7.12--7.24).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Branch conditions: 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  not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n &lt; 5 at hoare.py@9.7--9.13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Verification took 5.10 seconds.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19547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3EA7D-E07A-F79A-1CD4-476238AEE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8C440B-AC09-75A9-8B9C-3679AAFE1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#3:</a:t>
            </a:r>
            <a:r>
              <a:rPr kumimoji="1" lang="zh-CN" altLang="en-US" dirty="0"/>
              <a:t> </a:t>
            </a:r>
            <a:r>
              <a:rPr kumimoji="1" lang="en-US" altLang="zh-CN" dirty="0"/>
              <a:t>loop</a:t>
            </a:r>
            <a:r>
              <a:rPr kumimoji="1" lang="zh-CN" altLang="en-US" dirty="0"/>
              <a:t> </a:t>
            </a:r>
            <a:r>
              <a:rPr kumimoji="1" lang="en-US" altLang="zh-CN" dirty="0"/>
              <a:t>invariant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DEF168-2E63-562D-63B1-938D47746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1" lang="en-US" altLang="zh-CN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pre: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True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1" lang="en-US" altLang="zh-CN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post: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result == 5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f(n: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int)-&gt;int: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Requires(</a:t>
            </a:r>
            <a:r>
              <a:rPr kumimoji="1" lang="en-US" altLang="zh-CN" sz="20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n&lt;=5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pre-condition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Ensures(Result()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5)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the post-condition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n&lt;5: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Invariant(n</a:t>
            </a:r>
            <a:r>
              <a:rPr kumimoji="1" lang="zh-CN" altLang="en-US" sz="20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kumimoji="1" lang="zh-CN" altLang="en-US" sz="20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5)</a:t>
            </a:r>
            <a:r>
              <a:rPr kumimoji="1" lang="zh-CN" altLang="en-US" sz="20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the post-condition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n</a:t>
            </a: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B6F7F7-ACB5-9819-D1DB-45763550871C}"/>
              </a:ext>
            </a:extLst>
          </p:cNvPr>
          <p:cNvSpPr txBox="1"/>
          <p:nvPr/>
        </p:nvSpPr>
        <p:spPr>
          <a:xfrm>
            <a:off x="4114800" y="5983069"/>
            <a:ext cx="4840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Verification successful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Verification took 4.97 seconds.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82568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2F78C-4854-F51C-F5CF-A71AA4604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DEEC3D-7F45-39B3-604A-ABAF30900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#4:</a:t>
            </a:r>
            <a:r>
              <a:rPr kumimoji="1" lang="zh-CN" altLang="en-US" dirty="0"/>
              <a:t> </a:t>
            </a:r>
            <a:r>
              <a:rPr kumimoji="1" lang="en-US" altLang="zh-CN" dirty="0"/>
              <a:t>function</a:t>
            </a:r>
            <a:br>
              <a:rPr kumimoji="1" lang="en-US" altLang="zh-CN" dirty="0"/>
            </a:br>
            <a:r>
              <a:rPr kumimoji="1" lang="en-US" altLang="zh-CN" dirty="0"/>
              <a:t>(or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modular</a:t>
            </a:r>
            <a:r>
              <a:rPr kumimoji="1" lang="zh-CN" altLang="en-US" dirty="0"/>
              <a:t> </a:t>
            </a:r>
            <a:r>
              <a:rPr kumimoji="1" lang="en-US" altLang="zh-CN" dirty="0"/>
              <a:t>verification)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92AD83-0532-7B56-92F7-C2DAA9CEB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905000"/>
            <a:ext cx="51816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callee(size: int) -&gt; List[int]:</a:t>
            </a:r>
          </a:p>
          <a:p>
            <a:pPr marL="0" indent="0">
              <a:buNone/>
            </a:pPr>
            <a:r>
              <a:rPr kumimoji="1" lang="zh-CN" altLang="en-US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Requires(size &gt; 0)</a:t>
            </a:r>
          </a:p>
          <a:p>
            <a:pPr marL="0" indent="0">
              <a:buNone/>
            </a:pPr>
            <a:r>
              <a:rPr kumimoji="1" lang="zh-CN" alt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Ensures(</a:t>
            </a:r>
            <a:r>
              <a:rPr kumimoji="1" lang="en-US" altLang="zh-CN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list_pred</a:t>
            </a:r>
            <a:r>
              <a:rPr kumimoji="1" lang="en-US" altLang="zh-CN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1" lang="en-US" altLang="zh-CN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ResultT</a:t>
            </a:r>
            <a:r>
              <a:rPr kumimoji="1" lang="en-US" altLang="zh-CN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(List[int])))</a:t>
            </a:r>
          </a:p>
          <a:p>
            <a:pPr marL="0" indent="0">
              <a:buNone/>
            </a:pPr>
            <a:r>
              <a:rPr kumimoji="1" lang="zh-CN" alt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Ensures(</a:t>
            </a:r>
            <a:r>
              <a:rPr kumimoji="1" lang="en-US" altLang="zh-CN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kumimoji="1" lang="en-US" altLang="zh-CN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(Result()) &gt; 0)</a:t>
            </a:r>
          </a:p>
          <a:p>
            <a:pPr marL="0" indent="0">
              <a:buNone/>
            </a:pPr>
            <a:r>
              <a:rPr kumimoji="1" lang="zh-CN" alt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Ensures(</a:t>
            </a:r>
            <a:r>
              <a:rPr kumimoji="1" lang="en-US" altLang="zh-CN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Forall</a:t>
            </a:r>
            <a:r>
              <a:rPr kumimoji="1" lang="en-US" altLang="zh-CN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1" lang="en-US" altLang="zh-CN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ResultT</a:t>
            </a:r>
            <a:r>
              <a:rPr kumimoji="1" lang="en-US" altLang="zh-CN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(List[int]), </a:t>
            </a:r>
            <a:r>
              <a:rPr kumimoji="1" lang="zh-CN" alt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kumimoji="1" lang="en-US" altLang="zh-CN" sz="16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kumimoji="1" lang="en-US" altLang="zh-CN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lambda x: x &gt;= 0))</a:t>
            </a:r>
            <a:endParaRPr kumimoji="1" lang="en-US" altLang="zh-CN" sz="16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l: List[int] = [0]</a:t>
            </a:r>
          </a:p>
          <a:p>
            <a:pPr marL="0" indent="0">
              <a:buNone/>
            </a:pPr>
            <a:r>
              <a:rPr kumimoji="1" lang="zh-CN" altLang="en-US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int = 1</a:t>
            </a:r>
          </a:p>
          <a:p>
            <a:pPr marL="0" indent="0">
              <a:buNone/>
            </a:pPr>
            <a:r>
              <a:rPr kumimoji="1" lang="zh-CN" altLang="en-US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kumimoji="1" lang="en-US" altLang="zh-CN" sz="16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&lt;size:</a:t>
            </a:r>
          </a:p>
          <a:p>
            <a:pPr marL="0" indent="0">
              <a:buNone/>
            </a:pPr>
            <a:r>
              <a:rPr kumimoji="1" lang="zh-CN" altLang="en-US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kumimoji="1" lang="en-US" altLang="zh-CN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Invariant(</a:t>
            </a:r>
            <a:r>
              <a:rPr kumimoji="1" lang="en-US" altLang="zh-CN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list_pred</a:t>
            </a:r>
            <a:r>
              <a:rPr kumimoji="1" lang="en-US" altLang="zh-CN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(l))</a:t>
            </a:r>
          </a:p>
          <a:p>
            <a:pPr marL="0" indent="0">
              <a:buNone/>
            </a:pPr>
            <a:r>
              <a:rPr kumimoji="1" lang="zh-CN" alt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kumimoji="1" lang="en-US" altLang="zh-CN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Invariant(</a:t>
            </a:r>
            <a:r>
              <a:rPr kumimoji="1" lang="en-US" altLang="zh-CN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kumimoji="1" lang="en-US" altLang="zh-CN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(l) &gt; 0)</a:t>
            </a:r>
          </a:p>
          <a:p>
            <a:pPr marL="0" indent="0">
              <a:buNone/>
            </a:pPr>
            <a:r>
              <a:rPr kumimoji="1" lang="zh-CN" alt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kumimoji="1" lang="en-US" altLang="zh-CN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Invariant(</a:t>
            </a:r>
            <a:r>
              <a:rPr kumimoji="1" lang="en-US" altLang="zh-CN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&gt;= 1)</a:t>
            </a:r>
          </a:p>
          <a:p>
            <a:pPr marL="0" indent="0">
              <a:buNone/>
            </a:pPr>
            <a:r>
              <a:rPr kumimoji="1" lang="zh-CN" alt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kumimoji="1" lang="en-US" altLang="zh-CN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Invariant(</a:t>
            </a:r>
            <a:r>
              <a:rPr kumimoji="1" lang="en-US" altLang="zh-CN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Forall</a:t>
            </a:r>
            <a:r>
              <a:rPr kumimoji="1" lang="en-US" altLang="zh-CN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(l, </a:t>
            </a:r>
          </a:p>
          <a:p>
            <a:pPr marL="0" indent="0">
              <a:buNone/>
            </a:pPr>
            <a:r>
              <a:rPr kumimoji="1" lang="zh-CN" alt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</a:t>
            </a:r>
            <a:r>
              <a:rPr kumimoji="1" lang="en-US" altLang="zh-CN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lambda x: x &gt;= 0))</a:t>
            </a:r>
          </a:p>
          <a:p>
            <a:pPr marL="0" indent="0">
              <a:buNone/>
            </a:pPr>
            <a:r>
              <a:rPr kumimoji="1" lang="zh-CN" altLang="en-US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16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l.append</a:t>
            </a: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1" lang="en-US" altLang="zh-CN" sz="16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kumimoji="1" lang="zh-CN" altLang="en-US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16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1</a:t>
            </a:r>
          </a:p>
          <a:p>
            <a:pPr marL="0" indent="0">
              <a:buNone/>
            </a:pPr>
            <a:r>
              <a:rPr kumimoji="1" lang="zh-CN" altLang="en-US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l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CAC7B82-1F1A-FCBD-E865-AE9FC6BEE4E8}"/>
              </a:ext>
            </a:extLst>
          </p:cNvPr>
          <p:cNvSpPr txBox="1">
            <a:spLocks/>
          </p:cNvSpPr>
          <p:nvPr/>
        </p:nvSpPr>
        <p:spPr bwMode="auto">
          <a:xfrm>
            <a:off x="5410200" y="2017713"/>
            <a:ext cx="34290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caller(n:</a:t>
            </a: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int)-&gt; int: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Requires(n&gt;0)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Ensures(Result() &gt;= 0)</a:t>
            </a:r>
          </a:p>
          <a:p>
            <a:pPr marL="0" indent="0">
              <a:buFont typeface="Wingdings" pitchFamily="2" charset="2"/>
              <a:buNone/>
            </a:pPr>
            <a:endParaRPr kumimoji="1" lang="en-US" altLang="zh-CN" sz="1600" b="1" kern="0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l:</a:t>
            </a: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List[int] = callee(n)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l[0]</a:t>
            </a:r>
          </a:p>
        </p:txBody>
      </p:sp>
    </p:spTree>
    <p:extLst>
      <p:ext uri="{BB962C8B-B14F-4D97-AF65-F5344CB8AC3E}">
        <p14:creationId xmlns:p14="http://schemas.microsoft.com/office/powerpoint/2010/main" val="23037776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B372A-81F4-275A-3BCE-ECC316270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C247EC-C85F-009C-E5E0-C04CC6DE8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#5:</a:t>
            </a:r>
            <a:r>
              <a:rPr kumimoji="1" lang="zh-CN" altLang="en-US" dirty="0"/>
              <a:t> </a:t>
            </a:r>
            <a:r>
              <a:rPr kumimoji="1" lang="en-US" altLang="zh-CN" dirty="0"/>
              <a:t>specification-oriented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verification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(SOV)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91689F-0790-D4D2-4C74-59CE727A1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905000"/>
            <a:ext cx="40386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specification</a:t>
            </a:r>
          </a:p>
          <a:p>
            <a:pPr marL="0" indent="0">
              <a:buNone/>
            </a:pPr>
            <a:endParaRPr kumimoji="1" lang="en-US" altLang="zh-CN" sz="16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16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16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16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direct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implementation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of</a:t>
            </a:r>
          </a:p>
          <a:p>
            <a:pPr marL="0" indent="0">
              <a:buNone/>
            </a:pP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specification</a:t>
            </a:r>
          </a:p>
          <a:p>
            <a:pPr marL="0" indent="0">
              <a:buNone/>
            </a:pP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@Pure</a:t>
            </a:r>
          </a:p>
          <a:p>
            <a:pPr marL="0" indent="0">
              <a:buNone/>
            </a:pP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kumimoji="1" lang="en-US" altLang="zh-CN" sz="16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sum_spec</a:t>
            </a: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(n: int) -&gt; int</a:t>
            </a:r>
          </a:p>
          <a:p>
            <a:pPr marL="0" indent="0">
              <a:buNone/>
            </a:pPr>
            <a:r>
              <a:rPr kumimoji="1" lang="zh-CN" altLang="en-US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if(n&lt;=0):</a:t>
            </a:r>
          </a:p>
          <a:p>
            <a:pPr marL="0" indent="0">
              <a:buNone/>
            </a:pPr>
            <a:r>
              <a:rPr kumimoji="1" lang="zh-CN" altLang="en-US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0</a:t>
            </a:r>
          </a:p>
          <a:p>
            <a:pPr marL="0" indent="0">
              <a:buNone/>
            </a:pPr>
            <a:r>
              <a:rPr kumimoji="1" lang="zh-CN" altLang="en-US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</a:p>
          <a:p>
            <a:pPr marL="0" indent="0">
              <a:buNone/>
            </a:pPr>
            <a:r>
              <a:rPr kumimoji="1" lang="zh-CN" altLang="en-US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n</a:t>
            </a:r>
            <a:r>
              <a:rPr kumimoji="1" lang="zh-CN" altLang="en-US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kumimoji="1" lang="zh-CN" altLang="en-US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sum_spec</a:t>
            </a: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(n-1)</a:t>
            </a:r>
          </a:p>
          <a:p>
            <a:pPr marL="0" indent="0">
              <a:buNone/>
            </a:pPr>
            <a:endParaRPr kumimoji="1" lang="en-US" altLang="zh-CN" sz="16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389EE3C-BF28-54F4-99A9-968BAEA12104}"/>
              </a:ext>
            </a:extLst>
          </p:cNvPr>
          <p:cNvSpPr txBox="1">
            <a:spLocks/>
          </p:cNvSpPr>
          <p:nvPr/>
        </p:nvSpPr>
        <p:spPr bwMode="auto">
          <a:xfrm>
            <a:off x="4419600" y="2017713"/>
            <a:ext cx="4343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implementation</a:t>
            </a:r>
            <a:endParaRPr kumimoji="1" lang="en-US" altLang="zh-CN" sz="1600" b="1" kern="0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kumimoji="1" lang="en-US" altLang="zh-CN" sz="16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sum_imp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(n:</a:t>
            </a: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int)-&gt; int: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Requires(n&gt;=0)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Ensures(Result()</a:t>
            </a:r>
            <a:r>
              <a:rPr kumimoji="1" lang="zh-CN" altLang="en-US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kumimoji="1" lang="en-US" altLang="zh-CN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== n</a:t>
            </a:r>
            <a:r>
              <a:rPr kumimoji="1" lang="zh-CN" altLang="en-US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kumimoji="1" lang="en-US" altLang="zh-CN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(n+1))</a:t>
            </a:r>
          </a:p>
          <a:p>
            <a:pPr marL="0" indent="0">
              <a:buFont typeface="Wingdings" pitchFamily="2" charset="2"/>
              <a:buNone/>
            </a:pPr>
            <a:endParaRPr kumimoji="1" lang="en-US" altLang="zh-CN" sz="1600" b="1" kern="0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s:</a:t>
            </a: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&lt;=n: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1" lang="en-US" altLang="zh-CN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Invariant(</a:t>
            </a:r>
            <a:r>
              <a:rPr kumimoji="1" lang="en-US" altLang="zh-CN" sz="1600" b="1" kern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&gt;=0</a:t>
            </a:r>
            <a:r>
              <a:rPr kumimoji="1" lang="zh-CN" altLang="en-US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kumimoji="1" lang="zh-CN" altLang="en-US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kern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&lt;=(n+1))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1" lang="en-US" altLang="zh-CN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Invariant(s</a:t>
            </a:r>
            <a:r>
              <a:rPr kumimoji="1" lang="zh-CN" altLang="en-US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kumimoji="1" lang="en-US" altLang="zh-CN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1" lang="zh-CN" altLang="en-US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kumimoji="1" lang="zh-CN" altLang="en-US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(i-1)</a:t>
            </a:r>
            <a:r>
              <a:rPr kumimoji="1" lang="zh-CN" altLang="en-US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kumimoji="1" lang="en-US" altLang="zh-CN" sz="1600" b="1" kern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+=</a:t>
            </a: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+=</a:t>
            </a: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6347F78-237C-ED2F-7AE4-D3B623289720}"/>
                  </a:ext>
                </a:extLst>
              </p:cNvPr>
              <p:cNvSpPr txBox="1"/>
              <p:nvPr/>
            </p:nvSpPr>
            <p:spPr>
              <a:xfrm>
                <a:off x="76200" y="2286000"/>
                <a:ext cx="4266809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0,                                    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≤0;</m:t>
                              </m:r>
                            </m:e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,        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𝑜𝑡ℎ𝑒𝑟𝑤𝑖𝑠𝑒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i="1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6347F78-237C-ED2F-7AE4-D3B623289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2286000"/>
                <a:ext cx="4266809" cy="617861"/>
              </a:xfrm>
              <a:prstGeom prst="rect">
                <a:avLst/>
              </a:prstGeom>
              <a:blipFill>
                <a:blip r:embed="rId2"/>
                <a:stretch>
                  <a:fillRect l="-6845" t="-230612" b="-3306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48510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2D7A3-4B92-1536-5AE4-73C3EAAA0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C02A12-6142-722B-40A4-E3F40390B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#5:</a:t>
            </a:r>
            <a:r>
              <a:rPr kumimoji="1" lang="zh-CN" altLang="en-US" dirty="0"/>
              <a:t> </a:t>
            </a:r>
            <a:r>
              <a:rPr kumimoji="1" lang="en-US" altLang="zh-CN" dirty="0"/>
              <a:t>specification-oriented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verification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(SOV)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B4455B-C4DE-1C8B-C56B-F336EF9E5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905000"/>
            <a:ext cx="40386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specification</a:t>
            </a:r>
          </a:p>
          <a:p>
            <a:pPr marL="0" indent="0">
              <a:buNone/>
            </a:pPr>
            <a:endParaRPr kumimoji="1" lang="en-US" altLang="zh-CN" sz="16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16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16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16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direct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implementation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of</a:t>
            </a:r>
          </a:p>
          <a:p>
            <a:pPr marL="0" indent="0">
              <a:buNone/>
            </a:pP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specification</a:t>
            </a:r>
          </a:p>
          <a:p>
            <a:pPr marL="0" indent="0">
              <a:buNone/>
            </a:pP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@Pure</a:t>
            </a:r>
          </a:p>
          <a:p>
            <a:pPr marL="0" indent="0">
              <a:buNone/>
            </a:pP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kumimoji="1" lang="en-US" altLang="zh-CN" sz="16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sum_spec</a:t>
            </a: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(n: int) -&gt; int</a:t>
            </a:r>
          </a:p>
          <a:p>
            <a:pPr marL="0" indent="0">
              <a:buNone/>
            </a:pPr>
            <a:r>
              <a:rPr kumimoji="1" lang="zh-CN" altLang="en-US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if(n&lt;=0):</a:t>
            </a:r>
          </a:p>
          <a:p>
            <a:pPr marL="0" indent="0">
              <a:buNone/>
            </a:pPr>
            <a:r>
              <a:rPr kumimoji="1" lang="zh-CN" altLang="en-US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0</a:t>
            </a:r>
          </a:p>
          <a:p>
            <a:pPr marL="0" indent="0">
              <a:buNone/>
            </a:pPr>
            <a:r>
              <a:rPr kumimoji="1" lang="zh-CN" altLang="en-US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</a:p>
          <a:p>
            <a:pPr marL="0" indent="0">
              <a:buNone/>
            </a:pPr>
            <a:r>
              <a:rPr kumimoji="1" lang="zh-CN" altLang="en-US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n</a:t>
            </a:r>
            <a:r>
              <a:rPr kumimoji="1" lang="zh-CN" altLang="en-US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kumimoji="1" lang="zh-CN" altLang="en-US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sum_spec</a:t>
            </a: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(n-1)</a:t>
            </a:r>
          </a:p>
          <a:p>
            <a:pPr marL="0" indent="0">
              <a:buNone/>
            </a:pPr>
            <a:endParaRPr kumimoji="1" lang="en-US" altLang="zh-CN" sz="16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F83CF68-3391-4E7C-D663-74347C89579F}"/>
              </a:ext>
            </a:extLst>
          </p:cNvPr>
          <p:cNvSpPr txBox="1">
            <a:spLocks/>
          </p:cNvSpPr>
          <p:nvPr/>
        </p:nvSpPr>
        <p:spPr bwMode="auto">
          <a:xfrm>
            <a:off x="4419600" y="2017713"/>
            <a:ext cx="4343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implementation</a:t>
            </a:r>
            <a:endParaRPr kumimoji="1" lang="en-US" altLang="zh-CN" sz="1600" b="1" kern="0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sum_imp2(n:</a:t>
            </a: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int)-&gt; int: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Requires(n&gt;=0)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Ensures(Result() == </a:t>
            </a:r>
            <a:r>
              <a:rPr kumimoji="1" lang="en-US" altLang="zh-CN" sz="1600" b="1" kern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sum_spec</a:t>
            </a:r>
            <a:r>
              <a:rPr kumimoji="1" lang="en-US" altLang="zh-CN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(n))</a:t>
            </a:r>
          </a:p>
          <a:p>
            <a:pPr marL="0" indent="0">
              <a:buFont typeface="Wingdings" pitchFamily="2" charset="2"/>
              <a:buNone/>
            </a:pPr>
            <a:endParaRPr kumimoji="1" lang="en-US" altLang="zh-CN" sz="1600" b="1" kern="0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s:</a:t>
            </a: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&lt;=n: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kumimoji="1" lang="en-US" altLang="zh-CN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Invariant(</a:t>
            </a:r>
            <a:r>
              <a:rPr kumimoji="1" lang="en-US" altLang="zh-CN" sz="1600" b="1" kern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&gt;=0</a:t>
            </a:r>
            <a:r>
              <a:rPr kumimoji="1" lang="zh-CN" altLang="en-US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kumimoji="1" lang="zh-CN" altLang="en-US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kern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&lt;=(n+1))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kumimoji="1" lang="en-US" altLang="zh-CN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Invariant(s</a:t>
            </a:r>
            <a:r>
              <a:rPr kumimoji="1" lang="zh-CN" altLang="en-US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kumimoji="1" lang="zh-CN" altLang="en-US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kern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sum_spec</a:t>
            </a:r>
            <a:r>
              <a:rPr kumimoji="1" lang="en-US" altLang="zh-CN" sz="16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(i-1))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+=</a:t>
            </a: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+=</a:t>
            </a: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A95FDF1-F859-A599-84AD-49F764EF9C12}"/>
                  </a:ext>
                </a:extLst>
              </p:cNvPr>
              <p:cNvSpPr txBox="1"/>
              <p:nvPr/>
            </p:nvSpPr>
            <p:spPr>
              <a:xfrm>
                <a:off x="76200" y="2286000"/>
                <a:ext cx="4266809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0,                                    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≤0;</m:t>
                              </m:r>
                            </m:e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,        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𝑜𝑡ℎ𝑒𝑟𝑤𝑖𝑠𝑒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i="1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A95FDF1-F859-A599-84AD-49F764EF9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2286000"/>
                <a:ext cx="4266809" cy="617861"/>
              </a:xfrm>
              <a:prstGeom prst="rect">
                <a:avLst/>
              </a:prstGeom>
              <a:blipFill>
                <a:blip r:embed="rId2"/>
                <a:stretch>
                  <a:fillRect l="-6845" t="-230612" b="-3306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14282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08BC9-0E02-21ED-031F-A982554FE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664BDA-C0E1-8AD5-5F44-15F7EB3F9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#5:</a:t>
            </a:r>
            <a:r>
              <a:rPr kumimoji="1" lang="zh-CN" altLang="en-US" dirty="0"/>
              <a:t> </a:t>
            </a:r>
            <a:r>
              <a:rPr kumimoji="1" lang="en-US" altLang="zh-CN" dirty="0"/>
              <a:t>specification-oriented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verification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(SOV)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9F7FE6-24F7-9484-B998-AFF52684F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905000"/>
            <a:ext cx="40386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specification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of</a:t>
            </a:r>
          </a:p>
          <a:p>
            <a:pPr marL="0" indent="0">
              <a:buNone/>
            </a:pP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Fibonacci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numbers</a:t>
            </a:r>
          </a:p>
          <a:p>
            <a:pPr marL="0" indent="0">
              <a:buNone/>
            </a:pPr>
            <a:endParaRPr kumimoji="1" lang="en-US" altLang="zh-CN" sz="16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16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16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direct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implementation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of</a:t>
            </a:r>
          </a:p>
          <a:p>
            <a:pPr marL="0" indent="0">
              <a:buNone/>
            </a:pP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specification</a:t>
            </a:r>
          </a:p>
          <a:p>
            <a:pPr marL="0" indent="0">
              <a:buNone/>
            </a:pP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@Pure</a:t>
            </a:r>
          </a:p>
          <a:p>
            <a:pPr marL="0" indent="0">
              <a:buNone/>
            </a:pP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kumimoji="1" lang="en-US" altLang="zh-CN" sz="16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fib_spec</a:t>
            </a: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(n: int) -&gt; int</a:t>
            </a:r>
          </a:p>
          <a:p>
            <a:pPr marL="0" indent="0">
              <a:buNone/>
            </a:pPr>
            <a:r>
              <a:rPr kumimoji="1" lang="zh-CN" altLang="en-US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if(n&lt;=1):</a:t>
            </a:r>
          </a:p>
          <a:p>
            <a:pPr marL="0" indent="0">
              <a:buNone/>
            </a:pPr>
            <a:r>
              <a:rPr kumimoji="1" lang="zh-CN" altLang="en-US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1</a:t>
            </a:r>
          </a:p>
          <a:p>
            <a:pPr marL="0" indent="0">
              <a:buNone/>
            </a:pPr>
            <a:r>
              <a:rPr kumimoji="1" lang="zh-CN" altLang="en-US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</a:p>
          <a:p>
            <a:pPr marL="0" indent="0">
              <a:buNone/>
            </a:pPr>
            <a:r>
              <a:rPr kumimoji="1" lang="zh-CN" altLang="en-US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kumimoji="1" lang="en-US" altLang="zh-CN" sz="16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fib_spec</a:t>
            </a: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(n-2)</a:t>
            </a:r>
            <a:r>
              <a:rPr kumimoji="1" lang="zh-CN" altLang="en-US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kumimoji="1" lang="zh-CN" altLang="en-US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1" lang="en-US" altLang="zh-CN" sz="16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kumimoji="1" lang="en-US" altLang="zh-CN" sz="16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fib_spec</a:t>
            </a:r>
            <a:r>
              <a:rPr kumimoji="1" lang="en-US" altLang="zh-CN" sz="16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(n-1)</a:t>
            </a:r>
          </a:p>
          <a:p>
            <a:pPr marL="0" indent="0">
              <a:buNone/>
            </a:pPr>
            <a:endParaRPr kumimoji="1" lang="en-US" altLang="zh-CN" sz="16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E6C0129-7F79-D78C-62F1-236EA2B2EE11}"/>
              </a:ext>
            </a:extLst>
          </p:cNvPr>
          <p:cNvSpPr txBox="1">
            <a:spLocks/>
          </p:cNvSpPr>
          <p:nvPr/>
        </p:nvSpPr>
        <p:spPr bwMode="auto">
          <a:xfrm>
            <a:off x="4419600" y="2017713"/>
            <a:ext cx="4343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kumimoji="1" lang="zh-CN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implementation</a:t>
            </a:r>
            <a:endParaRPr kumimoji="1" lang="en-US" altLang="zh-CN" sz="1200" b="1" kern="0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12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fib(n: int)-&gt;int: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2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2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Requires(n&gt;=0)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2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2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Ensures(Result() == </a:t>
            </a:r>
            <a:r>
              <a:rPr kumimoji="1" lang="en-US" altLang="zh-CN" sz="1200" b="1" kern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fib_spec</a:t>
            </a:r>
            <a:r>
              <a:rPr kumimoji="1" lang="en-US" altLang="zh-CN" sz="12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(n))</a:t>
            </a:r>
          </a:p>
          <a:p>
            <a:pPr marL="0" indent="0">
              <a:buFont typeface="Wingdings" pitchFamily="2" charset="2"/>
              <a:buNone/>
            </a:pPr>
            <a:br>
              <a:rPr kumimoji="1" lang="en-US" altLang="zh-CN" sz="12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1" lang="zh-CN" altLang="en-US" sz="12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2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n&lt;=1: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2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12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1</a:t>
            </a:r>
          </a:p>
          <a:p>
            <a:pPr marL="0" indent="0">
              <a:buFont typeface="Wingdings" pitchFamily="2" charset="2"/>
              <a:buNone/>
            </a:pPr>
            <a:endParaRPr kumimoji="1" lang="en-US" altLang="zh-CN" sz="1200" b="1" kern="0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2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2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first: int = 1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2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2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second: int = 1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2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2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12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int = 2</a:t>
            </a:r>
          </a:p>
          <a:p>
            <a:pPr marL="0" indent="0">
              <a:buFont typeface="Wingdings" pitchFamily="2" charset="2"/>
              <a:buNone/>
            </a:pPr>
            <a:endParaRPr kumimoji="1" lang="en-US" altLang="zh-CN" sz="1200" b="1" kern="0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2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2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kumimoji="1" lang="en-US" altLang="zh-CN" sz="12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12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&lt;=n: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2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kumimoji="1" lang="en-US" altLang="zh-CN" sz="12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Invariant(</a:t>
            </a:r>
            <a:r>
              <a:rPr kumimoji="1" lang="en-US" altLang="zh-CN" sz="1200" b="1" kern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12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&gt;=2 and </a:t>
            </a:r>
            <a:r>
              <a:rPr kumimoji="1" lang="en-US" altLang="zh-CN" sz="1200" b="1" kern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12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&lt;=(n+1))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2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kumimoji="1" lang="en-US" altLang="zh-CN" sz="12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Invariant(first == </a:t>
            </a:r>
            <a:r>
              <a:rPr kumimoji="1" lang="en-US" altLang="zh-CN" sz="1200" b="1" kern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fib_spec</a:t>
            </a:r>
            <a:r>
              <a:rPr kumimoji="1" lang="en-US" altLang="zh-CN" sz="12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(i-2))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2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kumimoji="1" lang="en-US" altLang="zh-CN" sz="12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Invariant(second == </a:t>
            </a:r>
            <a:r>
              <a:rPr kumimoji="1" lang="en-US" altLang="zh-CN" sz="1200" b="1" kern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fib_spec</a:t>
            </a:r>
            <a:r>
              <a:rPr kumimoji="1" lang="en-US" altLang="zh-CN" sz="12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(i-1))</a:t>
            </a:r>
          </a:p>
          <a:p>
            <a:pPr marL="0" indent="0">
              <a:buFont typeface="Wingdings" pitchFamily="2" charset="2"/>
              <a:buNone/>
            </a:pPr>
            <a:endParaRPr kumimoji="1" lang="en-US" altLang="zh-CN" sz="1200" b="1" kern="0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2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12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temp: int = first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2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12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 = second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2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12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second += temp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12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12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12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1</a:t>
            </a:r>
            <a:br>
              <a:rPr kumimoji="1" lang="en-US" altLang="zh-CN" sz="12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1" lang="zh-CN" altLang="en-US" sz="12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2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second</a:t>
            </a:r>
          </a:p>
          <a:p>
            <a:pPr marL="0" indent="0">
              <a:buFont typeface="Wingdings" pitchFamily="2" charset="2"/>
              <a:buNone/>
            </a:pPr>
            <a:endParaRPr kumimoji="1" lang="en-US" altLang="zh-CN" sz="1200" b="1" kern="0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9D5068F-2057-571D-4C30-9243F8EBD55A}"/>
                  </a:ext>
                </a:extLst>
              </p:cNvPr>
              <p:cNvSpPr txBox="1"/>
              <p:nvPr/>
            </p:nvSpPr>
            <p:spPr>
              <a:xfrm>
                <a:off x="76200" y="2582539"/>
                <a:ext cx="4187621" cy="5492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kumimoji="1" lang="en-US" altLang="zh-CN" sz="1600" b="0" i="1" smtClean="0">
                          <a:latin typeface="Cambria Math" panose="02040503050406030204" pitchFamily="18" charset="0"/>
                        </a:rPr>
                        <m:t>𝑓𝑖𝑏</m:t>
                      </m:r>
                      <m:d>
                        <m:dPr>
                          <m:ctrl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kumimoji="1"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,                                </m:t>
                              </m:r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≤1;</m:t>
                              </m:r>
                            </m:e>
                            <m:e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𝑓𝑖𝑏</m:t>
                              </m:r>
                              <m:d>
                                <m:dPr>
                                  <m:ctrlPr>
                                    <a:rPr kumimoji="1"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kumimoji="1"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𝑓𝑖𝑏</m:t>
                              </m:r>
                              <m:d>
                                <m:dPr>
                                  <m:ctrlPr>
                                    <a:rPr kumimoji="1"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kumimoji="1"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𝑜𝑡ℎ𝑒𝑟𝑤𝑖𝑠𝑒</m:t>
                              </m:r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sz="1600" i="1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9D5068F-2057-571D-4C30-9243F8EBD5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2582539"/>
                <a:ext cx="4187621" cy="549253"/>
              </a:xfrm>
              <a:prstGeom prst="rect">
                <a:avLst/>
              </a:prstGeom>
              <a:blipFill>
                <a:blip r:embed="rId2"/>
                <a:stretch>
                  <a:fillRect l="-3030" t="-222727" b="-3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43364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2AD13822-7032-4044-A293-3F03CA1BE9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33236271-C509-0D42-B6EB-BCFDE44431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</a:t>
            </a:r>
          </a:p>
        </p:txBody>
      </p:sp>
      <p:sp>
        <p:nvSpPr>
          <p:cNvPr id="20483" name="Rectangle 4">
            <a:extLst>
              <a:ext uri="{FF2B5EF4-FFF2-40B4-BE49-F238E27FC236}">
                <a16:creationId xmlns:a16="http://schemas.microsoft.com/office/drawing/2014/main" id="{6C9D3A3E-5D79-DD4B-971C-087254847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276600"/>
            <a:ext cx="523649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i="1" dirty="0">
                <a:solidFill>
                  <a:schemeClr val="folHlink"/>
                </a:solidFill>
              </a:rPr>
              <a:t>Hoare logic:</a:t>
            </a:r>
            <a:r>
              <a:rPr lang="zh-CN" altLang="en-US" sz="3600" i="1" dirty="0">
                <a:solidFill>
                  <a:schemeClr val="folHlink"/>
                </a:solidFill>
              </a:rPr>
              <a:t> </a:t>
            </a:r>
            <a:r>
              <a:rPr lang="en-US" altLang="zh-CN" sz="3600" i="1" dirty="0">
                <a:solidFill>
                  <a:schemeClr val="folHlink"/>
                </a:solidFill>
              </a:rPr>
              <a:t>Hoare</a:t>
            </a:r>
            <a:r>
              <a:rPr lang="zh-CN" altLang="en-US" sz="3600" i="1" dirty="0">
                <a:solidFill>
                  <a:schemeClr val="folHlink"/>
                </a:solidFill>
              </a:rPr>
              <a:t> </a:t>
            </a:r>
            <a:r>
              <a:rPr lang="en-US" altLang="zh-CN" sz="3600" i="1" dirty="0">
                <a:solidFill>
                  <a:schemeClr val="folHlink"/>
                </a:solidFill>
              </a:rPr>
              <a:t>Triple</a:t>
            </a:r>
          </a:p>
        </p:txBody>
      </p:sp>
    </p:spTree>
    <p:extLst>
      <p:ext uri="{BB962C8B-B14F-4D97-AF65-F5344CB8AC3E}">
        <p14:creationId xmlns:p14="http://schemas.microsoft.com/office/powerpoint/2010/main" val="14646030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720038-D2FF-BF4C-85F5-64AA37F5D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Hoare triple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157B990-4D71-4244-B178-AB87DC9C2E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Hoare triple is a judgment:</a:t>
                </a:r>
              </a:p>
              <a:p>
                <a:pPr marL="0" indent="0">
                  <a:buNone/>
                </a:pPr>
                <a:endParaRPr kumimoji="1" lang="en-US" altLang="zh-CN" dirty="0"/>
              </a:p>
              <a:p>
                <a:pPr marL="0" indent="0">
                  <a:buNone/>
                </a:pPr>
                <a:r>
                  <a:rPr kumimoji="1" lang="en-US" altLang="zh-CN" dirty="0"/>
                  <a:t>where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kumimoji="1" lang="en-US" altLang="zh-CN" dirty="0"/>
                  <a:t> is a program statement;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kumimoji="1" lang="en-US" altLang="zh-CN" dirty="0"/>
                  <a:t> are two logical propositions: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pre</a:t>
                </a:r>
                <a:r>
                  <a:rPr kumimoji="1" lang="en-US" altLang="zh-CN" dirty="0"/>
                  <a:t>-condition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and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post</a:t>
                </a:r>
                <a:r>
                  <a:rPr kumimoji="1" lang="en-US" altLang="zh-CN" dirty="0"/>
                  <a:t>-condition.</a:t>
                </a:r>
              </a:p>
              <a:p>
                <a:pPr marL="0" indent="0">
                  <a:buNone/>
                </a:pPr>
                <a:endParaRPr kumimoji="1" lang="en-US" altLang="zh-CN" dirty="0"/>
              </a:p>
              <a:p>
                <a:pPr marL="0" indent="0">
                  <a:buNone/>
                </a:pPr>
                <a:r>
                  <a:rPr kumimoji="1" lang="en-US" altLang="zh-CN" sz="2800" dirty="0">
                    <a:ea typeface="Cambria Math" panose="02040503050406030204" pitchFamily="18" charset="0"/>
                  </a:rPr>
                  <a:t>Informal meaning: whenever the initial program state satisfies 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kumimoji="1" lang="en-US" altLang="zh-CN" sz="2800" dirty="0">
                    <a:ea typeface="Cambria Math" panose="02040503050406030204" pitchFamily="18" charset="0"/>
                  </a:rPr>
                  <a:t>, if the program 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kumimoji="1" lang="en-US" altLang="zh-CN" sz="2800" dirty="0">
                    <a:ea typeface="Cambria Math" panose="02040503050406030204" pitchFamily="18" charset="0"/>
                  </a:rPr>
                  <a:t> terminates, then the final program state satisfies </a:t>
                </a:r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kumimoji="1" lang="en-US" altLang="zh-CN" sz="2800" dirty="0"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157B990-4D71-4244-B178-AB87DC9C2E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4" t="-1846" r="-2447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B76EAD0-0174-EB4E-AEAC-0F47C4361ECB}"/>
                  </a:ext>
                </a:extLst>
              </p:cNvPr>
              <p:cNvSpPr txBox="1"/>
              <p:nvPr/>
            </p:nvSpPr>
            <p:spPr>
              <a:xfrm>
                <a:off x="3124200" y="2514600"/>
                <a:ext cx="32766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sz="32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32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kumimoji="1" lang="en-US" altLang="zh-CN" sz="32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32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kumimoji="1" lang="en-US" altLang="zh-CN" sz="32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{</m:t>
                      </m:r>
                      <m:r>
                        <a:rPr kumimoji="1" lang="en-US" altLang="zh-CN" sz="32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kumimoji="1" lang="en-US" altLang="zh-CN" sz="32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en-US" altLang="zh-CN" sz="32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B76EAD0-0174-EB4E-AEAC-0F47C4361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2514600"/>
                <a:ext cx="3276600" cy="584775"/>
              </a:xfrm>
              <a:prstGeom prst="rect">
                <a:avLst/>
              </a:prstGeom>
              <a:blipFill>
                <a:blip r:embed="rId3"/>
                <a:stretch>
                  <a:fillRect b="-234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01113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720038-D2FF-BF4C-85F5-64AA37F5D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Partial and total correctness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157B990-4D71-4244-B178-AB87DC9C2E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Hoare triple:</a:t>
                </a:r>
              </a:p>
              <a:p>
                <a:pPr marL="0" indent="0">
                  <a:buNone/>
                </a:pPr>
                <a:endParaRPr kumimoji="1" lang="en-US" altLang="zh-CN" dirty="0"/>
              </a:p>
              <a:p>
                <a:pPr marL="0" indent="0">
                  <a:buNone/>
                </a:pPr>
                <a:r>
                  <a:rPr kumimoji="1" lang="en-US" altLang="zh-CN" dirty="0"/>
                  <a:t>is all about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partial</a:t>
                </a:r>
                <a:r>
                  <a:rPr kumimoji="1" lang="en-US" altLang="zh-CN" dirty="0"/>
                  <a:t> correctness.</a:t>
                </a:r>
              </a:p>
              <a:p>
                <a:r>
                  <a:rPr kumimoji="1" lang="en-US" altLang="zh-CN" dirty="0"/>
                  <a:t>There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also 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total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form:</a:t>
                </a:r>
              </a:p>
              <a:p>
                <a:pPr marL="0" indent="0">
                  <a:buNone/>
                </a:pPr>
                <a:endParaRPr kumimoji="1" lang="en-US" altLang="zh-CN" dirty="0"/>
              </a:p>
              <a:p>
                <a:pPr marL="0" indent="0">
                  <a:buNone/>
                </a:pPr>
                <a:r>
                  <a:rPr kumimoji="1" lang="en-US" altLang="zh-CN" sz="2800" dirty="0">
                    <a:ea typeface="Cambria Math" panose="02040503050406030204" pitchFamily="18" charset="0"/>
                  </a:rPr>
                  <a:t>Informal meaning: if the initial program state satisfies 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kumimoji="1" lang="en-US" altLang="zh-CN" sz="2800" dirty="0">
                    <a:ea typeface="Cambria Math" panose="02040503050406030204" pitchFamily="18" charset="0"/>
                  </a:rPr>
                  <a:t>, </a:t>
                </a:r>
                <a:r>
                  <a:rPr kumimoji="1" lang="en-US" altLang="zh-CN" sz="28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and</a:t>
                </a:r>
                <a:r>
                  <a:rPr kumimoji="1" lang="en-US" altLang="zh-CN" sz="2800" dirty="0">
                    <a:ea typeface="Cambria Math" panose="02040503050406030204" pitchFamily="18" charset="0"/>
                  </a:rPr>
                  <a:t> the program 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kumimoji="1" lang="en-US" altLang="zh-CN" sz="2800" dirty="0">
                    <a:ea typeface="Cambria Math" panose="02040503050406030204" pitchFamily="18" charset="0"/>
                  </a:rPr>
                  <a:t> terminates, then the final program state satisfies </a:t>
                </a:r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kumimoji="1" lang="en-US" altLang="zh-CN" sz="2800" dirty="0">
                    <a:ea typeface="Cambria Math" panose="020405030504060302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kumimoji="1" lang="en-US" altLang="zh-CN" sz="2800" dirty="0">
                    <a:ea typeface="Cambria Math" panose="02040503050406030204" pitchFamily="18" charset="0"/>
                  </a:rPr>
                  <a:t>This is about </a:t>
                </a:r>
                <a:r>
                  <a:rPr kumimoji="1" lang="en-US" altLang="zh-CN" sz="28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liveness</a:t>
                </a:r>
                <a:r>
                  <a:rPr kumimoji="1" lang="en-US" altLang="zh-CN" sz="2800" dirty="0">
                    <a:ea typeface="Cambria Math" panose="02040503050406030204" pitchFamily="18" charset="0"/>
                  </a:rPr>
                  <a:t> property.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157B990-4D71-4244-B178-AB87DC9C2E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4" t="-1846" r="-1142" b="-20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B76EAD0-0174-EB4E-AEAC-0F47C4361ECB}"/>
                  </a:ext>
                </a:extLst>
              </p:cNvPr>
              <p:cNvSpPr txBox="1"/>
              <p:nvPr/>
            </p:nvSpPr>
            <p:spPr>
              <a:xfrm>
                <a:off x="3124200" y="2514600"/>
                <a:ext cx="32766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sz="32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32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kumimoji="1" lang="en-US" altLang="zh-CN" sz="32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32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kumimoji="1" lang="en-US" altLang="zh-CN" sz="32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{</m:t>
                      </m:r>
                      <m:r>
                        <a:rPr kumimoji="1" lang="en-US" altLang="zh-CN" sz="32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kumimoji="1" lang="en-US" altLang="zh-CN" sz="32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en-US" altLang="zh-CN" sz="32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B76EAD0-0174-EB4E-AEAC-0F47C4361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2514600"/>
                <a:ext cx="3276600" cy="584775"/>
              </a:xfrm>
              <a:prstGeom prst="rect">
                <a:avLst/>
              </a:prstGeom>
              <a:blipFill>
                <a:blip r:embed="rId3"/>
                <a:stretch>
                  <a:fillRect b="-234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DB7F601-4138-DA44-8420-2D5C318C6029}"/>
                  </a:ext>
                </a:extLst>
              </p:cNvPr>
              <p:cNvSpPr txBox="1"/>
              <p:nvPr/>
            </p:nvSpPr>
            <p:spPr>
              <a:xfrm>
                <a:off x="3124200" y="4215825"/>
                <a:ext cx="32766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32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32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32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kumimoji="1" lang="en-US" altLang="zh-CN" sz="32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32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kumimoji="1" lang="en-US" altLang="zh-CN" sz="32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[</m:t>
                      </m:r>
                      <m:r>
                        <a:rPr kumimoji="1" lang="en-US" altLang="zh-CN" sz="32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kumimoji="1" lang="en-US" altLang="zh-CN" sz="32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kumimoji="1" lang="en-US" altLang="zh-CN" sz="32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DB7F601-4138-DA44-8420-2D5C318C6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4215825"/>
                <a:ext cx="3276600" cy="584775"/>
              </a:xfrm>
              <a:prstGeom prst="rect">
                <a:avLst/>
              </a:prstGeom>
              <a:blipFill>
                <a:blip r:embed="rId4"/>
                <a:stretch>
                  <a:fillRect b="-234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45686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720038-D2FF-BF4C-85F5-64AA37F5D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Hoare triple example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57B990-4D71-4244-B178-AB87DC9C2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{n&gt;=0}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n+1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{n&gt;=1}</a:t>
            </a: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06B9EB1-3388-814F-81CD-EB1858BC4BBF}"/>
              </a:ext>
            </a:extLst>
          </p:cNvPr>
          <p:cNvSpPr txBox="1"/>
          <p:nvPr/>
        </p:nvSpPr>
        <p:spPr>
          <a:xfrm>
            <a:off x="4419599" y="2017713"/>
            <a:ext cx="4524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FOL propositions, to be specific, the linear arithmetic theory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propositions!</a:t>
            </a:r>
            <a:endParaRPr kumimoji="1" lang="zh-CN" altLang="en-US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7D016FD8-C612-7A4C-94C9-70DCA13CA539}"/>
              </a:ext>
            </a:extLst>
          </p:cNvPr>
          <p:cNvCxnSpPr/>
          <p:nvPr/>
        </p:nvCxnSpPr>
        <p:spPr>
          <a:xfrm flipH="1">
            <a:off x="2057400" y="2286000"/>
            <a:ext cx="228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858BE28A-C546-2447-BACD-4B2BF6B15C4A}"/>
              </a:ext>
            </a:extLst>
          </p:cNvPr>
          <p:cNvCxnSpPr>
            <a:cxnSpLocks/>
          </p:cNvCxnSpPr>
          <p:nvPr/>
        </p:nvCxnSpPr>
        <p:spPr>
          <a:xfrm flipH="1">
            <a:off x="2209800" y="2438400"/>
            <a:ext cx="228600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33823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720038-D2FF-BF4C-85F5-64AA37F5D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Hoare triple example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57B990-4D71-4244-B178-AB87DC9C2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{n&lt;0}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sum(n){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while(n&lt;5)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n = n+1;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{result==5}</a:t>
            </a: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06B9EB1-3388-814F-81CD-EB1858BC4BBF}"/>
              </a:ext>
            </a:extLst>
          </p:cNvPr>
          <p:cNvSpPr txBox="1"/>
          <p:nvPr/>
        </p:nvSpPr>
        <p:spPr>
          <a:xfrm>
            <a:off x="4419599" y="2017713"/>
            <a:ext cx="45243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FOL propositions, to be specific, the linear arithmetic theory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propositions!</a:t>
            </a:r>
          </a:p>
          <a:p>
            <a:r>
              <a:rPr kumimoji="1" lang="en-US" altLang="zh-CN" dirty="0"/>
              <a:t>Also</a:t>
            </a:r>
            <a:r>
              <a:rPr kumimoji="1" lang="zh-CN" altLang="en-US" dirty="0"/>
              <a:t> </a:t>
            </a:r>
            <a:r>
              <a:rPr kumimoji="1" lang="en-US" altLang="zh-CN" dirty="0"/>
              <a:t>note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</a:t>
            </a:r>
            <a:r>
              <a:rPr kumimoji="1" lang="zh-CN" altLang="en-US" dirty="0"/>
              <a:t> </a:t>
            </a:r>
            <a:r>
              <a:rPr kumimoji="1" lang="en-US" altLang="zh-CN" dirty="0"/>
              <a:t>“</a:t>
            </a:r>
            <a:r>
              <a:rPr kumimoji="1" lang="en-US" altLang="zh-CN" dirty="0">
                <a:solidFill>
                  <a:srgbClr val="0432FF"/>
                </a:solidFill>
              </a:rPr>
              <a:t>result</a:t>
            </a:r>
            <a:r>
              <a:rPr kumimoji="1" lang="en-US" altLang="zh-CN" dirty="0"/>
              <a:t>”</a:t>
            </a:r>
            <a:r>
              <a:rPr kumimoji="1" lang="zh-CN" altLang="en-US" dirty="0"/>
              <a:t> </a:t>
            </a:r>
            <a:r>
              <a:rPr kumimoji="1" lang="en-US" altLang="zh-CN" dirty="0"/>
              <a:t>(like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reserved</a:t>
            </a:r>
            <a:r>
              <a:rPr kumimoji="1" lang="zh-CN" altLang="en-US" dirty="0"/>
              <a:t> </a:t>
            </a:r>
            <a:r>
              <a:rPr kumimoji="1" lang="en-US" altLang="zh-CN" dirty="0"/>
              <a:t>key</a:t>
            </a:r>
            <a:r>
              <a:rPr kumimoji="1" lang="zh-CN" altLang="en-US" dirty="0"/>
              <a:t> </a:t>
            </a:r>
            <a:r>
              <a:rPr kumimoji="1" lang="en-US" altLang="zh-CN" dirty="0"/>
              <a:t>word)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represent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return</a:t>
            </a:r>
            <a:r>
              <a:rPr kumimoji="1" lang="zh-CN" altLang="en-US" dirty="0"/>
              <a:t> </a:t>
            </a:r>
            <a:r>
              <a:rPr kumimoji="1" lang="en-US" altLang="zh-CN" dirty="0"/>
              <a:t>result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function.</a:t>
            </a:r>
            <a:endParaRPr kumimoji="1" lang="zh-CN" altLang="en-US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7D016FD8-C612-7A4C-94C9-70DCA13CA539}"/>
              </a:ext>
            </a:extLst>
          </p:cNvPr>
          <p:cNvCxnSpPr/>
          <p:nvPr/>
        </p:nvCxnSpPr>
        <p:spPr>
          <a:xfrm flipH="1">
            <a:off x="2057400" y="2286000"/>
            <a:ext cx="228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858BE28A-C546-2447-BACD-4B2BF6B15C4A}"/>
              </a:ext>
            </a:extLst>
          </p:cNvPr>
          <p:cNvCxnSpPr>
            <a:cxnSpLocks/>
          </p:cNvCxnSpPr>
          <p:nvPr/>
        </p:nvCxnSpPr>
        <p:spPr>
          <a:xfrm flipH="1">
            <a:off x="2438400" y="2438400"/>
            <a:ext cx="2057400" cy="1981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13929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720038-D2FF-BF4C-85F5-64AA37F5D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Hoare triple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semantics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57B990-4D71-4244-B178-AB87DC9C2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Hoare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triple:</a:t>
            </a:r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sz="2800" dirty="0">
                <a:ea typeface="Cambria Math" panose="02040503050406030204" pitchFamily="18" charset="0"/>
              </a:rPr>
              <a:t>Let’s</a:t>
            </a:r>
            <a:r>
              <a:rPr kumimoji="1" lang="zh-CN" altLang="en-US" sz="2800" dirty="0">
                <a:ea typeface="Cambria Math" panose="02040503050406030204" pitchFamily="18" charset="0"/>
              </a:rPr>
              <a:t> </a:t>
            </a:r>
            <a:r>
              <a:rPr kumimoji="1" lang="en-US" altLang="zh-CN" sz="2800" dirty="0">
                <a:ea typeface="Cambria Math" panose="02040503050406030204" pitchFamily="18" charset="0"/>
              </a:rPr>
              <a:t>define</a:t>
            </a:r>
            <a:r>
              <a:rPr kumimoji="1" lang="zh-CN" altLang="en-US" sz="2800" dirty="0">
                <a:ea typeface="Cambria Math" panose="02040503050406030204" pitchFamily="18" charset="0"/>
              </a:rPr>
              <a:t> </a:t>
            </a:r>
            <a:r>
              <a:rPr kumimoji="1" lang="en-US" altLang="zh-CN" sz="2800" dirty="0">
                <a:ea typeface="Cambria Math" panose="02040503050406030204" pitchFamily="18" charset="0"/>
              </a:rPr>
              <a:t>the</a:t>
            </a:r>
            <a:r>
              <a:rPr kumimoji="1" lang="zh-CN" altLang="en-US" sz="2800" dirty="0">
                <a:ea typeface="Cambria Math" panose="02040503050406030204" pitchFamily="18" charset="0"/>
              </a:rPr>
              <a:t> </a:t>
            </a:r>
            <a:r>
              <a:rPr kumimoji="1" lang="en-US" altLang="zh-CN" sz="2800" dirty="0">
                <a:ea typeface="Cambria Math" panose="02040503050406030204" pitchFamily="18" charset="0"/>
              </a:rPr>
              <a:t>semantics</a:t>
            </a:r>
            <a:r>
              <a:rPr kumimoji="1" lang="zh-CN" altLang="en-US" sz="2800" dirty="0">
                <a:ea typeface="Cambria Math" panose="02040503050406030204" pitchFamily="18" charset="0"/>
              </a:rPr>
              <a:t> </a:t>
            </a:r>
            <a:r>
              <a:rPr kumimoji="1" lang="en-US" altLang="zh-CN" sz="2800" dirty="0">
                <a:ea typeface="Cambria Math" panose="02040503050406030204" pitchFamily="18" charset="0"/>
              </a:rPr>
              <a:t>more</a:t>
            </a:r>
            <a:r>
              <a:rPr kumimoji="1" lang="zh-CN" altLang="en-US" sz="2800" dirty="0">
                <a:ea typeface="Cambria Math" panose="02040503050406030204" pitchFamily="18" charset="0"/>
              </a:rPr>
              <a:t> </a:t>
            </a:r>
            <a:r>
              <a:rPr kumimoji="1" lang="en-US" altLang="zh-CN" sz="2800" dirty="0">
                <a:ea typeface="Cambria Math" panose="02040503050406030204" pitchFamily="18" charset="0"/>
              </a:rPr>
              <a:t>formally:</a:t>
            </a:r>
          </a:p>
          <a:p>
            <a:pPr marL="514350" indent="-514350">
              <a:buAutoNum type="arabicPeriod"/>
            </a:pPr>
            <a:r>
              <a:rPr kumimoji="1" lang="en-US" altLang="zh-CN" sz="2800" dirty="0">
                <a:ea typeface="Cambria Math" panose="02040503050406030204" pitchFamily="18" charset="0"/>
              </a:rPr>
              <a:t>what’s</a:t>
            </a:r>
            <a:r>
              <a:rPr kumimoji="1" lang="zh-CN" altLang="en-US" sz="2800" dirty="0">
                <a:ea typeface="Cambria Math" panose="02040503050406030204" pitchFamily="18" charset="0"/>
              </a:rPr>
              <a:t> </a:t>
            </a:r>
            <a:r>
              <a:rPr kumimoji="1" lang="en-US" altLang="zh-CN" sz="2800" dirty="0">
                <a:ea typeface="Cambria Math" panose="02040503050406030204" pitchFamily="18" charset="0"/>
              </a:rPr>
              <a:t>the</a:t>
            </a:r>
            <a:r>
              <a:rPr kumimoji="1" lang="zh-CN" altLang="en-US" sz="2800" dirty="0">
                <a:ea typeface="Cambria Math" panose="02040503050406030204" pitchFamily="18" charset="0"/>
              </a:rPr>
              <a:t> </a:t>
            </a:r>
            <a:r>
              <a:rPr kumimoji="1" lang="en-US" altLang="zh-CN" sz="2800" dirty="0">
                <a:ea typeface="Cambria Math" panose="02040503050406030204" pitchFamily="18" charset="0"/>
              </a:rPr>
              <a:t>formal</a:t>
            </a:r>
            <a:r>
              <a:rPr kumimoji="1" lang="zh-CN" altLang="en-US" sz="2800" dirty="0">
                <a:ea typeface="Cambria Math" panose="02040503050406030204" pitchFamily="18" charset="0"/>
              </a:rPr>
              <a:t> </a:t>
            </a:r>
            <a:r>
              <a:rPr kumimoji="1" lang="en-US" altLang="zh-CN" sz="2800" dirty="0">
                <a:ea typeface="Cambria Math" panose="02040503050406030204" pitchFamily="18" charset="0"/>
              </a:rPr>
              <a:t>language</a:t>
            </a:r>
            <a:r>
              <a:rPr kumimoji="1" lang="zh-CN" altLang="en-US" sz="2800" dirty="0">
                <a:ea typeface="Cambria Math" panose="02040503050406030204" pitchFamily="18" charset="0"/>
              </a:rPr>
              <a:t> </a:t>
            </a:r>
            <a:r>
              <a:rPr kumimoji="1" lang="en-US" altLang="zh-CN" sz="2800" dirty="0">
                <a:ea typeface="Cambria Math" panose="02040503050406030204" pitchFamily="18" charset="0"/>
              </a:rPr>
              <a:t>to</a:t>
            </a:r>
            <a:r>
              <a:rPr kumimoji="1" lang="zh-CN" altLang="en-US" sz="2800" dirty="0">
                <a:ea typeface="Cambria Math" panose="02040503050406030204" pitchFamily="18" charset="0"/>
              </a:rPr>
              <a:t> </a:t>
            </a:r>
            <a:r>
              <a:rPr kumimoji="1" lang="en-US" altLang="zh-CN" sz="2800" dirty="0">
                <a:ea typeface="Cambria Math" panose="02040503050406030204" pitchFamily="18" charset="0"/>
              </a:rPr>
              <a:t>define</a:t>
            </a:r>
            <a:r>
              <a:rPr kumimoji="1" lang="zh-CN" altLang="en-US" sz="2800" dirty="0">
                <a:ea typeface="Cambria Math" panose="02040503050406030204" pitchFamily="18" charset="0"/>
              </a:rPr>
              <a:t> </a:t>
            </a:r>
            <a:r>
              <a:rPr kumimoji="1" lang="en-US" altLang="zh-CN" sz="2800" dirty="0">
                <a:ea typeface="Cambria Math" panose="02040503050406030204" pitchFamily="18" charset="0"/>
              </a:rPr>
              <a:t>the</a:t>
            </a:r>
            <a:r>
              <a:rPr kumimoji="1" lang="zh-CN" altLang="en-US" sz="2800" dirty="0">
                <a:ea typeface="Cambria Math" panose="02040503050406030204" pitchFamily="18" charset="0"/>
              </a:rPr>
              <a:t> </a:t>
            </a:r>
            <a:r>
              <a:rPr kumimoji="1" lang="en-US" altLang="zh-CN" sz="2800" dirty="0">
                <a:ea typeface="Cambria Math" panose="02040503050406030204" pitchFamily="18" charset="0"/>
              </a:rPr>
              <a:t>propositions?</a:t>
            </a:r>
          </a:p>
          <a:p>
            <a:pPr marL="514350" indent="-514350">
              <a:buAutoNum type="arabicPeriod"/>
            </a:pPr>
            <a:r>
              <a:rPr kumimoji="1" lang="en-US" altLang="zh-CN" sz="2800" dirty="0">
                <a:ea typeface="Cambria Math" panose="02040503050406030204" pitchFamily="18" charset="0"/>
              </a:rPr>
              <a:t>When</a:t>
            </a:r>
            <a:r>
              <a:rPr kumimoji="1" lang="zh-CN" altLang="en-US" sz="2800" dirty="0">
                <a:ea typeface="Cambria Math" panose="02040503050406030204" pitchFamily="18" charset="0"/>
              </a:rPr>
              <a:t> </a:t>
            </a:r>
            <a:r>
              <a:rPr kumimoji="1" lang="en-US" altLang="zh-CN" sz="2800" dirty="0">
                <a:ea typeface="Cambria Math" panose="02040503050406030204" pitchFamily="18" charset="0"/>
              </a:rPr>
              <a:t>can</a:t>
            </a:r>
            <a:r>
              <a:rPr kumimoji="1" lang="zh-CN" altLang="en-US" sz="2800" dirty="0">
                <a:ea typeface="Cambria Math" panose="02040503050406030204" pitchFamily="18" charset="0"/>
              </a:rPr>
              <a:t> </a:t>
            </a:r>
            <a:r>
              <a:rPr kumimoji="1" lang="en-US" altLang="zh-CN" sz="2800" dirty="0">
                <a:ea typeface="Cambria Math" panose="02040503050406030204" pitchFamily="18" charset="0"/>
              </a:rPr>
              <a:t>we</a:t>
            </a:r>
            <a:r>
              <a:rPr kumimoji="1" lang="zh-CN" altLang="en-US" sz="2800" dirty="0">
                <a:ea typeface="Cambria Math" panose="02040503050406030204" pitchFamily="18" charset="0"/>
              </a:rPr>
              <a:t> </a:t>
            </a:r>
            <a:r>
              <a:rPr kumimoji="1" lang="en-US" altLang="zh-CN" sz="2800" dirty="0">
                <a:ea typeface="Cambria Math" panose="02040503050406030204" pitchFamily="18" charset="0"/>
              </a:rPr>
              <a:t>say</a:t>
            </a:r>
            <a:r>
              <a:rPr kumimoji="1" lang="zh-CN" altLang="en-US" sz="2800" dirty="0">
                <a:ea typeface="Cambria Math" panose="02040503050406030204" pitchFamily="18" charset="0"/>
              </a:rPr>
              <a:t> </a:t>
            </a:r>
            <a:r>
              <a:rPr kumimoji="1" lang="en-US" altLang="zh-CN" sz="2800" dirty="0">
                <a:ea typeface="Cambria Math" panose="02040503050406030204" pitchFamily="18" charset="0"/>
              </a:rPr>
              <a:t>a</a:t>
            </a:r>
            <a:r>
              <a:rPr kumimoji="1" lang="zh-CN" altLang="en-US" sz="2800" dirty="0">
                <a:ea typeface="Cambria Math" panose="02040503050406030204" pitchFamily="18" charset="0"/>
              </a:rPr>
              <a:t> </a:t>
            </a:r>
            <a:r>
              <a:rPr kumimoji="1" lang="en-US" altLang="zh-CN" sz="2800" dirty="0">
                <a:ea typeface="Cambria Math" panose="02040503050406030204" pitchFamily="18" charset="0"/>
              </a:rPr>
              <a:t>proposition</a:t>
            </a:r>
            <a:r>
              <a:rPr kumimoji="1" lang="zh-CN" altLang="en-US" sz="2800" dirty="0">
                <a:ea typeface="Cambria Math" panose="02040503050406030204" pitchFamily="18" charset="0"/>
              </a:rPr>
              <a:t> </a:t>
            </a:r>
            <a:r>
              <a:rPr kumimoji="1" lang="en-US" altLang="zh-CN" sz="2800" i="1" dirty="0">
                <a:solidFill>
                  <a:srgbClr val="0432FF"/>
                </a:solidFill>
                <a:ea typeface="Cambria Math" panose="02040503050406030204" pitchFamily="18" charset="0"/>
              </a:rPr>
              <a:t>P</a:t>
            </a:r>
            <a:r>
              <a:rPr kumimoji="1" lang="zh-CN" altLang="en-US" sz="2800" dirty="0">
                <a:ea typeface="Cambria Math" panose="02040503050406030204" pitchFamily="18" charset="0"/>
              </a:rPr>
              <a:t> </a:t>
            </a:r>
            <a:r>
              <a:rPr kumimoji="1" lang="en-US" altLang="zh-CN" sz="2800" dirty="0">
                <a:ea typeface="Cambria Math" panose="02040503050406030204" pitchFamily="18" charset="0"/>
              </a:rPr>
              <a:t>holds</a:t>
            </a:r>
            <a:r>
              <a:rPr kumimoji="1" lang="zh-CN" altLang="en-US" sz="2800" dirty="0">
                <a:ea typeface="Cambria Math" panose="02040503050406030204" pitchFamily="18" charset="0"/>
              </a:rPr>
              <a:t> </a:t>
            </a:r>
            <a:r>
              <a:rPr kumimoji="1" lang="en-US" altLang="zh-CN" sz="2800" dirty="0">
                <a:ea typeface="Cambria Math" panose="02040503050406030204" pitchFamily="18" charset="0"/>
              </a:rPr>
              <a:t>in</a:t>
            </a:r>
            <a:r>
              <a:rPr kumimoji="1" lang="zh-CN" altLang="en-US" sz="2800" dirty="0">
                <a:ea typeface="Cambria Math" panose="02040503050406030204" pitchFamily="18" charset="0"/>
              </a:rPr>
              <a:t> </a:t>
            </a:r>
            <a:r>
              <a:rPr kumimoji="1" lang="en-US" altLang="zh-CN" sz="2800" dirty="0">
                <a:ea typeface="Cambria Math" panose="02040503050406030204" pitchFamily="18" charset="0"/>
              </a:rPr>
              <a:t>a</a:t>
            </a:r>
            <a:r>
              <a:rPr kumimoji="1" lang="zh-CN" altLang="en-US" sz="2800" dirty="0">
                <a:ea typeface="Cambria Math" panose="02040503050406030204" pitchFamily="18" charset="0"/>
              </a:rPr>
              <a:t> </a:t>
            </a:r>
            <a:r>
              <a:rPr kumimoji="1" lang="en-US" altLang="zh-CN" sz="2800" dirty="0">
                <a:ea typeface="Cambria Math" panose="02040503050406030204" pitchFamily="18" charset="0"/>
              </a:rPr>
              <a:t>given</a:t>
            </a:r>
            <a:r>
              <a:rPr kumimoji="1" lang="zh-CN" altLang="en-US" sz="2800" dirty="0">
                <a:ea typeface="Cambria Math" panose="02040503050406030204" pitchFamily="18" charset="0"/>
              </a:rPr>
              <a:t> </a:t>
            </a:r>
            <a:r>
              <a:rPr kumimoji="1" lang="en-US" altLang="zh-CN" sz="2800" dirty="0">
                <a:ea typeface="Cambria Math" panose="02040503050406030204" pitchFamily="18" charset="0"/>
              </a:rPr>
              <a:t>program</a:t>
            </a:r>
            <a:r>
              <a:rPr kumimoji="1" lang="zh-CN" altLang="en-US" sz="2800" dirty="0">
                <a:ea typeface="Cambria Math" panose="02040503050406030204" pitchFamily="18" charset="0"/>
              </a:rPr>
              <a:t> </a:t>
            </a:r>
            <a:r>
              <a:rPr kumimoji="1" lang="en-US" altLang="zh-CN" sz="2800" dirty="0">
                <a:ea typeface="Cambria Math" panose="02040503050406030204" pitchFamily="18" charset="0"/>
              </a:rPr>
              <a:t>state?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B76EAD0-0174-EB4E-AEAC-0F47C4361ECB}"/>
                  </a:ext>
                </a:extLst>
              </p:cNvPr>
              <p:cNvSpPr txBox="1"/>
              <p:nvPr/>
            </p:nvSpPr>
            <p:spPr>
              <a:xfrm>
                <a:off x="3124200" y="2514600"/>
                <a:ext cx="32766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sz="32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32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kumimoji="1" lang="en-US" altLang="zh-CN" sz="32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32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kumimoji="1" lang="en-US" altLang="zh-CN" sz="32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{</m:t>
                      </m:r>
                      <m:r>
                        <a:rPr kumimoji="1" lang="en-US" altLang="zh-CN" sz="32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kumimoji="1" lang="en-US" altLang="zh-CN" sz="32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en-US" altLang="zh-CN" sz="32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B76EAD0-0174-EB4E-AEAC-0F47C4361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2514600"/>
                <a:ext cx="3276600" cy="584775"/>
              </a:xfrm>
              <a:prstGeom prst="rect">
                <a:avLst/>
              </a:prstGeom>
              <a:blipFill>
                <a:blip r:embed="rId3"/>
                <a:stretch>
                  <a:fillRect b="-234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26007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720038-D2FF-BF4C-85F5-64AA37F5D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Proposition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syntax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157B990-4D71-4244-B178-AB87DC9C2E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syntax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propositions:</a:t>
                </a:r>
              </a:p>
              <a:p>
                <a:pPr marL="0" indent="0">
                  <a:buNone/>
                </a:pPr>
                <a:r>
                  <a:rPr kumimoji="1" lang="en-US" altLang="zh-CN" sz="2800" dirty="0">
                    <a:solidFill>
                      <a:srgbClr val="0432FF"/>
                    </a:solidFill>
                  </a:rPr>
                  <a:t>E</a:t>
                </a:r>
                <a:r>
                  <a:rPr kumimoji="1" lang="zh-CN" altLang="en-US" sz="2800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sz="2800" dirty="0">
                    <a:solidFill>
                      <a:srgbClr val="0432FF"/>
                    </a:solidFill>
                  </a:rPr>
                  <a:t>::=</a:t>
                </a:r>
                <a:r>
                  <a:rPr kumimoji="1" lang="zh-CN" altLang="en-US" sz="2800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sz="2800" dirty="0">
                    <a:solidFill>
                      <a:srgbClr val="0432FF"/>
                    </a:solidFill>
                  </a:rPr>
                  <a:t>x</a:t>
                </a:r>
                <a:r>
                  <a:rPr kumimoji="1" lang="zh-CN" altLang="en-US" sz="2800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sz="2800" dirty="0">
                    <a:solidFill>
                      <a:srgbClr val="0432FF"/>
                    </a:solidFill>
                  </a:rPr>
                  <a:t>|</a:t>
                </a:r>
                <a:r>
                  <a:rPr kumimoji="1" lang="zh-CN" altLang="en-US" sz="2800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sz="2800" dirty="0">
                    <a:solidFill>
                      <a:srgbClr val="0432FF"/>
                    </a:solidFill>
                  </a:rPr>
                  <a:t>c</a:t>
                </a:r>
                <a:r>
                  <a:rPr kumimoji="1" lang="zh-CN" altLang="en-US" sz="2800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sz="2800" dirty="0">
                    <a:solidFill>
                      <a:srgbClr val="0432FF"/>
                    </a:solidFill>
                  </a:rPr>
                  <a:t>|</a:t>
                </a:r>
                <a:r>
                  <a:rPr kumimoji="1" lang="zh-CN" altLang="en-US" sz="2800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sz="2800" dirty="0">
                    <a:solidFill>
                      <a:srgbClr val="0432FF"/>
                    </a:solidFill>
                  </a:rPr>
                  <a:t>f(E,</a:t>
                </a:r>
                <a:r>
                  <a:rPr kumimoji="1" lang="zh-CN" altLang="en-US" sz="2800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sz="2800" dirty="0">
                    <a:solidFill>
                      <a:srgbClr val="0432FF"/>
                    </a:solidFill>
                  </a:rPr>
                  <a:t>…,</a:t>
                </a:r>
                <a:r>
                  <a:rPr kumimoji="1" lang="zh-CN" altLang="en-US" sz="2800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sz="2800" dirty="0">
                    <a:solidFill>
                      <a:srgbClr val="0432FF"/>
                    </a:solidFill>
                  </a:rPr>
                  <a:t>E)</a:t>
                </a:r>
              </a:p>
              <a:p>
                <a:pPr marL="0" indent="0">
                  <a:buNone/>
                </a:pPr>
                <a:r>
                  <a:rPr kumimoji="1" lang="en-US" altLang="zh-CN" sz="2800" dirty="0">
                    <a:solidFill>
                      <a:srgbClr val="0432FF"/>
                    </a:solidFill>
                  </a:rPr>
                  <a:t>R</a:t>
                </a:r>
                <a:r>
                  <a:rPr kumimoji="1" lang="zh-CN" altLang="en-US" sz="2800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sz="2800" dirty="0">
                    <a:solidFill>
                      <a:srgbClr val="0432FF"/>
                    </a:solidFill>
                  </a:rPr>
                  <a:t>::=</a:t>
                </a:r>
                <a:r>
                  <a:rPr kumimoji="1" lang="zh-CN" altLang="en-US" sz="2800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sz="2800" dirty="0">
                    <a:solidFill>
                      <a:srgbClr val="0432FF"/>
                    </a:solidFill>
                  </a:rPr>
                  <a:t>r(E,</a:t>
                </a:r>
                <a:r>
                  <a:rPr kumimoji="1" lang="zh-CN" altLang="en-US" sz="2800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sz="2800" dirty="0">
                    <a:solidFill>
                      <a:srgbClr val="0432FF"/>
                    </a:solidFill>
                  </a:rPr>
                  <a:t>…,</a:t>
                </a:r>
                <a:r>
                  <a:rPr kumimoji="1" lang="zh-CN" altLang="en-US" sz="2800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sz="2800" dirty="0">
                    <a:solidFill>
                      <a:srgbClr val="0432FF"/>
                    </a:solidFill>
                  </a:rPr>
                  <a:t>E)</a:t>
                </a:r>
                <a:r>
                  <a:rPr kumimoji="1" lang="zh-CN" altLang="en-US" sz="2800" dirty="0">
                    <a:solidFill>
                      <a:srgbClr val="0432FF"/>
                    </a:solidFill>
                  </a:rPr>
                  <a:t>       </a:t>
                </a:r>
                <a:endParaRPr kumimoji="1" lang="en-US" altLang="zh-CN" sz="2800" dirty="0">
                  <a:solidFill>
                    <a:srgbClr val="0432FF"/>
                  </a:solidFill>
                </a:endParaRPr>
              </a:p>
              <a:p>
                <a:pPr marL="0" indent="0">
                  <a:buNone/>
                </a:pPr>
                <a:r>
                  <a:rPr kumimoji="1" lang="en-US" altLang="zh-CN" sz="2800" i="1" dirty="0">
                    <a:solidFill>
                      <a:srgbClr val="0432FF"/>
                    </a:solidFill>
                    <a:latin typeface="Cambria Math" panose="02040503050406030204" pitchFamily="18" charset="0"/>
                  </a:rPr>
                  <a:t>P</a:t>
                </a:r>
                <a:r>
                  <a:rPr kumimoji="1" lang="zh-CN" altLang="en-US" sz="2800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sz="2800" dirty="0">
                    <a:solidFill>
                      <a:srgbClr val="0432FF"/>
                    </a:solidFill>
                  </a:rPr>
                  <a:t>::=</a:t>
                </a:r>
                <a:r>
                  <a:rPr kumimoji="1" lang="zh-CN" altLang="en-US" sz="2800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sz="2800" dirty="0">
                    <a:solidFill>
                      <a:srgbClr val="0432FF"/>
                    </a:solidFill>
                  </a:rPr>
                  <a:t>R</a:t>
                </a:r>
              </a:p>
              <a:p>
                <a:pPr marL="0" indent="0">
                  <a:buNone/>
                </a:pPr>
                <a:r>
                  <a:rPr kumimoji="1" lang="zh-CN" altLang="en-US" sz="2800" dirty="0">
                    <a:solidFill>
                      <a:srgbClr val="0432FF"/>
                    </a:solidFill>
                  </a:rPr>
                  <a:t>      </a:t>
                </a:r>
                <a:r>
                  <a:rPr kumimoji="1" lang="en-US" altLang="zh-CN" sz="2800" dirty="0">
                    <a:solidFill>
                      <a:srgbClr val="0432FF"/>
                    </a:solidFill>
                  </a:rPr>
                  <a:t>|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 sz="280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</m:oMath>
                </a14:m>
                <a:endParaRPr kumimoji="1" lang="en-US" altLang="zh-CN" sz="2800" dirty="0">
                  <a:solidFill>
                    <a:srgbClr val="0432FF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kumimoji="1" lang="zh-CN" altLang="en-US" sz="28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     </a:t>
                </a:r>
                <a:r>
                  <a:rPr kumimoji="1" lang="en-US" altLang="zh-CN" sz="28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|</a:t>
                </a:r>
                <a:r>
                  <a:rPr kumimoji="1" lang="zh-CN" altLang="en-US" sz="28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</m:t>
                    </m:r>
                  </m:oMath>
                </a14:m>
                <a:endParaRPr kumimoji="1" lang="en-US" altLang="zh-CN" sz="2800" i="1" dirty="0">
                  <a:solidFill>
                    <a:srgbClr val="0432FF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kumimoji="1" lang="zh-CN" altLang="en-US" sz="2800" dirty="0">
                    <a:solidFill>
                      <a:srgbClr val="0432FF"/>
                    </a:solidFill>
                  </a:rPr>
                  <a:t>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en-US" altLang="zh-CN" sz="2800" i="0" dirty="0">
                        <a:solidFill>
                          <a:srgbClr val="0432FF"/>
                        </a:solidFill>
                      </a:rPr>
                      <m:t>|</m:t>
                    </m:r>
                    <m:r>
                      <m:rPr>
                        <m:nor/>
                      </m:rPr>
                      <a:rPr kumimoji="1" lang="zh-CN" altLang="en-US" sz="2800" i="0" dirty="0">
                        <a:solidFill>
                          <a:srgbClr val="0432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kumimoji="1" lang="en-US" altLang="zh-CN" sz="2800" i="1" dirty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kumimoji="1" lang="zh-CN" altLang="en-US" sz="28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nor/>
                      </m:rPr>
                      <a:rPr kumimoji="1" lang="en-US" altLang="zh-CN" sz="2800" i="1" dirty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endParaRPr kumimoji="1" lang="en-US" altLang="zh-CN" sz="2800" i="1" dirty="0">
                  <a:solidFill>
                    <a:srgbClr val="0432FF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kumimoji="1" lang="zh-CN" altLang="en-US" sz="2800" i="0" dirty="0">
                          <a:solidFill>
                            <a:srgbClr val="0432FF"/>
                          </a:solidFill>
                        </a:rPr>
                        <m:t>      </m:t>
                      </m:r>
                      <m:r>
                        <m:rPr>
                          <m:nor/>
                        </m:rPr>
                        <a:rPr kumimoji="1" lang="en-US" altLang="zh-CN" sz="2800" i="0" dirty="0">
                          <a:solidFill>
                            <a:srgbClr val="0432FF"/>
                          </a:solidFill>
                        </a:rPr>
                        <m:t>|</m:t>
                      </m:r>
                      <m:r>
                        <m:rPr>
                          <m:nor/>
                        </m:rPr>
                        <a:rPr kumimoji="1" lang="zh-CN" altLang="en-US" sz="2800" i="0" dirty="0">
                          <a:solidFill>
                            <a:srgbClr val="0432FF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US" altLang="zh-CN" sz="28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kumimoji="1" lang="zh-CN" altLang="en-US" sz="28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kumimoji="1" lang="en-US" altLang="zh-CN" sz="28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kumimoji="1" lang="en-US" altLang="zh-CN" sz="2800" i="1" dirty="0">
                  <a:solidFill>
                    <a:srgbClr val="0432FF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kumimoji="1" lang="zh-CN" altLang="en-US" sz="2800" dirty="0">
                    <a:solidFill>
                      <a:srgbClr val="0432FF"/>
                    </a:solidFill>
                  </a:rPr>
                  <a:t>      </a:t>
                </a:r>
                <a:r>
                  <a:rPr kumimoji="1" lang="en-US" altLang="zh-CN" sz="2800" dirty="0">
                    <a:solidFill>
                      <a:srgbClr val="0432FF"/>
                    </a:solidFill>
                  </a:rPr>
                  <a:t>|</a:t>
                </a:r>
                <a:r>
                  <a:rPr kumimoji="1" lang="zh-CN" altLang="en-US" sz="2800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kumimoji="1" lang="en-US" altLang="zh-CN" sz="2800" i="1" dirty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800" i="1" dirty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kumimoji="1" lang="en-US" altLang="zh-CN" sz="2800" i="1" dirty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kumimoji="1" lang="en-US" altLang="zh-CN" sz="28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157B990-4D71-4244-B178-AB87DC9C2E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68" t="-1846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52779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00BE84-116D-F74B-AEDB-9F16565A7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Proposition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syntax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C02CAB-D096-2E41-BE9E-E76E90F9E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Essentially,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fragment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FOL</a:t>
            </a:r>
          </a:p>
          <a:p>
            <a:pPr lvl="1"/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practice,</a:t>
            </a:r>
            <a:r>
              <a:rPr kumimoji="1" lang="zh-CN" altLang="en-US" dirty="0"/>
              <a:t> </a:t>
            </a:r>
            <a:r>
              <a:rPr kumimoji="1" lang="en-US" altLang="zh-CN" dirty="0"/>
              <a:t>other</a:t>
            </a:r>
            <a:r>
              <a:rPr kumimoji="1" lang="zh-CN" altLang="en-US" dirty="0"/>
              <a:t> </a:t>
            </a:r>
            <a:r>
              <a:rPr kumimoji="1" lang="en-US" altLang="zh-CN" dirty="0"/>
              <a:t>variants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exist,</a:t>
            </a:r>
            <a:r>
              <a:rPr kumimoji="1" lang="zh-CN" altLang="en-US" dirty="0"/>
              <a:t> </a:t>
            </a:r>
            <a:r>
              <a:rPr kumimoji="1" lang="en-US" altLang="zh-CN" dirty="0"/>
              <a:t>say</a:t>
            </a:r>
            <a:r>
              <a:rPr kumimoji="1" lang="zh-CN" altLang="en-US" dirty="0"/>
              <a:t> </a:t>
            </a:r>
            <a:r>
              <a:rPr kumimoji="1" lang="en-US" altLang="zh-CN" dirty="0"/>
              <a:t>Temporal</a:t>
            </a:r>
            <a:r>
              <a:rPr kumimoji="1" lang="zh-CN" altLang="en-US" dirty="0"/>
              <a:t> </a:t>
            </a:r>
            <a:r>
              <a:rPr kumimoji="1" lang="en-US" altLang="zh-CN" dirty="0"/>
              <a:t>logic</a:t>
            </a:r>
            <a:r>
              <a:rPr kumimoji="1" lang="zh-CN" altLang="en-US" dirty="0"/>
              <a:t> </a:t>
            </a:r>
            <a:r>
              <a:rPr kumimoji="1" lang="en-US" altLang="zh-CN" dirty="0"/>
              <a:t>(for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protocols),</a:t>
            </a:r>
            <a:r>
              <a:rPr kumimoji="1" lang="zh-CN" altLang="en-US" dirty="0"/>
              <a:t> </a:t>
            </a:r>
            <a:r>
              <a:rPr kumimoji="1" lang="en-US" altLang="zh-CN" dirty="0"/>
              <a:t>etc..</a:t>
            </a:r>
          </a:p>
          <a:p>
            <a:r>
              <a:rPr kumimoji="1" lang="en-US" altLang="zh-CN" dirty="0"/>
              <a:t>Also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contain</a:t>
            </a:r>
            <a:r>
              <a:rPr kumimoji="1" lang="zh-CN" altLang="en-US" dirty="0"/>
              <a:t> </a:t>
            </a:r>
            <a:r>
              <a:rPr kumimoji="1" lang="en-US" altLang="zh-CN" dirty="0"/>
              <a:t>domain</a:t>
            </a:r>
            <a:r>
              <a:rPr kumimoji="1" lang="zh-CN" altLang="en-US" dirty="0"/>
              <a:t> </a:t>
            </a:r>
            <a:r>
              <a:rPr kumimoji="1" lang="en-US" altLang="zh-CN" dirty="0"/>
              <a:t>specific</a:t>
            </a:r>
            <a:r>
              <a:rPr kumimoji="1" lang="zh-CN" altLang="en-US" dirty="0"/>
              <a:t> </a:t>
            </a:r>
            <a:r>
              <a:rPr kumimoji="1" lang="en-US" altLang="zh-CN" dirty="0"/>
              <a:t>relations</a:t>
            </a:r>
            <a:r>
              <a:rPr kumimoji="1" lang="zh-CN" altLang="en-US" dirty="0"/>
              <a:t> </a:t>
            </a:r>
            <a:r>
              <a:rPr kumimoji="1" lang="en-US" altLang="zh-CN" dirty="0"/>
              <a:t>(user</a:t>
            </a:r>
            <a:r>
              <a:rPr kumimoji="1" lang="zh-CN" altLang="en-US" dirty="0"/>
              <a:t> </a:t>
            </a:r>
            <a:r>
              <a:rPr kumimoji="1" lang="en-US" altLang="zh-CN" dirty="0"/>
              <a:t>extensible)</a:t>
            </a:r>
          </a:p>
          <a:p>
            <a:pPr lvl="1"/>
            <a:r>
              <a:rPr kumimoji="1" lang="en-US" altLang="zh-CN" dirty="0"/>
              <a:t>Say: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type(x,</a:t>
            </a:r>
            <a:r>
              <a:rPr kumimoji="1" lang="zh-CN" altLang="en-US" dirty="0">
                <a:solidFill>
                  <a:srgbClr val="0432FF"/>
                </a:solidFill>
              </a:rPr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T)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indicate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x</a:t>
            </a:r>
            <a:r>
              <a:rPr kumimoji="1" lang="zh-CN" altLang="en-US" dirty="0"/>
              <a:t> </a:t>
            </a:r>
            <a:r>
              <a:rPr kumimoji="1" lang="en-US" altLang="zh-CN" dirty="0"/>
              <a:t>has</a:t>
            </a:r>
            <a:r>
              <a:rPr kumimoji="1" lang="zh-CN" altLang="en-US" dirty="0"/>
              <a:t> </a:t>
            </a:r>
            <a:r>
              <a:rPr kumimoji="1" lang="en-US" altLang="zh-CN" dirty="0"/>
              <a:t>type</a:t>
            </a:r>
            <a:r>
              <a:rPr kumimoji="1" lang="zh-CN" altLang="en-US" dirty="0"/>
              <a:t> </a:t>
            </a:r>
            <a:r>
              <a:rPr kumimoji="1" lang="en-US" altLang="zh-CN" dirty="0"/>
              <a:t>T</a:t>
            </a:r>
          </a:p>
          <a:p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tradeoff</a:t>
            </a:r>
            <a:r>
              <a:rPr kumimoji="1" lang="zh-CN" altLang="en-US" dirty="0"/>
              <a:t> </a:t>
            </a:r>
            <a:r>
              <a:rPr kumimoji="1" lang="en-US" altLang="zh-CN" dirty="0"/>
              <a:t>between</a:t>
            </a:r>
            <a:r>
              <a:rPr kumimoji="1" lang="zh-CN" altLang="en-US" dirty="0"/>
              <a:t> </a:t>
            </a:r>
            <a:r>
              <a:rPr kumimoji="1" lang="en-US" altLang="zh-CN" dirty="0"/>
              <a:t>simplicity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expressiveness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(design</a:t>
            </a:r>
            <a:r>
              <a:rPr kumimoji="1" lang="zh-CN" altLang="en-US" dirty="0"/>
              <a:t> </a:t>
            </a:r>
            <a:r>
              <a:rPr kumimoji="1" lang="en-US" altLang="zh-CN" dirty="0"/>
              <a:t>art)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3462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00BE84-116D-F74B-AEDB-9F16565A7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Proposition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semantics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4C02CAB-D096-2E41-BE9E-E76E90F9E1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Next,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we’d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design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formal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semantics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assertions</a:t>
                </a:r>
              </a:p>
              <a:p>
                <a:pPr lvl="1"/>
                <a:r>
                  <a:rPr kumimoji="1" lang="en-US" altLang="zh-CN" dirty="0"/>
                  <a:t>“What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do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we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mean,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by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writing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down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these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assertions?”</a:t>
                </a:r>
              </a:p>
              <a:p>
                <a:r>
                  <a:rPr kumimoji="1" lang="en-US" altLang="zh-CN" dirty="0"/>
                  <a:t>We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use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notation: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zh-CN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kumimoji="1" lang="en-US" altLang="zh-CN" b="0" dirty="0">
                  <a:solidFill>
                    <a:srgbClr val="0432FF"/>
                  </a:solidFill>
                  <a:ea typeface="Cambria Math" panose="02040503050406030204" pitchFamily="18" charset="0"/>
                </a:endParaRPr>
              </a:p>
              <a:p>
                <a:pPr lvl="2"/>
                <a:r>
                  <a:rPr kumimoji="1" lang="en-US" altLang="zh-CN" dirty="0"/>
                  <a:t>Where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store, </a:t>
                </a:r>
                <a:r>
                  <a:rPr kumimoji="1" lang="en-US" altLang="zh-CN" i="1" dirty="0">
                    <a:solidFill>
                      <a:srgbClr val="0432FF"/>
                    </a:solidFill>
                  </a:rPr>
                  <a:t>P</a:t>
                </a:r>
                <a:r>
                  <a:rPr kumimoji="1" lang="en-US" altLang="zh-CN" dirty="0"/>
                  <a:t> is the proposition</a:t>
                </a:r>
              </a:p>
              <a:p>
                <a:pPr lvl="1"/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proposition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holds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under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store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4C02CAB-D096-2E41-BE9E-E76E90F9E1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53" t="-1846" b="-2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50469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00BE84-116D-F74B-AEDB-9F16565A7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Proposition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semantics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4C02CAB-D096-2E41-BE9E-E76E90F9E1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" y="2017713"/>
                <a:ext cx="8802688" cy="4114800"/>
              </a:xfrm>
            </p:spPr>
            <p:txBody>
              <a:bodyPr/>
              <a:lstStyle/>
              <a:p>
                <a:r>
                  <a:rPr kumimoji="1" lang="en-US" altLang="zh-CN" dirty="0"/>
                  <a:t>This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assertion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inductively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defined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on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kumimoji="1" lang="en-US" altLang="zh-CN" dirty="0">
                    <a:ea typeface="Cambria Math" panose="02040503050406030204" pitchFamily="18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kumimoji="1" lang="en-US" altLang="zh-CN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kumimoji="1" lang="zh-CN" altLang="en-US" sz="2400" b="0" i="1" dirty="0">
                    <a:solidFill>
                      <a:srgbClr val="0432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         </a:t>
                </a:r>
                <a:r>
                  <a:rPr kumimoji="1" lang="en-US" altLang="zh-CN" sz="24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always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kumimoji="1" lang="en-US" altLang="zh-CN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kumimoji="1" lang="en-US" altLang="zh-CN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==</m:t>
                    </m:r>
                    <m:r>
                      <a:rPr kumimoji="1" lang="en-US" altLang="zh-CN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kumimoji="1" lang="zh-CN" altLang="en-US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kumimoji="1" lang="en-US" altLang="zh-CN" sz="24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iff</a:t>
                </a:r>
                <a14:m>
                  <m:oMath xmlns:m="http://schemas.openxmlformats.org/officeDocument/2006/math">
                    <m:r>
                      <a:rPr kumimoji="1" lang="zh-CN" altLang="en-US" sz="2400" b="0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kumimoji="1" lang="zh-CN" altLang="en-US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1⟹</m:t>
                    </m:r>
                    <m:r>
                      <a:rPr kumimoji="1" lang="en-US" altLang="zh-CN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kumimoji="1" lang="en-US" altLang="zh-CN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zh-CN" altLang="en-US" sz="2400" b="0" i="1" dirty="0">
                    <a:solidFill>
                      <a:srgbClr val="0432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kumimoji="1" lang="en-US" altLang="zh-CN" sz="24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and</a:t>
                </a:r>
                <a:r>
                  <a:rPr kumimoji="1" lang="zh-CN" altLang="en-US" sz="24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kumimoji="1" lang="zh-CN" altLang="en-US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kumimoji="1" lang="en-US" altLang="zh-CN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kumimoji="1" lang="en-US" altLang="zh-CN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kumimoji="1" lang="zh-CN" altLang="en-US" sz="2400" i="1" dirty="0">
                    <a:solidFill>
                      <a:srgbClr val="0432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kumimoji="1" lang="en-US" altLang="zh-CN" sz="24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and</a:t>
                </a:r>
                <a:r>
                  <a:rPr kumimoji="1" lang="zh-CN" altLang="en-US" sz="24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1==</m:t>
                    </m:r>
                    <m:r>
                      <a:rPr kumimoji="1" lang="en-US" altLang="zh-CN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kumimoji="1" lang="en-US" altLang="zh-CN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kumimoji="1" lang="zh-CN" altLang="en-US" sz="2400" i="1" dirty="0">
                    <a:solidFill>
                      <a:srgbClr val="0432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kumimoji="1" lang="en-US" altLang="zh-CN" sz="2400" b="0" i="1" dirty="0">
                  <a:solidFill>
                    <a:srgbClr val="0432FF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kumimoji="1" lang="en-US" altLang="zh-CN" sz="24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kumimoji="1" lang="en-US" altLang="zh-CN" sz="24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⊨</m:t>
                      </m:r>
                      <m:r>
                        <a:rPr kumimoji="1" lang="en-US" altLang="zh-CN" sz="24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kumimoji="1" lang="en-US" altLang="zh-CN" sz="24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1&lt;</m:t>
                      </m:r>
                      <m:r>
                        <a:rPr kumimoji="1" lang="en-US" altLang="zh-CN" sz="24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kumimoji="1" lang="en-US" altLang="zh-CN" sz="24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2     </m:t>
                      </m:r>
                      <m:r>
                        <m:rPr>
                          <m:nor/>
                        </m:rPr>
                        <a:rPr kumimoji="1" lang="en-US" altLang="zh-CN" sz="2400" i="0" dirty="0">
                          <a:solidFill>
                            <a:srgbClr val="0432FF"/>
                          </a:solidFill>
                          <a:ea typeface="Cambria Math" panose="02040503050406030204" pitchFamily="18" charset="0"/>
                        </a:rPr>
                        <m:t>iff</m:t>
                      </m:r>
                      <m:r>
                        <a:rPr kumimoji="1" lang="zh-CN" altLang="en-US" sz="240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4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kumimoji="1" lang="zh-CN" altLang="en-US" sz="24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sz="24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kumimoji="1" lang="en-US" altLang="zh-CN" sz="24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1⟹</m:t>
                      </m:r>
                      <m:r>
                        <a:rPr kumimoji="1" lang="en-US" altLang="zh-CN" sz="24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kumimoji="1" lang="en-US" altLang="zh-CN" sz="24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kumimoji="1" lang="zh-CN" alt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US" altLang="zh-CN" sz="2400" i="0" dirty="0">
                          <a:solidFill>
                            <a:srgbClr val="0432FF"/>
                          </a:solidFill>
                          <a:ea typeface="Cambria Math" panose="02040503050406030204" pitchFamily="18" charset="0"/>
                        </a:rPr>
                        <m:t>and</m:t>
                      </m:r>
                      <m:r>
                        <m:rPr>
                          <m:nor/>
                        </m:rPr>
                        <a:rPr kumimoji="1" lang="zh-CN" altLang="en-US" sz="2400" i="0" dirty="0">
                          <a:solidFill>
                            <a:srgbClr val="0432FF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4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kumimoji="1" lang="zh-CN" altLang="en-US" sz="24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sz="24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kumimoji="1" lang="en-US" altLang="zh-CN" sz="24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2⟹</m:t>
                      </m:r>
                      <m:r>
                        <a:rPr kumimoji="1" lang="en-US" altLang="zh-CN" sz="24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kumimoji="1" lang="en-US" altLang="zh-CN" sz="24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kumimoji="1" lang="zh-CN" alt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US" altLang="zh-CN" sz="2400" i="0" dirty="0">
                          <a:solidFill>
                            <a:srgbClr val="0432FF"/>
                          </a:solidFill>
                          <a:ea typeface="Cambria Math" panose="02040503050406030204" pitchFamily="18" charset="0"/>
                        </a:rPr>
                        <m:t>and</m:t>
                      </m:r>
                      <m:r>
                        <m:rPr>
                          <m:nor/>
                        </m:rPr>
                        <a:rPr kumimoji="1" lang="zh-CN" altLang="en-US" sz="2400" i="0" dirty="0">
                          <a:solidFill>
                            <a:srgbClr val="0432FF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4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kumimoji="1" lang="en-US" altLang="zh-CN" sz="24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1&lt;</m:t>
                      </m:r>
                      <m:r>
                        <a:rPr kumimoji="1" lang="en-US" altLang="zh-CN" sz="24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kumimoji="1" lang="en-US" altLang="zh-CN" sz="24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kumimoji="1" lang="zh-CN" altLang="en-US" sz="24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en-US" altLang="zh-CN" sz="2400" i="1" dirty="0">
                  <a:solidFill>
                    <a:srgbClr val="0432FF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kumimoji="1" lang="en-US" altLang="zh-CN" sz="24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kumimoji="1" lang="en-US" altLang="zh-CN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kumimoji="1" lang="zh-CN" altLang="en-US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kumimoji="1" lang="en-US" altLang="zh-CN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kumimoji="1" lang="zh-CN" altLang="en-US" sz="24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    </a:t>
                </a:r>
                <a:r>
                  <a:rPr kumimoji="1" lang="en-US" altLang="zh-CN" sz="24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iff</a:t>
                </a:r>
                <a:r>
                  <a:rPr kumimoji="1" lang="zh-CN" altLang="en-US" sz="24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zh-CN" altLang="en-US" sz="24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:r>
                  <a:rPr kumimoji="1" lang="en-US" altLang="zh-CN" sz="24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and</a:t>
                </a:r>
                <a:r>
                  <a:rPr kumimoji="1" lang="zh-CN" altLang="en-US" sz="24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kumimoji="1" lang="en-US" altLang="zh-CN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endParaRPr kumimoji="1" lang="en-US" altLang="zh-CN" sz="2400" b="0" dirty="0">
                  <a:solidFill>
                    <a:srgbClr val="0432FF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1→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kumimoji="1" lang="zh-CN" altLang="en-US" sz="24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   </a:t>
                </a:r>
                <a:r>
                  <a:rPr kumimoji="1" lang="en-US" altLang="zh-CN" sz="24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iff</a:t>
                </a:r>
                <a:r>
                  <a:rPr kumimoji="1" lang="zh-CN" altLang="en-US" sz="24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zh-CN" altLang="en-US" sz="24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:r>
                  <a:rPr kumimoji="1" lang="en-US" altLang="zh-CN" sz="24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implies</a:t>
                </a:r>
                <a:r>
                  <a:rPr kumimoji="1" lang="zh-CN" altLang="en-US" sz="24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endParaRPr kumimoji="1" lang="en-US" altLang="zh-CN" sz="2400" dirty="0">
                  <a:solidFill>
                    <a:srgbClr val="0432FF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⊨∀</m:t>
                    </m:r>
                    <m:r>
                      <a:rPr kumimoji="1" lang="en-US" altLang="zh-CN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kumimoji="1" lang="zh-CN" altLang="en-US" sz="24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        </a:t>
                </a:r>
                <a:r>
                  <a:rPr kumimoji="1" lang="en-US" altLang="zh-CN" sz="24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iff</a:t>
                </a:r>
                <a14:m>
                  <m:oMath xmlns:m="http://schemas.openxmlformats.org/officeDocument/2006/math">
                    <m:r>
                      <a:rPr kumimoji="1" lang="zh-CN" altLang="en-US" sz="2400" b="0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kumimoji="1" lang="en-US" altLang="zh-CN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kumimoji="1" lang="en-US" altLang="zh-CN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zh-CN" altLang="en-US" sz="2400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  <m:r>
                      <a:rPr kumimoji="1" lang="en-US" altLang="zh-CN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kumimoji="1" lang="en-US" altLang="zh-CN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]⊨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kumimoji="1" lang="en-US" altLang="zh-CN" sz="2400" dirty="0">
                  <a:solidFill>
                    <a:srgbClr val="0432FF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kumimoji="1" lang="en-US" altLang="zh-CN" sz="2000" dirty="0">
                  <a:solidFill>
                    <a:srgbClr val="0432FF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4C02CAB-D096-2E41-BE9E-E76E90F9E1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2017713"/>
                <a:ext cx="8802688" cy="4114800"/>
              </a:xfrm>
              <a:blipFill>
                <a:blip r:embed="rId2"/>
                <a:stretch>
                  <a:fillRect l="-577" t="-2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4198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00BE84-116D-F74B-AEDB-9F16565A7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Hoare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triple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semantics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4C02CAB-D096-2E41-BE9E-E76E90F9E1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Now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we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can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define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semantics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Hoare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triple: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kumimoji="1" lang="en-US" altLang="zh-CN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{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kumimoji="1" lang="en-US" altLang="zh-CN" dirty="0"/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kumimoji="1" lang="en-US" altLang="zh-CN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′.(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kumimoji="1" lang="zh-CN" alt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′)</m:t>
                    </m:r>
                  </m:oMath>
                </a14:m>
                <a:r>
                  <a:rPr kumimoji="1" lang="zh-CN" altLang="en-US" i="1" dirty="0">
                    <a:solidFill>
                      <a:srgbClr val="0432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dirty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zh-CN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endParaRPr kumimoji="1" lang="en-US" altLang="zh-CN" b="0" dirty="0">
                  <a:solidFill>
                    <a:srgbClr val="0432FF"/>
                  </a:solidFill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endParaRPr kumimoji="1" lang="en-US" altLang="zh-CN" b="0" dirty="0">
                  <a:solidFill>
                    <a:srgbClr val="0432FF"/>
                  </a:solidFill>
                  <a:ea typeface="Cambria Math" panose="02040503050406030204" pitchFamily="18" charset="0"/>
                </a:endParaRPr>
              </a:p>
              <a:p>
                <a:pPr lvl="1"/>
                <a:r>
                  <a:rPr kumimoji="1" lang="en-US" altLang="zh-CN" dirty="0"/>
                  <a:t>We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start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some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store</a:t>
                </a:r>
                <a:r>
                  <a:rPr kumimoji="1" lang="zh-CN" altLang="en-US" dirty="0"/>
                  <a:t> 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satisfying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kumimoji="1" lang="en-US" altLang="zh-CN" dirty="0"/>
              </a:p>
              <a:p>
                <a:pPr lvl="1"/>
                <a:r>
                  <a:rPr kumimoji="1" lang="en-US" altLang="zh-CN" dirty="0"/>
                  <a:t>And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run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program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under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store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kumimoji="1" lang="en-US" altLang="zh-CN" dirty="0"/>
                  <a:t>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obtain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new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store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(if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dirty="0"/>
                  <a:t>terminates)</a:t>
                </a:r>
              </a:p>
              <a:p>
                <a:pPr lvl="1"/>
                <a:r>
                  <a:rPr kumimoji="1" lang="en-US" altLang="zh-CN" dirty="0"/>
                  <a:t>Then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kumimoji="1" lang="en-US" altLang="zh-CN" b="0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satifies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4C02CAB-D096-2E41-BE9E-E76E90F9E1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9" t="-1846" b="-2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06995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00BE84-116D-F74B-AEDB-9F16565A7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Exhausted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testing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4C02CAB-D096-2E41-BE9E-E76E90F9E1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semantics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for: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kumimoji="1" lang="en-US" altLang="zh-CN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{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kumimoji="1" lang="en-US" altLang="zh-CN" dirty="0"/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kumimoji="1" lang="en-US" altLang="zh-CN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′.(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kumimoji="1" lang="zh-CN" alt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′)</m:t>
                    </m:r>
                  </m:oMath>
                </a14:m>
                <a:r>
                  <a:rPr kumimoji="1" lang="zh-CN" altLang="en-US" i="1" dirty="0">
                    <a:solidFill>
                      <a:srgbClr val="0432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zh-CN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endParaRPr kumimoji="1" lang="en-US" altLang="zh-CN" dirty="0">
                  <a:solidFill>
                    <a:srgbClr val="0432FF"/>
                  </a:solidFill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r>
                  <a:rPr kumimoji="1" lang="en-US" altLang="zh-CN" dirty="0"/>
                  <a:t>Gives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us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method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establishing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triple:</a:t>
                </a:r>
              </a:p>
              <a:p>
                <a:pPr lvl="1"/>
                <a:r>
                  <a:rPr kumimoji="1" lang="en-US" altLang="zh-CN" dirty="0"/>
                  <a:t>Choose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any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initial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store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satisfying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kumimoji="1" lang="en-US" altLang="zh-CN" dirty="0"/>
              </a:p>
              <a:p>
                <a:pPr lvl="1"/>
                <a:r>
                  <a:rPr kumimoji="1" lang="en-US" altLang="zh-CN" dirty="0"/>
                  <a:t>And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run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program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under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store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kumimoji="1" lang="en-US" altLang="zh-CN" dirty="0"/>
                  <a:t>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obtain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new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store</a:t>
                </a:r>
                <a14:m>
                  <m:oMath xmlns:m="http://schemas.openxmlformats.org/officeDocument/2006/math">
                    <m:r>
                      <a:rPr kumimoji="1" lang="zh-CN" altLang="en-US" b="0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kumimoji="1" lang="en-US" altLang="zh-CN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kumimoji="1" lang="en-US" altLang="zh-CN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(if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dirty="0"/>
                  <a:t>terminates)</a:t>
                </a:r>
              </a:p>
              <a:p>
                <a:pPr lvl="1"/>
                <a:r>
                  <a:rPr kumimoji="1" lang="en-US" altLang="zh-CN" dirty="0"/>
                  <a:t>Then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checking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kumimoji="1" lang="en-US" altLang="zh-CN" b="0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satifies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endParaRPr kumimoji="1" lang="en-US" altLang="zh-CN" dirty="0"/>
              </a:p>
              <a:p>
                <a:pPr lvl="1"/>
                <a:r>
                  <a:rPr kumimoji="1" lang="en-US" altLang="zh-CN" dirty="0"/>
                  <a:t>Why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infeasible?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4C02CAB-D096-2E41-BE9E-E76E90F9E1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9" t="-2154" r="-653" b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67680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00BE84-116D-F74B-AEDB-9F16565A7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Exhausted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testing,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cont</a:t>
            </a:r>
            <a:r>
              <a:rPr kumimoji="1" lang="en-US" altLang="zh-CN" dirty="0"/>
              <a:t>’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4C02CAB-D096-2E41-BE9E-E76E90F9E1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Exhausted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testing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infeasible,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for:</a:t>
                </a:r>
              </a:p>
              <a:p>
                <a:pPr lvl="1"/>
                <a:r>
                  <a:rPr kumimoji="1" lang="en-US" altLang="zh-CN" dirty="0"/>
                  <a:t>Cannot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try</a:t>
                </a:r>
                <a:r>
                  <a:rPr kumimoji="1" lang="zh-CN" altLang="en-US" dirty="0"/>
                  <a:t> </a:t>
                </a:r>
                <a:r>
                  <a:rPr kumimoji="1" lang="en-US" altLang="zh-CN" i="1" dirty="0"/>
                  <a:t>all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possible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initial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state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endParaRPr kumimoji="1" lang="en-US" altLang="zh-CN" dirty="0"/>
              </a:p>
              <a:p>
                <a:pPr lvl="1"/>
                <a:r>
                  <a:rPr kumimoji="1" lang="en-US" altLang="zh-CN" dirty="0"/>
                  <a:t>Statement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may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not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terminate,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or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may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be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non-deterministic</a:t>
                </a:r>
              </a:p>
              <a:p>
                <a:pPr lvl="1"/>
                <a:r>
                  <a:rPr kumimoji="1" lang="en-US" altLang="zh-CN" dirty="0"/>
                  <a:t>May be infeasible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verify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truth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of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universal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quantification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</m:oMath>
                </a14:m>
                <a:endParaRPr kumimoji="1" lang="en-US" altLang="zh-CN" i="1" dirty="0">
                  <a:solidFill>
                    <a:srgbClr val="0432FF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⊨∀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kumimoji="1" lang="zh-CN" altLang="en-US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        </a:t>
                </a:r>
                <a:r>
                  <a:rPr kumimoji="1" lang="en-US" altLang="zh-CN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iff     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zh-CN" altLang="en-US" i="1" dirty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]⊨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kumimoji="1" lang="en-US" altLang="zh-CN" dirty="0">
                  <a:solidFill>
                    <a:srgbClr val="0432FF"/>
                  </a:solidFill>
                  <a:ea typeface="Cambria Math" panose="02040503050406030204" pitchFamily="18" charset="0"/>
                </a:endParaRPr>
              </a:p>
              <a:p>
                <a:pPr lvl="1"/>
                <a:endParaRPr kumimoji="1"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4C02CAB-D096-2E41-BE9E-E76E90F9E1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9" t="-1846" r="-3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98743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AE43FD-96D5-714B-8B38-A63D752E5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Axiomatic</a:t>
            </a:r>
            <a:r>
              <a:rPr kumimoji="1" lang="zh-CN" altLang="en-US" dirty="0"/>
              <a:t> </a:t>
            </a:r>
            <a:r>
              <a:rPr kumimoji="1" lang="en-US" altLang="zh-CN" dirty="0"/>
              <a:t>semantics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C6D7648-FEF6-C14F-BDE1-37B7484D24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We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want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define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axiomatic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semantics:</a:t>
                </a:r>
              </a:p>
              <a:p>
                <a:pPr lvl="1"/>
                <a:r>
                  <a:rPr kumimoji="1" lang="en-US" altLang="zh-CN" dirty="0"/>
                  <a:t>Assertions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+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inference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rules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  <m:d>
                      <m:dPr>
                        <m:begChr m:val="{"/>
                        <m:endChr m:val="}"/>
                        <m:ctrlPr>
                          <a:rPr kumimoji="1" lang="en-US" altLang="zh-CN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kumimoji="1" lang="en-US" altLang="zh-CN" dirty="0"/>
              </a:p>
              <a:p>
                <a:r>
                  <a:rPr kumimoji="1" lang="en-US" altLang="zh-CN" dirty="0"/>
                  <a:t>We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want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establish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standard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soundness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+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completeness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theorems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d>
                      <m:dPr>
                        <m:begChr m:val="{"/>
                        <m:endChr m:val="}"/>
                        <m:ctrlPr>
                          <a:rPr kumimoji="1" lang="en-US" altLang="zh-CN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d>
                      <m:dPr>
                        <m:begChr m:val="{"/>
                        <m:endChr m:val="}"/>
                        <m:ctrlPr>
                          <a:rPr kumimoji="1" lang="en-US" altLang="zh-CN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kumimoji="1" lang="zh-CN" alt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kumimoji="1" lang="zh-CN" alt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kumimoji="1" lang="zh-CN" alt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  <m:d>
                      <m:dPr>
                        <m:begChr m:val="{"/>
                        <m:endChr m:val="}"/>
                        <m:ctrlPr>
                          <a:rPr kumimoji="1" lang="en-US" altLang="zh-CN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C6D7648-FEF6-C14F-BDE1-37B7484D24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9" t="-1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75151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2AD13822-7032-4044-A293-3F03CA1BE9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33236271-C509-0D42-B6EB-BCFDE44431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</a:t>
            </a:r>
          </a:p>
        </p:txBody>
      </p:sp>
      <p:sp>
        <p:nvSpPr>
          <p:cNvPr id="20483" name="Rectangle 4">
            <a:extLst>
              <a:ext uri="{FF2B5EF4-FFF2-40B4-BE49-F238E27FC236}">
                <a16:creationId xmlns:a16="http://schemas.microsoft.com/office/drawing/2014/main" id="{6C9D3A3E-5D79-DD4B-971C-087254847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276600"/>
            <a:ext cx="57765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i="1" dirty="0">
                <a:solidFill>
                  <a:schemeClr val="folHlink"/>
                </a:solidFill>
              </a:rPr>
              <a:t>Hoare logic:</a:t>
            </a:r>
            <a:r>
              <a:rPr lang="zh-CN" altLang="en-US" sz="3600" i="1" dirty="0">
                <a:solidFill>
                  <a:schemeClr val="folHlink"/>
                </a:solidFill>
              </a:rPr>
              <a:t> </a:t>
            </a:r>
            <a:r>
              <a:rPr lang="en-US" altLang="zh-CN" sz="3600" i="1" dirty="0">
                <a:solidFill>
                  <a:schemeClr val="folHlink"/>
                </a:solidFill>
              </a:rPr>
              <a:t>inference</a:t>
            </a:r>
            <a:r>
              <a:rPr lang="zh-CN" altLang="en-US" sz="3600" i="1" dirty="0">
                <a:solidFill>
                  <a:schemeClr val="folHlink"/>
                </a:solidFill>
              </a:rPr>
              <a:t> </a:t>
            </a:r>
            <a:r>
              <a:rPr lang="en-US" altLang="zh-CN" sz="3600" i="1" dirty="0">
                <a:solidFill>
                  <a:schemeClr val="folHlink"/>
                </a:solidFill>
              </a:rPr>
              <a:t>rules</a:t>
            </a:r>
          </a:p>
        </p:txBody>
      </p:sp>
    </p:spTree>
    <p:extLst>
      <p:ext uri="{BB962C8B-B14F-4D97-AF65-F5344CB8AC3E}">
        <p14:creationId xmlns:p14="http://schemas.microsoft.com/office/powerpoint/2010/main" val="8882436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997E04-FA06-A842-A228-6EF73A6CE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Inference</a:t>
            </a:r>
            <a:r>
              <a:rPr kumimoji="1" lang="zh-CN" altLang="en-US" dirty="0"/>
              <a:t> </a:t>
            </a:r>
            <a:r>
              <a:rPr kumimoji="1" lang="en-US" altLang="zh-CN" dirty="0"/>
              <a:t>rules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6BAB177-420A-1E48-A98B-71E26D8786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Hoare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logic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inference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rules</a:t>
                </a:r>
                <a:r>
                  <a:rPr kumimoji="1" lang="zh-CN" altLang="en-US" dirty="0"/>
                  <a:t> </a:t>
                </a:r>
                <a:endParaRPr kumimoji="1" lang="en-US" altLang="zh-CN" i="1" dirty="0">
                  <a:solidFill>
                    <a:srgbClr val="0432FF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kumimoji="1" lang="zh-CN" alt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en-US" altLang="zh-CN" dirty="0"/>
              </a:p>
              <a:p>
                <a:pPr marL="0" indent="0">
                  <a:buNone/>
                </a:pPr>
                <a:r>
                  <a:rPr kumimoji="1" lang="en-US" altLang="zh-CN" dirty="0"/>
                  <a:t>are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defined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inductively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on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statement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endParaRPr kumimoji="1" lang="en-US" altLang="zh-CN" dirty="0"/>
              </a:p>
              <a:p>
                <a:pPr lvl="1"/>
                <a:r>
                  <a:rPr kumimoji="1" lang="en-US" altLang="zh-CN" dirty="0"/>
                  <a:t>also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called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syntax-directed</a:t>
                </a:r>
              </a:p>
              <a:p>
                <a:pPr lvl="1"/>
                <a:r>
                  <a:rPr kumimoji="1" lang="en-US" altLang="zh-CN" dirty="0"/>
                  <a:t>That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is,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one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rule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each syntactic form of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statement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endParaRPr kumimoji="1" lang="en-US" altLang="zh-CN" dirty="0"/>
              </a:p>
              <a:p>
                <a:endParaRPr kumimoji="1"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6BAB177-420A-1E48-A98B-71E26D8786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958" t="-2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49059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8728F1-7C31-7644-BA05-578533728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Hoare logic rules:</a:t>
            </a:r>
            <a:r>
              <a:rPr kumimoji="1" lang="zh-CN" altLang="en-US" dirty="0"/>
              <a:t> </a:t>
            </a:r>
            <a:r>
              <a:rPr kumimoji="1" lang="en-US" altLang="zh-CN" dirty="0"/>
              <a:t>empty</a:t>
            </a:r>
            <a:endParaRPr kumimoji="1" lang="zh-CN" altLang="en-US" dirty="0"/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D7144774-875C-B340-8A37-885142561D64}"/>
              </a:ext>
            </a:extLst>
          </p:cNvPr>
          <p:cNvCxnSpPr>
            <a:cxnSpLocks/>
          </p:cNvCxnSpPr>
          <p:nvPr/>
        </p:nvCxnSpPr>
        <p:spPr>
          <a:xfrm>
            <a:off x="1752600" y="2431811"/>
            <a:ext cx="5257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7ACF172-4395-6C48-9D20-E131EBF4809C}"/>
                  </a:ext>
                </a:extLst>
              </p:cNvPr>
              <p:cNvSpPr txBox="1"/>
              <p:nvPr/>
            </p:nvSpPr>
            <p:spPr>
              <a:xfrm>
                <a:off x="3429000" y="2602468"/>
                <a:ext cx="2286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kumimoji="1"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𝑠𝑘𝑖𝑝</m:t>
                      </m:r>
                      <m:r>
                        <a:rPr kumimoji="1"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kumimoji="1"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en-US" altLang="zh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7ACF172-4395-6C48-9D20-E131EBF48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2602468"/>
                <a:ext cx="2286000" cy="461665"/>
              </a:xfrm>
              <a:prstGeom prst="rect">
                <a:avLst/>
              </a:prstGeom>
              <a:blipFill>
                <a:blip r:embed="rId2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85918B1-FA13-9B46-87B1-CE18A905A371}"/>
                  </a:ext>
                </a:extLst>
              </p:cNvPr>
              <p:cNvSpPr txBox="1"/>
              <p:nvPr/>
            </p:nvSpPr>
            <p:spPr>
              <a:xfrm>
                <a:off x="6597817" y="2233136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𝑆𝑘𝑖𝑝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85918B1-FA13-9B46-87B1-CE18A905A3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7817" y="2233136"/>
                <a:ext cx="1828800" cy="369332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131CE8D-A3FF-124E-A36B-D2B74818A3C8}"/>
                  </a:ext>
                </a:extLst>
              </p:cNvPr>
              <p:cNvSpPr txBox="1"/>
              <p:nvPr/>
            </p:nvSpPr>
            <p:spPr>
              <a:xfrm>
                <a:off x="1166980" y="3733800"/>
                <a:ext cx="67056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400" dirty="0"/>
                  <a:t>For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”skip”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statement,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pre-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and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post-conditions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are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same.</a:t>
                </a:r>
              </a:p>
              <a:p>
                <a:r>
                  <a:rPr kumimoji="1" lang="en-US" altLang="zh-CN" sz="2400" dirty="0"/>
                  <a:t>Example:</a:t>
                </a:r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==3∧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==4</m:t>
                          </m:r>
                        </m:e>
                      </m:d>
                    </m:oMath>
                  </m:oMathPara>
                </a14:m>
                <a:endParaRPr kumimoji="1" lang="en-US" altLang="zh-CN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𝑠𝑘𝑖𝑝</m:t>
                      </m:r>
                    </m:oMath>
                  </m:oMathPara>
                </a14:m>
                <a:endParaRPr kumimoji="1" lang="en-US" altLang="zh-CN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==3∧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==4}</m:t>
                      </m:r>
                    </m:oMath>
                  </m:oMathPara>
                </a14:m>
                <a:endParaRPr kumimoji="1" lang="en-US" altLang="zh-CN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131CE8D-A3FF-124E-A36B-D2B74818A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6980" y="3733800"/>
                <a:ext cx="6705600" cy="2308324"/>
              </a:xfrm>
              <a:prstGeom prst="rect">
                <a:avLst/>
              </a:prstGeom>
              <a:blipFill>
                <a:blip r:embed="rId4"/>
                <a:stretch>
                  <a:fillRect l="-1323" t="-2747" b="-32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32650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8728F1-7C31-7644-BA05-578533728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Hoare logic rules:</a:t>
            </a:r>
            <a:r>
              <a:rPr kumimoji="1" lang="zh-CN" altLang="en-US" dirty="0"/>
              <a:t> </a:t>
            </a:r>
            <a:r>
              <a:rPr kumimoji="1" lang="en-US" altLang="zh-CN" dirty="0"/>
              <a:t>assignment</a:t>
            </a:r>
            <a:endParaRPr kumimoji="1" lang="zh-CN" altLang="en-US" dirty="0"/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69AA69D8-3991-0341-B92E-F80A3A179F54}"/>
              </a:ext>
            </a:extLst>
          </p:cNvPr>
          <p:cNvCxnSpPr>
            <a:cxnSpLocks/>
          </p:cNvCxnSpPr>
          <p:nvPr/>
        </p:nvCxnSpPr>
        <p:spPr>
          <a:xfrm>
            <a:off x="1828800" y="2408475"/>
            <a:ext cx="5257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D697D91-8941-974C-B9BB-ED8771BE46CF}"/>
                  </a:ext>
                </a:extLst>
              </p:cNvPr>
              <p:cNvSpPr txBox="1"/>
              <p:nvPr/>
            </p:nvSpPr>
            <p:spPr>
              <a:xfrm>
                <a:off x="2438400" y="2579132"/>
                <a:ext cx="449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zh-CN" altLang="en-US" sz="2400" i="1" dirty="0"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</m:d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en-US" altLang="zh-CN" sz="24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D697D91-8941-974C-B9BB-ED8771BE4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2579132"/>
                <a:ext cx="4495800" cy="461665"/>
              </a:xfrm>
              <a:prstGeom prst="rect">
                <a:avLst/>
              </a:prstGeom>
              <a:blipFill>
                <a:blip r:embed="rId2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E0251DA-B06C-3A47-AF2F-312B820D6BEA}"/>
                  </a:ext>
                </a:extLst>
              </p:cNvPr>
              <p:cNvSpPr txBox="1"/>
              <p:nvPr/>
            </p:nvSpPr>
            <p:spPr>
              <a:xfrm>
                <a:off x="6858000" y="2209800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𝐴𝑠𝑠𝑖𝑔𝑛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E0251DA-B06C-3A47-AF2F-312B820D6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0" y="2209800"/>
                <a:ext cx="1828800" cy="369332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2FC364B5-EC48-7947-A897-0EA7EB0EBA00}"/>
                  </a:ext>
                </a:extLst>
              </p:cNvPr>
              <p:cNvSpPr txBox="1"/>
              <p:nvPr/>
            </p:nvSpPr>
            <p:spPr>
              <a:xfrm>
                <a:off x="1166980" y="3505200"/>
                <a:ext cx="67056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400" dirty="0"/>
                  <a:t>For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assignment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statement,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pre-condition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formed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by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substituting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>
                    <a:solidFill>
                      <a:srgbClr val="0432FF"/>
                    </a:solidFill>
                  </a:rPr>
                  <a:t>x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by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>
                    <a:solidFill>
                      <a:srgbClr val="0432FF"/>
                    </a:solidFill>
                  </a:rPr>
                  <a:t>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post-condition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>
                    <a:solidFill>
                      <a:srgbClr val="0432FF"/>
                    </a:solidFill>
                  </a:rPr>
                  <a:t>P</a:t>
                </a:r>
                <a:r>
                  <a:rPr kumimoji="1" lang="en-US" altLang="zh-CN" sz="2400" dirty="0"/>
                  <a:t>.</a:t>
                </a:r>
              </a:p>
              <a:p>
                <a:r>
                  <a:rPr kumimoji="1" lang="en-US" altLang="zh-CN" sz="2400" dirty="0"/>
                  <a:t>Example:</a:t>
                </a:r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≥5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≥4</m:t>
                          </m:r>
                        </m:e>
                      </m:d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=9{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≥5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4}</m:t>
                      </m:r>
                    </m:oMath>
                  </m:oMathPara>
                </a14:m>
                <a:endParaRPr kumimoji="1" lang="en-US" altLang="zh-CN" sz="2400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2FC364B5-EC48-7947-A897-0EA7EB0EB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6980" y="3505200"/>
                <a:ext cx="6705600" cy="1938992"/>
              </a:xfrm>
              <a:prstGeom prst="rect">
                <a:avLst/>
              </a:prstGeom>
              <a:blipFill>
                <a:blip r:embed="rId4"/>
                <a:stretch>
                  <a:fillRect l="-1323" t="-2614" b="-39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7F2943A1-BDFD-594B-853F-7E3EBC8DCDB9}"/>
                  </a:ext>
                </a:extLst>
              </p:cNvPr>
              <p:cNvSpPr txBox="1"/>
              <p:nvPr/>
            </p:nvSpPr>
            <p:spPr>
              <a:xfrm>
                <a:off x="1143000" y="5486400"/>
                <a:ext cx="6705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en-US" altLang="zh-CN" sz="240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7F2943A1-BDFD-594B-853F-7E3EBC8DC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5486400"/>
                <a:ext cx="6705600" cy="461665"/>
              </a:xfrm>
              <a:prstGeom prst="rect">
                <a:avLst/>
              </a:prstGeom>
              <a:blipFill>
                <a:blip r:embed="rId5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C8D95482-FB96-FC44-916A-8D7339BAEB57}"/>
                  </a:ext>
                </a:extLst>
              </p:cNvPr>
              <p:cNvSpPr txBox="1"/>
              <p:nvPr/>
            </p:nvSpPr>
            <p:spPr>
              <a:xfrm>
                <a:off x="1143000" y="6084332"/>
                <a:ext cx="6705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+1&gt;</m:t>
                          </m:r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+1{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en-US" altLang="zh-CN" sz="2400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C8D95482-FB96-FC44-916A-8D7339BAE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6084332"/>
                <a:ext cx="6705600" cy="461665"/>
              </a:xfrm>
              <a:prstGeom prst="rect">
                <a:avLst/>
              </a:prstGeom>
              <a:blipFill>
                <a:blip r:embed="rId6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4066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8728F1-7C31-7644-BA05-578533728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Hoare logic rules:</a:t>
            </a:r>
            <a:r>
              <a:rPr kumimoji="1" lang="zh-CN" altLang="en-US" dirty="0"/>
              <a:t> </a:t>
            </a:r>
            <a:r>
              <a:rPr kumimoji="1" lang="en-US" altLang="zh-CN" dirty="0"/>
              <a:t>sequence</a:t>
            </a:r>
            <a:endParaRPr kumimoji="1" lang="zh-CN" altLang="en-US" dirty="0"/>
          </a:p>
        </p:txBody>
      </p: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81C5D220-EC76-B44F-8222-C0D871E674EE}"/>
              </a:ext>
            </a:extLst>
          </p:cNvPr>
          <p:cNvCxnSpPr>
            <a:cxnSpLocks/>
          </p:cNvCxnSpPr>
          <p:nvPr/>
        </p:nvCxnSpPr>
        <p:spPr>
          <a:xfrm>
            <a:off x="1828800" y="2508011"/>
            <a:ext cx="5257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AAD7DD9-DBBB-B747-B727-F215ACC5F6C6}"/>
                  </a:ext>
                </a:extLst>
              </p:cNvPr>
              <p:cNvSpPr txBox="1"/>
              <p:nvPr/>
            </p:nvSpPr>
            <p:spPr>
              <a:xfrm>
                <a:off x="3505200" y="2678668"/>
                <a:ext cx="2819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1;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 {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en-US" altLang="zh-CN" sz="24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AAD7DD9-DBBB-B747-B727-F215ACC5F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2678668"/>
                <a:ext cx="2819400" cy="461665"/>
              </a:xfrm>
              <a:prstGeom prst="rect">
                <a:avLst/>
              </a:prstGeom>
              <a:blipFill>
                <a:blip r:embed="rId2"/>
                <a:stretch>
                  <a:fillRect b="-243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C25DC0DE-7E0A-554E-8D0A-0B5C0200E5BE}"/>
                  </a:ext>
                </a:extLst>
              </p:cNvPr>
              <p:cNvSpPr txBox="1"/>
              <p:nvPr/>
            </p:nvSpPr>
            <p:spPr>
              <a:xfrm>
                <a:off x="6674017" y="2309336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𝑆𝑒𝑞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C25DC0DE-7E0A-554E-8D0A-0B5C0200E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4017" y="2309336"/>
                <a:ext cx="1828800" cy="369332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C42A4F1D-FFC7-0C43-AD42-D2DCD4D3DE4E}"/>
                  </a:ext>
                </a:extLst>
              </p:cNvPr>
              <p:cNvSpPr txBox="1"/>
              <p:nvPr/>
            </p:nvSpPr>
            <p:spPr>
              <a:xfrm>
                <a:off x="2514600" y="2066528"/>
                <a:ext cx="1828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1{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en-US" altLang="zh-CN" sz="24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C42A4F1D-FFC7-0C43-AD42-D2DCD4D3D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2066528"/>
                <a:ext cx="1828800" cy="461665"/>
              </a:xfrm>
              <a:prstGeom prst="rect">
                <a:avLst/>
              </a:prstGeom>
              <a:blipFill>
                <a:blip r:embed="rId4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DD134C1A-A6FF-484C-A95C-4DC626DC5A51}"/>
                  </a:ext>
                </a:extLst>
              </p:cNvPr>
              <p:cNvSpPr txBox="1"/>
              <p:nvPr/>
            </p:nvSpPr>
            <p:spPr>
              <a:xfrm>
                <a:off x="4920587" y="2057400"/>
                <a:ext cx="1828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2{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en-US" altLang="zh-CN" sz="24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DD134C1A-A6FF-484C-A95C-4DC626DC5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0587" y="2057400"/>
                <a:ext cx="1828800" cy="461665"/>
              </a:xfrm>
              <a:prstGeom prst="rect">
                <a:avLst/>
              </a:prstGeom>
              <a:blipFill>
                <a:blip r:embed="rId5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B4A1121E-D678-8543-AD21-27B76E4CDDBD}"/>
                  </a:ext>
                </a:extLst>
              </p:cNvPr>
              <p:cNvSpPr txBox="1"/>
              <p:nvPr/>
            </p:nvSpPr>
            <p:spPr>
              <a:xfrm>
                <a:off x="381000" y="3365480"/>
                <a:ext cx="749158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400" dirty="0"/>
                  <a:t>For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sequence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statement,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we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must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find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out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intermediate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assertion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>
                    <a:solidFill>
                      <a:srgbClr val="0432FF"/>
                    </a:solidFill>
                  </a:rPr>
                  <a:t>R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to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make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two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assertions (above the line)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hold.</a:t>
                </a:r>
              </a:p>
              <a:p>
                <a:r>
                  <a:rPr kumimoji="1" lang="en-US" altLang="zh-CN" sz="2400" dirty="0"/>
                  <a:t>This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>
                    <a:solidFill>
                      <a:srgbClr val="0432FF"/>
                    </a:solidFill>
                  </a:rPr>
                  <a:t>non-deterministic</a:t>
                </a:r>
                <a:r>
                  <a:rPr kumimoji="1" lang="en-US" altLang="zh-CN" sz="2400" dirty="0"/>
                  <a:t>.</a:t>
                </a:r>
                <a:r>
                  <a:rPr kumimoji="1" lang="zh-CN" altLang="en-US" sz="2400" dirty="0"/>
                  <a:t> </a:t>
                </a:r>
                <a:endParaRPr kumimoji="1" lang="en-US" altLang="zh-CN" sz="2400" dirty="0"/>
              </a:p>
              <a:p>
                <a:r>
                  <a:rPr kumimoji="1" lang="en-US" altLang="zh-CN" sz="2400" dirty="0"/>
                  <a:t>Example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(what’s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intermediate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assertion?):</a:t>
                </a:r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𝑇𝑟𝑢𝑒</m:t>
                          </m:r>
                        </m:e>
                      </m:d>
                      <m:r>
                        <a:rPr kumimoji="1" lang="zh-CN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=9;  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=4;   {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==9∧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==4}</m:t>
                      </m:r>
                    </m:oMath>
                  </m:oMathPara>
                </a14:m>
                <a:endParaRPr kumimoji="1" lang="en-US" altLang="zh-CN" sz="2400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B4A1121E-D678-8543-AD21-27B76E4CD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365480"/>
                <a:ext cx="7491580" cy="2308324"/>
              </a:xfrm>
              <a:prstGeom prst="rect">
                <a:avLst/>
              </a:prstGeom>
              <a:blipFill>
                <a:blip r:embed="rId6"/>
                <a:stretch>
                  <a:fillRect l="-1356" t="-1639" b="-43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71661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8728F1-7C31-7644-BA05-578533728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Hoare logic rules:</a:t>
            </a:r>
            <a:r>
              <a:rPr kumimoji="1" lang="zh-CN" altLang="en-US" dirty="0"/>
              <a:t> </a:t>
            </a:r>
            <a:r>
              <a:rPr kumimoji="1" lang="en-US" altLang="zh-CN" dirty="0"/>
              <a:t>if</a:t>
            </a:r>
            <a:endParaRPr kumimoji="1" lang="zh-CN" altLang="en-US" dirty="0"/>
          </a:p>
        </p:txBody>
      </p: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70362C9A-F9E5-5947-AB6F-9F730FCAE09A}"/>
              </a:ext>
            </a:extLst>
          </p:cNvPr>
          <p:cNvCxnSpPr>
            <a:cxnSpLocks/>
          </p:cNvCxnSpPr>
          <p:nvPr/>
        </p:nvCxnSpPr>
        <p:spPr>
          <a:xfrm>
            <a:off x="1828800" y="2508012"/>
            <a:ext cx="5334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0EE84B6-A12C-364E-8E67-DD7AEE905935}"/>
                  </a:ext>
                </a:extLst>
              </p:cNvPr>
              <p:cNvSpPr txBox="1"/>
              <p:nvPr/>
            </p:nvSpPr>
            <p:spPr>
              <a:xfrm>
                <a:off x="3505200" y="2678668"/>
                <a:ext cx="2819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𝑖𝑓</m:t>
                      </m:r>
                      <m:d>
                        <m:d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1;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en-US" altLang="zh-CN" sz="24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0EE84B6-A12C-364E-8E67-DD7AEE9059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2678668"/>
                <a:ext cx="2819400" cy="461665"/>
              </a:xfrm>
              <a:prstGeom prst="rect">
                <a:avLst/>
              </a:prstGeom>
              <a:blipFill>
                <a:blip r:embed="rId2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7965081-0578-FA46-AA99-3714A9C8FF75}"/>
                  </a:ext>
                </a:extLst>
              </p:cNvPr>
              <p:cNvSpPr txBox="1"/>
              <p:nvPr/>
            </p:nvSpPr>
            <p:spPr>
              <a:xfrm>
                <a:off x="6674017" y="2309336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𝐼𝑓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7965081-0578-FA46-AA99-3714A9C8F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4017" y="2309336"/>
                <a:ext cx="1828800" cy="369332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DF33865E-C9DD-6849-8FD3-446797DC6063}"/>
                  </a:ext>
                </a:extLst>
              </p:cNvPr>
              <p:cNvSpPr txBox="1"/>
              <p:nvPr/>
            </p:nvSpPr>
            <p:spPr>
              <a:xfrm>
                <a:off x="1981200" y="2066528"/>
                <a:ext cx="21847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1{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en-US" altLang="zh-CN" sz="24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DF33865E-C9DD-6849-8FD3-446797DC60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2066528"/>
                <a:ext cx="2184776" cy="461665"/>
              </a:xfrm>
              <a:prstGeom prst="rect">
                <a:avLst/>
              </a:prstGeom>
              <a:blipFill>
                <a:blip r:embed="rId4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8A762625-869D-744E-A8B7-6C38BB106C61}"/>
                  </a:ext>
                </a:extLst>
              </p:cNvPr>
              <p:cNvSpPr txBox="1"/>
              <p:nvPr/>
            </p:nvSpPr>
            <p:spPr>
              <a:xfrm>
                <a:off x="4825624" y="2057400"/>
                <a:ext cx="21847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∧¬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2{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en-US" altLang="zh-CN" sz="240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8A762625-869D-744E-A8B7-6C38BB106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5624" y="2057400"/>
                <a:ext cx="2184776" cy="461665"/>
              </a:xfrm>
              <a:prstGeom prst="rect">
                <a:avLst/>
              </a:prstGeom>
              <a:blipFill>
                <a:blip r:embed="rId5"/>
                <a:stretch>
                  <a:fillRect r="-1744" b="-189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F133F7F-6B25-F44E-BBAA-4F6996DEB483}"/>
                  </a:ext>
                </a:extLst>
              </p:cNvPr>
              <p:cNvSpPr txBox="1"/>
              <p:nvPr/>
            </p:nvSpPr>
            <p:spPr>
              <a:xfrm>
                <a:off x="381000" y="3505200"/>
                <a:ext cx="749158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400" dirty="0"/>
                  <a:t>For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if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statement,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we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must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prove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two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judgments: one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for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branch,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and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one for 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else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branch.</a:t>
                </a:r>
                <a:r>
                  <a:rPr kumimoji="1" lang="zh-CN" altLang="en-US" sz="2400" dirty="0"/>
                  <a:t> </a:t>
                </a:r>
                <a:endParaRPr kumimoji="1" lang="en-US" altLang="zh-CN" sz="2400" dirty="0"/>
              </a:p>
              <a:p>
                <a:r>
                  <a:rPr kumimoji="1" lang="en-US" altLang="zh-CN" sz="2400" dirty="0"/>
                  <a:t>Example:</a:t>
                </a:r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𝑖𝑓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≥0;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){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en-US" altLang="zh-CN" sz="2400" dirty="0"/>
              </a:p>
              <a:p>
                <a:r>
                  <a:rPr kumimoji="1" lang="en-US" altLang="zh-CN" sz="2400" dirty="0"/>
                  <a:t>we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must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prove: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≥0</m:t>
                        </m:r>
                      </m:e>
                    </m:d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≥0}</m:t>
                    </m:r>
                  </m:oMath>
                </a14:m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∧¬(</m:t>
                        </m:r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≥0)</m:t>
                        </m:r>
                      </m:e>
                    </m:d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≥0}</m:t>
                    </m:r>
                  </m:oMath>
                </a14:m>
                <a:endParaRPr kumimoji="1" lang="en-US" altLang="zh-CN" sz="2400" dirty="0"/>
              </a:p>
              <a:p>
                <a:endParaRPr kumimoji="1" lang="en-US" altLang="zh-CN" sz="2400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F133F7F-6B25-F44E-BBAA-4F6996DEB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505200"/>
                <a:ext cx="7491580" cy="2677656"/>
              </a:xfrm>
              <a:prstGeom prst="rect">
                <a:avLst/>
              </a:prstGeom>
              <a:blipFill>
                <a:blip r:embed="rId6"/>
                <a:stretch>
                  <a:fillRect l="-1356" t="-18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75552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8728F1-7C31-7644-BA05-578533728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Hoare logic rules:</a:t>
            </a:r>
            <a:r>
              <a:rPr kumimoji="1" lang="zh-CN" altLang="en-US" dirty="0"/>
              <a:t> </a:t>
            </a:r>
            <a:r>
              <a:rPr kumimoji="1" lang="en-US" altLang="zh-CN"/>
              <a:t>while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F133F7F-6B25-F44E-BBAA-4F6996DEB483}"/>
                  </a:ext>
                </a:extLst>
              </p:cNvPr>
              <p:cNvSpPr txBox="1"/>
              <p:nvPr/>
            </p:nvSpPr>
            <p:spPr>
              <a:xfrm>
                <a:off x="381000" y="3505200"/>
                <a:ext cx="7491580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400" dirty="0"/>
                  <a:t>For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while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statement,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we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need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loop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invariant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kumimoji="1" lang="en-US" altLang="zh-CN" sz="2400" dirty="0"/>
                  <a:t>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which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supplied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by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programmer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(one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of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most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difficult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parts), to specify what’s going unchanged during the loop.</a:t>
                </a:r>
                <a:r>
                  <a:rPr kumimoji="1" lang="zh-CN" altLang="en-US" sz="2400" dirty="0"/>
                  <a:t> </a:t>
                </a:r>
                <a:endParaRPr kumimoji="1" lang="en-US" altLang="zh-CN" sz="2400" dirty="0"/>
              </a:p>
              <a:p>
                <a:r>
                  <a:rPr kumimoji="1" lang="en-US" altLang="zh-CN" sz="2400" dirty="0"/>
                  <a:t>Example:</a:t>
                </a:r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≤5</m:t>
                          </m:r>
                        </m:e>
                      </m:d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𝑤ℎ𝑖𝑙𝑒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&lt;5;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+1){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≤5∧¬(</m:t>
                      </m:r>
                      <m:r>
                        <a:rPr kumimoji="1"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&lt;5)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en-US" altLang="zh-CN" sz="2400" dirty="0"/>
              </a:p>
              <a:p>
                <a:r>
                  <a:rPr kumimoji="1" lang="en-US" altLang="zh-CN" sz="2400" dirty="0"/>
                  <a:t>Notice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that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loop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invariant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sz="2400" dirty="0"/>
                  <a:t>holds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both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on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entry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to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while,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and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on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exit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from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while.</a:t>
                </a: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F133F7F-6B25-F44E-BBAA-4F6996DEB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505200"/>
                <a:ext cx="7491580" cy="3046988"/>
              </a:xfrm>
              <a:prstGeom prst="rect">
                <a:avLst/>
              </a:prstGeom>
              <a:blipFill>
                <a:blip r:embed="rId2"/>
                <a:stretch>
                  <a:fillRect l="-1184" t="-1667"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5ACB93CD-B641-BF4B-B4BC-07142924BAD3}"/>
              </a:ext>
            </a:extLst>
          </p:cNvPr>
          <p:cNvCxnSpPr>
            <a:cxnSpLocks/>
          </p:cNvCxnSpPr>
          <p:nvPr/>
        </p:nvCxnSpPr>
        <p:spPr>
          <a:xfrm>
            <a:off x="1752600" y="2431811"/>
            <a:ext cx="5257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3EFE48A-4AE9-A645-B2AC-7061AAD594B9}"/>
                  </a:ext>
                </a:extLst>
              </p:cNvPr>
              <p:cNvSpPr txBox="1"/>
              <p:nvPr/>
            </p:nvSpPr>
            <p:spPr>
              <a:xfrm>
                <a:off x="2590800" y="2602468"/>
                <a:ext cx="3733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kumimoji="1"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𝑤ℎ𝑖𝑙𝑒</m:t>
                      </m:r>
                      <m:r>
                        <a:rPr kumimoji="1"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kumimoji="1"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r>
                        <a:rPr kumimoji="1"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kumimoji="1"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){</m:t>
                      </m:r>
                      <m:r>
                        <a:rPr kumimoji="1"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∧¬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kumimoji="1"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en-US" altLang="zh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3EFE48A-4AE9-A645-B2AC-7061AAD594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2602468"/>
                <a:ext cx="3733800" cy="461665"/>
              </a:xfrm>
              <a:prstGeom prst="rect">
                <a:avLst/>
              </a:prstGeom>
              <a:blipFill>
                <a:blip r:embed="rId3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3FDC9B8-3149-7C45-88F5-0ADA0EB49729}"/>
                  </a:ext>
                </a:extLst>
              </p:cNvPr>
              <p:cNvSpPr txBox="1"/>
              <p:nvPr/>
            </p:nvSpPr>
            <p:spPr>
              <a:xfrm>
                <a:off x="6705600" y="2233136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𝑊ℎ𝑖𝑙𝑒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3FDC9B8-3149-7C45-88F5-0ADA0EB497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2233136"/>
                <a:ext cx="1828800" cy="369332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4F3C994-870E-2045-825E-B1A93C8A7FDC}"/>
                  </a:ext>
                </a:extLst>
              </p:cNvPr>
              <p:cNvSpPr txBox="1"/>
              <p:nvPr/>
            </p:nvSpPr>
            <p:spPr>
              <a:xfrm>
                <a:off x="3505200" y="1981200"/>
                <a:ext cx="1828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en-US" altLang="zh-CN" sz="24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4F3C994-870E-2045-825E-B1A93C8A7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1981200"/>
                <a:ext cx="1828800" cy="461665"/>
              </a:xfrm>
              <a:prstGeom prst="rect">
                <a:avLst/>
              </a:prstGeom>
              <a:blipFill>
                <a:blip r:embed="rId9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76864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8728F1-7C31-7644-BA05-578533728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Hoare logic rules: consequence</a:t>
            </a:r>
            <a:endParaRPr kumimoji="1" lang="zh-CN" altLang="en-US" dirty="0"/>
          </a:p>
        </p:txBody>
      </p: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6F3D6E41-9899-AF48-8A4A-C2D35F4CE6A8}"/>
              </a:ext>
            </a:extLst>
          </p:cNvPr>
          <p:cNvCxnSpPr>
            <a:cxnSpLocks/>
          </p:cNvCxnSpPr>
          <p:nvPr/>
        </p:nvCxnSpPr>
        <p:spPr>
          <a:xfrm>
            <a:off x="1752600" y="2355611"/>
            <a:ext cx="5257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A6F24CBB-EB07-CD4D-8423-8EEA1E893B10}"/>
                  </a:ext>
                </a:extLst>
              </p:cNvPr>
              <p:cNvSpPr txBox="1"/>
              <p:nvPr/>
            </p:nvSpPr>
            <p:spPr>
              <a:xfrm>
                <a:off x="3429000" y="2526268"/>
                <a:ext cx="2438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kumimoji="1"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kumimoji="1"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kumimoji="1"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kumimoji="1"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en-US" altLang="zh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A6F24CBB-EB07-CD4D-8423-8EEA1E893B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2526268"/>
                <a:ext cx="2438400" cy="461665"/>
              </a:xfrm>
              <a:prstGeom prst="rect">
                <a:avLst/>
              </a:prstGeom>
              <a:blipFill>
                <a:blip r:embed="rId2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9EC3DF2F-76D1-B34B-A274-6FAA321C1B7D}"/>
                  </a:ext>
                </a:extLst>
              </p:cNvPr>
              <p:cNvSpPr txBox="1"/>
              <p:nvPr/>
            </p:nvSpPr>
            <p:spPr>
              <a:xfrm>
                <a:off x="6781800" y="2156936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𝐶𝑜𝑛𝑠𝑒𝑞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9EC3DF2F-76D1-B34B-A274-6FAA321C1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800" y="2156936"/>
                <a:ext cx="1828800" cy="369332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1C5D5E2A-4E33-7143-B3F2-0E130D1DC35F}"/>
                  </a:ext>
                </a:extLst>
              </p:cNvPr>
              <p:cNvSpPr txBox="1"/>
              <p:nvPr/>
            </p:nvSpPr>
            <p:spPr>
              <a:xfrm>
                <a:off x="3733800" y="1905000"/>
                <a:ext cx="1828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en-US" altLang="zh-CN" sz="2400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1C5D5E2A-4E33-7143-B3F2-0E130D1DC3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0" y="1905000"/>
                <a:ext cx="1828800" cy="461665"/>
              </a:xfrm>
              <a:prstGeom prst="rect">
                <a:avLst/>
              </a:prstGeom>
              <a:blipFill>
                <a:blip r:embed="rId4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A7A90FDB-1C16-6E41-A9B9-39271322A0FA}"/>
                  </a:ext>
                </a:extLst>
              </p:cNvPr>
              <p:cNvSpPr txBox="1"/>
              <p:nvPr/>
            </p:nvSpPr>
            <p:spPr>
              <a:xfrm>
                <a:off x="1905000" y="1905000"/>
                <a:ext cx="1828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kumimoji="1" lang="en-US" altLang="zh-CN" sz="2400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A7A90FDB-1C16-6E41-A9B9-39271322A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1905000"/>
                <a:ext cx="182880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276BAC01-7C86-2542-BBC9-E2DE4E64A3C3}"/>
                  </a:ext>
                </a:extLst>
              </p:cNvPr>
              <p:cNvSpPr txBox="1"/>
              <p:nvPr/>
            </p:nvSpPr>
            <p:spPr>
              <a:xfrm>
                <a:off x="5181600" y="1905000"/>
                <a:ext cx="1828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kumimoji="1"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kumimoji="1" lang="en-US" altLang="zh-CN" sz="24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276BAC01-7C86-2542-BBC9-E2DE4E64A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1905000"/>
                <a:ext cx="1828800" cy="461665"/>
              </a:xfrm>
              <a:prstGeom prst="rect">
                <a:avLst/>
              </a:prstGeom>
              <a:blipFill>
                <a:blip r:embed="rId6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50482286-396D-324C-86B4-296C253489C4}"/>
                  </a:ext>
                </a:extLst>
              </p:cNvPr>
              <p:cNvSpPr txBox="1"/>
              <p:nvPr/>
            </p:nvSpPr>
            <p:spPr>
              <a:xfrm>
                <a:off x="762000" y="3169384"/>
                <a:ext cx="65532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400" dirty="0"/>
                  <a:t>We can strengthen the pre-condition from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kumimoji="1" lang="en-US" altLang="zh-CN" sz="2400" dirty="0"/>
                  <a:t> to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kumimoji="1" lang="en-US" altLang="zh-CN" sz="2400" dirty="0"/>
                  <a:t>, and weaken the post-condition</a:t>
                </a:r>
                <a:r>
                  <a:rPr kumimoji="1" lang="en-US" altLang="zh-CN" sz="24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kumimoji="1" lang="en-US" altLang="zh-CN" sz="2400" dirty="0"/>
                  <a:t> to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kumimoji="1" lang="en-US" altLang="zh-CN" sz="2400" dirty="0"/>
                  <a:t>.</a:t>
                </a:r>
                <a:endParaRPr kumimoji="1" lang="zh-CN" altLang="en-US" sz="2400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50482286-396D-324C-86B4-296C253489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169384"/>
                <a:ext cx="6553200" cy="830997"/>
              </a:xfrm>
              <a:prstGeom prst="rect">
                <a:avLst/>
              </a:prstGeom>
              <a:blipFill>
                <a:blip r:embed="rId7"/>
                <a:stretch>
                  <a:fillRect l="-1550" t="-6061" r="-1744"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79587212-74F4-1B4C-86FA-630B3F83B5CB}"/>
                  </a:ext>
                </a:extLst>
              </p:cNvPr>
              <p:cNvSpPr txBox="1"/>
              <p:nvPr/>
            </p:nvSpPr>
            <p:spPr>
              <a:xfrm>
                <a:off x="762000" y="3969603"/>
                <a:ext cx="76200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400" dirty="0"/>
                  <a:t>Example:</a:t>
                </a:r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==0</m:t>
                          </m:r>
                        </m:e>
                      </m:d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𝑤ℎ𝑖𝑙𝑒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&lt;5;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+1){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!=0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en-US" altLang="zh-CN" sz="2400" dirty="0"/>
              </a:p>
              <a:p>
                <a:r>
                  <a:rPr kumimoji="1" lang="en-US" altLang="zh-CN" sz="2400" dirty="0"/>
                  <a:t>we ”guess” (or programmer supplies) the loop invariant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≤5</m:t>
                    </m:r>
                  </m:oMath>
                </a14:m>
                <a:r>
                  <a:rPr kumimoji="1" lang="en-US" altLang="zh-CN" sz="2400" dirty="0"/>
                  <a:t>, and to prove: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zh-CN" sz="24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kumimoji="1" lang="en-US" altLang="zh-CN" sz="24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==0</m:t>
                    </m:r>
                  </m:oMath>
                </a14:m>
                <a:r>
                  <a:rPr kumimoji="1" lang="en-US" altLang="zh-CN" sz="24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zh-CN" sz="24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≤5</m:t>
                    </m:r>
                  </m:oMath>
                </a14:m>
                <a:endParaRPr kumimoji="1" lang="en-US" altLang="zh-CN" sz="2400" dirty="0">
                  <a:solidFill>
                    <a:srgbClr val="0432FF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≤5∧~(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&lt;5)</m:t>
                    </m:r>
                  </m:oMath>
                </a14:m>
                <a:r>
                  <a:rPr kumimoji="1" lang="en-US" altLang="zh-CN" sz="24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zh-CN" sz="24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!=0</m:t>
                    </m:r>
                  </m:oMath>
                </a14:m>
                <a:endParaRPr kumimoji="1" lang="en-US" altLang="zh-CN" sz="2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79587212-74F4-1B4C-86FA-630B3F83B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969603"/>
                <a:ext cx="7620000" cy="2308324"/>
              </a:xfrm>
              <a:prstGeom prst="rect">
                <a:avLst/>
              </a:prstGeom>
              <a:blipFill>
                <a:blip r:embed="rId8"/>
                <a:stretch>
                  <a:fillRect l="-1333" t="-2198" b="-32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15082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3CB819-AD21-984F-A3A6-A502A9437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Hoare logic rules: example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2538A8-7BCA-2A42-85B0-ACA58AC53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To prove this judgment:</a:t>
            </a:r>
          </a:p>
          <a:p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/>
              <a:t>using the assignment rule: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88511D0-011C-AC42-8ED4-F634E6B8B36B}"/>
                  </a:ext>
                </a:extLst>
              </p:cNvPr>
              <p:cNvSpPr txBox="1"/>
              <p:nvPr/>
            </p:nvSpPr>
            <p:spPr>
              <a:xfrm>
                <a:off x="1676400" y="2743200"/>
                <a:ext cx="4495800" cy="369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𝑇𝑟𝑢𝑒</m:t>
                          </m:r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=5{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==5}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88511D0-011C-AC42-8ED4-F634E6B8B3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2743200"/>
                <a:ext cx="4495800" cy="369397"/>
              </a:xfrm>
              <a:prstGeom prst="rect">
                <a:avLst/>
              </a:prstGeom>
              <a:blipFill>
                <a:blip r:embed="rId2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AC49DA3-EB95-5E43-A985-81E2F818D08A}"/>
                  </a:ext>
                </a:extLst>
              </p:cNvPr>
              <p:cNvSpPr txBox="1"/>
              <p:nvPr/>
            </p:nvSpPr>
            <p:spPr>
              <a:xfrm>
                <a:off x="1150938" y="4982859"/>
                <a:ext cx="4495800" cy="369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==5</m:t>
                              </m:r>
                            </m:e>
                          </m:d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zh-CN" altLang="en-US" i="1" dirty="0"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=5{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==5}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AC49DA3-EB95-5E43-A985-81E2F818D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938" y="4982859"/>
                <a:ext cx="4495800" cy="369397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E55158F2-24BB-284B-863F-5CD7C8893AF9}"/>
              </a:ext>
            </a:extLst>
          </p:cNvPr>
          <p:cNvCxnSpPr>
            <a:cxnSpLocks/>
          </p:cNvCxnSpPr>
          <p:nvPr/>
        </p:nvCxnSpPr>
        <p:spPr>
          <a:xfrm>
            <a:off x="1828800" y="4031946"/>
            <a:ext cx="5257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50852A5-537B-1B43-B5E9-79ADC3F06606}"/>
                  </a:ext>
                </a:extLst>
              </p:cNvPr>
              <p:cNvSpPr txBox="1"/>
              <p:nvPr/>
            </p:nvSpPr>
            <p:spPr>
              <a:xfrm>
                <a:off x="2438400" y="4202603"/>
                <a:ext cx="4495800" cy="369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zh-CN" altLang="en-US" i="1" dirty="0"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50852A5-537B-1B43-B5E9-79ADC3F06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4202603"/>
                <a:ext cx="4495800" cy="369397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689B15C-2E51-F84D-8F3C-A66A17D65279}"/>
                  </a:ext>
                </a:extLst>
              </p:cNvPr>
              <p:cNvSpPr txBox="1"/>
              <p:nvPr/>
            </p:nvSpPr>
            <p:spPr>
              <a:xfrm>
                <a:off x="6858000" y="3833271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𝐴𝑠𝑠𝑖𝑔𝑛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689B15C-2E51-F84D-8F3C-A66A17D65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0" y="3833271"/>
                <a:ext cx="1828800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C6153EB-0ECF-9747-AFC1-0901FE2354E8}"/>
                  </a:ext>
                </a:extLst>
              </p:cNvPr>
              <p:cNvSpPr txBox="1"/>
              <p:nvPr/>
            </p:nvSpPr>
            <p:spPr>
              <a:xfrm>
                <a:off x="1143000" y="5421803"/>
                <a:ext cx="4495800" cy="369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5==5</m:t>
                              </m:r>
                            </m:e>
                          </m:d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=5{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==5}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C6153EB-0ECF-9747-AFC1-0901FE235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5421803"/>
                <a:ext cx="4495800" cy="369397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7FC5CA9-95F0-504F-AE12-4A57EF809CA8}"/>
                  </a:ext>
                </a:extLst>
              </p:cNvPr>
              <p:cNvSpPr txBox="1"/>
              <p:nvPr/>
            </p:nvSpPr>
            <p:spPr>
              <a:xfrm>
                <a:off x="1066800" y="5955203"/>
                <a:ext cx="44958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/>
                  <a:t>Using the consequence rule: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𝑇𝑟𝑢𝑒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→5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==5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7FC5CA9-95F0-504F-AE12-4A57EF809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5955203"/>
                <a:ext cx="4495800" cy="646331"/>
              </a:xfrm>
              <a:prstGeom prst="rect">
                <a:avLst/>
              </a:prstGeom>
              <a:blipFill>
                <a:blip r:embed="rId7"/>
                <a:stretch>
                  <a:fillRect l="-1130" t="-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01142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3CB819-AD21-984F-A3A6-A502A9437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Or, the proof tree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88511D0-011C-AC42-8ED4-F634E6B8B36B}"/>
                  </a:ext>
                </a:extLst>
              </p:cNvPr>
              <p:cNvSpPr txBox="1"/>
              <p:nvPr/>
            </p:nvSpPr>
            <p:spPr>
              <a:xfrm>
                <a:off x="1172547" y="1828800"/>
                <a:ext cx="44958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b="0" dirty="0">
                    <a:ea typeface="Cambria Math" panose="02040503050406030204" pitchFamily="18" charset="0"/>
                  </a:rPr>
                  <a:t>To prove:</a:t>
                </a:r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𝑇𝑟𝑢𝑒</m:t>
                          </m:r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=5{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==5}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88511D0-011C-AC42-8ED4-F634E6B8B3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547" y="1828800"/>
                <a:ext cx="4495800" cy="646331"/>
              </a:xfrm>
              <a:prstGeom prst="rect">
                <a:avLst/>
              </a:prstGeom>
              <a:blipFill>
                <a:blip r:embed="rId2"/>
                <a:stretch>
                  <a:fillRect l="-845" t="-3922" b="-7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AC49DA3-EB95-5E43-A985-81E2F818D08A}"/>
                  </a:ext>
                </a:extLst>
              </p:cNvPr>
              <p:cNvSpPr txBox="1"/>
              <p:nvPr/>
            </p:nvSpPr>
            <p:spPr>
              <a:xfrm>
                <a:off x="2358788" y="4179397"/>
                <a:ext cx="4495800" cy="369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𝑇𝑟𝑢𝑒</m:t>
                          </m:r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=5{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==5}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AC49DA3-EB95-5E43-A985-81E2F818D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8788" y="4179397"/>
                <a:ext cx="4495800" cy="369397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E55158F2-24BB-284B-863F-5CD7C8893AF9}"/>
              </a:ext>
            </a:extLst>
          </p:cNvPr>
          <p:cNvCxnSpPr>
            <a:cxnSpLocks/>
          </p:cNvCxnSpPr>
          <p:nvPr/>
        </p:nvCxnSpPr>
        <p:spPr>
          <a:xfrm>
            <a:off x="609600" y="4031946"/>
            <a:ext cx="6477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689B15C-2E51-F84D-8F3C-A66A17D65279}"/>
                  </a:ext>
                </a:extLst>
              </p:cNvPr>
              <p:cNvSpPr txBox="1"/>
              <p:nvPr/>
            </p:nvSpPr>
            <p:spPr>
              <a:xfrm>
                <a:off x="6858000" y="3833271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𝐶𝑜𝑛𝑠𝑒𝑞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689B15C-2E51-F84D-8F3C-A66A17D65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0" y="3833271"/>
                <a:ext cx="1828800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C6153EB-0ECF-9747-AFC1-0901FE2354E8}"/>
                  </a:ext>
                </a:extLst>
              </p:cNvPr>
              <p:cNvSpPr txBox="1"/>
              <p:nvPr/>
            </p:nvSpPr>
            <p:spPr>
              <a:xfrm>
                <a:off x="228600" y="3551577"/>
                <a:ext cx="2819400" cy="369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𝑇𝑟𝑢𝑒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(5==5)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C6153EB-0ECF-9747-AFC1-0901FE235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3551577"/>
                <a:ext cx="2819400" cy="369397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F0F932E-FE88-B744-BF72-AD557B759212}"/>
                  </a:ext>
                </a:extLst>
              </p:cNvPr>
              <p:cNvSpPr txBox="1"/>
              <p:nvPr/>
            </p:nvSpPr>
            <p:spPr>
              <a:xfrm>
                <a:off x="3124200" y="3599656"/>
                <a:ext cx="4495800" cy="369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==5</m:t>
                              </m:r>
                            </m:e>
                          </m:d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zh-CN" altLang="en-US" i="1" dirty="0"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kumimoji="1" lang="en-US" altLang="zh-CN" i="1" dirty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</m:d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=5{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==5}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F0F932E-FE88-B744-BF72-AD557B759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3599656"/>
                <a:ext cx="4495800" cy="369397"/>
              </a:xfrm>
              <a:prstGeom prst="rect">
                <a:avLst/>
              </a:prstGeom>
              <a:blipFill>
                <a:blip r:embed="rId6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E1DC7A56-899C-8C45-8BAB-23839F7743C8}"/>
              </a:ext>
            </a:extLst>
          </p:cNvPr>
          <p:cNvCxnSpPr>
            <a:cxnSpLocks/>
          </p:cNvCxnSpPr>
          <p:nvPr/>
        </p:nvCxnSpPr>
        <p:spPr>
          <a:xfrm>
            <a:off x="3581400" y="3486943"/>
            <a:ext cx="3657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9CE4CB4-B927-7140-95A6-154D935F5F7A}"/>
                  </a:ext>
                </a:extLst>
              </p:cNvPr>
              <p:cNvSpPr txBox="1"/>
              <p:nvPr/>
            </p:nvSpPr>
            <p:spPr>
              <a:xfrm>
                <a:off x="7010400" y="3288268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𝐴𝑠𝑠𝑖𝑔𝑛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9CE4CB4-B927-7140-95A6-154D935F5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0" y="3288268"/>
                <a:ext cx="1828800" cy="369332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3455D6D2-14C8-AB42-954F-1DABD8EB1960}"/>
              </a:ext>
            </a:extLst>
          </p:cNvPr>
          <p:cNvCxnSpPr>
            <a:cxnSpLocks/>
          </p:cNvCxnSpPr>
          <p:nvPr/>
        </p:nvCxnSpPr>
        <p:spPr>
          <a:xfrm>
            <a:off x="381000" y="3551577"/>
            <a:ext cx="2514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97386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3CB819-AD21-984F-A3A6-A502A9437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Hoare logic rules: example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2538A8-7BCA-2A42-85B0-ACA58AC53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To prove this judgment:</a:t>
            </a:r>
          </a:p>
          <a:p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proof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tree: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88511D0-011C-AC42-8ED4-F634E6B8B36B}"/>
                  </a:ext>
                </a:extLst>
              </p:cNvPr>
              <p:cNvSpPr txBox="1"/>
              <p:nvPr/>
            </p:nvSpPr>
            <p:spPr>
              <a:xfrm>
                <a:off x="1676400" y="2743200"/>
                <a:ext cx="4495800" cy="369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𝑇𝑟𝑢𝑒</m:t>
                          </m:r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𝑖𝑓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≤0;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=1;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){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&gt;0}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88511D0-011C-AC42-8ED4-F634E6B8B3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2743200"/>
                <a:ext cx="4495800" cy="369397"/>
              </a:xfrm>
              <a:prstGeom prst="rect">
                <a:avLst/>
              </a:prstGeom>
              <a:blipFill>
                <a:blip r:embed="rId2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E55158F2-24BB-284B-863F-5CD7C8893AF9}"/>
              </a:ext>
            </a:extLst>
          </p:cNvPr>
          <p:cNvCxnSpPr>
            <a:cxnSpLocks/>
          </p:cNvCxnSpPr>
          <p:nvPr/>
        </p:nvCxnSpPr>
        <p:spPr>
          <a:xfrm>
            <a:off x="210344" y="6241746"/>
            <a:ext cx="786685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50852A5-537B-1B43-B5E9-79ADC3F06606}"/>
                  </a:ext>
                </a:extLst>
              </p:cNvPr>
              <p:cNvSpPr txBox="1"/>
              <p:nvPr/>
            </p:nvSpPr>
            <p:spPr>
              <a:xfrm>
                <a:off x="2438400" y="6412403"/>
                <a:ext cx="4495800" cy="369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𝑇𝑟𝑢𝑒</m:t>
                          </m:r>
                        </m:e>
                      </m:d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𝑖𝑓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≤0;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=1;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){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&gt;0}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50852A5-537B-1B43-B5E9-79ADC3F06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6412403"/>
                <a:ext cx="4495800" cy="369397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689B15C-2E51-F84D-8F3C-A66A17D65279}"/>
                  </a:ext>
                </a:extLst>
              </p:cNvPr>
              <p:cNvSpPr txBox="1"/>
              <p:nvPr/>
            </p:nvSpPr>
            <p:spPr>
              <a:xfrm>
                <a:off x="7961312" y="6043071"/>
                <a:ext cx="11064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𝐼𝑓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689B15C-2E51-F84D-8F3C-A66A17D65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1312" y="6043071"/>
                <a:ext cx="1106488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F72BE48-9C45-C74A-985E-D531683A66E4}"/>
                  </a:ext>
                </a:extLst>
              </p:cNvPr>
              <p:cNvSpPr txBox="1"/>
              <p:nvPr/>
            </p:nvSpPr>
            <p:spPr>
              <a:xfrm>
                <a:off x="210344" y="5772980"/>
                <a:ext cx="3142456" cy="369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𝑇𝑟𝑢𝑒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=1{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&gt;0}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F72BE48-9C45-C74A-985E-D531683A6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344" y="5772980"/>
                <a:ext cx="3142456" cy="369397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3114AAE-B2E2-9B42-9EEA-599CB1E57F76}"/>
                  </a:ext>
                </a:extLst>
              </p:cNvPr>
              <p:cNvSpPr txBox="1"/>
              <p:nvPr/>
            </p:nvSpPr>
            <p:spPr>
              <a:xfrm>
                <a:off x="4724400" y="5791200"/>
                <a:ext cx="3581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𝑇𝑟𝑢𝑒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∧¬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0)</m:t>
                          </m:r>
                        </m:e>
                      </m:d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&gt;0}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3114AAE-B2E2-9B42-9EEA-599CB1E57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5791200"/>
                <a:ext cx="3581400" cy="369332"/>
              </a:xfrm>
              <a:prstGeom prst="rect">
                <a:avLst/>
              </a:prstGeom>
              <a:blipFill>
                <a:blip r:embed="rId6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69EA8633-B49B-3C4D-9D7B-7E775B50BEDB}"/>
              </a:ext>
            </a:extLst>
          </p:cNvPr>
          <p:cNvCxnSpPr>
            <a:cxnSpLocks/>
          </p:cNvCxnSpPr>
          <p:nvPr/>
        </p:nvCxnSpPr>
        <p:spPr>
          <a:xfrm>
            <a:off x="304800" y="5715000"/>
            <a:ext cx="4191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E7972101-DD8A-864E-81C2-E7AB0E825D7E}"/>
                  </a:ext>
                </a:extLst>
              </p:cNvPr>
              <p:cNvSpPr txBox="1"/>
              <p:nvPr/>
            </p:nvSpPr>
            <p:spPr>
              <a:xfrm>
                <a:off x="0" y="5257800"/>
                <a:ext cx="251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𝑇𝑟𝑢𝑒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≤0→1&gt;0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E7972101-DD8A-864E-81C2-E7AB0E825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257800"/>
                <a:ext cx="2514600" cy="369332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8C78706-4E7B-6643-B10D-66EA881CAD6A}"/>
                  </a:ext>
                </a:extLst>
              </p:cNvPr>
              <p:cNvSpPr txBox="1"/>
              <p:nvPr/>
            </p:nvSpPr>
            <p:spPr>
              <a:xfrm>
                <a:off x="2514600" y="5257800"/>
                <a:ext cx="2362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1&gt;0</m:t>
                          </m:r>
                        </m:e>
                      </m:d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=1{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&gt;0}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8C78706-4E7B-6643-B10D-66EA881CA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5257800"/>
                <a:ext cx="2362200" cy="369332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84943D55-17CC-B84D-B170-8E3E4A0FF556}"/>
              </a:ext>
            </a:extLst>
          </p:cNvPr>
          <p:cNvCxnSpPr>
            <a:cxnSpLocks/>
          </p:cNvCxnSpPr>
          <p:nvPr/>
        </p:nvCxnSpPr>
        <p:spPr>
          <a:xfrm>
            <a:off x="2667000" y="5181600"/>
            <a:ext cx="1981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637219C1-8395-2547-924E-D9C96B0B1313}"/>
              </a:ext>
            </a:extLst>
          </p:cNvPr>
          <p:cNvCxnSpPr>
            <a:cxnSpLocks/>
          </p:cNvCxnSpPr>
          <p:nvPr/>
        </p:nvCxnSpPr>
        <p:spPr>
          <a:xfrm>
            <a:off x="4953000" y="5715000"/>
            <a:ext cx="3352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58346428-5F5D-6F43-AF18-72B5A21691C9}"/>
                  </a:ext>
                </a:extLst>
              </p:cNvPr>
              <p:cNvSpPr txBox="1"/>
              <p:nvPr/>
            </p:nvSpPr>
            <p:spPr>
              <a:xfrm>
                <a:off x="5468144" y="5246331"/>
                <a:ext cx="2362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58346428-5F5D-6F43-AF18-72B5A21691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144" y="5246331"/>
                <a:ext cx="236220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CE621B8B-3E20-EA44-B443-BC1222C6B327}"/>
              </a:ext>
            </a:extLst>
          </p:cNvPr>
          <p:cNvCxnSpPr>
            <a:cxnSpLocks/>
          </p:cNvCxnSpPr>
          <p:nvPr/>
        </p:nvCxnSpPr>
        <p:spPr>
          <a:xfrm>
            <a:off x="160338" y="5181600"/>
            <a:ext cx="220186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45786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3CB819-AD21-984F-A3A6-A502A9437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Hoare logic rules: example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2538A8-7BCA-2A42-85B0-ACA58AC53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To prove this judgment:</a:t>
            </a:r>
          </a:p>
          <a:p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proof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tree: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88511D0-011C-AC42-8ED4-F634E6B8B36B}"/>
                  </a:ext>
                </a:extLst>
              </p:cNvPr>
              <p:cNvSpPr txBox="1"/>
              <p:nvPr/>
            </p:nvSpPr>
            <p:spPr>
              <a:xfrm>
                <a:off x="1676400" y="2743200"/>
                <a:ext cx="4495800" cy="369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&lt;0</m:t>
                          </m:r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𝑤ℎ𝑖𝑙𝑒</m:t>
                      </m:r>
                      <m:d>
                        <m:d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&lt;5;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==5}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88511D0-011C-AC42-8ED4-F634E6B8B3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2743200"/>
                <a:ext cx="4495800" cy="369397"/>
              </a:xfrm>
              <a:prstGeom prst="rect">
                <a:avLst/>
              </a:prstGeom>
              <a:blipFill>
                <a:blip r:embed="rId2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E55158F2-24BB-284B-863F-5CD7C8893AF9}"/>
              </a:ext>
            </a:extLst>
          </p:cNvPr>
          <p:cNvCxnSpPr>
            <a:cxnSpLocks/>
          </p:cNvCxnSpPr>
          <p:nvPr/>
        </p:nvCxnSpPr>
        <p:spPr>
          <a:xfrm>
            <a:off x="210344" y="6241746"/>
            <a:ext cx="873363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50852A5-537B-1B43-B5E9-79ADC3F06606}"/>
                  </a:ext>
                </a:extLst>
              </p:cNvPr>
              <p:cNvSpPr txBox="1"/>
              <p:nvPr/>
            </p:nvSpPr>
            <p:spPr>
              <a:xfrm>
                <a:off x="2438400" y="6412403"/>
                <a:ext cx="4495800" cy="369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&lt;0</m:t>
                          </m:r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𝑤ℎ𝑖𝑙𝑒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&lt;5;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+1){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==5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50852A5-537B-1B43-B5E9-79ADC3F06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6412403"/>
                <a:ext cx="4495800" cy="369397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3114AAE-B2E2-9B42-9EEA-599CB1E57F76}"/>
                  </a:ext>
                </a:extLst>
              </p:cNvPr>
              <p:cNvSpPr txBox="1"/>
              <p:nvPr/>
            </p:nvSpPr>
            <p:spPr>
              <a:xfrm>
                <a:off x="2667000" y="5791200"/>
                <a:ext cx="5486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ℎ𝑖𝑙𝑒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&lt;5;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+1){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∧¬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&lt;5)}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3114AAE-B2E2-9B42-9EEA-599CB1E57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5791200"/>
                <a:ext cx="5486400" cy="369332"/>
              </a:xfrm>
              <a:prstGeom prst="rect">
                <a:avLst/>
              </a:prstGeom>
              <a:blipFill>
                <a:blip r:embed="rId4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69EA8633-B49B-3C4D-9D7B-7E775B50BEDB}"/>
              </a:ext>
            </a:extLst>
          </p:cNvPr>
          <p:cNvCxnSpPr>
            <a:cxnSpLocks/>
          </p:cNvCxnSpPr>
          <p:nvPr/>
        </p:nvCxnSpPr>
        <p:spPr>
          <a:xfrm>
            <a:off x="304800" y="5715000"/>
            <a:ext cx="1981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E7972101-DD8A-864E-81C2-E7AB0E825D7E}"/>
                  </a:ext>
                </a:extLst>
              </p:cNvPr>
              <p:cNvSpPr txBox="1"/>
              <p:nvPr/>
            </p:nvSpPr>
            <p:spPr>
              <a:xfrm>
                <a:off x="108348" y="5791200"/>
                <a:ext cx="19232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&lt;0→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E7972101-DD8A-864E-81C2-E7AB0E825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48" y="5791200"/>
                <a:ext cx="192325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8C78706-4E7B-6643-B10D-66EA881CAD6A}"/>
                  </a:ext>
                </a:extLst>
              </p:cNvPr>
              <p:cNvSpPr txBox="1"/>
              <p:nvPr/>
            </p:nvSpPr>
            <p:spPr>
              <a:xfrm>
                <a:off x="3962400" y="5257800"/>
                <a:ext cx="3657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≤5∧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&lt;5</m:t>
                          </m:r>
                        </m:e>
                      </m:d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+1{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≤5}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8C78706-4E7B-6643-B10D-66EA881CA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5257800"/>
                <a:ext cx="3657600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84943D55-17CC-B84D-B170-8E3E4A0FF556}"/>
              </a:ext>
            </a:extLst>
          </p:cNvPr>
          <p:cNvCxnSpPr>
            <a:cxnSpLocks/>
          </p:cNvCxnSpPr>
          <p:nvPr/>
        </p:nvCxnSpPr>
        <p:spPr>
          <a:xfrm>
            <a:off x="1752600" y="5181600"/>
            <a:ext cx="6705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637219C1-8395-2547-924E-D9C96B0B1313}"/>
              </a:ext>
            </a:extLst>
          </p:cNvPr>
          <p:cNvCxnSpPr>
            <a:cxnSpLocks/>
          </p:cNvCxnSpPr>
          <p:nvPr/>
        </p:nvCxnSpPr>
        <p:spPr>
          <a:xfrm>
            <a:off x="2590800" y="5715000"/>
            <a:ext cx="5334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58346428-5F5D-6F43-AF18-72B5A21691C9}"/>
                  </a:ext>
                </a:extLst>
              </p:cNvPr>
              <p:cNvSpPr txBox="1"/>
              <p:nvPr/>
            </p:nvSpPr>
            <p:spPr>
              <a:xfrm>
                <a:off x="8211344" y="5732465"/>
                <a:ext cx="8564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58346428-5F5D-6F43-AF18-72B5A21691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1344" y="5732465"/>
                <a:ext cx="85645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1003DECD-4F39-8F48-9462-313C6D086875}"/>
                  </a:ext>
                </a:extLst>
              </p:cNvPr>
              <p:cNvSpPr txBox="1"/>
              <p:nvPr/>
            </p:nvSpPr>
            <p:spPr>
              <a:xfrm>
                <a:off x="5029200" y="4724400"/>
                <a:ext cx="3657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+1)≤5</m:t>
                          </m:r>
                        </m:e>
                      </m:d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+1{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≤5}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1003DECD-4F39-8F48-9462-313C6D0868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4724400"/>
                <a:ext cx="3657600" cy="369332"/>
              </a:xfrm>
              <a:prstGeom prst="rect">
                <a:avLst/>
              </a:prstGeom>
              <a:blipFill>
                <a:blip r:embed="rId8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线连接符 25">
            <a:extLst>
              <a:ext uri="{FF2B5EF4-FFF2-40B4-BE49-F238E27FC236}">
                <a16:creationId xmlns:a16="http://schemas.microsoft.com/office/drawing/2014/main" id="{7BFFEB5A-3FE0-6045-993E-F3239D92FE67}"/>
              </a:ext>
            </a:extLst>
          </p:cNvPr>
          <p:cNvCxnSpPr>
            <a:cxnSpLocks/>
          </p:cNvCxnSpPr>
          <p:nvPr/>
        </p:nvCxnSpPr>
        <p:spPr>
          <a:xfrm>
            <a:off x="5486400" y="4648200"/>
            <a:ext cx="2895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BEBD6EE-E53F-2F43-A68A-EAF368C7AE57}"/>
                  </a:ext>
                </a:extLst>
              </p:cNvPr>
              <p:cNvSpPr txBox="1"/>
              <p:nvPr/>
            </p:nvSpPr>
            <p:spPr>
              <a:xfrm>
                <a:off x="1371600" y="4724400"/>
                <a:ext cx="3657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≤5∧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&lt;5)→((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+1)≤5)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BEBD6EE-E53F-2F43-A68A-EAF368C7A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4724400"/>
                <a:ext cx="3657600" cy="369332"/>
              </a:xfrm>
              <a:prstGeom prst="rect">
                <a:avLst/>
              </a:prstGeom>
              <a:blipFill>
                <a:blip r:embed="rId9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5AAF3797-FC76-2E4B-8B57-C2E27C0CAC0B}"/>
              </a:ext>
            </a:extLst>
          </p:cNvPr>
          <p:cNvCxnSpPr>
            <a:cxnSpLocks/>
          </p:cNvCxnSpPr>
          <p:nvPr/>
        </p:nvCxnSpPr>
        <p:spPr>
          <a:xfrm>
            <a:off x="1524000" y="4648200"/>
            <a:ext cx="3352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639550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3CB819-AD21-984F-A3A6-A502A9437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Hoare logic rules: example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2538A8-7BCA-2A42-85B0-ACA58AC53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To prove this judgment:</a:t>
            </a:r>
          </a:p>
          <a:p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proof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“while”: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88511D0-011C-AC42-8ED4-F634E6B8B36B}"/>
              </a:ext>
            </a:extLst>
          </p:cNvPr>
          <p:cNvSpPr txBox="1"/>
          <p:nvPr/>
        </p:nvSpPr>
        <p:spPr>
          <a:xfrm>
            <a:off x="6629399" y="2017713"/>
            <a:ext cx="23145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{n&gt;=0}</a:t>
            </a:r>
          </a:p>
          <a:p>
            <a:r>
              <a:rPr kumimoji="1" lang="en-US" altLang="zh-CN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kumimoji="1" lang="zh-CN" altLang="en-US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r>
              <a:rPr kumimoji="1" lang="en-US" altLang="zh-CN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zh-CN" altLang="en-US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r>
              <a:rPr kumimoji="1" lang="en-US" altLang="zh-CN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while(</a:t>
            </a:r>
            <a:r>
              <a:rPr kumimoji="1" lang="en-US" altLang="zh-CN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&lt;=n){</a:t>
            </a:r>
          </a:p>
          <a:p>
            <a:r>
              <a:rPr kumimoji="1" lang="zh-CN" altLang="en-US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s=</a:t>
            </a:r>
            <a:r>
              <a:rPr kumimoji="1" lang="en-US" altLang="zh-CN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s+i</a:t>
            </a:r>
            <a:r>
              <a:rPr kumimoji="1" lang="en-US" altLang="zh-CN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kumimoji="1" lang="zh-CN" altLang="en-US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=i+1;</a:t>
            </a:r>
          </a:p>
          <a:p>
            <a:r>
              <a:rPr kumimoji="1" lang="en-US" altLang="zh-CN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kumimoji="1"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{2*s==n*(n+1)}</a:t>
            </a: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E55158F2-24BB-284B-863F-5CD7C8893AF9}"/>
              </a:ext>
            </a:extLst>
          </p:cNvPr>
          <p:cNvCxnSpPr>
            <a:cxnSpLocks/>
          </p:cNvCxnSpPr>
          <p:nvPr/>
        </p:nvCxnSpPr>
        <p:spPr>
          <a:xfrm>
            <a:off x="210344" y="6241746"/>
            <a:ext cx="873363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50852A5-537B-1B43-B5E9-79ADC3F06606}"/>
                  </a:ext>
                </a:extLst>
              </p:cNvPr>
              <p:cNvSpPr txBox="1"/>
              <p:nvPr/>
            </p:nvSpPr>
            <p:spPr>
              <a:xfrm>
                <a:off x="533400" y="6412403"/>
                <a:ext cx="8421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d>
                            <m:d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𝑆𝑢𝑚</m:t>
                          </m:r>
                          <m:d>
                            <m:d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𝑤ℎ𝑖𝑙𝑒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){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𝑆𝑢𝑚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)∧¬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50852A5-537B-1B43-B5E9-79ADC3F06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6412403"/>
                <a:ext cx="8421688" cy="369332"/>
              </a:xfrm>
              <a:prstGeom prst="rect">
                <a:avLst/>
              </a:prstGeom>
              <a:blipFill>
                <a:blip r:embed="rId2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3114AAE-B2E2-9B42-9EEA-599CB1E57F76}"/>
                  </a:ext>
                </a:extLst>
              </p:cNvPr>
              <p:cNvSpPr txBox="1"/>
              <p:nvPr/>
            </p:nvSpPr>
            <p:spPr>
              <a:xfrm>
                <a:off x="76200" y="5791200"/>
                <a:ext cx="88788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d>
                            <m:d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𝑆𝑢𝑚</m:t>
                          </m:r>
                          <m:d>
                            <m:d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+1{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𝑆𝑢𝑚</m:t>
                      </m:r>
                      <m:d>
                        <m:dPr>
                          <m:ctrlP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3114AAE-B2E2-9B42-9EEA-599CB1E57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5791200"/>
                <a:ext cx="8878888" cy="369332"/>
              </a:xfrm>
              <a:prstGeom prst="rect">
                <a:avLst/>
              </a:prstGeom>
              <a:blipFill>
                <a:blip r:embed="rId3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8C78706-4E7B-6643-B10D-66EA881CAD6A}"/>
                  </a:ext>
                </a:extLst>
              </p:cNvPr>
              <p:cNvSpPr txBox="1"/>
              <p:nvPr/>
            </p:nvSpPr>
            <p:spPr>
              <a:xfrm>
                <a:off x="3276600" y="5257800"/>
                <a:ext cx="4343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+1)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𝑆𝑢𝑚</m:t>
                    </m:r>
                    <m:d>
                      <m:d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+1−1</m:t>
                        </m:r>
                      </m:e>
                    </m:d>
                  </m:oMath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8C78706-4E7B-6643-B10D-66EA881CA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5257800"/>
                <a:ext cx="4343400" cy="369332"/>
              </a:xfrm>
              <a:prstGeom prst="rect">
                <a:avLst/>
              </a:prstGeom>
              <a:blipFill>
                <a:blip r:embed="rId4"/>
                <a:stretch>
                  <a:fillRect l="-1166"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637219C1-8395-2547-924E-D9C96B0B1313}"/>
              </a:ext>
            </a:extLst>
          </p:cNvPr>
          <p:cNvCxnSpPr>
            <a:cxnSpLocks/>
          </p:cNvCxnSpPr>
          <p:nvPr/>
        </p:nvCxnSpPr>
        <p:spPr>
          <a:xfrm>
            <a:off x="381000" y="5715000"/>
            <a:ext cx="7543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1003DECD-4F39-8F48-9462-313C6D086875}"/>
                  </a:ext>
                </a:extLst>
              </p:cNvPr>
              <p:cNvSpPr txBox="1"/>
              <p:nvPr/>
            </p:nvSpPr>
            <p:spPr>
              <a:xfrm>
                <a:off x="3107140" y="4779235"/>
                <a:ext cx="480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kumimoji="1" lang="en-US" altLang="zh-CN" i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+1)≤</m:t>
                      </m:r>
                      <m:d>
                        <m:dPr>
                          <m:ctrlP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𝑆𝑢𝑚</m:t>
                      </m:r>
                      <m:d>
                        <m:dPr>
                          <m:ctrlP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1003DECD-4F39-8F48-9462-313C6D0868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7140" y="4779235"/>
                <a:ext cx="4800600" cy="369332"/>
              </a:xfrm>
              <a:prstGeom prst="rect">
                <a:avLst/>
              </a:prstGeom>
              <a:blipFill>
                <a:blip r:embed="rId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68CD1B7F-4C34-5544-A40A-D2DFC093059F}"/>
                  </a:ext>
                </a:extLst>
              </p:cNvPr>
              <p:cNvSpPr txBox="1"/>
              <p:nvPr/>
            </p:nvSpPr>
            <p:spPr>
              <a:xfrm>
                <a:off x="381000" y="4355068"/>
                <a:ext cx="830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𝑆𝑢𝑚</m:t>
                      </m:r>
                      <m:d>
                        <m:dPr>
                          <m:ctrlP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kumimoji="1" lang="zh-CN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kumimoji="1" lang="zh-CN" alt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r>
                        <m:rPr>
                          <m:nor/>
                        </m:rPr>
                        <a:rPr kumimoji="1" lang="en-US" altLang="zh-CN" i="0" dirty="0" smtClean="0"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+1)≤</m:t>
                      </m:r>
                      <m:d>
                        <m:dPr>
                          <m:ctrlP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𝑆𝑢𝑚</m:t>
                      </m:r>
                      <m:d>
                        <m:dPr>
                          <m:ctrlP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68CD1B7F-4C34-5544-A40A-D2DFC0930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4355068"/>
                <a:ext cx="8305800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55304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7235E0-2140-1443-8812-35B3F42FD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Summary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F1CB86-007F-444F-B16D-27C398152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Hoare logic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an axiomatic system to reason program correctness</a:t>
            </a:r>
          </a:p>
          <a:p>
            <a:pPr lvl="1"/>
            <a:r>
              <a:rPr kumimoji="1" lang="en-US" altLang="zh-CN" dirty="0"/>
              <a:t>FOL, judgments, and inference rules</a:t>
            </a:r>
          </a:p>
          <a:p>
            <a:r>
              <a:rPr kumimoji="1" lang="en-US" altLang="zh-CN" dirty="0"/>
              <a:t>Proving program properties formally requires considerable proof engineering efforts</a:t>
            </a:r>
          </a:p>
          <a:p>
            <a:pPr lvl="1"/>
            <a:r>
              <a:rPr kumimoji="1" lang="en-US" altLang="zh-CN" dirty="0"/>
              <a:t>But we can leverage off-the-shelf automatic techniques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/>
              <a:t>tools, </a:t>
            </a:r>
            <a:r>
              <a:rPr kumimoji="1" lang="en-US" altLang="zh-CN" dirty="0"/>
              <a:t>to be discussed next</a:t>
            </a:r>
          </a:p>
        </p:txBody>
      </p:sp>
    </p:spTree>
    <p:extLst>
      <p:ext uri="{BB962C8B-B14F-4D97-AF65-F5344CB8AC3E}">
        <p14:creationId xmlns:p14="http://schemas.microsoft.com/office/powerpoint/2010/main" val="3791568682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25613</TotalTime>
  <Words>4393</Words>
  <Application>Microsoft Macintosh PowerPoint</Application>
  <PresentationFormat>全屏显示(4:3)</PresentationFormat>
  <Paragraphs>642</Paragraphs>
  <Slides>60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66" baseType="lpstr">
      <vt:lpstr>Arial</vt:lpstr>
      <vt:lpstr>Cambria Math</vt:lpstr>
      <vt:lpstr>Courier New</vt:lpstr>
      <vt:lpstr>Tahoma</vt:lpstr>
      <vt:lpstr>Wingdings</vt:lpstr>
      <vt:lpstr>Blends</vt:lpstr>
      <vt:lpstr>Hoare logic</vt:lpstr>
      <vt:lpstr>Spectrum of program validation methods</vt:lpstr>
      <vt:lpstr>Overview</vt:lpstr>
      <vt:lpstr>Capsule history</vt:lpstr>
      <vt:lpstr>Many Languages Today</vt:lpstr>
      <vt:lpstr>Many Real-World Successful Stories</vt:lpstr>
      <vt:lpstr> </vt:lpstr>
      <vt:lpstr>Program correctness</vt:lpstr>
      <vt:lpstr>Program correctness</vt:lpstr>
      <vt:lpstr>Program correctness</vt:lpstr>
      <vt:lpstr>Program correctness</vt:lpstr>
      <vt:lpstr>Redundancy</vt:lpstr>
      <vt:lpstr>Scale to Complex Programs</vt:lpstr>
      <vt:lpstr>Big picture</vt:lpstr>
      <vt:lpstr> </vt:lpstr>
      <vt:lpstr>Example #1: basic pre- and post-conditions</vt:lpstr>
      <vt:lpstr>Example #1: basic pre- and post-conditions</vt:lpstr>
      <vt:lpstr>Example #1: basic pre- and post-conditions</vt:lpstr>
      <vt:lpstr>Example #1: basic pre- and post-conditions</vt:lpstr>
      <vt:lpstr>Example #1: fine-grained pre- and post-conditions</vt:lpstr>
      <vt:lpstr>Example #2: branching</vt:lpstr>
      <vt:lpstr>Example #2: branching</vt:lpstr>
      <vt:lpstr>Example #2: branching</vt:lpstr>
      <vt:lpstr>Example #2: branching</vt:lpstr>
      <vt:lpstr>Example #2: fine-grained conditions</vt:lpstr>
      <vt:lpstr>Example #3: loops</vt:lpstr>
      <vt:lpstr>Example #3: loops</vt:lpstr>
      <vt:lpstr>Example #3: loop invariant</vt:lpstr>
      <vt:lpstr>Example #4: function (or modular verification)</vt:lpstr>
      <vt:lpstr>Example #5: specification-oriented verification (SOV)</vt:lpstr>
      <vt:lpstr>Example #5: specification-oriented verification (SOV)</vt:lpstr>
      <vt:lpstr>Example #5: specification-oriented verification (SOV)</vt:lpstr>
      <vt:lpstr> </vt:lpstr>
      <vt:lpstr>Hoare triple</vt:lpstr>
      <vt:lpstr>Partial and total correctness</vt:lpstr>
      <vt:lpstr>Hoare triple example</vt:lpstr>
      <vt:lpstr>Hoare triple example 2</vt:lpstr>
      <vt:lpstr>Hoare triple semantics</vt:lpstr>
      <vt:lpstr>Proposition syntax</vt:lpstr>
      <vt:lpstr>Proposition syntax</vt:lpstr>
      <vt:lpstr>Proposition semantics</vt:lpstr>
      <vt:lpstr>Proposition semantics</vt:lpstr>
      <vt:lpstr>Hoare triple semantics</vt:lpstr>
      <vt:lpstr>Exhausted testing</vt:lpstr>
      <vt:lpstr>Exhausted testing, cont’</vt:lpstr>
      <vt:lpstr>Axiomatic semantics</vt:lpstr>
      <vt:lpstr> </vt:lpstr>
      <vt:lpstr>Inference rules</vt:lpstr>
      <vt:lpstr>Hoare logic rules: empty</vt:lpstr>
      <vt:lpstr>Hoare logic rules: assignment</vt:lpstr>
      <vt:lpstr>Hoare logic rules: sequence</vt:lpstr>
      <vt:lpstr>Hoare logic rules: if</vt:lpstr>
      <vt:lpstr>Hoare logic rules: while</vt:lpstr>
      <vt:lpstr>Hoare logic rules: consequence</vt:lpstr>
      <vt:lpstr>Hoare logic rules: example</vt:lpstr>
      <vt:lpstr>Or, the proof tree</vt:lpstr>
      <vt:lpstr>Hoare logic rules: example</vt:lpstr>
      <vt:lpstr>Hoare logic rules: example</vt:lpstr>
      <vt:lpstr>Hoare logic rules: example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</dc:title>
  <dc:creator>Baojian Hua</dc:creator>
  <cp:lastModifiedBy>hbj</cp:lastModifiedBy>
  <cp:revision>5956</cp:revision>
  <cp:lastPrinted>1601-01-01T00:00:00Z</cp:lastPrinted>
  <dcterms:created xsi:type="dcterms:W3CDTF">1601-01-01T00:00:00Z</dcterms:created>
  <dcterms:modified xsi:type="dcterms:W3CDTF">2026-10-30T07:45:27Z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
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10"/>
  </p:handoutMasterIdLst>
  <p:sldIdLst>
    <p:sldId id="256" r:id="rId2"/>
    <p:sldId id="455" r:id="rId3"/>
    <p:sldId id="494" r:id="rId4"/>
    <p:sldId id="500" r:id="rId5"/>
    <p:sldId id="501" r:id="rId6"/>
    <p:sldId id="495" r:id="rId7"/>
    <p:sldId id="485" r:id="rId8"/>
    <p:sldId id="424" r:id="rId9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/>
    <p:restoredTop sz="94658"/>
  </p:normalViewPr>
  <p:slideViewPr>
    <p:cSldViewPr>
      <p:cViewPr varScale="1">
        <p:scale>
          <a:sx n="120" d="100"/>
          <a:sy n="120" d="100"/>
        </p:scale>
        <p:origin x="22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Concolic</a:t>
            </a:r>
            <a:r>
              <a:rPr lang="zh-CN" altLang="en-US" dirty="0"/>
              <a:t> </a:t>
            </a:r>
            <a:r>
              <a:rPr lang="en-US" altLang="zh-CN" dirty="0"/>
              <a:t>Execution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3A8E4-6958-404F-9A7A-4D41AB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Spectrum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validation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290D53-744C-F049-BD12-36467E0F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2178650"/>
            <a:ext cx="8401050" cy="4603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2E6188-1647-5145-85E6-FAA20DE63886}"/>
              </a:ext>
            </a:extLst>
          </p:cNvPr>
          <p:cNvSpPr txBox="1"/>
          <p:nvPr/>
        </p:nvSpPr>
        <p:spPr>
          <a:xfrm>
            <a:off x="4285456" y="5193268"/>
            <a:ext cx="211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Today’s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2BED9D8-E1E3-2A45-B513-C33272D6531D}"/>
              </a:ext>
            </a:extLst>
          </p:cNvPr>
          <p:cNvCxnSpPr/>
          <p:nvPr/>
        </p:nvCxnSpPr>
        <p:spPr>
          <a:xfrm flipH="1" flipV="1">
            <a:off x="3733800" y="4980243"/>
            <a:ext cx="762000" cy="21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1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 path explosion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How to test the following program effectively?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if(e1)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if(e11)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if(e21)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…;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791200" y="2438400"/>
            <a:ext cx="6096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82344" y="34145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e11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58ECE9-2EA8-5C4D-B3FF-8932D9B07E1D}"/>
              </a:ext>
            </a:extLst>
          </p:cNvPr>
          <p:cNvSpPr/>
          <p:nvPr/>
        </p:nvSpPr>
        <p:spPr>
          <a:xfrm>
            <a:off x="6629400" y="3414522"/>
            <a:ext cx="914400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e21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73651" y="2877915"/>
            <a:ext cx="413594" cy="6056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6311526" y="2841002"/>
            <a:ext cx="451785" cy="6425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81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e1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A81CAF-25EA-5F42-99FE-75445F1789BC}"/>
              </a:ext>
            </a:extLst>
          </p:cNvPr>
          <p:cNvSpPr/>
          <p:nvPr/>
        </p:nvSpPr>
        <p:spPr>
          <a:xfrm>
            <a:off x="3886200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9CC638E-2AA0-0345-BBBC-736C07CAA79D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4577507" y="4648200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闪电形 13">
            <a:extLst>
              <a:ext uri="{FF2B5EF4-FFF2-40B4-BE49-F238E27FC236}">
                <a16:creationId xmlns:a16="http://schemas.microsoft.com/office/drawing/2014/main" id="{A75AF1EB-E229-5D4F-A283-973552EA3430}"/>
              </a:ext>
            </a:extLst>
          </p:cNvPr>
          <p:cNvSpPr/>
          <p:nvPr/>
        </p:nvSpPr>
        <p:spPr>
          <a:xfrm>
            <a:off x="4648200" y="4114800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98A1AA5-219C-F149-9B5A-502F78F17EC5}"/>
              </a:ext>
            </a:extLst>
          </p:cNvPr>
          <p:cNvCxnSpPr>
            <a:cxnSpLocks/>
          </p:cNvCxnSpPr>
          <p:nvPr/>
        </p:nvCxnSpPr>
        <p:spPr>
          <a:xfrm flipH="1">
            <a:off x="4969895" y="3886200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2A51D4E-4363-834D-9F91-CF8E38D519AA}"/>
              </a:ext>
            </a:extLst>
          </p:cNvPr>
          <p:cNvSpPr/>
          <p:nvPr/>
        </p:nvSpPr>
        <p:spPr>
          <a:xfrm>
            <a:off x="518730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A94112A-048F-5946-9682-A9EDFEE75ADB}"/>
              </a:ext>
            </a:extLst>
          </p:cNvPr>
          <p:cNvCxnSpPr>
            <a:cxnSpLocks/>
          </p:cNvCxnSpPr>
          <p:nvPr/>
        </p:nvCxnSpPr>
        <p:spPr>
          <a:xfrm>
            <a:off x="5099893" y="4648200"/>
            <a:ext cx="271894" cy="413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367EEFFB-DCD1-F84C-945E-62EA139FF240}"/>
              </a:ext>
            </a:extLst>
          </p:cNvPr>
          <p:cNvSpPr/>
          <p:nvPr/>
        </p:nvSpPr>
        <p:spPr>
          <a:xfrm>
            <a:off x="6370212" y="5014722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A557CF5-5852-7047-9380-B34C51289926}"/>
              </a:ext>
            </a:extLst>
          </p:cNvPr>
          <p:cNvCxnSpPr>
            <a:cxnSpLocks/>
            <a:endCxn id="21" idx="7"/>
          </p:cNvCxnSpPr>
          <p:nvPr/>
        </p:nvCxnSpPr>
        <p:spPr>
          <a:xfrm flipH="1">
            <a:off x="7061519" y="4648200"/>
            <a:ext cx="299293" cy="43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闪电形 22">
            <a:extLst>
              <a:ext uri="{FF2B5EF4-FFF2-40B4-BE49-F238E27FC236}">
                <a16:creationId xmlns:a16="http://schemas.microsoft.com/office/drawing/2014/main" id="{D7BDDDF9-F7C6-DB46-A7C2-3ED679EDF07B}"/>
              </a:ext>
            </a:extLst>
          </p:cNvPr>
          <p:cNvSpPr/>
          <p:nvPr/>
        </p:nvSpPr>
        <p:spPr>
          <a:xfrm>
            <a:off x="7314155" y="4276708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E61C648C-C6E9-CD46-AD76-A12399D2521C}"/>
              </a:ext>
            </a:extLst>
          </p:cNvPr>
          <p:cNvCxnSpPr>
            <a:cxnSpLocks/>
          </p:cNvCxnSpPr>
          <p:nvPr/>
        </p:nvCxnSpPr>
        <p:spPr>
          <a:xfrm>
            <a:off x="7093603" y="3887540"/>
            <a:ext cx="211544" cy="370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5B479FEF-9640-194D-BBAC-7983109167CC}"/>
              </a:ext>
            </a:extLst>
          </p:cNvPr>
          <p:cNvSpPr/>
          <p:nvPr/>
        </p:nvSpPr>
        <p:spPr>
          <a:xfrm>
            <a:off x="7878948" y="5017696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B03921D-2365-2E43-ABD9-AC09B5D62D3D}"/>
              </a:ext>
            </a:extLst>
          </p:cNvPr>
          <p:cNvCxnSpPr>
            <a:cxnSpLocks/>
          </p:cNvCxnSpPr>
          <p:nvPr/>
        </p:nvCxnSpPr>
        <p:spPr>
          <a:xfrm>
            <a:off x="7695155" y="4676383"/>
            <a:ext cx="384388" cy="3722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92" y="2888543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/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19BFE4-BE67-D14E-8966-B94987A6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258" y="3816153"/>
                <a:ext cx="1203403" cy="369332"/>
              </a:xfrm>
              <a:prstGeom prst="rect">
                <a:avLst/>
              </a:prstGeom>
              <a:blipFill>
                <a:blip r:embed="rId3"/>
                <a:stretch>
                  <a:fillRect l="-4167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/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DE9DFF2-C6EF-F14D-8930-D5CFA78E4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65" y="3796100"/>
                <a:ext cx="1417691" cy="369332"/>
              </a:xfrm>
              <a:prstGeom prst="rect">
                <a:avLst/>
              </a:prstGeom>
              <a:blipFill>
                <a:blip r:embed="rId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E817423F-B00A-054E-8446-5B9B2E871BC0}"/>
              </a:ext>
            </a:extLst>
          </p:cNvPr>
          <p:cNvCxnSpPr>
            <a:cxnSpLocks/>
          </p:cNvCxnSpPr>
          <p:nvPr/>
        </p:nvCxnSpPr>
        <p:spPr>
          <a:xfrm>
            <a:off x="5307485" y="3897900"/>
            <a:ext cx="344553" cy="427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闪电形 34">
            <a:extLst>
              <a:ext uri="{FF2B5EF4-FFF2-40B4-BE49-F238E27FC236}">
                <a16:creationId xmlns:a16="http://schemas.microsoft.com/office/drawing/2014/main" id="{61398BDF-8A28-8144-AA6F-E1CF708D11BD}"/>
              </a:ext>
            </a:extLst>
          </p:cNvPr>
          <p:cNvSpPr/>
          <p:nvPr/>
        </p:nvSpPr>
        <p:spPr>
          <a:xfrm>
            <a:off x="5654604" y="4109346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C9597DE-725D-1240-A94F-1BDFF141DDFA}"/>
              </a:ext>
            </a:extLst>
          </p:cNvPr>
          <p:cNvCxnSpPr>
            <a:cxnSpLocks/>
          </p:cNvCxnSpPr>
          <p:nvPr/>
        </p:nvCxnSpPr>
        <p:spPr>
          <a:xfrm flipH="1">
            <a:off x="6760798" y="3852958"/>
            <a:ext cx="220028" cy="439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闪电形 37">
            <a:extLst>
              <a:ext uri="{FF2B5EF4-FFF2-40B4-BE49-F238E27FC236}">
                <a16:creationId xmlns:a16="http://schemas.microsoft.com/office/drawing/2014/main" id="{96B2BA0F-BA0E-1041-90F4-EC77B1826736}"/>
              </a:ext>
            </a:extLst>
          </p:cNvPr>
          <p:cNvSpPr/>
          <p:nvPr/>
        </p:nvSpPr>
        <p:spPr>
          <a:xfrm>
            <a:off x="6457521" y="4142983"/>
            <a:ext cx="381000" cy="53340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/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e21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90FFCB9-0499-8040-BF17-136D826FC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597" y="3974068"/>
                <a:ext cx="1203403" cy="369332"/>
              </a:xfrm>
              <a:prstGeom prst="rect">
                <a:avLst/>
              </a:prstGeom>
              <a:blipFill>
                <a:blip r:embed="rId5"/>
                <a:stretch>
                  <a:fillRect t="-6667" r="-208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/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e1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e11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71D5650-4EA4-A641-AB37-168B14F7F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29" y="3680268"/>
                <a:ext cx="1203403" cy="369332"/>
              </a:xfrm>
              <a:prstGeom prst="rect">
                <a:avLst/>
              </a:prstGeom>
              <a:blipFill>
                <a:blip r:embed="rId6"/>
                <a:stretch>
                  <a:fillRect l="-5263" t="-6667" r="-105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/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With nested ‘if’ statements of depth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N</a:t>
                </a:r>
                <a:r>
                  <a:rPr kumimoji="1" lang="en-US" altLang="zh-CN" dirty="0"/>
                  <a:t>, the number of possible paths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89E1323-992F-6F47-969E-0FBEC8A2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791200"/>
                <a:ext cx="4955065" cy="646331"/>
              </a:xfrm>
              <a:prstGeom prst="rect">
                <a:avLst/>
              </a:prstGeom>
              <a:blipFill>
                <a:blip r:embed="rId7"/>
                <a:stretch>
                  <a:fillRect l="-1023" t="-3922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17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 Environment modeling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lib()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if(e){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lib(n)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}else{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n-4;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1/x;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if(e)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52348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lib()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67438" y="2910078"/>
            <a:ext cx="416732" cy="458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31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...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6F0EB5-86BA-B740-8126-303CF863F19E}"/>
              </a:ext>
            </a:extLst>
          </p:cNvPr>
          <p:cNvSpPr txBox="1"/>
          <p:nvPr/>
        </p:nvSpPr>
        <p:spPr>
          <a:xfrm>
            <a:off x="4169998" y="4364779"/>
            <a:ext cx="47850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don’t</a:t>
            </a:r>
            <a:r>
              <a:rPr kumimoji="1" lang="zh-CN" altLang="en-US" dirty="0"/>
              <a:t> </a:t>
            </a:r>
            <a:r>
              <a:rPr kumimoji="1" lang="en-US" altLang="zh-CN" dirty="0"/>
              <a:t>establish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“lib()”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true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 symbolically.</a:t>
            </a:r>
          </a:p>
          <a:p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 concretely!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symbolic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library function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improve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precision!</a:t>
            </a:r>
          </a:p>
        </p:txBody>
      </p:sp>
    </p:spTree>
    <p:extLst>
      <p:ext uri="{BB962C8B-B14F-4D97-AF65-F5344CB8AC3E}">
        <p14:creationId xmlns:p14="http://schemas.microsoft.com/office/powerpoint/2010/main" val="141490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Recap: Solver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limitation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sample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if(m==y){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assert(…);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}else{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1;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7711026-C053-4649-A693-302DE3A71D19}"/>
              </a:ext>
            </a:extLst>
          </p:cNvPr>
          <p:cNvSpPr/>
          <p:nvPr/>
        </p:nvSpPr>
        <p:spPr>
          <a:xfrm>
            <a:off x="5592261" y="2438400"/>
            <a:ext cx="116853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m==y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8B10703-3303-AB4C-B3C6-E57135DCCD3B}"/>
              </a:ext>
            </a:extLst>
          </p:cNvPr>
          <p:cNvSpPr/>
          <p:nvPr/>
        </p:nvSpPr>
        <p:spPr>
          <a:xfrm>
            <a:off x="4739913" y="3299903"/>
            <a:ext cx="852348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61DF5BE-6E2D-5D4C-9AC1-1E544ED28970}"/>
              </a:ext>
            </a:extLst>
          </p:cNvPr>
          <p:cNvCxnSpPr>
            <a:cxnSpLocks/>
            <a:endCxn id="5" idx="7"/>
          </p:cNvCxnSpPr>
          <p:nvPr/>
        </p:nvCxnSpPr>
        <p:spPr>
          <a:xfrm flipH="1">
            <a:off x="5467438" y="2910078"/>
            <a:ext cx="416732" cy="458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830BFE5-3832-D740-A1C1-D75E8D54637E}"/>
              </a:ext>
            </a:extLst>
          </p:cNvPr>
          <p:cNvCxnSpPr>
            <a:cxnSpLocks/>
            <a:stCxn id="4" idx="5"/>
            <a:endCxn id="42" idx="1"/>
          </p:cNvCxnSpPr>
          <p:nvPr/>
        </p:nvCxnSpPr>
        <p:spPr>
          <a:xfrm>
            <a:off x="6589670" y="2841002"/>
            <a:ext cx="650673" cy="5806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0E44DE-0BAA-F04C-A2FF-9C4DC1932F25}"/>
              </a:ext>
            </a:extLst>
          </p:cNvPr>
          <p:cNvSpPr txBox="1"/>
          <p:nvPr/>
        </p:nvSpPr>
        <p:spPr>
          <a:xfrm>
            <a:off x="5280118" y="2930571"/>
            <a:ext cx="38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/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e</a:t>
                </a:r>
                <a:endParaRPr kumimoji="1"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56240FF-C7B4-094F-B010-FAA194EE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681" y="2877812"/>
                <a:ext cx="815882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7D1506A3-F2C4-1D43-8AFF-E1364CA65E78}"/>
              </a:ext>
            </a:extLst>
          </p:cNvPr>
          <p:cNvSpPr/>
          <p:nvPr/>
        </p:nvSpPr>
        <p:spPr>
          <a:xfrm>
            <a:off x="7121733" y="3352618"/>
            <a:ext cx="809917" cy="4716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...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6F0EB5-86BA-B740-8126-303CF863F19E}"/>
              </a:ext>
            </a:extLst>
          </p:cNvPr>
          <p:cNvSpPr txBox="1"/>
          <p:nvPr/>
        </p:nvSpPr>
        <p:spPr>
          <a:xfrm>
            <a:off x="4169998" y="4364779"/>
            <a:ext cx="4785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path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condition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is:</a:t>
            </a:r>
          </a:p>
          <a:p>
            <a:r>
              <a:rPr kumimoji="1" lang="en-US" altLang="zh-CN" dirty="0">
                <a:solidFill>
                  <a:srgbClr val="0432FF"/>
                </a:solidFill>
              </a:rPr>
              <a:t>x</a:t>
            </a:r>
            <a:r>
              <a:rPr kumimoji="1" lang="zh-CN" altLang="en-US" dirty="0">
                <a:solidFill>
                  <a:srgbClr val="0432FF"/>
                </a:solidFill>
              </a:rPr>
              <a:t>*</a:t>
            </a:r>
            <a:r>
              <a:rPr kumimoji="1" lang="en-US" altLang="zh-CN" dirty="0">
                <a:solidFill>
                  <a:srgbClr val="0432FF"/>
                </a:solidFill>
              </a:rPr>
              <a:t>x</a:t>
            </a:r>
            <a:r>
              <a:rPr kumimoji="1" lang="zh-CN" altLang="en-US" dirty="0">
                <a:solidFill>
                  <a:srgbClr val="0432FF"/>
                </a:solidFill>
              </a:rPr>
              <a:t>*</a:t>
            </a:r>
            <a:r>
              <a:rPr kumimoji="1" lang="en-US" altLang="zh-CN" dirty="0">
                <a:solidFill>
                  <a:srgbClr val="0432FF"/>
                </a:solidFill>
              </a:rPr>
              <a:t>x==y</a:t>
            </a:r>
          </a:p>
          <a:p>
            <a:r>
              <a:rPr kumimoji="1" lang="en-US" altLang="zh-CN" dirty="0"/>
              <a:t>Generally,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it’s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beyond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solvers.</a:t>
            </a:r>
          </a:p>
        </p:txBody>
      </p:sp>
    </p:spTree>
    <p:extLst>
      <p:ext uri="{BB962C8B-B14F-4D97-AF65-F5344CB8AC3E}">
        <p14:creationId xmlns:p14="http://schemas.microsoft.com/office/powerpoint/2010/main" val="154333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kumimoji="1" lang="en-US" altLang="zh-CN" dirty="0"/>
              <a:t>Concolic execution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0589D1D-F8BA-FC47-B2F5-834DB208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</a:rPr>
              <a:t>Concolic</a:t>
            </a:r>
            <a:r>
              <a:rPr lang="en-US" altLang="zh-CN" dirty="0"/>
              <a:t> = </a:t>
            </a:r>
            <a:r>
              <a:rPr lang="en-US" altLang="zh-CN" dirty="0">
                <a:solidFill>
                  <a:srgbClr val="0432FF"/>
                </a:solidFill>
              </a:rPr>
              <a:t>Conc</a:t>
            </a:r>
            <a:r>
              <a:rPr lang="en-US" altLang="zh-CN" dirty="0"/>
              <a:t>rete + symb</a:t>
            </a:r>
            <a:r>
              <a:rPr lang="en-US" altLang="zh-CN" dirty="0">
                <a:solidFill>
                  <a:srgbClr val="0432FF"/>
                </a:solidFill>
              </a:rPr>
              <a:t>olic</a:t>
            </a:r>
          </a:p>
          <a:p>
            <a:r>
              <a:rPr lang="en-US" altLang="zh-CN" dirty="0"/>
              <a:t>Initially developed around 2005:</a:t>
            </a:r>
          </a:p>
          <a:p>
            <a:pPr lvl="1"/>
            <a:r>
              <a:rPr lang="en-US" altLang="zh-CN" i="1" dirty="0"/>
              <a:t>DART: Directed Automated Random Testing</a:t>
            </a:r>
            <a:r>
              <a:rPr lang="en-US" altLang="zh-CN" dirty="0"/>
              <a:t>, by Patrice </a:t>
            </a:r>
            <a:r>
              <a:rPr lang="en-US" altLang="zh-CN" dirty="0" err="1"/>
              <a:t>Godefroid</a:t>
            </a:r>
            <a:r>
              <a:rPr lang="en-US" altLang="zh-CN" dirty="0"/>
              <a:t>; Nils </a:t>
            </a:r>
            <a:r>
              <a:rPr lang="en-US" altLang="zh-CN" dirty="0" err="1"/>
              <a:t>Klarlund</a:t>
            </a:r>
            <a:r>
              <a:rPr lang="en-US" altLang="zh-CN" dirty="0"/>
              <a:t>; Koushik Sen, 2005</a:t>
            </a:r>
          </a:p>
          <a:p>
            <a:pPr lvl="1"/>
            <a:r>
              <a:rPr lang="en-US" altLang="zh-CN" i="1" dirty="0"/>
              <a:t>CUTE: a </a:t>
            </a:r>
            <a:r>
              <a:rPr lang="en-US" altLang="zh-CN" i="1" dirty="0">
                <a:solidFill>
                  <a:srgbClr val="0432FF"/>
                </a:solidFill>
              </a:rPr>
              <a:t>concolic</a:t>
            </a:r>
            <a:r>
              <a:rPr lang="en-US" altLang="zh-CN" i="1" dirty="0"/>
              <a:t> unit testing engine for C</a:t>
            </a:r>
            <a:r>
              <a:rPr lang="en-US" altLang="zh-CN" dirty="0"/>
              <a:t>, by Koushik Sen; Darko </a:t>
            </a:r>
            <a:r>
              <a:rPr lang="en-US" altLang="zh-CN" dirty="0" err="1"/>
              <a:t>Marinov</a:t>
            </a:r>
            <a:r>
              <a:rPr lang="en-US" altLang="zh-CN" dirty="0"/>
              <a:t>; Gul Agha, 2005</a:t>
            </a:r>
          </a:p>
        </p:txBody>
      </p:sp>
    </p:spTree>
    <p:extLst>
      <p:ext uri="{BB962C8B-B14F-4D97-AF65-F5344CB8AC3E}">
        <p14:creationId xmlns:p14="http://schemas.microsoft.com/office/powerpoint/2010/main" val="30264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F974A-C3E5-564C-85A5-2F904945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508BC-8322-B943-9711-A9D5A8E37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Concolic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Execution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67627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Concolic execution is 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(and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flexible)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infrastructure for program testing</a:t>
            </a:r>
          </a:p>
          <a:p>
            <a:pPr lvl="1"/>
            <a:r>
              <a:rPr kumimoji="1" lang="en-US" altLang="zh-CN" dirty="0"/>
              <a:t>sacrifice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completeness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usability</a:t>
            </a:r>
          </a:p>
          <a:p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applications</a:t>
            </a:r>
          </a:p>
          <a:p>
            <a:pPr lvl="1"/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/>
              <a:t>improvements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46788</TotalTime>
  <Words>385</Words>
  <Application>Microsoft Macintosh PowerPoint</Application>
  <PresentationFormat>全屏显示(4:3)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Courier New</vt:lpstr>
      <vt:lpstr>Tahoma</vt:lpstr>
      <vt:lpstr>Wingdings</vt:lpstr>
      <vt:lpstr>Blends</vt:lpstr>
      <vt:lpstr>Concolic Execution</vt:lpstr>
      <vt:lpstr>Spectrum of program validation methods</vt:lpstr>
      <vt:lpstr>Recap: path explosion</vt:lpstr>
      <vt:lpstr>Recap: Environment modeling</vt:lpstr>
      <vt:lpstr>Recap: Solver limitation</vt:lpstr>
      <vt:lpstr>Concolic execution</vt:lpstr>
      <vt:lpstr>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5428</cp:revision>
  <cp:lastPrinted>1601-01-01T00:00:00Z</cp:lastPrinted>
  <dcterms:created xsi:type="dcterms:W3CDTF">1601-01-01T00:00:00Z</dcterms:created>
  <dcterms:modified xsi:type="dcterms:W3CDTF">2026-10-28T02:23:50Z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
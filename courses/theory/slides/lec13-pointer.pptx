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handoutMasterIdLst>
    <p:handoutMasterId r:id="rId28"/>
  </p:handoutMasterIdLst>
  <p:sldIdLst>
    <p:sldId id="256" r:id="rId2"/>
    <p:sldId id="363" r:id="rId3"/>
    <p:sldId id="375" r:id="rId4"/>
    <p:sldId id="455" r:id="rId5"/>
    <p:sldId id="321" r:id="rId6"/>
    <p:sldId id="456" r:id="rId7"/>
    <p:sldId id="457" r:id="rId8"/>
    <p:sldId id="463" r:id="rId9"/>
    <p:sldId id="323" r:id="rId10"/>
    <p:sldId id="442" r:id="rId11"/>
    <p:sldId id="459" r:id="rId12"/>
    <p:sldId id="458" r:id="rId13"/>
    <p:sldId id="460" r:id="rId14"/>
    <p:sldId id="461" r:id="rId15"/>
    <p:sldId id="462" r:id="rId16"/>
    <p:sldId id="443" r:id="rId17"/>
    <p:sldId id="431" r:id="rId18"/>
    <p:sldId id="439" r:id="rId19"/>
    <p:sldId id="464" r:id="rId20"/>
    <p:sldId id="444" r:id="rId21"/>
    <p:sldId id="465" r:id="rId22"/>
    <p:sldId id="466" r:id="rId23"/>
    <p:sldId id="467" r:id="rId24"/>
    <p:sldId id="468" r:id="rId25"/>
    <p:sldId id="469" r:id="rId26"/>
    <p:sldId id="424" r:id="rId27"/>
  </p:sldIdLst>
  <p:sldSz cx="9144000" cy="6858000" type="screen4x3"/>
  <p:notesSz cx="7099300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63"/>
    <p:restoredTop sz="94676"/>
  </p:normalViewPr>
  <p:slideViewPr>
    <p:cSldViewPr>
      <p:cViewPr varScale="1">
        <p:scale>
          <a:sx n="97" d="100"/>
          <a:sy n="97" d="100"/>
        </p:scale>
        <p:origin x="143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255887-7C20-5F40-88F5-DC07E00936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42A776-FF54-8D4A-8F1A-B5440D7A3E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DC290E11-1746-2A4C-A43A-EB9011E0C5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2245770-81F5-604C-B1AE-5A9406AD2B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9DFDCF0-3A25-1B44-957E-06E14821E8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63668DE-41B2-B840-8464-61D50D8F9AEF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DD8CABA-2308-F347-8A69-17F991D1D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BC90C53F-106A-594B-816F-FBBE09ED0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13A923C9-0DAE-5044-82AD-0E432BFFD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5FA28DE7-4EBE-E242-BE11-88C84DA4CA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5B07155-43D3-3342-B259-7727441EB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043667A-50D5-BD4A-899F-BACBE537B6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26AC772-E99A-4F46-A0AF-BDC88C893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95ED622E-E2EB-AE47-84DA-22CE8CA45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51262C24-48BF-CD4C-937E-331BF8501E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2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2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43F62A85-0DF1-9F4C-B6E2-275D231055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25E5B91A-4C02-F247-8E23-8E414AB52C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893DA04-B417-5246-8AE0-91F0B6564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A8B626B-81AA-F040-92F0-D02736E321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041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4AC7456-85F6-DD40-81C0-4C8BD0E9F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BAB3D1D-BE10-304F-BEFE-012D6E790D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0A960C3-CA72-8540-A7D0-1A6E75F0E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748D9-7FA6-E441-821E-F3F88EC4F9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831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4C5B8B4-B421-6040-879F-D3D697BB72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7543519-18B0-7740-8051-46BAC5573B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D3F58C5-102C-E640-8D6D-6542CFC35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B18E6-536B-3E49-87F7-F67360CCFA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986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67775B8-8071-4E41-AB03-00486E0A22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56D8A38-D3FC-AD48-8316-038FB054F0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CB84722-1E49-9E4D-836F-D732E94C27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FD8DE-E3EB-EA4E-8EE7-F04FE4665C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975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FB82EF0-DDD0-6B4A-867E-3E6388D616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7BFB65D6-F186-3C48-B54B-497EC9B384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2702551-92CD-8D4E-9A9F-51CB64BE93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CA741-66C6-D343-8412-89FF6A0F853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899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7F0065C-425F-FA4C-B6C4-FD2068F544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7C70384-6A7F-504B-9F2A-1F5CFAAD2D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C95F566-FAE0-7049-8CC7-F3FD41973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18140-2A5D-0E44-BF65-E264B2E441B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610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F7FBCE8-7588-F049-A140-AC6ECEEBA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9EDEB25C-C69B-AF49-92C5-20DDF64A0C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7ADDEEE-A7A1-C54E-B356-0D31023DC8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883DD-3DDB-6A4B-AF53-C06217DC1C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811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951196D-4FBC-5244-AE77-A0DCBCE7B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6B8D535-A7F6-6245-AF7C-3991555EBB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00E33DC-CFB4-6940-9A06-5E57391842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99AE6-659C-DD4F-AB55-9243AB0876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134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641F442-FF5A-3E4F-B7E3-4F3B309167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4BF4FC7-F279-814B-BE9E-21CEA875BC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FDFF4A7-138E-6343-9081-AB08C74441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B066F-829B-004C-A374-751C561188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536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D26FD10-20F2-BE4B-A198-B567EEE34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95028F1-A44A-2647-AF6B-29B329952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DE85904-D501-6C46-A2AD-9CA56C67E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6E24A-3567-904B-B86C-E4AE21B6ED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6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C5833C8-4BDB-0F44-8B0D-35498B254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89FF3E9-C35F-4E4B-8AF3-3BAD855509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E5996E1-CC22-3945-A3BF-28E3C78E72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B2DC2-6B55-5E4C-8395-621F8054D6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94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8F330B-6D69-3B48-94AA-84D980473E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0019EAC-5FB6-7F49-82BE-B9C6E565D1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7743FD-0EAE-AE43-B059-5C59C205ED2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C3DD9A-EB2E-6F4B-B2C1-287B25CFF3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536DE4-E734-8D4C-93F9-1098F8D02B9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863680-FD48-694E-A03B-D9033B0DA8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170802E-96C7-5A40-9A9A-95EE098C83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B107CC5-4F23-7840-9D8C-A91D6DEA2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E065584-58F1-DF49-988D-E4179129D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BEFFB746-8CD7-AA4A-B6F9-332BF01617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986FEBD8-864A-0B4D-B3B2-0C180D3B82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EC76A7F-43CA-B94D-8105-DC195EBDA5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CB83518-65C2-094A-AFB7-B5D18B682B4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8841FBB-64FC-1C4F-8167-C680F3EB33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Pointer programs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86FDA178-BD90-9A42-AB11-13E8D0C9766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Formal Methods Foundation</a:t>
            </a:r>
          </a:p>
          <a:p>
            <a:pPr eaLnBrk="1" hangingPunct="1"/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pPr eaLnBrk="1" hangingPunct="1"/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satisfiable?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D712CA45-932C-BB46-996E-30627C40C7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4880094"/>
                  </p:ext>
                </p:extLst>
              </p:nvPr>
            </p:nvGraphicFramePr>
            <p:xfrm>
              <a:off x="457200" y="2743200"/>
              <a:ext cx="8229600" cy="32992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81400">
                      <a:extLst>
                        <a:ext uri="{9D8B030D-6E8A-4147-A177-3AD203B41FA5}">
                          <a16:colId xmlns:a16="http://schemas.microsoft.com/office/drawing/2014/main" val="1936370681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2482145296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708472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Proposition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Satisfiable?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theory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9974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zh-CN" alt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oMath>
                          </a14:m>
                          <a:r>
                            <a:rPr kumimoji="1"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/>
                            <a:t>Unsat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Equality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501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1" lang="en-US" altLang="zh-CN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kumimoji="1" lang="en-US" altLang="zh-CN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zh-CN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kumimoji="1" lang="zh-CN" alt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kumimoji="1" lang="zh-CN" alt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  <m:r>
                                  <a:rPr kumimoji="1" lang="en-US" altLang="zh-CN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kumimoji="1" lang="en-US" altLang="zh-CN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1" lang="en-US" altLang="zh-CN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Uninterpreted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functions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12315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kumimoji="1" lang="en-US" altLang="zh-CN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=0.5</m:t>
                                        </m:r>
                                      </m:e>
                                      <m:e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kumimoji="1" lang="en-US" altLang="zh-CN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=0.3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kumimoji="1" lang="en-US" altLang="zh-CN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r>
                            <a:rPr lang="zh-CN" altLang="en-US" dirty="0"/>
                            <a:t>   </a:t>
                          </a:r>
                          <a:r>
                            <a:rPr lang="en-US" altLang="zh-CN" dirty="0"/>
                            <a:t>(if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x,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y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</m:oMath>
                          </a14:m>
                          <a:r>
                            <a:rPr lang="en-US" altLang="zh-CN" dirty="0"/>
                            <a:t>RA)</a:t>
                          </a:r>
                        </a:p>
                        <a:p>
                          <a:r>
                            <a:rPr lang="en-US" altLang="zh-CN" dirty="0" err="1"/>
                            <a:t>Unsat</a:t>
                          </a:r>
                          <a:r>
                            <a:rPr lang="zh-CN" altLang="en-US" dirty="0"/>
                            <a:t>  </a:t>
                          </a:r>
                          <a:r>
                            <a:rPr lang="en-US" altLang="zh-CN" dirty="0"/>
                            <a:t>(if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x,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y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</m:oMath>
                          </a14:m>
                          <a:r>
                            <a:rPr lang="en-US" altLang="zh-CN" dirty="0" err="1"/>
                            <a:t>Z</a:t>
                          </a:r>
                          <a:r>
                            <a:rPr lang="en-US" altLang="zh-CN" dirty="0"/>
                            <a:t>)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Linear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arithmetic</a:t>
                          </a:r>
                        </a:p>
                        <a:p>
                          <a:endParaRPr lang="en-US" altLang="zh-C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1269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kumimoji="1"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Bit vectors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87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]!=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kumimoji="1"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/>
                            <a:t>Unsat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Array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7852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zh-CN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zh-CN" altLang="en-US" i="1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1=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zh-CN" altLang="en-US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∷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1=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∷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kumimoji="1" lang="zh-CN" altLang="en-US" dirty="0"/>
                            <a:t> 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List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6147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…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…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17326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D712CA45-932C-BB46-996E-30627C40C7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4880094"/>
                  </p:ext>
                </p:extLst>
              </p:nvPr>
            </p:nvGraphicFramePr>
            <p:xfrm>
              <a:off x="457200" y="2743200"/>
              <a:ext cx="8229600" cy="329920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81400">
                      <a:extLst>
                        <a:ext uri="{9D8B030D-6E8A-4147-A177-3AD203B41FA5}">
                          <a16:colId xmlns:a16="http://schemas.microsoft.com/office/drawing/2014/main" val="1936370681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2482145296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3708472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Proposition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Satisfiable?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solidFill>
                                <a:schemeClr val="tx1"/>
                              </a:solidFill>
                            </a:rPr>
                            <a:t>theory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99974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175862" r="-130851" b="-7827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/>
                            <a:t>Unsat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Equality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45013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266667" r="-130851" b="-65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Uninterpreted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functions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01231503"/>
                      </a:ext>
                    </a:extLst>
                  </a:tr>
                  <a:tr h="70332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200000" r="-130851" b="-25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88667" t="-200000" r="-146000" b="-25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Linear</a:t>
                          </a:r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dirty="0"/>
                            <a:t>arithmetic</a:t>
                          </a:r>
                        </a:p>
                        <a:p>
                          <a:endParaRPr lang="en-US" altLang="zh-C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12698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568966" r="-130851" b="-38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Bit vectors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877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646667" r="-130851" b="-27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/>
                            <a:t>Unsat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Array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7852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355" t="-772414" r="-130851" b="-186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SAT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List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61477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/>
                            <a:t>…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…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…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173262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780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Satisfiability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modulo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(SMT)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8986919-D5F5-084E-BBD2-C0A60A5A373E}"/>
              </a:ext>
            </a:extLst>
          </p:cNvPr>
          <p:cNvGrpSpPr/>
          <p:nvPr/>
        </p:nvGrpSpPr>
        <p:grpSpPr>
          <a:xfrm>
            <a:off x="255453" y="2466516"/>
            <a:ext cx="1924967" cy="1924967"/>
            <a:chOff x="1452" y="2115996"/>
            <a:chExt cx="1924967" cy="1924967"/>
          </a:xfrm>
          <a:scene3d>
            <a:camera prst="orthographicFront"/>
            <a:lightRig rig="flat" dir="t"/>
          </a:scene3d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F58262D-F21C-3048-B817-DF0CDBF3E9AA}"/>
                </a:ext>
              </a:extLst>
            </p:cNvPr>
            <p:cNvSpPr/>
            <p:nvPr/>
          </p:nvSpPr>
          <p:spPr>
            <a:xfrm>
              <a:off x="1452" y="2115996"/>
              <a:ext cx="1924967" cy="1924967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椭圆 4">
              <a:extLst>
                <a:ext uri="{FF2B5EF4-FFF2-40B4-BE49-F238E27FC236}">
                  <a16:creationId xmlns:a16="http://schemas.microsoft.com/office/drawing/2014/main" id="{B9C6E068-C7EC-C740-848C-35B46D0A2460}"/>
                </a:ext>
              </a:extLst>
            </p:cNvPr>
            <p:cNvSpPr txBox="1"/>
            <p:nvPr/>
          </p:nvSpPr>
          <p:spPr>
            <a:xfrm>
              <a:off x="283357" y="2397901"/>
              <a:ext cx="1361157" cy="136115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3180" tIns="43180" rIns="43180" bIns="43180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400" kern="1200" dirty="0"/>
                <a:t>SAT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692E68A-CFDB-BD40-8428-9DC5075115B1}"/>
              </a:ext>
            </a:extLst>
          </p:cNvPr>
          <p:cNvGrpSpPr/>
          <p:nvPr/>
        </p:nvGrpSpPr>
        <p:grpSpPr>
          <a:xfrm>
            <a:off x="2336728" y="2870759"/>
            <a:ext cx="1116481" cy="1116481"/>
            <a:chOff x="2082727" y="2520239"/>
            <a:chExt cx="1116481" cy="1116481"/>
          </a:xfrm>
          <a:scene3d>
            <a:camera prst="orthographicFront"/>
            <a:lightRig rig="flat" dir="t"/>
          </a:scene3d>
        </p:grpSpPr>
        <p:sp>
          <p:nvSpPr>
            <p:cNvPr id="18" name="加号 17">
              <a:extLst>
                <a:ext uri="{FF2B5EF4-FFF2-40B4-BE49-F238E27FC236}">
                  <a16:creationId xmlns:a16="http://schemas.microsoft.com/office/drawing/2014/main" id="{F6D270F0-5E66-5649-8C83-651840A7B236}"/>
                </a:ext>
              </a:extLst>
            </p:cNvPr>
            <p:cNvSpPr/>
            <p:nvPr/>
          </p:nvSpPr>
          <p:spPr>
            <a:xfrm>
              <a:off x="2082727" y="2520239"/>
              <a:ext cx="1116481" cy="1116481"/>
            </a:xfrm>
            <a:prstGeom prst="mathPlus">
              <a:avLst/>
            </a:prstGeom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加号 6">
              <a:extLst>
                <a:ext uri="{FF2B5EF4-FFF2-40B4-BE49-F238E27FC236}">
                  <a16:creationId xmlns:a16="http://schemas.microsoft.com/office/drawing/2014/main" id="{5C2DFC29-8636-2D43-8220-FD6C5F0A8FE6}"/>
                </a:ext>
              </a:extLst>
            </p:cNvPr>
            <p:cNvSpPr txBox="1"/>
            <p:nvPr/>
          </p:nvSpPr>
          <p:spPr>
            <a:xfrm>
              <a:off x="2230717" y="2947181"/>
              <a:ext cx="820501" cy="262597"/>
            </a:xfrm>
            <a:prstGeom prst="rect">
              <a:avLst/>
            </a:prstGeom>
            <a:sp3d z="-8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800" kern="120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5375029-C810-F547-9705-33E16DA8990A}"/>
              </a:ext>
            </a:extLst>
          </p:cNvPr>
          <p:cNvGrpSpPr/>
          <p:nvPr/>
        </p:nvGrpSpPr>
        <p:grpSpPr>
          <a:xfrm>
            <a:off x="3609517" y="2466516"/>
            <a:ext cx="1924967" cy="1924967"/>
            <a:chOff x="3355516" y="2115996"/>
            <a:chExt cx="1924967" cy="1924967"/>
          </a:xfrm>
          <a:scene3d>
            <a:camera prst="orthographicFront"/>
            <a:lightRig rig="flat" dir="t"/>
          </a:scene3d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1158FAC-2CA7-BA4C-A35A-FAB8CF3504D6}"/>
                </a:ext>
              </a:extLst>
            </p:cNvPr>
            <p:cNvSpPr/>
            <p:nvPr/>
          </p:nvSpPr>
          <p:spPr>
            <a:xfrm>
              <a:off x="3355516" y="2115996"/>
              <a:ext cx="1924967" cy="1924967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2340759"/>
                <a:satOff val="-2919"/>
                <a:lumOff val="686"/>
                <a:alphaOff val="0"/>
              </a:schemeClr>
            </a:fillRef>
            <a:effectRef idx="2">
              <a:schemeClr val="accent2">
                <a:hueOff val="2340759"/>
                <a:satOff val="-2919"/>
                <a:lumOff val="686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椭圆 8">
              <a:extLst>
                <a:ext uri="{FF2B5EF4-FFF2-40B4-BE49-F238E27FC236}">
                  <a16:creationId xmlns:a16="http://schemas.microsoft.com/office/drawing/2014/main" id="{C4E38546-0802-6141-94F8-3DD25727EDF0}"/>
                </a:ext>
              </a:extLst>
            </p:cNvPr>
            <p:cNvSpPr txBox="1"/>
            <p:nvPr/>
          </p:nvSpPr>
          <p:spPr>
            <a:xfrm>
              <a:off x="3637421" y="2397901"/>
              <a:ext cx="1361157" cy="136115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3180" tIns="43180" rIns="43180" bIns="43180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/>
                <a:t>Theory</a:t>
              </a:r>
            </a:p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/>
                <a:t>Solvers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7B8DEBF-35A5-3A41-A993-E0753EDA3235}"/>
              </a:ext>
            </a:extLst>
          </p:cNvPr>
          <p:cNvGrpSpPr/>
          <p:nvPr/>
        </p:nvGrpSpPr>
        <p:grpSpPr>
          <a:xfrm>
            <a:off x="5690792" y="2870759"/>
            <a:ext cx="1116481" cy="1116481"/>
            <a:chOff x="5436791" y="2520239"/>
            <a:chExt cx="1116481" cy="1116481"/>
          </a:xfrm>
          <a:scene3d>
            <a:camera prst="orthographicFront"/>
            <a:lightRig rig="flat" dir="t"/>
          </a:scene3d>
        </p:grpSpPr>
        <p:sp>
          <p:nvSpPr>
            <p:cNvPr id="14" name="等于 13">
              <a:extLst>
                <a:ext uri="{FF2B5EF4-FFF2-40B4-BE49-F238E27FC236}">
                  <a16:creationId xmlns:a16="http://schemas.microsoft.com/office/drawing/2014/main" id="{E28E4ECC-0E6E-184A-BD1F-C9EE32296AE3}"/>
                </a:ext>
              </a:extLst>
            </p:cNvPr>
            <p:cNvSpPr/>
            <p:nvPr/>
          </p:nvSpPr>
          <p:spPr>
            <a:xfrm>
              <a:off x="5436791" y="2520239"/>
              <a:ext cx="1116481" cy="1116481"/>
            </a:xfrm>
            <a:prstGeom prst="mathEqual">
              <a:avLst/>
            </a:prstGeom>
            <a:sp3d z="-80000" prstMaterial="plastic">
              <a:bevelT w="50800" h="50800"/>
              <a:bevelB w="25400" h="2540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4681519"/>
                <a:satOff val="-5839"/>
                <a:lumOff val="1373"/>
                <a:alphaOff val="0"/>
              </a:schemeClr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等于 10">
              <a:extLst>
                <a:ext uri="{FF2B5EF4-FFF2-40B4-BE49-F238E27FC236}">
                  <a16:creationId xmlns:a16="http://schemas.microsoft.com/office/drawing/2014/main" id="{A0385D88-A7D1-8446-88AE-BAD5DD7A396C}"/>
                </a:ext>
              </a:extLst>
            </p:cNvPr>
            <p:cNvSpPr txBox="1"/>
            <p:nvPr/>
          </p:nvSpPr>
          <p:spPr>
            <a:xfrm>
              <a:off x="5584781" y="2750234"/>
              <a:ext cx="820501" cy="656491"/>
            </a:xfrm>
            <a:prstGeom prst="rect">
              <a:avLst/>
            </a:prstGeom>
            <a:sp3d z="-800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4700" kern="120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104B990-A264-2F47-AA14-AB77F0E7E9BF}"/>
              </a:ext>
            </a:extLst>
          </p:cNvPr>
          <p:cNvGrpSpPr/>
          <p:nvPr/>
        </p:nvGrpSpPr>
        <p:grpSpPr>
          <a:xfrm>
            <a:off x="6963580" y="2466516"/>
            <a:ext cx="1924967" cy="1924967"/>
            <a:chOff x="6709579" y="2115996"/>
            <a:chExt cx="1924967" cy="1924967"/>
          </a:xfrm>
          <a:scene3d>
            <a:camera prst="orthographicFront"/>
            <a:lightRig rig="flat" dir="t"/>
          </a:scene3d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3A3184D0-7708-2743-9B2E-606F6CAAE1D5}"/>
                </a:ext>
              </a:extLst>
            </p:cNvPr>
            <p:cNvSpPr/>
            <p:nvPr/>
          </p:nvSpPr>
          <p:spPr>
            <a:xfrm>
              <a:off x="6709579" y="2115996"/>
              <a:ext cx="1924967" cy="1924967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4681519"/>
                <a:satOff val="-5839"/>
                <a:lumOff val="1373"/>
                <a:alphaOff val="0"/>
              </a:schemeClr>
            </a:fillRef>
            <a:effectRef idx="2">
              <a:schemeClr val="accent2">
                <a:hueOff val="4681519"/>
                <a:satOff val="-5839"/>
                <a:lumOff val="137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384DAC0-F0DA-184C-8557-5413A0F6716B}"/>
                </a:ext>
              </a:extLst>
            </p:cNvPr>
            <p:cNvSpPr txBox="1"/>
            <p:nvPr/>
          </p:nvSpPr>
          <p:spPr>
            <a:xfrm>
              <a:off x="6991484" y="2397901"/>
              <a:ext cx="1361157" cy="136115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3180" tIns="43180" rIns="43180" bIns="43180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3400" kern="1200" dirty="0"/>
                <a:t>SMT</a:t>
              </a:r>
            </a:p>
          </p:txBody>
        </p:sp>
      </p:grp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C811247D-5EDD-9841-8855-4B2DCB5A65AD}"/>
              </a:ext>
            </a:extLst>
          </p:cNvPr>
          <p:cNvSpPr txBox="1">
            <a:spLocks/>
          </p:cNvSpPr>
          <p:nvPr/>
        </p:nvSpPr>
        <p:spPr>
          <a:xfrm>
            <a:off x="3407397" y="4625775"/>
            <a:ext cx="2986088" cy="2003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4954" indent="-384954" defTabSz="914363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2"/>
              </a:buBlip>
              <a:defRPr/>
            </a:pPr>
            <a:r>
              <a:rPr lang="en-US" sz="3100" dirty="0">
                <a:solidFill>
                  <a:prstClr val="black"/>
                </a:solidFill>
                <a:sym typeface="Symbol"/>
              </a:rPr>
              <a:t>Equality + UF</a:t>
            </a:r>
          </a:p>
          <a:p>
            <a:pPr marL="384954" indent="-384954" defTabSz="914363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2"/>
              </a:buBlip>
              <a:defRPr/>
            </a:pPr>
            <a:r>
              <a:rPr lang="en-US" sz="3100" dirty="0">
                <a:solidFill>
                  <a:prstClr val="black"/>
                </a:solidFill>
                <a:sym typeface="Symbol"/>
              </a:rPr>
              <a:t>Arithmetic</a:t>
            </a:r>
          </a:p>
          <a:p>
            <a:pPr marL="384954" indent="-384954" defTabSz="914363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2"/>
              </a:buBlip>
              <a:defRPr/>
            </a:pPr>
            <a:r>
              <a:rPr lang="en-US" sz="3100" dirty="0">
                <a:solidFill>
                  <a:prstClr val="black"/>
                </a:solidFill>
                <a:sym typeface="Symbol"/>
              </a:rPr>
              <a:t>Bit-vectors</a:t>
            </a:r>
          </a:p>
          <a:p>
            <a:pPr marL="384954" indent="-384954" defTabSz="914363">
              <a:lnSpc>
                <a:spcPct val="90000"/>
              </a:lnSpc>
              <a:spcBef>
                <a:spcPct val="20000"/>
              </a:spcBef>
              <a:buSzPct val="90000"/>
              <a:buFontTx/>
              <a:buBlip>
                <a:blip r:embed="rId2"/>
              </a:buBlip>
              <a:defRPr/>
            </a:pPr>
            <a:r>
              <a:rPr lang="en-US" sz="3100" dirty="0">
                <a:solidFill>
                  <a:prstClr val="black"/>
                </a:solidFill>
                <a:sym typeface="Symbol"/>
              </a:rPr>
              <a:t>…</a:t>
            </a:r>
            <a:endParaRPr lang="en-US" sz="33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026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23C41-91FA-FB4F-8A76-DE12BCB89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12D191-0F4B-B649-90A8-E64997D05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Pointers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feature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nearly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languages</a:t>
            </a:r>
          </a:p>
          <a:p>
            <a:pPr lvl="1"/>
            <a:r>
              <a:rPr kumimoji="1" lang="en-US" altLang="zh-CN" dirty="0"/>
              <a:t>Some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called</a:t>
            </a:r>
            <a:r>
              <a:rPr kumimoji="1" lang="zh-CN" altLang="en-US" dirty="0"/>
              <a:t> </a:t>
            </a:r>
            <a:r>
              <a:rPr kumimoji="1" lang="en-US" altLang="zh-CN" dirty="0"/>
              <a:t>references,</a:t>
            </a:r>
            <a:r>
              <a:rPr kumimoji="1" lang="zh-CN" altLang="en-US" dirty="0"/>
              <a:t> </a:t>
            </a:r>
            <a:r>
              <a:rPr kumimoji="1" lang="en-US" altLang="zh-CN" dirty="0"/>
              <a:t>handles,</a:t>
            </a:r>
            <a:r>
              <a:rPr kumimoji="1" lang="zh-CN" altLang="en-US" dirty="0"/>
              <a:t> </a:t>
            </a:r>
            <a:r>
              <a:rPr kumimoji="1" lang="en-US" altLang="zh-CN" dirty="0"/>
              <a:t>etc..</a:t>
            </a:r>
          </a:p>
          <a:p>
            <a:r>
              <a:rPr kumimoji="1" lang="en-US" altLang="zh-CN" dirty="0"/>
              <a:t>But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subtle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reason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about</a:t>
            </a:r>
          </a:p>
          <a:p>
            <a:pPr lvl="1"/>
            <a:r>
              <a:rPr kumimoji="1" lang="en-US" altLang="zh-CN" dirty="0"/>
              <a:t>Improper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introduces</a:t>
            </a:r>
            <a:r>
              <a:rPr kumimoji="1" lang="zh-CN" altLang="en-US" dirty="0"/>
              <a:t> </a:t>
            </a:r>
            <a:r>
              <a:rPr kumimoji="1" lang="en-US" altLang="zh-CN" dirty="0"/>
              <a:t>subtle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bugs</a:t>
            </a:r>
          </a:p>
          <a:p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lecture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reason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pointers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2476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subtle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bug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#1: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dangling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reference: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p,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88;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subtle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bug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#2: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pointer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alias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free(q);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88;</a:t>
            </a:r>
          </a:p>
          <a:p>
            <a:pPr marL="0" indent="0">
              <a:buNone/>
            </a:pPr>
            <a:endParaRPr kumimoji="1" lang="en-US" altLang="zh-CN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subtle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bug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#3: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free(p);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free(q);</a:t>
            </a:r>
          </a:p>
        </p:txBody>
      </p:sp>
    </p:spTree>
    <p:extLst>
      <p:ext uri="{BB962C8B-B14F-4D97-AF65-F5344CB8AC3E}">
        <p14:creationId xmlns:p14="http://schemas.microsoft.com/office/powerpoint/2010/main" val="539919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FB077-6FDB-3B48-BA07-3AA87E09D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8F0B7B-5712-E048-BC39-52BC0D0A6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flat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infinite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</a:t>
            </a:r>
          </a:p>
          <a:p>
            <a:pPr lvl="1"/>
            <a:r>
              <a:rPr kumimoji="1" lang="en-US" altLang="zh-CN" dirty="0"/>
              <a:t>Byte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addressable</a:t>
            </a:r>
          </a:p>
          <a:p>
            <a:pPr lvl="1"/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object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finite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dedicated</a:t>
            </a:r>
            <a:r>
              <a:rPr kumimoji="1" lang="zh-CN" altLang="en-US"/>
              <a:t> </a:t>
            </a:r>
            <a:r>
              <a:rPr kumimoji="1" lang="en-US" altLang="zh-CN"/>
              <a:t>size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Address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addressable</a:t>
            </a:r>
          </a:p>
          <a:p>
            <a:pPr lvl="1"/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just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</a:t>
            </a:r>
          </a:p>
          <a:p>
            <a:r>
              <a:rPr kumimoji="1" lang="en-US" altLang="zh-CN" dirty="0"/>
              <a:t>Essentially,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C/C++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9336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FB077-6FDB-3B48-BA07-3AA87E09D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28F0B7B-5712-E048-BC39-52BC0D0A63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The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memory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model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consists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of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 store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S</a:t>
                </a:r>
                <a:r>
                  <a:rPr kumimoji="1" lang="en-US" altLang="zh-CN" dirty="0"/>
                  <a:t> and a heap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H</a:t>
                </a:r>
              </a:p>
              <a:p>
                <a:pPr lvl="1"/>
                <a:r>
                  <a:rPr kumimoji="1" lang="en-US" altLang="zh-CN" dirty="0">
                    <a:solidFill>
                      <a:srgbClr val="0432FF"/>
                    </a:solidFill>
                  </a:rPr>
                  <a:t>S: x</a:t>
                </a:r>
                <a14:m>
                  <m:oMath xmlns:m="http://schemas.openxmlformats.org/officeDocument/2006/math">
                    <m:r>
                      <a:rPr kumimoji="1" lang="en-US" altLang="zh-CN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a</a:t>
                </a:r>
                <a:r>
                  <a:rPr kumimoji="1" lang="en-US" altLang="zh-CN" dirty="0"/>
                  <a:t>, maps a variable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x</a:t>
                </a:r>
                <a:r>
                  <a:rPr kumimoji="1" lang="en-US" altLang="zh-CN" dirty="0"/>
                  <a:t> to its address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a</a:t>
                </a:r>
              </a:p>
              <a:p>
                <a:pPr lvl="1"/>
                <a:r>
                  <a:rPr kumimoji="1" lang="en-US" altLang="zh-CN" dirty="0">
                    <a:solidFill>
                      <a:srgbClr val="0432FF"/>
                    </a:solidFill>
                  </a:rPr>
                  <a:t>H: a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v</a:t>
                </a:r>
                <a:r>
                  <a:rPr kumimoji="1" lang="en-US" altLang="zh-CN" dirty="0"/>
                  <a:t>, maps an address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a</a:t>
                </a:r>
                <a:r>
                  <a:rPr kumimoji="1" lang="en-US" altLang="zh-CN" dirty="0"/>
                  <a:t> to a value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v</a:t>
                </a:r>
                <a:endParaRPr kumimoji="1" lang="zh-CN" alt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28F0B7B-5712-E048-BC39-52BC0D0A6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1846" r="-16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椭圆 3">
            <a:extLst>
              <a:ext uri="{FF2B5EF4-FFF2-40B4-BE49-F238E27FC236}">
                <a16:creationId xmlns:a16="http://schemas.microsoft.com/office/drawing/2014/main" id="{BFACF588-2964-1144-BE18-1248F4E79C7B}"/>
              </a:ext>
            </a:extLst>
          </p:cNvPr>
          <p:cNvSpPr/>
          <p:nvPr/>
        </p:nvSpPr>
        <p:spPr>
          <a:xfrm>
            <a:off x="2743200" y="4343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4A39CFC-E6F2-1C4D-805A-738535CA0F78}"/>
              </a:ext>
            </a:extLst>
          </p:cNvPr>
          <p:cNvSpPr/>
          <p:nvPr/>
        </p:nvSpPr>
        <p:spPr>
          <a:xfrm>
            <a:off x="2743200" y="49530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4A59696-0086-004C-B9CE-815042894FF9}"/>
              </a:ext>
            </a:extLst>
          </p:cNvPr>
          <p:cNvSpPr/>
          <p:nvPr/>
        </p:nvSpPr>
        <p:spPr>
          <a:xfrm>
            <a:off x="2743200" y="55626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87CC8E0-6591-1B4A-ABAA-1ABBF17D5312}"/>
              </a:ext>
            </a:extLst>
          </p:cNvPr>
          <p:cNvSpPr/>
          <p:nvPr/>
        </p:nvSpPr>
        <p:spPr>
          <a:xfrm>
            <a:off x="2743200" y="61722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q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B13A55-0676-6740-8F08-FB7D15808AFD}"/>
              </a:ext>
            </a:extLst>
          </p:cNvPr>
          <p:cNvSpPr/>
          <p:nvPr/>
        </p:nvSpPr>
        <p:spPr>
          <a:xfrm>
            <a:off x="4267200" y="4343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236D39-211E-FD4B-98E7-CBBFC96474B1}"/>
              </a:ext>
            </a:extLst>
          </p:cNvPr>
          <p:cNvSpPr/>
          <p:nvPr/>
        </p:nvSpPr>
        <p:spPr>
          <a:xfrm>
            <a:off x="4267200" y="4724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88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38F31F-F8A5-694A-9A36-D7F29D9D37BF}"/>
              </a:ext>
            </a:extLst>
          </p:cNvPr>
          <p:cNvSpPr/>
          <p:nvPr/>
        </p:nvSpPr>
        <p:spPr>
          <a:xfrm>
            <a:off x="4267200" y="5105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99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A1A20F-F3E5-424E-84A4-ABA7A422EBFB}"/>
              </a:ext>
            </a:extLst>
          </p:cNvPr>
          <p:cNvSpPr/>
          <p:nvPr/>
        </p:nvSpPr>
        <p:spPr>
          <a:xfrm>
            <a:off x="4267200" y="5486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1149BC-48EE-2A49-A3D3-7EB5D4713799}"/>
              </a:ext>
            </a:extLst>
          </p:cNvPr>
          <p:cNvSpPr/>
          <p:nvPr/>
        </p:nvSpPr>
        <p:spPr>
          <a:xfrm>
            <a:off x="4267200" y="5867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C2438-7ADA-E84F-A770-55569DBAB505}"/>
              </a:ext>
            </a:extLst>
          </p:cNvPr>
          <p:cNvSpPr/>
          <p:nvPr/>
        </p:nvSpPr>
        <p:spPr>
          <a:xfrm>
            <a:off x="4267200" y="6248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B8D6CC9E-2143-A84B-BEF2-9DC6E74B196B}"/>
              </a:ext>
            </a:extLst>
          </p:cNvPr>
          <p:cNvCxnSpPr>
            <a:stCxn id="4" idx="6"/>
            <a:endCxn id="9" idx="1"/>
          </p:cNvCxnSpPr>
          <p:nvPr/>
        </p:nvCxnSpPr>
        <p:spPr>
          <a:xfrm>
            <a:off x="3124200" y="4533900"/>
            <a:ext cx="11430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2E36A0A0-B9CD-0A48-94C3-E3212FF108D1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124200" y="5161757"/>
            <a:ext cx="1143000" cy="134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A6AEB60D-6966-4647-AE5D-86032F29EC3F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30769" y="5676900"/>
            <a:ext cx="1136431" cy="71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0F4E2C58-72FB-0142-8F53-39D14582D5A3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118945" y="6359526"/>
            <a:ext cx="1148255" cy="7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56397922-7F1C-174E-88D5-164378E48505}"/>
              </a:ext>
            </a:extLst>
          </p:cNvPr>
          <p:cNvSpPr txBox="1"/>
          <p:nvPr/>
        </p:nvSpPr>
        <p:spPr>
          <a:xfrm>
            <a:off x="2247900" y="430755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S: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9D87CE2-2133-9A41-8CDF-9C1F10BE43FA}"/>
              </a:ext>
            </a:extLst>
          </p:cNvPr>
          <p:cNvSpPr txBox="1"/>
          <p:nvPr/>
        </p:nvSpPr>
        <p:spPr>
          <a:xfrm>
            <a:off x="3907358" y="4150273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H: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F6A5AFA-C9A0-7E47-9FF0-F01BC0857319}"/>
              </a:ext>
            </a:extLst>
          </p:cNvPr>
          <p:cNvSpPr txBox="1"/>
          <p:nvPr/>
        </p:nvSpPr>
        <p:spPr>
          <a:xfrm>
            <a:off x="5872933" y="4095571"/>
            <a:ext cx="2674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Or, think the store S as 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compiler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table, and the heap H as 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memory.</a:t>
            </a:r>
            <a:endParaRPr kumimoji="1" lang="zh-CN" altLang="en-US" dirty="0"/>
          </a:p>
        </p:txBody>
      </p:sp>
      <p:cxnSp>
        <p:nvCxnSpPr>
          <p:cNvPr id="26" name="曲线连接符 25">
            <a:extLst>
              <a:ext uri="{FF2B5EF4-FFF2-40B4-BE49-F238E27FC236}">
                <a16:creationId xmlns:a16="http://schemas.microsoft.com/office/drawing/2014/main" id="{563D5942-04BD-4747-8BF8-E2BBA80CEF22}"/>
              </a:ext>
            </a:extLst>
          </p:cNvPr>
          <p:cNvCxnSpPr>
            <a:stCxn id="11" idx="3"/>
            <a:endCxn id="10" idx="3"/>
          </p:cNvCxnSpPr>
          <p:nvPr/>
        </p:nvCxnSpPr>
        <p:spPr>
          <a:xfrm flipV="1">
            <a:off x="5029200" y="5295900"/>
            <a:ext cx="12700" cy="381000"/>
          </a:xfrm>
          <a:prstGeom prst="curvedConnector3">
            <a:avLst>
              <a:gd name="adj1" fmla="val 26275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曲线连接符 27">
            <a:extLst>
              <a:ext uri="{FF2B5EF4-FFF2-40B4-BE49-F238E27FC236}">
                <a16:creationId xmlns:a16="http://schemas.microsoft.com/office/drawing/2014/main" id="{A7DBF7BE-6659-1343-ACB5-318543EEA743}"/>
              </a:ext>
            </a:extLst>
          </p:cNvPr>
          <p:cNvCxnSpPr>
            <a:cxnSpLocks/>
            <a:stCxn id="13" idx="3"/>
            <a:endCxn id="11" idx="3"/>
          </p:cNvCxnSpPr>
          <p:nvPr/>
        </p:nvCxnSpPr>
        <p:spPr>
          <a:xfrm flipV="1">
            <a:off x="5029200" y="5676900"/>
            <a:ext cx="12700" cy="762000"/>
          </a:xfrm>
          <a:prstGeom prst="curvedConnector3">
            <a:avLst>
              <a:gd name="adj1" fmla="val 26275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3C354D98-B968-3145-B1CD-53E83BB43FF6}"/>
              </a:ext>
            </a:extLst>
          </p:cNvPr>
          <p:cNvSpPr txBox="1"/>
          <p:nvPr/>
        </p:nvSpPr>
        <p:spPr>
          <a:xfrm>
            <a:off x="5896996" y="5356260"/>
            <a:ext cx="267467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88;</a:t>
            </a:r>
          </a:p>
          <a:p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99;</a:t>
            </a:r>
          </a:p>
          <a:p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&amp;y;</a:t>
            </a:r>
          </a:p>
          <a:p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&amp;p;</a:t>
            </a:r>
            <a:endParaRPr kumimoji="1" lang="zh-CN" altLang="en-US" sz="20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89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Syntax &amp; semantics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2015975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Pointers: 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syntax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400" dirty="0"/>
                  <a:t>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T+E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&amp;x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&amp;</a:t>
                </a:r>
                <a:r>
                  <a:rPr kumimoji="1" lang="zh-CN" altLang="en-US" sz="2400" dirty="0"/>
                  <a:t>*</a:t>
                </a:r>
                <a:r>
                  <a:rPr kumimoji="1" lang="en-US" altLang="zh-CN" sz="2400" dirty="0"/>
                  <a:t>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*</a:t>
                </a:r>
                <a:r>
                  <a:rPr kumimoji="1" lang="en-US" altLang="zh-CN" sz="2400" dirty="0"/>
                  <a:t>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NULL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x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n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E+E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E-E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*</a:t>
                </a:r>
                <a:r>
                  <a:rPr kumimoji="1" lang="en-US" altLang="zh-CN" sz="2400" dirty="0"/>
                  <a:t>T</a:t>
                </a:r>
              </a:p>
              <a:p>
                <a:pPr marL="0" indent="0">
                  <a:buNone/>
                </a:pPr>
                <a:r>
                  <a:rPr kumimoji="1" lang="en-US" altLang="zh-CN" sz="2400" dirty="0"/>
                  <a:t>R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T=T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T&lt;T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E=E | E&lt;E</a:t>
                </a:r>
                <a:r>
                  <a:rPr kumimoji="1" lang="zh-CN" altLang="en-US" sz="2400" dirty="0"/>
                  <a:t>   </a:t>
                </a:r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en-US" altLang="zh-CN" sz="2400" i="1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::=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R</a:t>
                </a:r>
                <a:r>
                  <a:rPr kumimoji="1" lang="zh-CN" altLang="en-US" sz="2400" dirty="0"/>
                  <a:t> </a:t>
                </a:r>
                <a:endParaRPr kumimoji="1" lang="en-US" altLang="zh-CN" sz="2400" dirty="0"/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:r>
                  <a:rPr kumimoji="1" lang="en-US" altLang="zh-CN" sz="2400" dirty="0"/>
                  <a:t>|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~R</a:t>
                </a:r>
              </a:p>
              <a:p>
                <a:pPr marL="0" indent="0">
                  <a:buNone/>
                </a:pPr>
                <a:r>
                  <a:rPr kumimoji="1" lang="zh-CN" altLang="en-US" sz="2400" dirty="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400" dirty="0"/>
                      <m:t>|</m:t>
                    </m:r>
                    <m:r>
                      <m:rPr>
                        <m:nor/>
                      </m:rPr>
                      <a:rPr kumimoji="1" lang="zh-CN" altLang="en-US" sz="2400" dirty="0"/>
                      <m:t> 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nor/>
                      </m:rPr>
                      <a:rPr kumimoji="1" lang="en-US" altLang="zh-CN" sz="2400" i="1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EA67DCE-2389-6343-AFC1-54E1B9454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42" t="-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本框 21">
            <a:extLst>
              <a:ext uri="{FF2B5EF4-FFF2-40B4-BE49-F238E27FC236}">
                <a16:creationId xmlns:a16="http://schemas.microsoft.com/office/drawing/2014/main" id="{8E457D90-69F2-3D40-A940-186003987434}"/>
              </a:ext>
            </a:extLst>
          </p:cNvPr>
          <p:cNvSpPr txBox="1"/>
          <p:nvPr/>
        </p:nvSpPr>
        <p:spPr>
          <a:xfrm>
            <a:off x="4876800" y="4572000"/>
            <a:ext cx="3581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/>
              <a:t>This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essentially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fragment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of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language.</a:t>
            </a:r>
          </a:p>
          <a:p>
            <a:r>
              <a:rPr kumimoji="1" lang="en-US" altLang="zh-CN" sz="2000" dirty="0"/>
              <a:t>However,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some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operations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are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not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supported,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such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conversion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between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pointers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integers.</a:t>
            </a:r>
          </a:p>
        </p:txBody>
      </p:sp>
    </p:spTree>
    <p:extLst>
      <p:ext uri="{BB962C8B-B14F-4D97-AF65-F5344CB8AC3E}">
        <p14:creationId xmlns:p14="http://schemas.microsoft.com/office/powerpoint/2010/main" val="67724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3B1A98-5D2E-F84C-8A75-A8FC62CA1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A67DCE-2389-6343-AFC1-54E1B9454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017713"/>
            <a:ext cx="8650288" cy="411480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q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pointer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variables;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variables.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Legal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propositions: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2000" b="1" dirty="0" err="1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p+i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)==1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(p+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p)==0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p==q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/\</a:t>
            </a: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p==5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</a:t>
            </a: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p==1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p&lt;q</a:t>
            </a:r>
          </a:p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Illegal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ones:</a:t>
            </a:r>
          </a:p>
          <a:p>
            <a:pPr marL="0" indent="0">
              <a:buNone/>
            </a:pP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p+i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p==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p+q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kumimoji="1"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1==1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p&lt;</a:t>
            </a:r>
            <a:r>
              <a:rPr kumimoji="1" lang="en-US" altLang="zh-CN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kumimoji="1"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51FBB03-0790-4F41-8C15-FE498F071B5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810000" y="3962400"/>
                <a:ext cx="5257800" cy="27860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 typeface="Wingdings" pitchFamily="2" charset="2"/>
                  <a:buNone/>
                </a:pPr>
                <a:r>
                  <a:rPr kumimoji="1" lang="en-US" altLang="zh-CN" sz="2400" kern="0" dirty="0"/>
                  <a:t>T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::=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x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T+E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&amp;x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&amp;</a:t>
                </a:r>
                <a:r>
                  <a:rPr kumimoji="1" lang="zh-CN" altLang="en-US" sz="2400" kern="0" dirty="0"/>
                  <a:t>*</a:t>
                </a:r>
                <a:r>
                  <a:rPr kumimoji="1" lang="en-US" altLang="zh-CN" sz="2400" kern="0" dirty="0"/>
                  <a:t>T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*</a:t>
                </a:r>
                <a:r>
                  <a:rPr kumimoji="1" lang="en-US" altLang="zh-CN" sz="2400" kern="0" dirty="0"/>
                  <a:t>T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NULL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en-US" altLang="zh-CN" sz="2400" kern="0" dirty="0"/>
                  <a:t>E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::=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x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n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E+E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E-E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*</a:t>
                </a:r>
                <a:r>
                  <a:rPr kumimoji="1" lang="en-US" altLang="zh-CN" sz="2400" kern="0" dirty="0"/>
                  <a:t>T</a:t>
                </a:r>
                <a:r>
                  <a:rPr kumimoji="1" lang="zh-CN" altLang="en-US" sz="2400" kern="0" dirty="0"/>
                  <a:t> </a:t>
                </a:r>
                <a:endParaRPr kumimoji="1" lang="en-US" altLang="zh-CN" sz="2400" kern="0" dirty="0"/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en-US" altLang="zh-CN" sz="2400" kern="0" dirty="0"/>
                  <a:t>R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::=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T=T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T&lt;T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E=E | E&lt;E</a:t>
                </a:r>
                <a:r>
                  <a:rPr kumimoji="1" lang="zh-CN" altLang="en-US" sz="2400" kern="0" dirty="0"/>
                  <a:t>   </a:t>
                </a:r>
                <a:endParaRPr kumimoji="1" lang="en-US" altLang="zh-CN" sz="2400" kern="0" dirty="0"/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en-US" altLang="zh-CN" sz="2400" i="1" kern="0" dirty="0">
                    <a:latin typeface="Cambria Math" panose="02040503050406030204" pitchFamily="18" charset="0"/>
                  </a:rPr>
                  <a:t>P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::=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R</a:t>
                </a:r>
                <a:r>
                  <a:rPr kumimoji="1" lang="zh-CN" altLang="en-US" sz="2400" kern="0" dirty="0"/>
                  <a:t> </a:t>
                </a:r>
                <a:endParaRPr kumimoji="1" lang="en-US" altLang="zh-CN" sz="2400" kern="0" dirty="0"/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sz="2400" kern="0" dirty="0"/>
                  <a:t>      </a:t>
                </a:r>
                <a:r>
                  <a:rPr kumimoji="1" lang="en-US" altLang="zh-CN" sz="2400" kern="0" dirty="0"/>
                  <a:t>|</a:t>
                </a:r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~R</a:t>
                </a:r>
              </a:p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sz="2400" kern="0" dirty="0"/>
                  <a:t>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400" kern="0" dirty="0"/>
                      <m:t>|</m:t>
                    </m:r>
                    <m:r>
                      <m:rPr>
                        <m:nor/>
                      </m:rPr>
                      <a:rPr kumimoji="1" lang="zh-CN" altLang="en-US" sz="2400" kern="0" dirty="0"/>
                      <m:t> </m:t>
                    </m:r>
                    <m:r>
                      <m:rPr>
                        <m:nor/>
                      </m:rPr>
                      <a:rPr kumimoji="1" lang="en-US" altLang="zh-CN" sz="2400" i="1" kern="0" dirty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zh-CN" altLang="en-US" sz="2400" i="1" kern="0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nor/>
                      </m:rPr>
                      <a:rPr kumimoji="1" lang="en-US" altLang="zh-CN" sz="2400" i="1" kern="0" dirty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kumimoji="1" lang="en-US" altLang="zh-CN" sz="2400" i="1" kern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051FBB03-0790-4F41-8C15-FE498F071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3962400"/>
                <a:ext cx="5257800" cy="2786061"/>
              </a:xfrm>
              <a:prstGeom prst="rect">
                <a:avLst/>
              </a:prstGeom>
              <a:blipFill>
                <a:blip r:embed="rId2"/>
                <a:stretch>
                  <a:fillRect l="-1932" t="-1826" r="-7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6995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E1F4F-ADDA-064A-A21E-84D3CB5CC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58AC8A-F028-7446-9756-CC0D4CDBBB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CN" dirty="0"/>
                  <a:t>Given a proposition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  <a:r>
                  <a:rPr kumimoji="1" lang="en-US" altLang="zh-CN" dirty="0"/>
                  <a:t>, evaluate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  <a:r>
                  <a:rPr kumimoji="1" lang="en-US" altLang="zh-CN" dirty="0"/>
                  <a:t> to obtain a value</a:t>
                </a:r>
              </a:p>
              <a:p>
                <a:r>
                  <a:rPr kumimoji="1" lang="en-US" altLang="zh-CN" dirty="0"/>
                  <a:t>Inductively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defined 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the proposition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P</a:t>
                </a:r>
                <a:r>
                  <a:rPr kumimoji="1" lang="en-US" altLang="zh-CN" dirty="0"/>
                  <a:t>, relation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R</a:t>
                </a:r>
                <a:r>
                  <a:rPr kumimoji="1" lang="en-US" altLang="zh-CN" dirty="0"/>
                  <a:t>, expression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E</a:t>
                </a:r>
                <a:r>
                  <a:rPr kumimoji="1" lang="en-US" altLang="zh-CN" dirty="0"/>
                  <a:t>, and pointer </a:t>
                </a:r>
                <a:r>
                  <a:rPr kumimoji="1" lang="en-US" altLang="zh-CN" dirty="0">
                    <a:solidFill>
                      <a:srgbClr val="0432FF"/>
                    </a:solidFill>
                  </a:rPr>
                  <a:t>T</a:t>
                </a:r>
                <a:r>
                  <a:rPr kumimoji="1" lang="en-US" altLang="zh-CN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kumimoji="1" lang="en-US" altLang="zh-CN" dirty="0">
                  <a:solidFill>
                    <a:srgbClr val="0432FF"/>
                  </a:solidFill>
                </a:endParaRPr>
              </a:p>
              <a:p>
                <a:pPr marL="0" indent="0">
                  <a:buNone/>
                </a:pPr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58AC8A-F028-7446-9756-CC0D4CDBBB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9" t="-1846" r="-489" b="-11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8842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35D96-14C1-574A-8B62-981DB9843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Semantics: propositions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FDF9F6-8B43-0849-BA5B-9B957E54C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/\</m:t>
                        </m:r>
                        <m:r>
                          <m:rPr>
                            <m:sty m:val="p"/>
                          </m:r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kumimoji="1" lang="en-US" altLang="zh-CN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/\</m:t>
                    </m:r>
                  </m:oMath>
                </a14:m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1" lang="en-US" altLang="zh-CN" i="1"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d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kumimoji="1" lang="en-US" altLang="zh-CN" dirty="0"/>
                  <a:t>    = ~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:endParaRPr kumimoji="1"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kumimoji="1" lang="en-US" altLang="zh-CN" dirty="0"/>
                  <a:t>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kumimoji="1" lang="en-US" altLang="zh-CN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kumimoji="1" lang="en-US" altLang="zh-CN" dirty="0"/>
                  <a:t>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kumimoji="1" lang="zh-CN" alt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kumimoji="1" lang="en-US" altLang="zh-CN" dirty="0"/>
                  <a:t>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kumimoji="1" lang="en-US" altLang="zh-CN" dirty="0"/>
                  <a:t> =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kumimoji="1" lang="zh-CN" alt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kumimoji="1" lang="en-US" altLang="zh-CN" dirty="0"/>
                  <a:t>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FDF9F6-8B43-0849-BA5B-9B957E54C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1527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35D96-14C1-574A-8B62-981DB9843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Semantics: expressions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FDF9F6-8B43-0849-BA5B-9B957E54C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kumimoji="1" lang="en-US" altLang="zh-CN" dirty="0"/>
                  <a:t>      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kumimoji="1" lang="zh-CN" alt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en-US" altLang="zh-CN" dirty="0"/>
                  <a:t>      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kumimoji="1" lang="en-US" altLang="zh-CN" dirty="0"/>
                  <a:t>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kumimoji="1" lang="en-US" altLang="zh-CN" dirty="0"/>
                  <a:t> +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kumimoji="1" lang="en-US" altLang="zh-CN" dirty="0"/>
                  <a:t>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kumimoji="1" lang="en-US" altLang="zh-CN" dirty="0"/>
                  <a:t>    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kumimoji="1"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FDF9F6-8B43-0849-BA5B-9B957E54C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椭圆 3">
            <a:extLst>
              <a:ext uri="{FF2B5EF4-FFF2-40B4-BE49-F238E27FC236}">
                <a16:creationId xmlns:a16="http://schemas.microsoft.com/office/drawing/2014/main" id="{547796C4-BBE6-CC44-B9D4-2CB466A26990}"/>
              </a:ext>
            </a:extLst>
          </p:cNvPr>
          <p:cNvSpPr/>
          <p:nvPr/>
        </p:nvSpPr>
        <p:spPr>
          <a:xfrm>
            <a:off x="6388100" y="4343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365E157-D743-BE47-BDCF-ABB4511A8A96}"/>
              </a:ext>
            </a:extLst>
          </p:cNvPr>
          <p:cNvSpPr/>
          <p:nvPr/>
        </p:nvSpPr>
        <p:spPr>
          <a:xfrm>
            <a:off x="6388100" y="49530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B76B3B0-491F-7E4F-B66A-8E42815A74C6}"/>
              </a:ext>
            </a:extLst>
          </p:cNvPr>
          <p:cNvSpPr/>
          <p:nvPr/>
        </p:nvSpPr>
        <p:spPr>
          <a:xfrm>
            <a:off x="6388100" y="55626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5154BE0-C186-FA4E-9E21-566F3B5A8ED2}"/>
              </a:ext>
            </a:extLst>
          </p:cNvPr>
          <p:cNvSpPr/>
          <p:nvPr/>
        </p:nvSpPr>
        <p:spPr>
          <a:xfrm>
            <a:off x="6388100" y="61722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q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8388AB-EA9C-5647-99BF-23E4D1B712EB}"/>
              </a:ext>
            </a:extLst>
          </p:cNvPr>
          <p:cNvSpPr/>
          <p:nvPr/>
        </p:nvSpPr>
        <p:spPr>
          <a:xfrm>
            <a:off x="7912100" y="4343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9B0CB3-FB11-4C4D-A085-69099571D6E5}"/>
              </a:ext>
            </a:extLst>
          </p:cNvPr>
          <p:cNvSpPr/>
          <p:nvPr/>
        </p:nvSpPr>
        <p:spPr>
          <a:xfrm>
            <a:off x="7912100" y="4724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88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24B0EE-C20D-2746-88BB-F292CECA2ED5}"/>
              </a:ext>
            </a:extLst>
          </p:cNvPr>
          <p:cNvSpPr/>
          <p:nvPr/>
        </p:nvSpPr>
        <p:spPr>
          <a:xfrm>
            <a:off x="7912100" y="5105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99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8B0EAE-D830-8C48-A324-E9C5DCB30D43}"/>
              </a:ext>
            </a:extLst>
          </p:cNvPr>
          <p:cNvSpPr/>
          <p:nvPr/>
        </p:nvSpPr>
        <p:spPr>
          <a:xfrm>
            <a:off x="7912100" y="5486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F575EA-443A-F94C-866E-6F3B94A2CE7A}"/>
              </a:ext>
            </a:extLst>
          </p:cNvPr>
          <p:cNvSpPr/>
          <p:nvPr/>
        </p:nvSpPr>
        <p:spPr>
          <a:xfrm>
            <a:off x="7912100" y="5867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2FD9E7-D974-5841-A0B5-4B098068853D}"/>
              </a:ext>
            </a:extLst>
          </p:cNvPr>
          <p:cNvSpPr/>
          <p:nvPr/>
        </p:nvSpPr>
        <p:spPr>
          <a:xfrm>
            <a:off x="7912100" y="6248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5C53329-7F9D-E141-A91B-2BC063BF3D6F}"/>
              </a:ext>
            </a:extLst>
          </p:cNvPr>
          <p:cNvCxnSpPr>
            <a:stCxn id="4" idx="6"/>
            <a:endCxn id="9" idx="1"/>
          </p:cNvCxnSpPr>
          <p:nvPr/>
        </p:nvCxnSpPr>
        <p:spPr>
          <a:xfrm>
            <a:off x="6769100" y="4533900"/>
            <a:ext cx="11430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9A1338E-DD2C-0E40-96C0-3867ADC4CD1F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6769100" y="5161757"/>
            <a:ext cx="1143000" cy="134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2C79CCAE-6F61-664C-BAB8-C209BED013F2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6775669" y="5676900"/>
            <a:ext cx="1136431" cy="71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8BF38485-CE41-9747-B9F6-36E0FB91DD29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6763845" y="6359526"/>
            <a:ext cx="1148255" cy="7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6CF15D8-4472-8846-A20B-273301801A0B}"/>
              </a:ext>
            </a:extLst>
          </p:cNvPr>
          <p:cNvSpPr txBox="1"/>
          <p:nvPr/>
        </p:nvSpPr>
        <p:spPr>
          <a:xfrm>
            <a:off x="5892800" y="430755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S: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A0FCE85-FA87-FC41-AB94-A0C9A78C0F45}"/>
              </a:ext>
            </a:extLst>
          </p:cNvPr>
          <p:cNvSpPr txBox="1"/>
          <p:nvPr/>
        </p:nvSpPr>
        <p:spPr>
          <a:xfrm>
            <a:off x="7552258" y="4150273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H:</a:t>
            </a:r>
            <a:endParaRPr kumimoji="1" lang="zh-CN" altLang="en-US" dirty="0"/>
          </a:p>
        </p:txBody>
      </p:sp>
      <p:cxnSp>
        <p:nvCxnSpPr>
          <p:cNvPr id="20" name="曲线连接符 19">
            <a:extLst>
              <a:ext uri="{FF2B5EF4-FFF2-40B4-BE49-F238E27FC236}">
                <a16:creationId xmlns:a16="http://schemas.microsoft.com/office/drawing/2014/main" id="{F39976D0-9994-9B46-B677-26111AD3109F}"/>
              </a:ext>
            </a:extLst>
          </p:cNvPr>
          <p:cNvCxnSpPr>
            <a:stCxn id="11" idx="3"/>
            <a:endCxn id="10" idx="3"/>
          </p:cNvCxnSpPr>
          <p:nvPr/>
        </p:nvCxnSpPr>
        <p:spPr>
          <a:xfrm flipV="1">
            <a:off x="8674100" y="5295900"/>
            <a:ext cx="12700" cy="381000"/>
          </a:xfrm>
          <a:prstGeom prst="curvedConnector3">
            <a:avLst>
              <a:gd name="adj1" fmla="val 26275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曲线连接符 20">
            <a:extLst>
              <a:ext uri="{FF2B5EF4-FFF2-40B4-BE49-F238E27FC236}">
                <a16:creationId xmlns:a16="http://schemas.microsoft.com/office/drawing/2014/main" id="{5381650B-343B-9844-92A0-B878A2DD6A92}"/>
              </a:ext>
            </a:extLst>
          </p:cNvPr>
          <p:cNvCxnSpPr>
            <a:cxnSpLocks/>
            <a:stCxn id="13" idx="3"/>
            <a:endCxn id="11" idx="3"/>
          </p:cNvCxnSpPr>
          <p:nvPr/>
        </p:nvCxnSpPr>
        <p:spPr>
          <a:xfrm flipV="1">
            <a:off x="8674100" y="5676900"/>
            <a:ext cx="12700" cy="762000"/>
          </a:xfrm>
          <a:prstGeom prst="curvedConnector3">
            <a:avLst>
              <a:gd name="adj1" fmla="val 26275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968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35D96-14C1-574A-8B62-981DB9843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Semantics: pointers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FDF9F6-8B43-0849-BA5B-9B957E54C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en-US" altLang="zh-CN" dirty="0"/>
                  <a:t>      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kumimoji="1" lang="en-US" altLang="zh-CN" dirty="0"/>
                  <a:t>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kumimoji="1" lang="en-US" altLang="zh-CN" dirty="0"/>
                  <a:t> +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en-US" altLang="zh-CN" dirty="0"/>
                  <a:t>    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&amp;∗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kumimoji="1" lang="en-US" altLang="zh-CN" dirty="0"/>
                  <a:t> 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kumimoji="1" lang="en-US" altLang="zh-CN" dirty="0"/>
                  <a:t>    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𝑁𝑈𝐿𝐿</m:t>
                        </m:r>
                      </m:e>
                    </m:d>
                  </m:oMath>
                </a14:m>
                <a:r>
                  <a:rPr kumimoji="1" lang="en-US" altLang="zh-CN" dirty="0"/>
                  <a:t>    =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FDF9F6-8B43-0849-BA5B-9B957E54C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椭圆 3">
            <a:extLst>
              <a:ext uri="{FF2B5EF4-FFF2-40B4-BE49-F238E27FC236}">
                <a16:creationId xmlns:a16="http://schemas.microsoft.com/office/drawing/2014/main" id="{547796C4-BBE6-CC44-B9D4-2CB466A26990}"/>
              </a:ext>
            </a:extLst>
          </p:cNvPr>
          <p:cNvSpPr/>
          <p:nvPr/>
        </p:nvSpPr>
        <p:spPr>
          <a:xfrm>
            <a:off x="6388100" y="4343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365E157-D743-BE47-BDCF-ABB4511A8A96}"/>
              </a:ext>
            </a:extLst>
          </p:cNvPr>
          <p:cNvSpPr/>
          <p:nvPr/>
        </p:nvSpPr>
        <p:spPr>
          <a:xfrm>
            <a:off x="6388100" y="49530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B76B3B0-491F-7E4F-B66A-8E42815A74C6}"/>
              </a:ext>
            </a:extLst>
          </p:cNvPr>
          <p:cNvSpPr/>
          <p:nvPr/>
        </p:nvSpPr>
        <p:spPr>
          <a:xfrm>
            <a:off x="6388100" y="55626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5154BE0-C186-FA4E-9E21-566F3B5A8ED2}"/>
              </a:ext>
            </a:extLst>
          </p:cNvPr>
          <p:cNvSpPr/>
          <p:nvPr/>
        </p:nvSpPr>
        <p:spPr>
          <a:xfrm>
            <a:off x="6388100" y="61722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q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8388AB-EA9C-5647-99BF-23E4D1B712EB}"/>
              </a:ext>
            </a:extLst>
          </p:cNvPr>
          <p:cNvSpPr/>
          <p:nvPr/>
        </p:nvSpPr>
        <p:spPr>
          <a:xfrm>
            <a:off x="7912100" y="4343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9B0CB3-FB11-4C4D-A085-69099571D6E5}"/>
              </a:ext>
            </a:extLst>
          </p:cNvPr>
          <p:cNvSpPr/>
          <p:nvPr/>
        </p:nvSpPr>
        <p:spPr>
          <a:xfrm>
            <a:off x="7912100" y="4724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88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24B0EE-C20D-2746-88BB-F292CECA2ED5}"/>
              </a:ext>
            </a:extLst>
          </p:cNvPr>
          <p:cNvSpPr/>
          <p:nvPr/>
        </p:nvSpPr>
        <p:spPr>
          <a:xfrm>
            <a:off x="7912100" y="5105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99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8B0EAE-D830-8C48-A324-E9C5DCB30D43}"/>
              </a:ext>
            </a:extLst>
          </p:cNvPr>
          <p:cNvSpPr/>
          <p:nvPr/>
        </p:nvSpPr>
        <p:spPr>
          <a:xfrm>
            <a:off x="7912100" y="5486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F575EA-443A-F94C-866E-6F3B94A2CE7A}"/>
              </a:ext>
            </a:extLst>
          </p:cNvPr>
          <p:cNvSpPr/>
          <p:nvPr/>
        </p:nvSpPr>
        <p:spPr>
          <a:xfrm>
            <a:off x="7912100" y="5867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2FD9E7-D974-5841-A0B5-4B098068853D}"/>
              </a:ext>
            </a:extLst>
          </p:cNvPr>
          <p:cNvSpPr/>
          <p:nvPr/>
        </p:nvSpPr>
        <p:spPr>
          <a:xfrm>
            <a:off x="7912100" y="6248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5C53329-7F9D-E141-A91B-2BC063BF3D6F}"/>
              </a:ext>
            </a:extLst>
          </p:cNvPr>
          <p:cNvCxnSpPr>
            <a:stCxn id="4" idx="6"/>
            <a:endCxn id="9" idx="1"/>
          </p:cNvCxnSpPr>
          <p:nvPr/>
        </p:nvCxnSpPr>
        <p:spPr>
          <a:xfrm>
            <a:off x="6769100" y="4533900"/>
            <a:ext cx="11430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9A1338E-DD2C-0E40-96C0-3867ADC4CD1F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6769100" y="5161757"/>
            <a:ext cx="1143000" cy="134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2C79CCAE-6F61-664C-BAB8-C209BED013F2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6775669" y="5676900"/>
            <a:ext cx="1136431" cy="71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8BF38485-CE41-9747-B9F6-36E0FB91DD29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6763845" y="6359526"/>
            <a:ext cx="1148255" cy="7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6CF15D8-4472-8846-A20B-273301801A0B}"/>
              </a:ext>
            </a:extLst>
          </p:cNvPr>
          <p:cNvSpPr txBox="1"/>
          <p:nvPr/>
        </p:nvSpPr>
        <p:spPr>
          <a:xfrm>
            <a:off x="5892800" y="430755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S: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A0FCE85-FA87-FC41-AB94-A0C9A78C0F45}"/>
              </a:ext>
            </a:extLst>
          </p:cNvPr>
          <p:cNvSpPr txBox="1"/>
          <p:nvPr/>
        </p:nvSpPr>
        <p:spPr>
          <a:xfrm>
            <a:off x="7552258" y="4150273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H:</a:t>
            </a:r>
            <a:endParaRPr kumimoji="1" lang="zh-CN" altLang="en-US" dirty="0"/>
          </a:p>
        </p:txBody>
      </p:sp>
      <p:cxnSp>
        <p:nvCxnSpPr>
          <p:cNvPr id="20" name="曲线连接符 19">
            <a:extLst>
              <a:ext uri="{FF2B5EF4-FFF2-40B4-BE49-F238E27FC236}">
                <a16:creationId xmlns:a16="http://schemas.microsoft.com/office/drawing/2014/main" id="{F39976D0-9994-9B46-B677-26111AD3109F}"/>
              </a:ext>
            </a:extLst>
          </p:cNvPr>
          <p:cNvCxnSpPr>
            <a:stCxn id="11" idx="3"/>
            <a:endCxn id="10" idx="3"/>
          </p:cNvCxnSpPr>
          <p:nvPr/>
        </p:nvCxnSpPr>
        <p:spPr>
          <a:xfrm flipV="1">
            <a:off x="8674100" y="5295900"/>
            <a:ext cx="12700" cy="381000"/>
          </a:xfrm>
          <a:prstGeom prst="curvedConnector3">
            <a:avLst>
              <a:gd name="adj1" fmla="val 26275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曲线连接符 20">
            <a:extLst>
              <a:ext uri="{FF2B5EF4-FFF2-40B4-BE49-F238E27FC236}">
                <a16:creationId xmlns:a16="http://schemas.microsoft.com/office/drawing/2014/main" id="{5381650B-343B-9844-92A0-B878A2DD6A92}"/>
              </a:ext>
            </a:extLst>
          </p:cNvPr>
          <p:cNvCxnSpPr>
            <a:cxnSpLocks/>
            <a:stCxn id="13" idx="3"/>
            <a:endCxn id="11" idx="3"/>
          </p:cNvCxnSpPr>
          <p:nvPr/>
        </p:nvCxnSpPr>
        <p:spPr>
          <a:xfrm flipV="1">
            <a:off x="8674100" y="5676900"/>
            <a:ext cx="12700" cy="762000"/>
          </a:xfrm>
          <a:prstGeom prst="curvedConnector3">
            <a:avLst>
              <a:gd name="adj1" fmla="val 26275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068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60C97-EB3D-F54C-A4A7-3ABE0247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F79252-D329-7D44-9089-A03F4A9C36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prove:</a:t>
                </a:r>
              </a:p>
              <a:p>
                <a:pPr marL="0" indent="0">
                  <a:buNone/>
                </a:pPr>
                <a:r>
                  <a:rPr kumimoji="1" lang="en-US" altLang="zh-CN" dirty="0">
                    <a:solidFill>
                      <a:srgbClr val="0432FF"/>
                    </a:solidFill>
                  </a:rPr>
                  <a:t>*(&amp;a+1)==a[1]</a:t>
                </a:r>
              </a:p>
              <a:p>
                <a:pPr marL="0" indent="0">
                  <a:buNone/>
                </a:pPr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==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[1]</m:t>
                          </m:r>
                        </m:e>
                      </m:d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∗(&amp;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zh-CN" i="1">
                            <a:latin typeface="Cambria Math" panose="02040503050406030204" pitchFamily="18" charset="0"/>
                          </a:rPr>
                          <m:t>+1)</m:t>
                        </m:r>
                      </m:e>
                    </m:d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==</m:t>
                    </m:r>
                  </m:oMath>
                </a14:m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e>
                    </m:d>
                  </m:oMath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⟦"/>
                          <m:endChr m:val="⟧"/>
                          <m:ctrlPr>
                            <a:rPr kumimoji="1"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)==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F79252-D329-7D44-9089-A03F4A9C36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1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椭圆 3">
            <a:extLst>
              <a:ext uri="{FF2B5EF4-FFF2-40B4-BE49-F238E27FC236}">
                <a16:creationId xmlns:a16="http://schemas.microsoft.com/office/drawing/2014/main" id="{2AD02955-BFB6-2544-88ED-5DF5005B983E}"/>
              </a:ext>
            </a:extLst>
          </p:cNvPr>
          <p:cNvSpPr/>
          <p:nvPr/>
        </p:nvSpPr>
        <p:spPr>
          <a:xfrm>
            <a:off x="6388100" y="1869527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B358886-AEF1-8942-BE54-7C5D217AFC38}"/>
              </a:ext>
            </a:extLst>
          </p:cNvPr>
          <p:cNvSpPr/>
          <p:nvPr/>
        </p:nvSpPr>
        <p:spPr>
          <a:xfrm>
            <a:off x="6388100" y="2479127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39075DE-C60F-E642-B766-7DDBE6E51EF7}"/>
              </a:ext>
            </a:extLst>
          </p:cNvPr>
          <p:cNvSpPr/>
          <p:nvPr/>
        </p:nvSpPr>
        <p:spPr>
          <a:xfrm>
            <a:off x="6388100" y="3088727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260E1E3-B9B6-DD4C-872B-2966EA2F115D}"/>
              </a:ext>
            </a:extLst>
          </p:cNvPr>
          <p:cNvSpPr/>
          <p:nvPr/>
        </p:nvSpPr>
        <p:spPr>
          <a:xfrm>
            <a:off x="6388100" y="3698327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q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010034-B13C-E94F-87EE-2CC138D37A71}"/>
              </a:ext>
            </a:extLst>
          </p:cNvPr>
          <p:cNvSpPr/>
          <p:nvPr/>
        </p:nvSpPr>
        <p:spPr>
          <a:xfrm>
            <a:off x="7912100" y="1869527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E7CA3C-C3E7-4B4F-B6BC-2A0172FC7D84}"/>
              </a:ext>
            </a:extLst>
          </p:cNvPr>
          <p:cNvSpPr/>
          <p:nvPr/>
        </p:nvSpPr>
        <p:spPr>
          <a:xfrm>
            <a:off x="7912100" y="2250527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88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FB1D51-E344-844F-AF54-99987366DFFF}"/>
              </a:ext>
            </a:extLst>
          </p:cNvPr>
          <p:cNvSpPr/>
          <p:nvPr/>
        </p:nvSpPr>
        <p:spPr>
          <a:xfrm>
            <a:off x="7912100" y="2631527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99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725A1B-6C63-E64B-943F-E6DAA82F3812}"/>
              </a:ext>
            </a:extLst>
          </p:cNvPr>
          <p:cNvSpPr/>
          <p:nvPr/>
        </p:nvSpPr>
        <p:spPr>
          <a:xfrm>
            <a:off x="7912100" y="3012527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FDD662-6087-1241-A542-090682469DE0}"/>
              </a:ext>
            </a:extLst>
          </p:cNvPr>
          <p:cNvSpPr/>
          <p:nvPr/>
        </p:nvSpPr>
        <p:spPr>
          <a:xfrm>
            <a:off x="7912100" y="3393527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0BBFD72-EFF8-FC49-B752-697379B0B860}"/>
              </a:ext>
            </a:extLst>
          </p:cNvPr>
          <p:cNvSpPr/>
          <p:nvPr/>
        </p:nvSpPr>
        <p:spPr>
          <a:xfrm>
            <a:off x="7912100" y="3774527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269C283C-B4AE-1E4F-83FA-6B5A63AC0A50}"/>
              </a:ext>
            </a:extLst>
          </p:cNvPr>
          <p:cNvCxnSpPr>
            <a:stCxn id="4" idx="6"/>
            <a:endCxn id="9" idx="1"/>
          </p:cNvCxnSpPr>
          <p:nvPr/>
        </p:nvCxnSpPr>
        <p:spPr>
          <a:xfrm>
            <a:off x="6769100" y="2060027"/>
            <a:ext cx="11430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9FC6380-7A56-0B4E-BCAA-AE34EFDABAF9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6769100" y="2687884"/>
            <a:ext cx="1143000" cy="134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E27533DF-BB6D-B24F-B8D0-A0EE9C35FB01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6775669" y="3203027"/>
            <a:ext cx="1136431" cy="71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0E3268DF-DF7C-6C44-94D7-995813FAC4A3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6763845" y="3885653"/>
            <a:ext cx="1148255" cy="7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1E958C5-6A44-3342-A8AB-2547BF8BE639}"/>
              </a:ext>
            </a:extLst>
          </p:cNvPr>
          <p:cNvSpPr txBox="1"/>
          <p:nvPr/>
        </p:nvSpPr>
        <p:spPr>
          <a:xfrm>
            <a:off x="5892800" y="1833684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S: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8DCFC78-036C-BD44-A5A4-8840DDAF2806}"/>
              </a:ext>
            </a:extLst>
          </p:cNvPr>
          <p:cNvSpPr txBox="1"/>
          <p:nvPr/>
        </p:nvSpPr>
        <p:spPr>
          <a:xfrm>
            <a:off x="7552258" y="16764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H:</a:t>
            </a:r>
            <a:endParaRPr kumimoji="1" lang="zh-CN" altLang="en-US" dirty="0"/>
          </a:p>
        </p:txBody>
      </p:sp>
      <p:cxnSp>
        <p:nvCxnSpPr>
          <p:cNvPr id="20" name="曲线连接符 19">
            <a:extLst>
              <a:ext uri="{FF2B5EF4-FFF2-40B4-BE49-F238E27FC236}">
                <a16:creationId xmlns:a16="http://schemas.microsoft.com/office/drawing/2014/main" id="{09284E95-5AD0-054F-AD7E-9B90B3BAA9AF}"/>
              </a:ext>
            </a:extLst>
          </p:cNvPr>
          <p:cNvCxnSpPr>
            <a:stCxn id="11" idx="3"/>
            <a:endCxn id="10" idx="3"/>
          </p:cNvCxnSpPr>
          <p:nvPr/>
        </p:nvCxnSpPr>
        <p:spPr>
          <a:xfrm flipV="1">
            <a:off x="8674100" y="2822027"/>
            <a:ext cx="12700" cy="381000"/>
          </a:xfrm>
          <a:prstGeom prst="curvedConnector3">
            <a:avLst>
              <a:gd name="adj1" fmla="val 26275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曲线连接符 20">
            <a:extLst>
              <a:ext uri="{FF2B5EF4-FFF2-40B4-BE49-F238E27FC236}">
                <a16:creationId xmlns:a16="http://schemas.microsoft.com/office/drawing/2014/main" id="{1DF8472F-3594-CF4F-8C87-410D07E0F5DB}"/>
              </a:ext>
            </a:extLst>
          </p:cNvPr>
          <p:cNvCxnSpPr>
            <a:cxnSpLocks/>
            <a:stCxn id="13" idx="3"/>
            <a:endCxn id="11" idx="3"/>
          </p:cNvCxnSpPr>
          <p:nvPr/>
        </p:nvCxnSpPr>
        <p:spPr>
          <a:xfrm flipV="1">
            <a:off x="8674100" y="3203027"/>
            <a:ext cx="12700" cy="762000"/>
          </a:xfrm>
          <a:prstGeom prst="curvedConnector3">
            <a:avLst>
              <a:gd name="adj1" fmla="val 26275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58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C17B9B-B834-E347-80F2-CCDBC8D91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22823-CB4B-6B47-ABD2-04954DD6D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 algn="ctr">
              <a:buNone/>
            </a:pPr>
            <a:r>
              <a:rPr kumimoji="1" lang="en-US" altLang="zh-CN" i="1" dirty="0"/>
              <a:t>A decision procedure</a:t>
            </a:r>
            <a:endParaRPr kumimoji="1"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2462796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728F1-7C31-7644-BA05-57853372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Semantics-based decision procedure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8A3822-D0CB-4D41-9B78-FC66279D9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idea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eliminate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pointers</a:t>
            </a:r>
          </a:p>
          <a:p>
            <a:pPr lvl="1"/>
            <a:r>
              <a:rPr kumimoji="1" lang="en-US" altLang="zh-CN" dirty="0"/>
              <a:t>By encoding their meaning with the store </a:t>
            </a:r>
            <a:r>
              <a:rPr kumimoji="1" lang="en-US" altLang="zh-CN" dirty="0">
                <a:solidFill>
                  <a:srgbClr val="0432FF"/>
                </a:solidFill>
              </a:rPr>
              <a:t>S</a:t>
            </a:r>
            <a:r>
              <a:rPr kumimoji="1" lang="en-US" altLang="zh-CN" dirty="0"/>
              <a:t> and the heap </a:t>
            </a:r>
            <a:r>
              <a:rPr kumimoji="1" lang="en-US" altLang="zh-CN" dirty="0">
                <a:solidFill>
                  <a:srgbClr val="0432FF"/>
                </a:solidFill>
              </a:rPr>
              <a:t>H</a:t>
            </a:r>
          </a:p>
          <a:p>
            <a:pPr lvl="1"/>
            <a:r>
              <a:rPr kumimoji="1" lang="en-US" altLang="zh-CN" dirty="0"/>
              <a:t>Exactly as</a:t>
            </a:r>
            <a:r>
              <a:rPr kumimoji="1" lang="zh-CN" altLang="en-US" dirty="0"/>
              <a:t> </a:t>
            </a:r>
            <a:r>
              <a:rPr kumimoji="1" lang="en-US" altLang="zh-CN" dirty="0"/>
              <a:t>what we’ve </a:t>
            </a:r>
          </a:p>
          <a:p>
            <a:pPr marL="457200" lvl="1" indent="0">
              <a:buNone/>
            </a:pPr>
            <a:r>
              <a:rPr kumimoji="1" lang="en-US" altLang="zh-CN" dirty="0"/>
              <a:t>done in the semantics</a:t>
            </a:r>
          </a:p>
          <a:p>
            <a:pPr marL="457200" lvl="1" indent="0">
              <a:buNone/>
            </a:pPr>
            <a:r>
              <a:rPr kumimoji="1" lang="en-US" altLang="zh-CN" dirty="0"/>
              <a:t>   discussion</a:t>
            </a:r>
          </a:p>
          <a:p>
            <a:pPr lvl="1"/>
            <a:r>
              <a:rPr kumimoji="1" lang="en-US" altLang="zh-CN" dirty="0"/>
              <a:t>This gives us a decision procedure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705BFBC-3EE3-9142-A1A8-FFCA9A76E1E3}"/>
              </a:ext>
            </a:extLst>
          </p:cNvPr>
          <p:cNvSpPr/>
          <p:nvPr/>
        </p:nvSpPr>
        <p:spPr>
          <a:xfrm>
            <a:off x="5867400" y="3352800"/>
            <a:ext cx="12954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pointers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1F8A4A4-3E8D-6845-A700-CC6926B1B2E4}"/>
              </a:ext>
            </a:extLst>
          </p:cNvPr>
          <p:cNvSpPr/>
          <p:nvPr/>
        </p:nvSpPr>
        <p:spPr>
          <a:xfrm>
            <a:off x="7620000" y="3372853"/>
            <a:ext cx="1143000" cy="190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w.o</a:t>
            </a:r>
            <a:r>
              <a:rPr kumimoji="1" lang="en-US" altLang="zh-CN" dirty="0">
                <a:solidFill>
                  <a:schemeClr val="tx1"/>
                </a:solidFill>
              </a:rPr>
              <a:t>/</a:t>
            </a:r>
          </a:p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pointers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4DF58E1-D628-3343-9149-F9306A907CBC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7162800" y="4305300"/>
            <a:ext cx="457200" cy="20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978A745-9CB1-AB49-A581-70A1A803D68E}"/>
              </a:ext>
            </a:extLst>
          </p:cNvPr>
          <p:cNvSpPr txBox="1"/>
          <p:nvPr/>
        </p:nvSpPr>
        <p:spPr>
          <a:xfrm>
            <a:off x="7162800" y="38100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851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F8552-D4C5-EA4E-BB46-6DDD4F9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Decision procedure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839BFC-81AA-4F4B-B843-B86EB17C4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Input: the proposition</a:t>
            </a:r>
            <a:r>
              <a:rPr kumimoji="1" lang="zh-CN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sat(P){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P’ = ⟦P⟧;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sat(P’);</a:t>
            </a:r>
          </a:p>
          <a:p>
            <a:pPr marL="0" indent="0">
              <a:buNone/>
            </a:pPr>
            <a:r>
              <a:rPr kumimoji="1" lang="en-US" altLang="zh-CN" sz="2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6439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60C97-EB3D-F54C-A4A7-3ABE0247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F79252-D329-7D44-9089-A03F4A9C36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dirty="0">
                    <a:solidFill>
                      <a:srgbClr val="0432FF"/>
                    </a:solidFill>
                  </a:rPr>
                  <a:t>p=&amp;a</a:t>
                </a:r>
                <a:r>
                  <a:rPr kumimoji="1" lang="en-US" altLang="zh-CN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a=1 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 *p=1</a:t>
                </a:r>
              </a:p>
              <a:p>
                <a:pPr marL="0" indent="0">
                  <a:buNone/>
                </a:pPr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=&amp;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=1→ ∗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=&amp;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⟦"/>
                          <m:endChr m:val="⟧"/>
                          <m:ctrlPr>
                            <a:rPr kumimoji="1"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=&amp;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d>
                        <m:dPr>
                          <m:begChr m:val="⟦"/>
                          <m:endChr m:val="⟧"/>
                          <m:ctrlPr>
                            <a:rPr kumimoji="1"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⟦"/>
                          <m:endChr m:val="⟧"/>
                          <m:ctrlPr>
                            <a:rPr kumimoji="1"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kumimoji="1"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)∧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))=1→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)=1</m:t>
                      </m:r>
                    </m:oMath>
                  </m:oMathPara>
                </a14:m>
                <a:endParaRPr kumimoji="1"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F79252-D329-7D44-9089-A03F4A9C36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4" t="-2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9292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F8552-D4C5-EA4E-BB46-6DDD4F9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839BFC-81AA-4F4B-B843-B86EB17C4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x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pure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x’s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taken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of: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&amp;x</a:t>
            </a:r>
          </a:p>
          <a:p>
            <a:pPr lvl="1"/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else,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variable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x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called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0432FF"/>
                </a:solidFill>
              </a:rPr>
              <a:t>escaped</a:t>
            </a:r>
          </a:p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introduce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new</a:t>
            </a:r>
            <a:r>
              <a:rPr kumimoji="1" lang="zh-CN" altLang="en-US" dirty="0"/>
              <a:t> </a:t>
            </a:r>
            <a:r>
              <a:rPr kumimoji="1" lang="en-US" altLang="zh-CN" dirty="0"/>
              <a:t>sort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 :</a:t>
            </a:r>
            <a:r>
              <a:rPr kumimoji="1" lang="zh-CN" altLang="en-US" dirty="0"/>
              <a:t> </a:t>
            </a:r>
            <a:r>
              <a:rPr kumimoji="1" lang="en-US" altLang="zh-CN" i="1" dirty="0">
                <a:solidFill>
                  <a:srgbClr val="0432FF"/>
                </a:solidFill>
              </a:rPr>
              <a:t>R(x)</a:t>
            </a:r>
            <a:endParaRPr kumimoji="1" lang="en-US" altLang="zh-CN" i="1" dirty="0"/>
          </a:p>
          <a:p>
            <a:pPr lvl="1"/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standard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translation:</a:t>
            </a:r>
            <a:r>
              <a:rPr kumimoji="1" lang="zh-CN" altLang="en-US" dirty="0"/>
              <a:t> </a:t>
            </a:r>
            <a:r>
              <a:rPr kumimoji="1" lang="en-US" altLang="zh-CN" i="1" dirty="0">
                <a:solidFill>
                  <a:srgbClr val="0432FF"/>
                </a:solidFill>
              </a:rPr>
              <a:t>H(S(x))</a:t>
            </a:r>
          </a:p>
          <a:p>
            <a:pPr lvl="1"/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pure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vars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new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translation:</a:t>
            </a:r>
            <a:r>
              <a:rPr kumimoji="1" lang="zh-CN" altLang="en-US" dirty="0"/>
              <a:t> </a:t>
            </a:r>
            <a:r>
              <a:rPr kumimoji="1" lang="en-US" altLang="zh-CN" i="1" dirty="0">
                <a:solidFill>
                  <a:srgbClr val="0432FF"/>
                </a:solidFill>
              </a:rPr>
              <a:t>R(x)</a:t>
            </a:r>
            <a:endParaRPr kumimoji="1" lang="en-US" altLang="zh-CN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351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FB077-6FDB-3B48-BA07-3AA87E09D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Extended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8F0B7B-5712-E048-BC39-52BC0D0A6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new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R: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FACF588-2964-1144-BE18-1248F4E79C7B}"/>
              </a:ext>
            </a:extLst>
          </p:cNvPr>
          <p:cNvSpPr/>
          <p:nvPr/>
        </p:nvSpPr>
        <p:spPr>
          <a:xfrm>
            <a:off x="2743200" y="4343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4A39CFC-E6F2-1C4D-805A-738535CA0F78}"/>
              </a:ext>
            </a:extLst>
          </p:cNvPr>
          <p:cNvSpPr/>
          <p:nvPr/>
        </p:nvSpPr>
        <p:spPr>
          <a:xfrm>
            <a:off x="2743200" y="49530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4A59696-0086-004C-B9CE-815042894FF9}"/>
              </a:ext>
            </a:extLst>
          </p:cNvPr>
          <p:cNvSpPr/>
          <p:nvPr/>
        </p:nvSpPr>
        <p:spPr>
          <a:xfrm>
            <a:off x="2743200" y="55626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87CC8E0-6591-1B4A-ABAA-1ABBF17D5312}"/>
              </a:ext>
            </a:extLst>
          </p:cNvPr>
          <p:cNvSpPr/>
          <p:nvPr/>
        </p:nvSpPr>
        <p:spPr>
          <a:xfrm>
            <a:off x="2743200" y="61722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q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B13A55-0676-6740-8F08-FB7D15808AFD}"/>
              </a:ext>
            </a:extLst>
          </p:cNvPr>
          <p:cNvSpPr/>
          <p:nvPr/>
        </p:nvSpPr>
        <p:spPr>
          <a:xfrm>
            <a:off x="4267200" y="4343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236D39-211E-FD4B-98E7-CBBFC96474B1}"/>
              </a:ext>
            </a:extLst>
          </p:cNvPr>
          <p:cNvSpPr/>
          <p:nvPr/>
        </p:nvSpPr>
        <p:spPr>
          <a:xfrm>
            <a:off x="4267200" y="4724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88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38F31F-F8A5-694A-9A36-D7F29D9D37BF}"/>
              </a:ext>
            </a:extLst>
          </p:cNvPr>
          <p:cNvSpPr/>
          <p:nvPr/>
        </p:nvSpPr>
        <p:spPr>
          <a:xfrm>
            <a:off x="4267200" y="5105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99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A1A20F-F3E5-424E-84A4-ABA7A422EBFB}"/>
              </a:ext>
            </a:extLst>
          </p:cNvPr>
          <p:cNvSpPr/>
          <p:nvPr/>
        </p:nvSpPr>
        <p:spPr>
          <a:xfrm>
            <a:off x="4267200" y="5486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1149BC-48EE-2A49-A3D3-7EB5D4713799}"/>
              </a:ext>
            </a:extLst>
          </p:cNvPr>
          <p:cNvSpPr/>
          <p:nvPr/>
        </p:nvSpPr>
        <p:spPr>
          <a:xfrm>
            <a:off x="4267200" y="5867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C2438-7ADA-E84F-A770-55569DBAB505}"/>
              </a:ext>
            </a:extLst>
          </p:cNvPr>
          <p:cNvSpPr/>
          <p:nvPr/>
        </p:nvSpPr>
        <p:spPr>
          <a:xfrm>
            <a:off x="4267200" y="6248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B8D6CC9E-2143-A84B-BEF2-9DC6E74B196B}"/>
              </a:ext>
            </a:extLst>
          </p:cNvPr>
          <p:cNvCxnSpPr>
            <a:stCxn id="4" idx="6"/>
            <a:endCxn id="9" idx="1"/>
          </p:cNvCxnSpPr>
          <p:nvPr/>
        </p:nvCxnSpPr>
        <p:spPr>
          <a:xfrm>
            <a:off x="3124200" y="4533900"/>
            <a:ext cx="11430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2E36A0A0-B9CD-0A48-94C3-E3212FF108D1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124200" y="5161757"/>
            <a:ext cx="1143000" cy="134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A6AEB60D-6966-4647-AE5D-86032F29EC3F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130769" y="5676900"/>
            <a:ext cx="1136431" cy="71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0F4E2C58-72FB-0142-8F53-39D14582D5A3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118945" y="6359526"/>
            <a:ext cx="1148255" cy="7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56397922-7F1C-174E-88D5-164378E48505}"/>
              </a:ext>
            </a:extLst>
          </p:cNvPr>
          <p:cNvSpPr txBox="1"/>
          <p:nvPr/>
        </p:nvSpPr>
        <p:spPr>
          <a:xfrm>
            <a:off x="2247900" y="430755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S: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9D87CE2-2133-9A41-8CDF-9C1F10BE43FA}"/>
              </a:ext>
            </a:extLst>
          </p:cNvPr>
          <p:cNvSpPr txBox="1"/>
          <p:nvPr/>
        </p:nvSpPr>
        <p:spPr>
          <a:xfrm>
            <a:off x="3916692" y="248975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H: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F6A5AFA-C9A0-7E47-9FF0-F01BC0857319}"/>
              </a:ext>
            </a:extLst>
          </p:cNvPr>
          <p:cNvSpPr txBox="1"/>
          <p:nvPr/>
        </p:nvSpPr>
        <p:spPr>
          <a:xfrm>
            <a:off x="6088322" y="2895600"/>
            <a:ext cx="26746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R: register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</a:t>
            </a:r>
          </a:p>
          <a:p>
            <a:r>
              <a:rPr kumimoji="1" lang="en-US" altLang="zh-CN" dirty="0"/>
              <a:t>S:</a:t>
            </a:r>
            <a:r>
              <a:rPr kumimoji="1" lang="zh-CN" altLang="en-US" dirty="0"/>
              <a:t> </a:t>
            </a:r>
            <a:r>
              <a:rPr kumimoji="1" lang="en-US" altLang="zh-CN" dirty="0"/>
              <a:t>symbol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</a:p>
          <a:p>
            <a:r>
              <a:rPr kumimoji="1" lang="en-US" altLang="zh-CN" dirty="0"/>
              <a:t>H: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</a:p>
        </p:txBody>
      </p:sp>
      <p:cxnSp>
        <p:nvCxnSpPr>
          <p:cNvPr id="26" name="曲线连接符 25">
            <a:extLst>
              <a:ext uri="{FF2B5EF4-FFF2-40B4-BE49-F238E27FC236}">
                <a16:creationId xmlns:a16="http://schemas.microsoft.com/office/drawing/2014/main" id="{563D5942-04BD-4747-8BF8-E2BBA80CEF22}"/>
              </a:ext>
            </a:extLst>
          </p:cNvPr>
          <p:cNvCxnSpPr>
            <a:stCxn id="11" idx="3"/>
            <a:endCxn id="10" idx="3"/>
          </p:cNvCxnSpPr>
          <p:nvPr/>
        </p:nvCxnSpPr>
        <p:spPr>
          <a:xfrm flipV="1">
            <a:off x="5029200" y="5295900"/>
            <a:ext cx="12700" cy="381000"/>
          </a:xfrm>
          <a:prstGeom prst="curvedConnector3">
            <a:avLst>
              <a:gd name="adj1" fmla="val 26275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曲线连接符 27">
            <a:extLst>
              <a:ext uri="{FF2B5EF4-FFF2-40B4-BE49-F238E27FC236}">
                <a16:creationId xmlns:a16="http://schemas.microsoft.com/office/drawing/2014/main" id="{A7DBF7BE-6659-1343-ACB5-318543EEA743}"/>
              </a:ext>
            </a:extLst>
          </p:cNvPr>
          <p:cNvCxnSpPr>
            <a:cxnSpLocks/>
            <a:stCxn id="13" idx="3"/>
            <a:endCxn id="11" idx="3"/>
          </p:cNvCxnSpPr>
          <p:nvPr/>
        </p:nvCxnSpPr>
        <p:spPr>
          <a:xfrm flipV="1">
            <a:off x="5029200" y="5676900"/>
            <a:ext cx="12700" cy="762000"/>
          </a:xfrm>
          <a:prstGeom prst="curvedConnector3">
            <a:avLst>
              <a:gd name="adj1" fmla="val 26275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剪去对角的矩形 13">
            <a:extLst>
              <a:ext uri="{FF2B5EF4-FFF2-40B4-BE49-F238E27FC236}">
                <a16:creationId xmlns:a16="http://schemas.microsoft.com/office/drawing/2014/main" id="{548386EF-AC8E-D540-8C5C-36CA1D2FF89B}"/>
              </a:ext>
            </a:extLst>
          </p:cNvPr>
          <p:cNvSpPr/>
          <p:nvPr/>
        </p:nvSpPr>
        <p:spPr>
          <a:xfrm>
            <a:off x="2743200" y="2819400"/>
            <a:ext cx="457200" cy="38100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BC3153C-3C79-2749-B867-EA98AD7317AD}"/>
              </a:ext>
            </a:extLst>
          </p:cNvPr>
          <p:cNvSpPr/>
          <p:nvPr/>
        </p:nvSpPr>
        <p:spPr>
          <a:xfrm>
            <a:off x="4267200" y="3962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DC6500-5690-A04C-A77E-BCC256B18672}"/>
              </a:ext>
            </a:extLst>
          </p:cNvPr>
          <p:cNvSpPr/>
          <p:nvPr/>
        </p:nvSpPr>
        <p:spPr>
          <a:xfrm>
            <a:off x="4267200" y="3581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01476A6-75B1-8340-8084-ED3F7A24B710}"/>
              </a:ext>
            </a:extLst>
          </p:cNvPr>
          <p:cNvSpPr/>
          <p:nvPr/>
        </p:nvSpPr>
        <p:spPr>
          <a:xfrm>
            <a:off x="4263396" y="2820578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BEA833-F346-E746-A13F-0EFB60F90EFF}"/>
              </a:ext>
            </a:extLst>
          </p:cNvPr>
          <p:cNvSpPr/>
          <p:nvPr/>
        </p:nvSpPr>
        <p:spPr>
          <a:xfrm>
            <a:off x="4267200" y="3200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47817FF-AA30-ED46-9C7E-6CABC7ACB09A}"/>
              </a:ext>
            </a:extLst>
          </p:cNvPr>
          <p:cNvSpPr txBox="1"/>
          <p:nvPr/>
        </p:nvSpPr>
        <p:spPr>
          <a:xfrm>
            <a:off x="2286000" y="2520434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R:</a:t>
            </a:r>
            <a:endParaRPr kumimoji="1" lang="zh-CN" altLang="en-US" dirty="0"/>
          </a:p>
        </p:txBody>
      </p:sp>
      <p:sp>
        <p:nvSpPr>
          <p:cNvPr id="32" name="剪去对角的矩形 31">
            <a:extLst>
              <a:ext uri="{FF2B5EF4-FFF2-40B4-BE49-F238E27FC236}">
                <a16:creationId xmlns:a16="http://schemas.microsoft.com/office/drawing/2014/main" id="{465ECCCC-33EE-D741-B3C2-E92B4B2D59E3}"/>
              </a:ext>
            </a:extLst>
          </p:cNvPr>
          <p:cNvSpPr/>
          <p:nvPr/>
        </p:nvSpPr>
        <p:spPr>
          <a:xfrm>
            <a:off x="2743200" y="3276600"/>
            <a:ext cx="457200" cy="38100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33" name="剪去对角的矩形 32">
            <a:extLst>
              <a:ext uri="{FF2B5EF4-FFF2-40B4-BE49-F238E27FC236}">
                <a16:creationId xmlns:a16="http://schemas.microsoft.com/office/drawing/2014/main" id="{5D7D913B-1A14-1A47-BDB3-9F0AD6101B8A}"/>
              </a:ext>
            </a:extLst>
          </p:cNvPr>
          <p:cNvSpPr/>
          <p:nvPr/>
        </p:nvSpPr>
        <p:spPr>
          <a:xfrm>
            <a:off x="2743200" y="3733800"/>
            <a:ext cx="457200" cy="38100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D6E42453-679B-554E-929E-7CB265A5F1D9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3178066" y="3390900"/>
            <a:ext cx="1089134" cy="53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A28A90F2-6308-864D-AEC0-D791977838CC}"/>
                  </a:ext>
                </a:extLst>
              </p:cNvPr>
              <p:cNvSpPr/>
              <p:nvPr/>
            </p:nvSpPr>
            <p:spPr>
              <a:xfrm>
                <a:off x="5892453" y="4362951"/>
                <a:ext cx="13070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⟦"/>
                        <m:endChr m:val="⟧"/>
                        <m:ctrlPr>
                          <a:rPr kumimoji="1" lang="zh-CN" altLang="en-US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en-US" altLang="zh-CN" dirty="0">
                    <a:solidFill>
                      <a:srgbClr val="0432FF"/>
                    </a:solidFill>
                  </a:rPr>
                  <a:t> =</a:t>
                </a:r>
                <a:r>
                  <a:rPr kumimoji="1" lang="zh-CN" altLang="en-US" dirty="0">
                    <a:solidFill>
                      <a:srgbClr val="0432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kumimoji="1" lang="zh-CN" altLang="en-US" dirty="0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A28A90F2-6308-864D-AEC0-D791977838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453" y="4362951"/>
                <a:ext cx="1307024" cy="369332"/>
              </a:xfrm>
              <a:prstGeom prst="rect">
                <a:avLst/>
              </a:prstGeom>
              <a:blipFill>
                <a:blip r:embed="rId2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6582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60C97-EB3D-F54C-A4A7-3ABE0247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F79252-D329-7D44-9089-A03F4A9C36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2057400"/>
                <a:ext cx="3846512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zh-CN" sz="2400" dirty="0"/>
                  <a:t>x=y</a:t>
                </a:r>
                <a:r>
                  <a:rPr kumimoji="1" lang="zh-CN" altLang="en-US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y=x</a:t>
                </a:r>
              </a:p>
              <a:p>
                <a:pPr marL="0" indent="0">
                  <a:buNone/>
                </a:pPr>
                <a:endParaRPr kumimoji="1"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 → 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1"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⟦"/>
                          <m:endChr m:val="⟧"/>
                          <m:ctrlPr>
                            <a:rPr kumimoji="1"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1"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))=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))</m:t>
                      </m:r>
                      <m:r>
                        <a:rPr kumimoji="1"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))=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kumimoji="1" lang="en-US" altLang="zh-CN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F79252-D329-7D44-9089-A03F4A9C36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2057400"/>
                <a:ext cx="3846512" cy="4114800"/>
              </a:xfrm>
              <a:blipFill>
                <a:blip r:embed="rId2"/>
                <a:stretch>
                  <a:fillRect l="-2303" t="-1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7FACAF03-BA54-B64D-BC6B-DC3200F1F31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0" y="2057400"/>
                <a:ext cx="4267200" cy="41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 typeface="Wingdings" pitchFamily="2" charset="2"/>
                  <a:buNone/>
                </a:pPr>
                <a:r>
                  <a:rPr kumimoji="1" lang="en-US" altLang="zh-CN" sz="2400" kern="0" dirty="0"/>
                  <a:t>x=y</a:t>
                </a:r>
                <a:r>
                  <a:rPr kumimoji="1" lang="zh-CN" altLang="en-US" sz="2400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zh-CN" altLang="en-US" sz="2400" kern="0" dirty="0"/>
                  <a:t> </a:t>
                </a:r>
                <a:r>
                  <a:rPr kumimoji="1" lang="en-US" altLang="zh-CN" sz="2400" kern="0" dirty="0"/>
                  <a:t>y=x</a:t>
                </a:r>
              </a:p>
              <a:p>
                <a:pPr marL="0" indent="0">
                  <a:buFont typeface="Wingdings" pitchFamily="2" charset="2"/>
                  <a:buNone/>
                </a:pPr>
                <a:endParaRPr kumimoji="1" lang="en-US" altLang="zh-CN" sz="2400" kern="0" dirty="0"/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sz="2400" i="1" kern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 → </m:t>
                          </m:r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1" lang="en-US" altLang="zh-CN" sz="2400" kern="0" dirty="0"/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sz="2400" i="1" kern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kumimoji="1" lang="en-US" altLang="zh-CN" sz="24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⟦"/>
                          <m:endChr m:val="⟧"/>
                          <m:ctrlPr>
                            <a:rPr kumimoji="1" lang="zh-CN" altLang="en-US" sz="2400" i="1" ker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kumimoji="1" lang="en-US" altLang="zh-CN" sz="2400" kern="0" dirty="0"/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kern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zh-CN" sz="2400" i="1" ker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i="1" kern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i="1" ker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sz="2400" b="0" i="1" kern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zh-CN" sz="2400" i="1" ker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i="1" kern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400" i="1" ker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zh-CN" sz="240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sz="24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zh-CN" sz="2400" i="1" ker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i="1" kern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zh-CN" sz="2400" i="1" ker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sz="2400" b="0" i="1" kern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zh-CN" sz="2400" i="1" ker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i="1" kern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400" i="1" ker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400" kern="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7FACAF03-BA54-B64D-BC6B-DC3200F1F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2057400"/>
                <a:ext cx="4267200" cy="4114800"/>
              </a:xfrm>
              <a:prstGeom prst="rect">
                <a:avLst/>
              </a:prstGeom>
              <a:blipFill>
                <a:blip r:embed="rId3"/>
                <a:stretch>
                  <a:fillRect l="-2381" t="-12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36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F8552-D4C5-EA4E-BB46-6DDD4F9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partitions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839BFC-81AA-4F4B-B843-B86EB17C4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basic</a:t>
            </a:r>
            <a:r>
              <a:rPr kumimoji="1" lang="zh-CN" altLang="en-US" dirty="0"/>
              <a:t> </a:t>
            </a:r>
            <a:r>
              <a:rPr kumimoji="1" lang="en-US" altLang="zh-CN" dirty="0"/>
              <a:t>idea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partition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further</a:t>
            </a:r>
          </a:p>
          <a:p>
            <a:pPr lvl="1"/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fine-grained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</a:p>
          <a:p>
            <a:pPr lvl="1"/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reason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subtle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properties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</a:p>
          <a:p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study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type-based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approach</a:t>
            </a:r>
          </a:p>
        </p:txBody>
      </p:sp>
    </p:spTree>
    <p:extLst>
      <p:ext uri="{BB962C8B-B14F-4D97-AF65-F5344CB8AC3E}">
        <p14:creationId xmlns:p14="http://schemas.microsoft.com/office/powerpoint/2010/main" val="45801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FB077-6FDB-3B48-BA07-3AA87E09D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partitions</a:t>
            </a:r>
            <a:endParaRPr kumimoji="1"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FACF588-2964-1144-BE18-1248F4E79C7B}"/>
              </a:ext>
            </a:extLst>
          </p:cNvPr>
          <p:cNvSpPr/>
          <p:nvPr/>
        </p:nvSpPr>
        <p:spPr>
          <a:xfrm>
            <a:off x="1181100" y="4343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x</a:t>
            </a:r>
            <a:endParaRPr kumimoji="1"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4A39CFC-E6F2-1C4D-805A-738535CA0F78}"/>
              </a:ext>
            </a:extLst>
          </p:cNvPr>
          <p:cNvSpPr/>
          <p:nvPr/>
        </p:nvSpPr>
        <p:spPr>
          <a:xfrm>
            <a:off x="1181100" y="49530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y</a:t>
            </a:r>
            <a:endParaRPr kumimoji="1" lang="zh-CN" altLang="en-US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4A59696-0086-004C-B9CE-815042894FF9}"/>
              </a:ext>
            </a:extLst>
          </p:cNvPr>
          <p:cNvSpPr/>
          <p:nvPr/>
        </p:nvSpPr>
        <p:spPr>
          <a:xfrm>
            <a:off x="1181100" y="55626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</a:t>
            </a:r>
            <a:endParaRPr kumimoji="1"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87CC8E0-6591-1B4A-ABAA-1ABBF17D5312}"/>
              </a:ext>
            </a:extLst>
          </p:cNvPr>
          <p:cNvSpPr/>
          <p:nvPr/>
        </p:nvSpPr>
        <p:spPr>
          <a:xfrm>
            <a:off x="1181100" y="61722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q</a:t>
            </a:r>
            <a:endParaRPr kumimoji="1"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B13A55-0676-6740-8F08-FB7D15808AFD}"/>
              </a:ext>
            </a:extLst>
          </p:cNvPr>
          <p:cNvSpPr/>
          <p:nvPr/>
        </p:nvSpPr>
        <p:spPr>
          <a:xfrm>
            <a:off x="2705100" y="4343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236D39-211E-FD4B-98E7-CBBFC96474B1}"/>
              </a:ext>
            </a:extLst>
          </p:cNvPr>
          <p:cNvSpPr/>
          <p:nvPr/>
        </p:nvSpPr>
        <p:spPr>
          <a:xfrm>
            <a:off x="2705100" y="4724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88</a:t>
            </a:r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38F31F-F8A5-694A-9A36-D7F29D9D37BF}"/>
              </a:ext>
            </a:extLst>
          </p:cNvPr>
          <p:cNvSpPr/>
          <p:nvPr/>
        </p:nvSpPr>
        <p:spPr>
          <a:xfrm>
            <a:off x="2705100" y="5105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99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A1A20F-F3E5-424E-84A4-ABA7A422EBFB}"/>
              </a:ext>
            </a:extLst>
          </p:cNvPr>
          <p:cNvSpPr/>
          <p:nvPr/>
        </p:nvSpPr>
        <p:spPr>
          <a:xfrm>
            <a:off x="2705100" y="5486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1149BC-48EE-2A49-A3D3-7EB5D4713799}"/>
              </a:ext>
            </a:extLst>
          </p:cNvPr>
          <p:cNvSpPr/>
          <p:nvPr/>
        </p:nvSpPr>
        <p:spPr>
          <a:xfrm>
            <a:off x="2705100" y="5867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C2438-7ADA-E84F-A770-55569DBAB505}"/>
              </a:ext>
            </a:extLst>
          </p:cNvPr>
          <p:cNvSpPr/>
          <p:nvPr/>
        </p:nvSpPr>
        <p:spPr>
          <a:xfrm>
            <a:off x="2705100" y="6248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B8D6CC9E-2143-A84B-BEF2-9DC6E74B196B}"/>
              </a:ext>
            </a:extLst>
          </p:cNvPr>
          <p:cNvCxnSpPr>
            <a:stCxn id="4" idx="6"/>
            <a:endCxn id="9" idx="1"/>
          </p:cNvCxnSpPr>
          <p:nvPr/>
        </p:nvCxnSpPr>
        <p:spPr>
          <a:xfrm>
            <a:off x="1562100" y="4533900"/>
            <a:ext cx="11430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2E36A0A0-B9CD-0A48-94C3-E3212FF108D1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562100" y="5161757"/>
            <a:ext cx="1143000" cy="134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A6AEB60D-6966-4647-AE5D-86032F29EC3F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1568669" y="5676900"/>
            <a:ext cx="1136431" cy="71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0F4E2C58-72FB-0142-8F53-39D14582D5A3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556845" y="6359526"/>
            <a:ext cx="1148255" cy="79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56397922-7F1C-174E-88D5-164378E48505}"/>
              </a:ext>
            </a:extLst>
          </p:cNvPr>
          <p:cNvSpPr txBox="1"/>
          <p:nvPr/>
        </p:nvSpPr>
        <p:spPr>
          <a:xfrm>
            <a:off x="685800" y="430755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S: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9D87CE2-2133-9A41-8CDF-9C1F10BE43FA}"/>
              </a:ext>
            </a:extLst>
          </p:cNvPr>
          <p:cNvSpPr txBox="1"/>
          <p:nvPr/>
        </p:nvSpPr>
        <p:spPr>
          <a:xfrm>
            <a:off x="2354592" y="248975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H: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F6A5AFA-C9A0-7E47-9FF0-F01BC0857319}"/>
              </a:ext>
            </a:extLst>
          </p:cNvPr>
          <p:cNvSpPr txBox="1"/>
          <p:nvPr/>
        </p:nvSpPr>
        <p:spPr>
          <a:xfrm>
            <a:off x="4373892" y="1942237"/>
            <a:ext cx="45700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observation: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these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var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declarations: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 err="1">
                <a:solidFill>
                  <a:srgbClr val="0432FF"/>
                </a:solidFill>
              </a:rPr>
              <a:t>int</a:t>
            </a:r>
            <a:r>
              <a:rPr kumimoji="1" lang="zh-CN" altLang="en-US" dirty="0">
                <a:solidFill>
                  <a:srgbClr val="0432FF"/>
                </a:solidFill>
              </a:rPr>
              <a:t> *</a:t>
            </a:r>
            <a:r>
              <a:rPr kumimoji="1" lang="en-US" altLang="zh-CN" dirty="0">
                <a:solidFill>
                  <a:srgbClr val="0432FF"/>
                </a:solidFill>
              </a:rPr>
              <a:t>p;</a:t>
            </a:r>
          </a:p>
          <a:p>
            <a:r>
              <a:rPr kumimoji="1" lang="en-US" altLang="zh-CN" dirty="0" err="1">
                <a:solidFill>
                  <a:srgbClr val="0432FF"/>
                </a:solidFill>
              </a:rPr>
              <a:t>int</a:t>
            </a:r>
            <a:r>
              <a:rPr kumimoji="1" lang="zh-CN" altLang="en-US" dirty="0">
                <a:solidFill>
                  <a:srgbClr val="0432FF"/>
                </a:solidFill>
              </a:rPr>
              <a:t> **</a:t>
            </a:r>
            <a:r>
              <a:rPr kumimoji="1" lang="en-US" altLang="zh-CN" dirty="0">
                <a:solidFill>
                  <a:srgbClr val="0432FF"/>
                </a:solidFill>
              </a:rPr>
              <a:t>q;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p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q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alias?</a:t>
            </a:r>
          </a:p>
          <a:p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is,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they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same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address?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answer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NO.</a:t>
            </a:r>
          </a:p>
          <a:p>
            <a:r>
              <a:rPr kumimoji="1" lang="en-US" altLang="zh-CN" dirty="0"/>
              <a:t>(recall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don’t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conversion!)</a:t>
            </a:r>
          </a:p>
        </p:txBody>
      </p:sp>
      <p:cxnSp>
        <p:nvCxnSpPr>
          <p:cNvPr id="26" name="曲线连接符 25">
            <a:extLst>
              <a:ext uri="{FF2B5EF4-FFF2-40B4-BE49-F238E27FC236}">
                <a16:creationId xmlns:a16="http://schemas.microsoft.com/office/drawing/2014/main" id="{563D5942-04BD-4747-8BF8-E2BBA80CEF22}"/>
              </a:ext>
            </a:extLst>
          </p:cNvPr>
          <p:cNvCxnSpPr>
            <a:stCxn id="11" idx="3"/>
            <a:endCxn id="10" idx="3"/>
          </p:cNvCxnSpPr>
          <p:nvPr/>
        </p:nvCxnSpPr>
        <p:spPr>
          <a:xfrm flipV="1">
            <a:off x="3467100" y="5295900"/>
            <a:ext cx="12700" cy="381000"/>
          </a:xfrm>
          <a:prstGeom prst="curvedConnector3">
            <a:avLst>
              <a:gd name="adj1" fmla="val 26275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曲线连接符 27">
            <a:extLst>
              <a:ext uri="{FF2B5EF4-FFF2-40B4-BE49-F238E27FC236}">
                <a16:creationId xmlns:a16="http://schemas.microsoft.com/office/drawing/2014/main" id="{A7DBF7BE-6659-1343-ACB5-318543EEA743}"/>
              </a:ext>
            </a:extLst>
          </p:cNvPr>
          <p:cNvCxnSpPr>
            <a:cxnSpLocks/>
            <a:stCxn id="13" idx="3"/>
            <a:endCxn id="11" idx="3"/>
          </p:cNvCxnSpPr>
          <p:nvPr/>
        </p:nvCxnSpPr>
        <p:spPr>
          <a:xfrm flipV="1">
            <a:off x="3467100" y="5676900"/>
            <a:ext cx="12700" cy="762000"/>
          </a:xfrm>
          <a:prstGeom prst="curvedConnector3">
            <a:avLst>
              <a:gd name="adj1" fmla="val 26275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剪去对角的矩形 13">
            <a:extLst>
              <a:ext uri="{FF2B5EF4-FFF2-40B4-BE49-F238E27FC236}">
                <a16:creationId xmlns:a16="http://schemas.microsoft.com/office/drawing/2014/main" id="{548386EF-AC8E-D540-8C5C-36CA1D2FF89B}"/>
              </a:ext>
            </a:extLst>
          </p:cNvPr>
          <p:cNvSpPr/>
          <p:nvPr/>
        </p:nvSpPr>
        <p:spPr>
          <a:xfrm>
            <a:off x="1181100" y="2819400"/>
            <a:ext cx="457200" cy="38100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</a:t>
            </a:r>
            <a:endParaRPr kumimoji="1"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BC3153C-3C79-2749-B867-EA98AD7317AD}"/>
              </a:ext>
            </a:extLst>
          </p:cNvPr>
          <p:cNvSpPr/>
          <p:nvPr/>
        </p:nvSpPr>
        <p:spPr>
          <a:xfrm>
            <a:off x="2705100" y="3962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DC6500-5690-A04C-A77E-BCC256B18672}"/>
              </a:ext>
            </a:extLst>
          </p:cNvPr>
          <p:cNvSpPr/>
          <p:nvPr/>
        </p:nvSpPr>
        <p:spPr>
          <a:xfrm>
            <a:off x="2705100" y="3581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01476A6-75B1-8340-8084-ED3F7A24B710}"/>
              </a:ext>
            </a:extLst>
          </p:cNvPr>
          <p:cNvSpPr/>
          <p:nvPr/>
        </p:nvSpPr>
        <p:spPr>
          <a:xfrm>
            <a:off x="2701296" y="2820578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8BEA833-F346-E746-A13F-0EFB60F90EFF}"/>
              </a:ext>
            </a:extLst>
          </p:cNvPr>
          <p:cNvSpPr/>
          <p:nvPr/>
        </p:nvSpPr>
        <p:spPr>
          <a:xfrm>
            <a:off x="2705100" y="3200400"/>
            <a:ext cx="762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47817FF-AA30-ED46-9C7E-6CABC7ACB09A}"/>
              </a:ext>
            </a:extLst>
          </p:cNvPr>
          <p:cNvSpPr txBox="1"/>
          <p:nvPr/>
        </p:nvSpPr>
        <p:spPr>
          <a:xfrm>
            <a:off x="723900" y="2520434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R:</a:t>
            </a:r>
            <a:endParaRPr kumimoji="1" lang="zh-CN" altLang="en-US" dirty="0"/>
          </a:p>
        </p:txBody>
      </p:sp>
      <p:sp>
        <p:nvSpPr>
          <p:cNvPr id="32" name="剪去对角的矩形 31">
            <a:extLst>
              <a:ext uri="{FF2B5EF4-FFF2-40B4-BE49-F238E27FC236}">
                <a16:creationId xmlns:a16="http://schemas.microsoft.com/office/drawing/2014/main" id="{465ECCCC-33EE-D741-B3C2-E92B4B2D59E3}"/>
              </a:ext>
            </a:extLst>
          </p:cNvPr>
          <p:cNvSpPr/>
          <p:nvPr/>
        </p:nvSpPr>
        <p:spPr>
          <a:xfrm>
            <a:off x="1181100" y="3276600"/>
            <a:ext cx="457200" cy="38100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33" name="剪去对角的矩形 32">
            <a:extLst>
              <a:ext uri="{FF2B5EF4-FFF2-40B4-BE49-F238E27FC236}">
                <a16:creationId xmlns:a16="http://schemas.microsoft.com/office/drawing/2014/main" id="{5D7D913B-1A14-1A47-BDB3-9F0AD6101B8A}"/>
              </a:ext>
            </a:extLst>
          </p:cNvPr>
          <p:cNvSpPr/>
          <p:nvPr/>
        </p:nvSpPr>
        <p:spPr>
          <a:xfrm>
            <a:off x="1181100" y="3733800"/>
            <a:ext cx="457200" cy="381000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D6E42453-679B-554E-929E-7CB265A5F1D9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1615966" y="3390900"/>
            <a:ext cx="1089134" cy="53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75A44217-201E-E04D-9D27-CC6F9A5D28F4}"/>
              </a:ext>
            </a:extLst>
          </p:cNvPr>
          <p:cNvSpPr txBox="1"/>
          <p:nvPr/>
        </p:nvSpPr>
        <p:spPr>
          <a:xfrm>
            <a:off x="4495800" y="5449614"/>
            <a:ext cx="4448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So,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vars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difference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types,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partition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H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into</a:t>
            </a:r>
            <a:r>
              <a:rPr kumimoji="1" lang="zh-CN" altLang="en-US" dirty="0"/>
              <a:t> </a:t>
            </a:r>
            <a:r>
              <a:rPr kumimoji="1" lang="en-US" altLang="zh-CN" dirty="0"/>
              <a:t>different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H</a:t>
            </a:r>
            <a:r>
              <a:rPr kumimoji="1" lang="zh-CN" altLang="en-US" dirty="0"/>
              <a:t>*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H</a:t>
            </a:r>
            <a:r>
              <a:rPr kumimoji="1" lang="zh-CN" altLang="en-US" dirty="0"/>
              <a:t>**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etc..</a:t>
            </a:r>
          </a:p>
        </p:txBody>
      </p:sp>
    </p:spTree>
    <p:extLst>
      <p:ext uri="{BB962C8B-B14F-4D97-AF65-F5344CB8AC3E}">
        <p14:creationId xmlns:p14="http://schemas.microsoft.com/office/powerpoint/2010/main" val="1184964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60C97-EB3D-F54C-A4A7-3ABE0247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F79252-D329-7D44-9089-A03F4A9C36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2057400"/>
                <a:ext cx="44958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kumimoji="1" lang="zh-CN" altLang="en-US" sz="2400" dirty="0">
                    <a:solidFill>
                      <a:srgbClr val="0432FF"/>
                    </a:solidFill>
                  </a:rPr>
                  <a:t>*</a:t>
                </a:r>
                <a:r>
                  <a:rPr kumimoji="1" lang="en-US" altLang="zh-CN" sz="2400" dirty="0">
                    <a:solidFill>
                      <a:srgbClr val="0432FF"/>
                    </a:solidFill>
                  </a:rPr>
                  <a:t>p=1</a:t>
                </a:r>
                <a:r>
                  <a:rPr kumimoji="1" lang="en-US" altLang="zh-CN" sz="240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zh-CN" altLang="en-US" sz="2400" dirty="0">
                    <a:solidFill>
                      <a:srgbClr val="0432FF"/>
                    </a:solidFill>
                  </a:rPr>
                  <a:t> **</a:t>
                </a:r>
                <a:r>
                  <a:rPr kumimoji="1" lang="en-US" altLang="zh-CN" sz="2400" dirty="0">
                    <a:solidFill>
                      <a:srgbClr val="0432FF"/>
                    </a:solidFill>
                  </a:rPr>
                  <a:t>q=1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sz="2400" dirty="0">
                    <a:solidFill>
                      <a:srgbClr val="0432FF"/>
                    </a:solidFill>
                  </a:rPr>
                  <a:t> p!=q</a:t>
                </a:r>
              </a:p>
              <a:p>
                <a:pPr marL="0" indent="0">
                  <a:buNone/>
                </a:pPr>
                <a:endParaRPr kumimoji="1"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zh-CN" alt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=1∧</m:t>
                          </m:r>
                          <m:r>
                            <a:rPr kumimoji="1" lang="zh-CN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3.14</m:t>
                          </m:r>
                          <m:r>
                            <a:rPr kumimoji="1"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kumimoji="1"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d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1"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kumimoji="1" lang="en-US" altLang="zh-CN" sz="2400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F79252-D329-7D44-9089-A03F4A9C36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2057400"/>
                <a:ext cx="4495800" cy="4114800"/>
              </a:xfrm>
              <a:blipFill>
                <a:blip r:embed="rId2"/>
                <a:stretch>
                  <a:fillRect l="-1972" t="-1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231F386-D67A-2F45-8484-F025FA7EAD1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0" y="2057400"/>
                <a:ext cx="4495800" cy="411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Font typeface="Wingdings" pitchFamily="2" charset="2"/>
                  <a:buNone/>
                </a:pPr>
                <a:r>
                  <a:rPr kumimoji="1" lang="zh-CN" altLang="en-US" sz="2400" kern="0" dirty="0">
                    <a:solidFill>
                      <a:srgbClr val="0432FF"/>
                    </a:solidFill>
                  </a:rPr>
                  <a:t>*</a:t>
                </a:r>
                <a:r>
                  <a:rPr kumimoji="1" lang="en-US" altLang="zh-CN" sz="2400" kern="0" dirty="0">
                    <a:solidFill>
                      <a:srgbClr val="0432FF"/>
                    </a:solidFill>
                  </a:rPr>
                  <a:t>p=1</a:t>
                </a:r>
                <a:r>
                  <a:rPr kumimoji="1" lang="en-US" altLang="zh-CN" sz="2400" kern="0" dirty="0">
                    <a:solidFill>
                      <a:srgbClr val="0432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 ker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kumimoji="1" lang="zh-CN" altLang="en-US" sz="2400" kern="0" dirty="0">
                    <a:solidFill>
                      <a:srgbClr val="0432FF"/>
                    </a:solidFill>
                  </a:rPr>
                  <a:t> **</a:t>
                </a:r>
                <a:r>
                  <a:rPr kumimoji="1" lang="en-US" altLang="zh-CN" sz="2400" kern="0" dirty="0">
                    <a:solidFill>
                      <a:srgbClr val="0432FF"/>
                    </a:solidFill>
                  </a:rPr>
                  <a:t>q=1 </a:t>
                </a:r>
                <a14:m>
                  <m:oMath xmlns:m="http://schemas.openxmlformats.org/officeDocument/2006/math">
                    <m:r>
                      <a:rPr kumimoji="1" lang="en-US" altLang="zh-CN" sz="2400" i="1" kern="0">
                        <a:solidFill>
                          <a:srgbClr val="0432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zh-CN" sz="2400" kern="0" dirty="0">
                    <a:solidFill>
                      <a:srgbClr val="0432FF"/>
                    </a:solidFill>
                  </a:rPr>
                  <a:t> p!=q</a:t>
                </a:r>
              </a:p>
              <a:p>
                <a:pPr marL="0" indent="0">
                  <a:buFont typeface="Wingdings" pitchFamily="2" charset="2"/>
                  <a:buNone/>
                </a:pPr>
                <a:endParaRPr kumimoji="1" lang="en-US" altLang="zh-CN" sz="2400" kern="0" dirty="0"/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⟦"/>
                          <m:endChr m:val="⟧"/>
                          <m:ctrlPr>
                            <a:rPr kumimoji="1" lang="zh-CN" altLang="en-US" sz="2400" i="1" kern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zh-CN" altLang="en-US" sz="2400" i="1" kern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=1∧</m:t>
                          </m:r>
                          <m:r>
                            <a:rPr kumimoji="1" lang="zh-CN" altLang="en-US" sz="240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</a:rPr>
                            <m:t>3.14</m:t>
                          </m:r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kumimoji="1" lang="en-US" altLang="zh-CN" sz="2400" kern="0" dirty="0"/>
              </a:p>
              <a:p>
                <a:pPr marL="0" indent="0">
                  <a:buFont typeface="Wingdings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 kern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sz="2400" b="0" i="1" kern="0" smtClean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kumimoji="1" lang="en-US" altLang="zh-CN" sz="2400" i="1" kern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kumimoji="1" lang="en-US" altLang="zh-CN" sz="2400" i="1" kern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i="1" ker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d>
                      <m:r>
                        <a:rPr kumimoji="1" lang="en-US" altLang="zh-CN" sz="2400" i="1" ker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i="1" kern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4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kumimoji="1" lang="en-US" altLang="zh-CN" sz="24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sz="24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1(</m:t>
                      </m:r>
                      <m:r>
                        <a:rPr kumimoji="1" lang="en-US" altLang="zh-CN" sz="24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zh-CN" sz="24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kumimoji="1" lang="en-US" altLang="zh-CN" sz="2400" i="1" ker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kumimoji="1" lang="en-US" altLang="zh-CN" sz="2400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400" i="1" kern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kumimoji="1" lang="en-US" altLang="zh-CN" sz="2400" b="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kumimoji="1" lang="en-US" altLang="zh-CN" sz="2400" i="1" ker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kumimoji="1" lang="en-US" altLang="zh-CN" sz="240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kumimoji="1" lang="en-US" altLang="zh-CN" sz="2400" i="1" kern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kumimoji="1" lang="en-US" altLang="zh-CN" sz="2400" i="1" kern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 ker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kumimoji="1" lang="en-US" altLang="zh-CN" sz="2400" i="1" kern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kumimoji="1" lang="en-US" altLang="zh-CN" sz="2400" i="1" ker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i="1" kern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kumimoji="1" lang="en-US" altLang="zh-CN" sz="2400" i="1" kern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i="1" kern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kumimoji="1" lang="en-US" altLang="zh-CN" sz="2400" kern="0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6231F386-D67A-2F45-8484-F025FA7EA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2057400"/>
                <a:ext cx="4495800" cy="4114800"/>
              </a:xfrm>
              <a:prstGeom prst="rect">
                <a:avLst/>
              </a:prstGeom>
              <a:blipFill>
                <a:blip r:embed="rId3"/>
                <a:stretch>
                  <a:fillRect l="-2260" t="-12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77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235E0-2140-1443-8812-35B3F42F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1CB86-007F-444F-B16D-27C398152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reason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about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pointer-based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programs,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develop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logic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insight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establish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</a:p>
          <a:p>
            <a:pPr lvl="1"/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reduced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an</a:t>
            </a:r>
            <a:r>
              <a:rPr kumimoji="1" lang="zh-CN" altLang="en-US" dirty="0"/>
              <a:t> </a:t>
            </a:r>
            <a:r>
              <a:rPr kumimoji="1" lang="en-US" altLang="zh-CN" dirty="0"/>
              <a:t>array</a:t>
            </a:r>
            <a:r>
              <a:rPr kumimoji="1" lang="zh-CN" altLang="en-US" dirty="0"/>
              <a:t> </a:t>
            </a:r>
            <a:r>
              <a:rPr kumimoji="1" lang="en-US" altLang="zh-CN" dirty="0"/>
              <a:t>or</a:t>
            </a:r>
            <a:r>
              <a:rPr kumimoji="1" lang="zh-CN" altLang="en-US" dirty="0"/>
              <a:t> </a:t>
            </a:r>
            <a:r>
              <a:rPr kumimoji="1" lang="en-US" altLang="zh-CN" dirty="0"/>
              <a:t>uninterpreted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theory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829183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21044</TotalTime>
  <Words>1344</Words>
  <Application>Microsoft Macintosh PowerPoint</Application>
  <PresentationFormat>全屏显示(4:3)</PresentationFormat>
  <Paragraphs>277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Arial</vt:lpstr>
      <vt:lpstr>Cambria Math</vt:lpstr>
      <vt:lpstr>Courier New</vt:lpstr>
      <vt:lpstr>Symbol</vt:lpstr>
      <vt:lpstr>Tahoma</vt:lpstr>
      <vt:lpstr>Wingdings</vt:lpstr>
      <vt:lpstr>Blends</vt:lpstr>
      <vt:lpstr>Pointer programs</vt:lpstr>
      <vt:lpstr>Motivation: theory</vt:lpstr>
      <vt:lpstr>Satisfiability modulo theory (SMT)</vt:lpstr>
      <vt:lpstr>Motivation: pointers</vt:lpstr>
      <vt:lpstr>Motivation: pointers</vt:lpstr>
      <vt:lpstr>Memory model</vt:lpstr>
      <vt:lpstr>Memory model</vt:lpstr>
      <vt:lpstr> </vt:lpstr>
      <vt:lpstr>Pointers: the syntax</vt:lpstr>
      <vt:lpstr>Example</vt:lpstr>
      <vt:lpstr>Semantics</vt:lpstr>
      <vt:lpstr>Semantics: propositions</vt:lpstr>
      <vt:lpstr>Semantics: expressions</vt:lpstr>
      <vt:lpstr>Semantics: pointers</vt:lpstr>
      <vt:lpstr>Example</vt:lpstr>
      <vt:lpstr> </vt:lpstr>
      <vt:lpstr>Semantics-based decision procedure</vt:lpstr>
      <vt:lpstr>Decision procedure</vt:lpstr>
      <vt:lpstr>Example</vt:lpstr>
      <vt:lpstr>Pure variables</vt:lpstr>
      <vt:lpstr>Extended memory model</vt:lpstr>
      <vt:lpstr>Example</vt:lpstr>
      <vt:lpstr>Memory partitions</vt:lpstr>
      <vt:lpstr>Memory partitions</vt:lpstr>
      <vt:lpstr>Example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Microsoft Office User</cp:lastModifiedBy>
  <cp:revision>4843</cp:revision>
  <cp:lastPrinted>1601-01-01T00:00:00Z</cp:lastPrinted>
  <dcterms:created xsi:type="dcterms:W3CDTF">1601-01-01T00:00:00Z</dcterms:created>
  <dcterms:modified xsi:type="dcterms:W3CDTF">2025-11-12T08:23:50Z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
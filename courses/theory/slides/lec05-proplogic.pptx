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44"/>
  </p:handoutMasterIdLst>
  <p:sldIdLst>
    <p:sldId id="256" r:id="rId2"/>
    <p:sldId id="321" r:id="rId3"/>
    <p:sldId id="327" r:id="rId4"/>
    <p:sldId id="328" r:id="rId5"/>
    <p:sldId id="322" r:id="rId6"/>
    <p:sldId id="329" r:id="rId7"/>
    <p:sldId id="330" r:id="rId8"/>
    <p:sldId id="331" r:id="rId9"/>
    <p:sldId id="332" r:id="rId10"/>
    <p:sldId id="333" r:id="rId11"/>
    <p:sldId id="323" r:id="rId12"/>
    <p:sldId id="335" r:id="rId13"/>
    <p:sldId id="338" r:id="rId14"/>
    <p:sldId id="339" r:id="rId15"/>
    <p:sldId id="340" r:id="rId16"/>
    <p:sldId id="363" r:id="rId17"/>
    <p:sldId id="341" r:id="rId18"/>
    <p:sldId id="365" r:id="rId19"/>
    <p:sldId id="366" r:id="rId20"/>
    <p:sldId id="367" r:id="rId21"/>
    <p:sldId id="364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5" r:id="rId35"/>
    <p:sldId id="354" r:id="rId36"/>
    <p:sldId id="356" r:id="rId37"/>
    <p:sldId id="357" r:id="rId38"/>
    <p:sldId id="358" r:id="rId39"/>
    <p:sldId id="359" r:id="rId40"/>
    <p:sldId id="361" r:id="rId41"/>
    <p:sldId id="360" r:id="rId42"/>
    <p:sldId id="362" r:id="rId43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6"/>
    <p:restoredTop sz="94658"/>
  </p:normalViewPr>
  <p:slideViewPr>
    <p:cSldViewPr>
      <p:cViewPr varScale="1">
        <p:scale>
          <a:sx n="120" d="100"/>
          <a:sy n="120" d="100"/>
        </p:scale>
        <p:origin x="13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Propositional</a:t>
            </a:r>
            <a:r>
              <a:rPr lang="zh-CN" altLang="en-US" dirty="0"/>
              <a:t> </a:t>
            </a:r>
            <a:r>
              <a:rPr lang="en-US" altLang="zh-CN" dirty="0"/>
              <a:t>logic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Mathematical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mathematical field to study </a:t>
            </a:r>
            <a:r>
              <a:rPr kumimoji="1" lang="en-US" altLang="zh-CN" dirty="0">
                <a:solidFill>
                  <a:srgbClr val="0432FF"/>
                </a:solidFill>
              </a:rPr>
              <a:t>reasoning</a:t>
            </a:r>
          </a:p>
          <a:p>
            <a:pPr lvl="1"/>
            <a:r>
              <a:rPr kumimoji="1" lang="en-US" altLang="zh-CN" dirty="0"/>
              <a:t>Proof theory, set theory, model theory, recursion theory</a:t>
            </a:r>
          </a:p>
          <a:p>
            <a:pPr lvl="1"/>
            <a:r>
              <a:rPr kumimoji="1" lang="en-US" altLang="zh-CN" dirty="0"/>
              <a:t>Many connection to other fields of math.</a:t>
            </a:r>
          </a:p>
          <a:p>
            <a:pPr lvl="2"/>
            <a:r>
              <a:rPr kumimoji="1" lang="en-US" altLang="zh-CN" dirty="0"/>
              <a:t>The foundation of math</a:t>
            </a:r>
          </a:p>
          <a:p>
            <a:r>
              <a:rPr kumimoji="1" lang="en-US" altLang="zh-CN" dirty="0"/>
              <a:t>Also deep connection to CS:</a:t>
            </a:r>
          </a:p>
          <a:p>
            <a:pPr lvl="1"/>
            <a:r>
              <a:rPr kumimoji="1" lang="en-US" altLang="zh-CN" dirty="0"/>
              <a:t>Type theory, logic programming, computer-aided verification (CAV), etc..</a:t>
            </a:r>
          </a:p>
        </p:txBody>
      </p:sp>
    </p:spTree>
    <p:extLst>
      <p:ext uri="{BB962C8B-B14F-4D97-AF65-F5344CB8AC3E}">
        <p14:creationId xmlns:p14="http://schemas.microsoft.com/office/powerpoint/2010/main" val="53991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Topics in this course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 study propositional and predicate logic</a:t>
            </a:r>
          </a:p>
          <a:p>
            <a:pPr lvl="1"/>
            <a:r>
              <a:rPr kumimoji="1" lang="en-US" altLang="zh-CN" dirty="0"/>
              <a:t>Both the classical one and constructive one</a:t>
            </a:r>
          </a:p>
          <a:p>
            <a:r>
              <a:rPr kumimoji="1" lang="en-US" altLang="zh-CN" dirty="0"/>
              <a:t>From a more CS and algorithmic point of view:</a:t>
            </a:r>
          </a:p>
          <a:p>
            <a:pPr lvl="1"/>
            <a:r>
              <a:rPr kumimoji="1" lang="en-US" altLang="zh-CN" dirty="0"/>
              <a:t>Computer aided proof engineering, SAT/SMT, etc..</a:t>
            </a:r>
          </a:p>
          <a:p>
            <a:pPr lvl="1"/>
            <a:r>
              <a:rPr kumimoji="1" lang="en-US" altLang="zh-CN" dirty="0"/>
              <a:t>Application to many practical CS problems</a:t>
            </a:r>
          </a:p>
        </p:txBody>
      </p:sp>
    </p:spTree>
    <p:extLst>
      <p:ext uri="{BB962C8B-B14F-4D97-AF65-F5344CB8AC3E}">
        <p14:creationId xmlns:p14="http://schemas.microsoft.com/office/powerpoint/2010/main" val="24537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Brief history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0909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Early time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5599112" cy="4114800"/>
          </a:xfrm>
        </p:spPr>
        <p:txBody>
          <a:bodyPr/>
          <a:lstStyle/>
          <a:p>
            <a:r>
              <a:rPr kumimoji="1" lang="en-US" altLang="zh-CN" dirty="0"/>
              <a:t>Formal logic appeared 2000 years ago</a:t>
            </a:r>
          </a:p>
          <a:p>
            <a:pPr lvl="1"/>
            <a:r>
              <a:rPr kumimoji="1" lang="en-US" altLang="zh-CN" dirty="0"/>
              <a:t>China/India/Greece…</a:t>
            </a:r>
          </a:p>
          <a:p>
            <a:pPr lvl="1"/>
            <a:r>
              <a:rPr kumimoji="1" lang="en-US" altLang="zh-CN" dirty="0"/>
              <a:t>More close to philosophy</a:t>
            </a:r>
          </a:p>
          <a:p>
            <a:pPr lvl="1"/>
            <a:r>
              <a:rPr kumimoji="1" lang="en-US" altLang="zh-CN" dirty="0" err="1"/>
              <a:t>Mozi</a:t>
            </a:r>
            <a:r>
              <a:rPr kumimoji="1" lang="en-US" altLang="zh-CN" dirty="0"/>
              <a:t>/Plato/Aristotle/…</a:t>
            </a:r>
          </a:p>
          <a:p>
            <a:r>
              <a:rPr kumimoji="1" lang="en-US" altLang="zh-CN" dirty="0"/>
              <a:t>Not rigorous enough, but the modern propositional/predicate logic appeared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CAA777-3DEA-C245-BC09-0D3FF6DDE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017713"/>
            <a:ext cx="1143000" cy="1397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16B1BA-0439-6A44-AC09-987B62230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581399"/>
            <a:ext cx="990600" cy="11144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04B0386-D5BA-1E4C-AC8F-B4FDBA5E1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5029200"/>
            <a:ext cx="9652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Modern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6208712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Start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from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19</a:t>
                </a:r>
                <a:r>
                  <a:rPr kumimoji="1" lang="en-US" altLang="zh-CN" baseline="30000" dirty="0"/>
                  <a:t>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century</a:t>
                </a:r>
              </a:p>
              <a:p>
                <a:pPr lvl="1"/>
                <a:r>
                  <a:rPr kumimoji="1" lang="en-US" altLang="zh-CN" dirty="0"/>
                  <a:t>Bool: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bool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algebra</a:t>
                </a:r>
              </a:p>
              <a:p>
                <a:pPr lvl="2"/>
                <a:r>
                  <a:rPr kumimoji="1" lang="en-US" altLang="zh-CN" dirty="0"/>
                  <a:t>1+1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1+0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</a:t>
                </a:r>
              </a:p>
              <a:p>
                <a:pPr lvl="2"/>
                <a:r>
                  <a:rPr kumimoji="1" lang="en-US" altLang="zh-CN" dirty="0"/>
                  <a:t>0+1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0+0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0</a:t>
                </a:r>
              </a:p>
              <a:p>
                <a:pPr lvl="2"/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*</a:t>
                </a:r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*</a:t>
                </a:r>
                <a:r>
                  <a:rPr kumimoji="1" lang="en-US" altLang="zh-CN" dirty="0"/>
                  <a:t>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0</a:t>
                </a:r>
              </a:p>
              <a:p>
                <a:pPr lvl="2"/>
                <a:r>
                  <a:rPr kumimoji="1" lang="en-US" altLang="zh-CN" dirty="0"/>
                  <a:t>0</a:t>
                </a:r>
                <a:r>
                  <a:rPr kumimoji="1" lang="zh-CN" altLang="en-US" dirty="0"/>
                  <a:t>*</a:t>
                </a:r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0,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0</a:t>
                </a:r>
                <a:r>
                  <a:rPr kumimoji="1" lang="zh-CN" altLang="en-US" dirty="0"/>
                  <a:t>*</a:t>
                </a:r>
                <a:r>
                  <a:rPr kumimoji="1" lang="en-US" altLang="zh-CN" dirty="0"/>
                  <a:t>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0</a:t>
                </a:r>
              </a:p>
              <a:p>
                <a:pPr lvl="1"/>
                <a:r>
                  <a:rPr kumimoji="1" lang="en-US" altLang="zh-CN" dirty="0"/>
                  <a:t>Here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operator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+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*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modern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6208712" cy="4114800"/>
              </a:xfrm>
              <a:blipFill>
                <a:blip r:embed="rId2"/>
                <a:stretch>
                  <a:fillRect l="-612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912C14D-11BD-304F-A9A2-4CD5A804F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954213"/>
            <a:ext cx="1206500" cy="161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5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Modern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6208712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origin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modern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due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 err="1"/>
                  <a:t>Frege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Introduce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modern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notations: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kumimoji="1" lang="en-US" altLang="zh-CN" dirty="0"/>
                  <a:t>x.(P(x)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/>
                  <a:t>Q(x))</a:t>
                </a:r>
              </a:p>
              <a:p>
                <a:pPr lvl="1"/>
                <a:r>
                  <a:rPr kumimoji="1" lang="en-US" altLang="zh-CN" dirty="0"/>
                  <a:t>Introduce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axioms</a:t>
                </a:r>
              </a:p>
              <a:p>
                <a:pPr lvl="2"/>
                <a:r>
                  <a:rPr kumimoji="1" lang="en-US" altLang="zh-CN" dirty="0"/>
                  <a:t>Become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rigorous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mathematical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subject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6208712" cy="4114800"/>
              </a:xfrm>
              <a:blipFill>
                <a:blip r:embed="rId2"/>
                <a:stretch>
                  <a:fillRect l="-612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88ACABBC-D54C-C744-8CCC-B37A20CA2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021724"/>
            <a:ext cx="141111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3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Hilbert‘s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6208712" cy="4114800"/>
          </a:xfrm>
        </p:spPr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appeared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paradox</a:t>
            </a:r>
          </a:p>
          <a:p>
            <a:pPr lvl="1"/>
            <a:r>
              <a:rPr kumimoji="1" lang="en-US" altLang="zh-CN" dirty="0"/>
              <a:t>Russell’s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(hair-cutter,</a:t>
            </a:r>
            <a:r>
              <a:rPr kumimoji="1" lang="zh-CN" altLang="en-US" dirty="0"/>
              <a:t> </a:t>
            </a:r>
            <a:r>
              <a:rPr kumimoji="1" lang="en-US" altLang="zh-CN" dirty="0"/>
              <a:t>God)</a:t>
            </a:r>
          </a:p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formalize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mathematics,</a:t>
            </a:r>
            <a:r>
              <a:rPr kumimoji="1" lang="zh-CN" altLang="en-US" dirty="0"/>
              <a:t> </a:t>
            </a:r>
            <a:r>
              <a:rPr kumimoji="1" lang="en-US" altLang="zh-CN" dirty="0"/>
              <a:t>Hilbert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introduced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axiomatic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approach:</a:t>
            </a:r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10</a:t>
            </a:r>
            <a:r>
              <a:rPr kumimoji="1" lang="en-US" altLang="zh-CN" baseline="30000" dirty="0"/>
              <a:t>th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DDF699-A19A-D048-844A-706B45ADF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875" y="2017713"/>
            <a:ext cx="1693005" cy="229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2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Incompleteness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6208712" cy="4114800"/>
          </a:xfrm>
        </p:spPr>
        <p:txBody>
          <a:bodyPr/>
          <a:lstStyle/>
          <a:p>
            <a:r>
              <a:rPr kumimoji="1" lang="en-US" altLang="zh-CN" dirty="0"/>
              <a:t>Gödel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incompleteness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theorem</a:t>
            </a:r>
          </a:p>
          <a:p>
            <a:pPr lvl="1"/>
            <a:r>
              <a:rPr kumimoji="1" lang="en-US" altLang="zh-CN" dirty="0"/>
              <a:t>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nontrivial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axioms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incomplete</a:t>
            </a:r>
          </a:p>
          <a:p>
            <a:pPr lvl="2"/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always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disprove</a:t>
            </a:r>
          </a:p>
          <a:p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Hilbert’s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impossible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25B301-BA13-B84D-9DFD-1A06A6F19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089" y="1905000"/>
            <a:ext cx="1495778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5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Propositional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logic:</a:t>
            </a:r>
          </a:p>
          <a:p>
            <a:pPr marL="0" indent="0" algn="ctr">
              <a:buNone/>
            </a:pPr>
            <a:r>
              <a:rPr kumimoji="1" lang="en-US" altLang="zh-CN" i="1" dirty="0"/>
              <a:t>The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syntax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6520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zh-CN" altLang="en-US" dirty="0"/>
                  <a:t>         </a:t>
                </a:r>
                <a:r>
                  <a:rPr kumimoji="1" lang="en-US" altLang="zh-CN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::=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</a:t>
                </a:r>
              </a:p>
              <a:p>
                <a:pPr marL="0" indent="0">
                  <a:buNone/>
                </a:pPr>
                <a:r>
                  <a:rPr kumimoji="1" lang="zh-CN" altLang="en-US" dirty="0"/>
                  <a:t>               </a:t>
                </a:r>
                <a:r>
                  <a:rPr kumimoji="1" lang="en-US" altLang="zh-CN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zh-CN" altLang="en-US" dirty="0">
                    <a:ea typeface="Cambria Math" panose="02040503050406030204" pitchFamily="18" charset="0"/>
                  </a:rPr>
                  <a:t>              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zh-CN" altLang="en-US" dirty="0"/>
                  <a:t>               </a:t>
                </a:r>
                <a:r>
                  <a:rPr kumimoji="1" lang="en-US" altLang="zh-CN" dirty="0"/>
                  <a:t>|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b="0" i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i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b="0" i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i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b="0" i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dirty="0"/>
                        <m:t>|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2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ED672B7-630A-6142-A67A-C139C5E4CBAA}"/>
              </a:ext>
            </a:extLst>
          </p:cNvPr>
          <p:cNvSpPr txBox="1"/>
          <p:nvPr/>
        </p:nvSpPr>
        <p:spPr>
          <a:xfrm>
            <a:off x="5213183" y="2176209"/>
            <a:ext cx="309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01C8FBF5-5997-7147-A9A8-CDE511AA9DE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841583" y="2328609"/>
            <a:ext cx="1371600" cy="32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7071B79-EF3A-324E-8AF1-A5F5B1669C77}"/>
              </a:ext>
            </a:extLst>
          </p:cNvPr>
          <p:cNvSpPr txBox="1"/>
          <p:nvPr/>
        </p:nvSpPr>
        <p:spPr>
          <a:xfrm>
            <a:off x="5105400" y="2743200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Top</a:t>
            </a:r>
            <a:r>
              <a:rPr kumimoji="1" lang="zh-CN" altLang="en-US" dirty="0"/>
              <a:t> </a:t>
            </a:r>
            <a:r>
              <a:rPr kumimoji="1" lang="en-US" altLang="zh-CN" dirty="0"/>
              <a:t>element: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“true”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8C4754F-8080-1847-B15E-338CE9C5FE2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038600" y="2895602"/>
            <a:ext cx="1066800" cy="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F4F429C-E46F-5240-AEFF-38D16A74FFCA}"/>
              </a:ext>
            </a:extLst>
          </p:cNvPr>
          <p:cNvSpPr txBox="1"/>
          <p:nvPr/>
        </p:nvSpPr>
        <p:spPr>
          <a:xfrm>
            <a:off x="5029200" y="336446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Bottom</a:t>
            </a:r>
            <a:r>
              <a:rPr kumimoji="1" lang="zh-CN" altLang="en-US" dirty="0"/>
              <a:t> </a:t>
            </a:r>
            <a:r>
              <a:rPr kumimoji="1" lang="en-US" altLang="zh-CN" dirty="0"/>
              <a:t>element: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“false”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73C379BF-21DE-4F4C-97A7-CAF7A602A6D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962400" y="3516870"/>
            <a:ext cx="1066800" cy="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0E5FE1A-33D5-0D47-A609-D05DF337E621}"/>
              </a:ext>
            </a:extLst>
          </p:cNvPr>
          <p:cNvSpPr txBox="1"/>
          <p:nvPr/>
        </p:nvSpPr>
        <p:spPr>
          <a:xfrm>
            <a:off x="5610225" y="3897868"/>
            <a:ext cx="300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Disjunction: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“or”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B00776F-65D7-BA49-A1CD-C1B6348C30E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4543425" y="4050270"/>
            <a:ext cx="1066800" cy="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FB4EFC7-31A5-4E4D-97B8-39978C1B3493}"/>
              </a:ext>
            </a:extLst>
          </p:cNvPr>
          <p:cNvSpPr txBox="1"/>
          <p:nvPr/>
        </p:nvSpPr>
        <p:spPr>
          <a:xfrm>
            <a:off x="5686425" y="4431268"/>
            <a:ext cx="300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Conjunction: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“and”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EB32B35-320D-2848-8180-E848ACA0EB1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619625" y="4583670"/>
            <a:ext cx="1066800" cy="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B85435A-0642-2843-9390-1BE96901896C}"/>
              </a:ext>
            </a:extLst>
          </p:cNvPr>
          <p:cNvSpPr txBox="1"/>
          <p:nvPr/>
        </p:nvSpPr>
        <p:spPr>
          <a:xfrm>
            <a:off x="5715000" y="4876800"/>
            <a:ext cx="208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Imply: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“if”</a:t>
            </a:r>
            <a:endParaRPr kumimoji="1" lang="zh-CN" altLang="en-US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B3E3C27-98D9-744F-A01B-2B4FC7E2E7EB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4648200" y="5029202"/>
            <a:ext cx="1066800" cy="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83D4A08-F390-9443-AE36-67635BA8E99F}"/>
              </a:ext>
            </a:extLst>
          </p:cNvPr>
          <p:cNvSpPr txBox="1"/>
          <p:nvPr/>
        </p:nvSpPr>
        <p:spPr>
          <a:xfrm>
            <a:off x="5486400" y="53340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Negation: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“not”</a:t>
            </a:r>
            <a:endParaRPr kumimoji="1" lang="zh-CN" altLang="en-US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8910786-A4D4-FF4A-9A88-6D8B64D08CD0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419600" y="5486402"/>
            <a:ext cx="1066800" cy="3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4" grpId="0"/>
      <p:bldP spid="17" grpId="0"/>
      <p:bldP spid="20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</a:t>
            </a:r>
            <a:r>
              <a:rPr kumimoji="1" lang="zh-CN" altLang="en-US" dirty="0"/>
              <a:t> </a:t>
            </a:r>
            <a:r>
              <a:rPr kumimoji="1" lang="en-US" altLang="zh-CN" dirty="0"/>
              <a:t>view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5294312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just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language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defined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CFG:</a:t>
                </a:r>
                <a:r>
                  <a:rPr kumimoji="1" lang="zh-CN" altLang="en-US" dirty="0"/>
                  <a:t>          </a:t>
                </a:r>
                <a:endParaRPr kumimoji="1" lang="en-US" altLang="zh-CN" dirty="0"/>
              </a:p>
              <a:p>
                <a:pPr lvl="1"/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standard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parsing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etc..</a:t>
                </a:r>
              </a:p>
              <a:p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abstract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syntax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b="0" i="1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 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kumimoji="1" lang="en-US" altLang="zh-CN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&amp;&amp;Q</a:t>
                </a:r>
                <a:r>
                  <a:rPr kumimoji="1"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||</a:t>
                </a:r>
                <a:r>
                  <a:rPr kumimoji="1"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!R</a:t>
                </a: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5294312" cy="4114800"/>
              </a:xfrm>
              <a:blipFill>
                <a:blip r:embed="rId2"/>
                <a:stretch>
                  <a:fillRect l="-718" t="-1846" r="-478" b="-3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02010C27-BF23-7047-81EC-4A9CE76C055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486400" y="1981200"/>
                <a:ext cx="35052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zh-CN" altLang="en-US" i="1" kern="0" dirty="0">
                    <a:latin typeface="Cambria Math" panose="02040503050406030204" pitchFamily="18" charset="0"/>
                  </a:rPr>
                  <a:t>             </a:t>
                </a:r>
                <a:r>
                  <a:rPr kumimoji="1" lang="en-US" altLang="zh-CN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::=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/>
                  <a:t>               </a:t>
                </a:r>
                <a:r>
                  <a:rPr kumimoji="1" lang="en-US" altLang="zh-CN" kern="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>
                    <a:ea typeface="Cambria Math" panose="02040503050406030204" pitchFamily="18" charset="0"/>
                  </a:rPr>
                  <a:t>               </a:t>
                </a:r>
                <a:r>
                  <a:rPr kumimoji="1" lang="en-US" altLang="zh-CN" kern="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/>
                  <a:t>               </a:t>
                </a:r>
                <a:r>
                  <a:rPr kumimoji="1" lang="en-US" altLang="zh-CN" kern="0" dirty="0"/>
                  <a:t>|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ker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i="1" kern="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i="1" kern="0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i="0" kern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i="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i="0" kern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i="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 kern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i="0" kern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kern="0" dirty="0"/>
                        <m:t>|</m:t>
                      </m:r>
                      <m:r>
                        <a:rPr kumimoji="1" lang="zh-CN" altLang="en-US" i="1" kern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endParaRPr kumimoji="1" lang="en-US" altLang="zh-CN" kern="0" dirty="0"/>
              </a:p>
            </p:txBody>
          </p:sp>
        </mc:Choice>
        <mc:Fallback xmlns="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02010C27-BF23-7047-81EC-4A9CE76C0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1981200"/>
                <a:ext cx="3505200" cy="4114800"/>
              </a:xfrm>
              <a:prstGeom prst="rect">
                <a:avLst/>
              </a:prstGeom>
              <a:blipFill>
                <a:blip r:embed="rId3"/>
                <a:stretch>
                  <a:fillRect l="-3623" t="-2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5294312" cy="4114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en-US" altLang="zh-CN" i="1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¬¬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¬¬</m:t>
                    </m:r>
                    <m:r>
                      <m:rPr>
                        <m:nor/>
                      </m:rP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zh-CN" b="0" dirty="0"/>
              </a:p>
              <a:p>
                <a:pPr marL="0" indent="0">
                  <a:buNone/>
                </a:pP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5294312" cy="4114800"/>
              </a:xfrm>
              <a:blipFill>
                <a:blip r:embed="rId2"/>
                <a:stretch>
                  <a:fillRect l="-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02010C27-BF23-7047-81EC-4A9CE76C055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486400" y="1981200"/>
                <a:ext cx="35052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zh-CN" altLang="en-US" i="1" kern="0" dirty="0">
                    <a:latin typeface="Cambria Math" panose="02040503050406030204" pitchFamily="18" charset="0"/>
                  </a:rPr>
                  <a:t>             </a:t>
                </a:r>
                <a:r>
                  <a:rPr kumimoji="1" lang="en-US" altLang="zh-CN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::=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/>
                  <a:t>               </a:t>
                </a:r>
                <a:r>
                  <a:rPr kumimoji="1" lang="en-US" altLang="zh-CN" kern="0" dirty="0"/>
                  <a:t>|</a:t>
                </a:r>
                <a14:m>
                  <m:oMath xmlns:m="http://schemas.openxmlformats.org/officeDocument/2006/math">
                    <m:r>
                      <a:rPr kumimoji="1" lang="zh-CN" altLang="en-US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kumimoji="1" lang="en-US" altLang="zh-CN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>
                    <a:ea typeface="Cambria Math" panose="02040503050406030204" pitchFamily="18" charset="0"/>
                  </a:rPr>
                  <a:t>               </a:t>
                </a:r>
                <a:r>
                  <a:rPr kumimoji="1" lang="en-US" altLang="zh-CN" kern="0" dirty="0">
                    <a:ea typeface="Cambria Math" panose="02040503050406030204" pitchFamily="18" charset="0"/>
                  </a:rPr>
                  <a:t>|</a:t>
                </a:r>
                <a:r>
                  <a:rPr kumimoji="1" lang="zh-CN" altLang="en-US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kern="0" dirty="0"/>
                  <a:t>               </a:t>
                </a:r>
                <a:r>
                  <a:rPr kumimoji="1" lang="en-US" altLang="zh-CN" kern="0" dirty="0"/>
                  <a:t>|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ker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zh-CN" altLang="en-US" i="1" kern="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i="1" kern="0" dirty="0">
                    <a:latin typeface="Cambria Math" panose="02040503050406030204" pitchFamily="18" charset="0"/>
                  </a:rPr>
                  <a:t>P</a:t>
                </a: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i="0" kern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i="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 ker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i="0" kern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kern="0" dirty="0"/>
                        <m:t>|</m:t>
                      </m:r>
                      <m:r>
                        <m:rPr>
                          <m:nor/>
                        </m:rPr>
                        <a:rPr kumimoji="1" lang="zh-CN" altLang="en-US" i="0" kern="0" dirty="0"/>
                        <m:t> 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kumimoji="1" lang="zh-CN" altLang="en-US" i="1" kern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kumimoji="1" lang="zh-CN" altLang="en-US" i="0" kern="0" dirty="0" smtClean="0"/>
                        <m:t>               </m:t>
                      </m:r>
                      <m:r>
                        <m:rPr>
                          <m:nor/>
                        </m:rPr>
                        <a:rPr kumimoji="1" lang="en-US" altLang="zh-CN" i="0" kern="0" dirty="0"/>
                        <m:t>|</m:t>
                      </m:r>
                      <m:r>
                        <a:rPr kumimoji="1" lang="zh-CN" altLang="en-US" i="1" kern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m:rPr>
                          <m:nor/>
                        </m:rPr>
                        <a:rPr kumimoji="1" lang="en-US" altLang="zh-CN" i="1" kern="0" dirty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kumimoji="1"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Wingdings" pitchFamily="2" charset="2"/>
                  <a:buNone/>
                </a:pPr>
                <a:endParaRPr kumimoji="1" lang="en-US" altLang="zh-CN" kern="0" dirty="0"/>
              </a:p>
            </p:txBody>
          </p:sp>
        </mc:Choice>
        <mc:Fallback xmlns="">
          <p:sp>
            <p:nvSpPr>
              <p:cNvPr id="19" name="内容占位符 2">
                <a:extLst>
                  <a:ext uri="{FF2B5EF4-FFF2-40B4-BE49-F238E27FC236}">
                    <a16:creationId xmlns:a16="http://schemas.microsoft.com/office/drawing/2014/main" id="{02010C27-BF23-7047-81EC-4A9CE76C0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1981200"/>
                <a:ext cx="3505200" cy="4114800"/>
              </a:xfrm>
              <a:prstGeom prst="rect">
                <a:avLst/>
              </a:prstGeom>
              <a:blipFill>
                <a:blip r:embed="rId3"/>
                <a:stretch>
                  <a:fillRect l="-3623" t="-2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193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Propositional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logic:</a:t>
            </a:r>
          </a:p>
          <a:p>
            <a:pPr marL="0" indent="0" algn="ctr">
              <a:buNone/>
            </a:pPr>
            <a:r>
              <a:rPr kumimoji="1" lang="en-US" altLang="zh-CN" i="1" dirty="0"/>
              <a:t>The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proof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system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878628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D7338-D1A0-F54B-B23F-5999B0F3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Goals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50343-1F75-9E40-87A7-49EFB6837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establish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validity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propositions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kumimoji="1" lang="en-US" altLang="zh-CN" i="1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valid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kumimoji="1" lang="en-US" altLang="zh-CN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kumimoji="1"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is</a:t>
                </a:r>
                <a:r>
                  <a:rPr kumimoji="1" lang="zh-CN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</a:rPr>
                  <a:t>not</a:t>
                </a:r>
              </a:p>
              <a:p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system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establish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this</a:t>
                </a:r>
              </a:p>
              <a:p>
                <a:r>
                  <a:rPr kumimoji="1" lang="en-US" altLang="zh-CN" dirty="0"/>
                  <a:t>Different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styles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such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systems</a:t>
                </a:r>
              </a:p>
              <a:p>
                <a:pPr lvl="1"/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math,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Hilbert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style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popular</a:t>
                </a:r>
              </a:p>
              <a:p>
                <a:pPr lvl="1"/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CS,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natural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deduction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popular,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because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easy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implement</a:t>
                </a:r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250343-1F75-9E40-87A7-49EFB6837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1846" b="-7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74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D9E6-4CDE-9493-C834-0CE9424E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F6BDE-72D5-E2F6-B241-D1ACB70F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Brief</a:t>
            </a:r>
            <a:r>
              <a:rPr kumimoji="1" lang="zh-CN" altLang="en-US" dirty="0"/>
              <a:t> </a:t>
            </a:r>
            <a:r>
              <a:rPr kumimoji="1" lang="en-US" altLang="zh-CN" dirty="0"/>
              <a:t>History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44872-7830-7717-5096-DED4A74F4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6513512" cy="4114800"/>
          </a:xfrm>
        </p:spPr>
        <p:txBody>
          <a:bodyPr/>
          <a:lstStyle/>
          <a:p>
            <a:r>
              <a:rPr lang="nl-NL" altLang="zh-CN" dirty="0"/>
              <a:t>Gerhard </a:t>
            </a:r>
            <a:r>
              <a:rPr lang="nl-NL" altLang="zh-CN" dirty="0" err="1"/>
              <a:t>Gentzen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1934/35</a:t>
            </a:r>
          </a:p>
          <a:p>
            <a:pPr lvl="1"/>
            <a:r>
              <a:rPr lang="zh-CN" altLang="zh-CN" dirty="0"/>
              <a:t>Untersuchungen über das logische Schließen</a:t>
            </a:r>
            <a:endParaRPr lang="en-US" altLang="zh-CN" dirty="0"/>
          </a:p>
          <a:p>
            <a:pPr lvl="2"/>
            <a:r>
              <a:rPr lang="en-US" altLang="zh-CN" dirty="0"/>
              <a:t>Investigations into Logical Reasoning</a:t>
            </a:r>
            <a:endParaRPr lang="zh-CN" altLang="zh-CN" dirty="0"/>
          </a:p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itself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9B8266-5435-72B6-9701-E8643730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9" y="2017713"/>
            <a:ext cx="1127273" cy="16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9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7F270-AA76-8A4B-8B8C-F775F99A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11951C-1764-D141-AF08-2BA3416EE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sz="2400" dirty="0"/>
                  <a:t>Suppose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aim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proposition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Reads: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“if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suppose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Q”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rewrite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target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</a:t>
                </a:r>
                <a:r>
                  <a:rPr kumimoji="1" lang="zh-CN" altLang="en-US" sz="2400" dirty="0"/>
                  <a:t>  </a:t>
                </a:r>
                <a:endParaRPr kumimoji="1" lang="en-US" altLang="zh-CN" sz="2400" dirty="0"/>
              </a:p>
              <a:p>
                <a:pPr marL="0" indent="0" algn="ctr">
                  <a:buNone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where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assumption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Q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target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So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that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proceed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Q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11951C-1764-D141-AF08-2BA3416EE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305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083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3AED-34E3-C508-F8D9-3E9C86E9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AE6D3-9C5B-5C12-7C8C-7E5A78CA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0D56A3-0971-3E34-EC41-A28B9D54A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sz="2400" dirty="0"/>
                  <a:t>One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converted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into</a:t>
                </a:r>
                <a:r>
                  <a:rPr kumimoji="1" lang="zh-CN" altLang="en-US" sz="2400" dirty="0"/>
                  <a:t>  </a:t>
                </a:r>
                <a:endParaRPr kumimoji="1" lang="en-US" altLang="zh-CN" sz="2400" dirty="0"/>
              </a:p>
              <a:p>
                <a:pPr marL="0" indent="0" algn="ctr">
                  <a:buNone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because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assumption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target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original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proposition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valid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0D56A3-0971-3E34-EC41-A28B9D54A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305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296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F6BF-D54D-0141-009B-102121A8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13F70-8F16-BA99-7D45-7F91A02C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68A6BE-6346-D759-F5D8-16E02472E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sz="2400" dirty="0"/>
                  <a:t>Another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/\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converted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into</a:t>
                </a:r>
                <a:r>
                  <a:rPr kumimoji="1" lang="zh-CN" altLang="en-US" sz="2400" dirty="0"/>
                  <a:t>  </a:t>
                </a:r>
                <a:endParaRPr kumimoji="1" lang="en-US" altLang="zh-CN" sz="2400" dirty="0"/>
              </a:p>
              <a:p>
                <a:pPr marL="0" indent="0" algn="ctr">
                  <a:buNone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/\</m:t>
                    </m:r>
                    <m:r>
                      <a:rPr kumimoji="1"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converted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two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sub-goals:</a:t>
                </a:r>
              </a:p>
              <a:p>
                <a:pPr marL="0" indent="0" algn="ctr">
                  <a:buNone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</a:t>
                </a: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dirty="0"/>
                  <a:t>both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trivially.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68A6BE-6346-D759-F5D8-16E02472E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305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695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FEFC-0622-D3FF-500E-3B1EEEA5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46372-3A77-0DA4-9AA4-B7BEFA96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56A17E-8388-0CE7-2E94-8629CC2D3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sz="2400" dirty="0"/>
                  <a:t>Yet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another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/\</m:t>
                      </m:r>
                      <m:r>
                        <m:rPr>
                          <m:sty m:val="p"/>
                        </m:rP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/\</m:t>
                      </m:r>
                      <m:r>
                        <a:rPr kumimoji="1" lang="en-US" altLang="zh-CN" sz="2400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converted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into</a:t>
                </a:r>
                <a:r>
                  <a:rPr kumimoji="1" lang="zh-CN" altLang="en-US" sz="2400" dirty="0"/>
                  <a:t>  </a:t>
                </a:r>
                <a:endParaRPr kumimoji="1" lang="en-US" altLang="zh-CN" sz="2400" dirty="0"/>
              </a:p>
              <a:p>
                <a:pPr marL="0" indent="0" algn="ctr">
                  <a:buNone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/\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converted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two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sub-goals:</a:t>
                </a:r>
              </a:p>
              <a:p>
                <a:pPr marL="457200" indent="-457200" algn="ctr">
                  <a:buAutoNum type="arabicParenBoth"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</a:t>
                </a:r>
                <a:endParaRPr kumimoji="1" lang="en-US" altLang="zh-CN" sz="2400" i="1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 algn="ctr">
                  <a:buAutoNum type="arabicParenBoth"/>
                </a:pPr>
                <a:r>
                  <a:rPr kumimoji="1" lang="en-US" altLang="zh-CN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zh-CN" altLang="en-US" sz="2400" i="1" dirty="0">
                    <a:solidFill>
                      <a:srgbClr val="0432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sz="24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dirty="0"/>
                  <a:t>both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proved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trivially.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56A17E-8388-0CE7-2E94-8629CC2D3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305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09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F628-9B13-620D-686F-B9BB0479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5FA09-2939-AD47-8167-9818F785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judgments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0A6C88-FEE9-66A9-4E2E-230FD8143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Judgment: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where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is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a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list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of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propostions</m:t>
                    </m:r>
                    <m:r>
                      <a:rPr kumimoji="1" lang="en-US" altLang="zh-CN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target</m:t>
                    </m:r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propostion</m:t>
                      </m:r>
                      <m:r>
                        <a:rPr kumimoji="1" lang="en-US" altLang="zh-CN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1" lang="en-US" altLang="zh-CN" dirty="0"/>
              </a:p>
              <a:p>
                <a:r>
                  <a:rPr kumimoji="1" lang="en-US" altLang="zh-CN" dirty="0"/>
                  <a:t>Meaning: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under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assumption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provable.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Example: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P/\Q,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Q,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r>
                  <a:rPr kumimoji="1" lang="zh-CN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0A6C88-FEE9-66A9-4E2E-230FD8143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958" t="-1846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083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takes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form: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3444813-500E-8643-BF18-6D570FB4FB8D}"/>
                  </a:ext>
                </a:extLst>
              </p:cNvPr>
              <p:cNvSpPr txBox="1"/>
              <p:nvPr/>
            </p:nvSpPr>
            <p:spPr>
              <a:xfrm>
                <a:off x="2057400" y="296521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zh-CN" baseline="-250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3444813-500E-8643-BF18-6D570FB4F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965212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0D8887A-20CF-1944-AEE8-880AACF5FB86}"/>
                  </a:ext>
                </a:extLst>
              </p:cNvPr>
              <p:cNvSpPr txBox="1"/>
              <p:nvPr/>
            </p:nvSpPr>
            <p:spPr>
              <a:xfrm>
                <a:off x="5943600" y="298526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en-US" altLang="zh-CN" baseline="-250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0D8887A-20CF-1944-AEE8-880AACF5F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985265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37A2006-3181-924D-AB72-1844F9754B08}"/>
                  </a:ext>
                </a:extLst>
              </p:cNvPr>
              <p:cNvSpPr txBox="1"/>
              <p:nvPr/>
            </p:nvSpPr>
            <p:spPr>
              <a:xfrm>
                <a:off x="3992479" y="2951203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37A2006-3181-924D-AB72-1844F9754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479" y="2951203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𝑛𝑎𝑚𝑒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7E5A9D3-6A5F-5D45-8D66-3FCE2274EB8B}"/>
              </a:ext>
            </a:extLst>
          </p:cNvPr>
          <p:cNvSpPr txBox="1"/>
          <p:nvPr/>
        </p:nvSpPr>
        <p:spPr>
          <a:xfrm>
            <a:off x="990600" y="4572000"/>
            <a:ext cx="4953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hypotheses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line)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conclusion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(below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line)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(right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line)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n==0,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axiom;</a:t>
            </a:r>
          </a:p>
          <a:p>
            <a:r>
              <a:rPr kumimoji="1" lang="en-US" altLang="zh-CN" dirty="0"/>
              <a:t>Otherwise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/>
              <a:t> </a:t>
            </a:r>
            <a:r>
              <a:rPr kumimoji="1" lang="en-US" altLang="zh-CN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078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props:</a:t>
            </a:r>
            <a:endParaRPr kumimoji="1" lang="zh-CN" altLang="en-US" dirty="0"/>
          </a:p>
          <a:p>
            <a:endParaRPr kumimoji="1" lang="zh-CN" altLang="en-US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7E5A9D3-6A5F-5D45-8D66-3FCE2274EB8B}"/>
              </a:ext>
            </a:extLst>
          </p:cNvPr>
          <p:cNvSpPr txBox="1"/>
          <p:nvPr/>
        </p:nvSpPr>
        <p:spPr>
          <a:xfrm>
            <a:off x="990600" y="4572000"/>
            <a:ext cx="624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axiom.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Informally:</a:t>
            </a:r>
            <a:r>
              <a:rPr kumimoji="1" lang="zh-CN" altLang="en-US" dirty="0"/>
              <a:t> </a:t>
            </a:r>
            <a:r>
              <a:rPr kumimoji="1" lang="en-US" altLang="zh-CN" dirty="0"/>
              <a:t>under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assumption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P,</a:t>
            </a:r>
            <a:r>
              <a:rPr kumimoji="1" lang="zh-CN" altLang="en-US" dirty="0"/>
              <a:t> 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provable.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341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1F45E-C259-C14C-94F2-A3D20B17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T:</a:t>
            </a:r>
            <a:endParaRPr kumimoji="1"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7E5A9D3-6A5F-5D45-8D66-3FCE2274EB8B}"/>
              </a:ext>
            </a:extLst>
          </p:cNvPr>
          <p:cNvSpPr txBox="1"/>
          <p:nvPr/>
        </p:nvSpPr>
        <p:spPr>
          <a:xfrm>
            <a:off x="990600" y="4572000"/>
            <a:ext cx="624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axiom.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Informally: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unconditionally.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1088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 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No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1" lang="en-US" altLang="zh-CN" dirty="0"/>
                  <a:t>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provable,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anything.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blipFill>
                <a:blip r:embed="rId5"/>
                <a:stretch>
                  <a:fillRect l="-811"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44196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978389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518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209800" y="3505200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i="1" dirty="0">
                    <a:latin typeface="Cambria Math" panose="02040503050406030204" pitchFamily="18" charset="0"/>
                  </a:rPr>
                  <a:t>Q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017" y="3306525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introduction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also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Q,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i="1" dirty="0">
                    <a:latin typeface="Cambria Math" panose="02040503050406030204" pitchFamily="18" charset="0"/>
                  </a:rPr>
                  <a:t>Q</a:t>
                </a:r>
                <a:r>
                  <a:rPr kumimoji="1" lang="en-US" altLang="zh-CN" dirty="0"/>
                  <a:t>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1200329"/>
              </a:xfrm>
              <a:prstGeom prst="rect">
                <a:avLst/>
              </a:prstGeom>
              <a:blipFill>
                <a:blip r:embed="rId5"/>
                <a:stretch>
                  <a:fillRect l="-811" t="-2105" b="-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2494339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339" y="2978389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CC55226-1CD1-9542-B803-C27C6795872C}"/>
                  </a:ext>
                </a:extLst>
              </p:cNvPr>
              <p:cNvSpPr txBox="1"/>
              <p:nvPr/>
            </p:nvSpPr>
            <p:spPr>
              <a:xfrm>
                <a:off x="5634789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CC55226-1CD1-9542-B803-C27C67958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789" y="2978389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691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304800" y="3505200"/>
            <a:ext cx="289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2643354" y="331970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54" y="3319702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elimination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you.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blipFill>
                <a:blip r:embed="rId5"/>
                <a:stretch>
                  <a:fillRect l="-811"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A4F5602F-ECD5-F449-A0DF-16CE6176337E}"/>
              </a:ext>
            </a:extLst>
          </p:cNvPr>
          <p:cNvCxnSpPr>
            <a:cxnSpLocks/>
          </p:cNvCxnSpPr>
          <p:nvPr/>
        </p:nvCxnSpPr>
        <p:spPr>
          <a:xfrm>
            <a:off x="4748046" y="3498611"/>
            <a:ext cx="289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074C67-2005-F149-B1AA-22154FD76C3A}"/>
                  </a:ext>
                </a:extLst>
              </p:cNvPr>
              <p:cNvSpPr txBox="1"/>
              <p:nvPr/>
            </p:nvSpPr>
            <p:spPr>
              <a:xfrm>
                <a:off x="5433846" y="36692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074C67-2005-F149-B1AA-22154FD76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846" y="366926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7086600" y="3313113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313113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D4DACE-1367-CD49-8EDE-7E5F1E7FC99A}"/>
                  </a:ext>
                </a:extLst>
              </p:cNvPr>
              <p:cNvSpPr txBox="1"/>
              <p:nvPr/>
            </p:nvSpPr>
            <p:spPr>
              <a:xfrm>
                <a:off x="5357646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D4DACE-1367-CD49-8EDE-7E5F1E7FC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646" y="2971800"/>
                <a:ext cx="1828800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40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304800" y="3505200"/>
            <a:ext cx="289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/>
              <p:nvPr/>
            </p:nvSpPr>
            <p:spPr>
              <a:xfrm>
                <a:off x="2643354" y="331970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1C649-FF6D-844C-88A4-D4AA27DA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54" y="3319702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introduction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you.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blipFill>
                <a:blip r:embed="rId5"/>
                <a:stretch>
                  <a:fillRect l="-811"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A4F5602F-ECD5-F449-A0DF-16CE6176337E}"/>
              </a:ext>
            </a:extLst>
          </p:cNvPr>
          <p:cNvCxnSpPr>
            <a:cxnSpLocks/>
          </p:cNvCxnSpPr>
          <p:nvPr/>
        </p:nvCxnSpPr>
        <p:spPr>
          <a:xfrm>
            <a:off x="4748046" y="3498611"/>
            <a:ext cx="289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074C67-2005-F149-B1AA-22154FD76C3A}"/>
                  </a:ext>
                </a:extLst>
              </p:cNvPr>
              <p:cNvSpPr txBox="1"/>
              <p:nvPr/>
            </p:nvSpPr>
            <p:spPr>
              <a:xfrm>
                <a:off x="5433846" y="36692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m:rPr>
                          <m:nor/>
                        </m:rPr>
                        <a:rPr kumimoji="1" lang="zh-CN" altLang="en-US" i="0" dirty="0"/>
                        <m:t> 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∨ </m:t>
                      </m:r>
                      <m:r>
                        <m:rPr>
                          <m:nor/>
                        </m:rPr>
                        <a:rPr kumimoji="1" lang="en-US" altLang="zh-CN" i="1" dirty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074C67-2005-F149-B1AA-22154FD76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846" y="366926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7086600" y="3313113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313113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D4DACE-1367-CD49-8EDE-7E5F1E7FC99A}"/>
                  </a:ext>
                </a:extLst>
              </p:cNvPr>
              <p:cNvSpPr txBox="1"/>
              <p:nvPr/>
            </p:nvSpPr>
            <p:spPr>
              <a:xfrm>
                <a:off x="58674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D4DACE-1367-CD49-8EDE-7E5F1E7FC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971800"/>
                <a:ext cx="1828800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425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381000" y="3505201"/>
            <a:ext cx="5696744" cy="3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elimination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you.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blipFill>
                <a:blip r:embed="rId4"/>
                <a:stretch>
                  <a:fillRect l="-811"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∨ </m:t>
                    </m:r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5562600" y="330500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305001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A8554C3-D4D9-F74C-82F9-91E2E31BC216}"/>
                  </a:ext>
                </a:extLst>
              </p:cNvPr>
              <p:cNvSpPr txBox="1"/>
              <p:nvPr/>
            </p:nvSpPr>
            <p:spPr>
              <a:xfrm>
                <a:off x="2610644" y="298641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A8554C3-D4D9-F74C-82F9-91E2E31BC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644" y="2986410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375615C-4E77-0C48-8F9B-A6B7B74F8923}"/>
                  </a:ext>
                </a:extLst>
              </p:cNvPr>
              <p:cNvSpPr txBox="1"/>
              <p:nvPr/>
            </p:nvSpPr>
            <p:spPr>
              <a:xfrm>
                <a:off x="41910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375615C-4E77-0C48-8F9B-A6B7B74F8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971800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64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14:m>
                  <m:oMath xmlns:m="http://schemas.openxmlformats.org/officeDocument/2006/math"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381000" y="3505201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kumimoji="1" lang="en-US" altLang="zh-CN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ntroduction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kumimoji="1"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elimination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you.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blipFill>
                <a:blip r:embed="rId4"/>
                <a:stretch>
                  <a:fillRect l="-811"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2209800" y="330500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305001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28F01252-C9AD-4244-B17B-6646589DCF23}"/>
              </a:ext>
            </a:extLst>
          </p:cNvPr>
          <p:cNvCxnSpPr>
            <a:cxnSpLocks/>
          </p:cNvCxnSpPr>
          <p:nvPr/>
        </p:nvCxnSpPr>
        <p:spPr>
          <a:xfrm>
            <a:off x="4038600" y="3498612"/>
            <a:ext cx="3581400" cy="65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45002CC-0E65-5E4A-9AA8-365A315B3247}"/>
                  </a:ext>
                </a:extLst>
              </p:cNvPr>
              <p:cNvSpPr txBox="1"/>
              <p:nvPr/>
            </p:nvSpPr>
            <p:spPr>
              <a:xfrm>
                <a:off x="4648200" y="36692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45002CC-0E65-5E4A-9AA8-365A315B3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66926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6DB0E3-5A3E-4142-A18F-1F196660DF15}"/>
                  </a:ext>
                </a:extLst>
              </p:cNvPr>
              <p:cNvSpPr txBox="1"/>
              <p:nvPr/>
            </p:nvSpPr>
            <p:spPr>
              <a:xfrm>
                <a:off x="45720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i="1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6DB0E3-5A3E-4142-A18F-1F196660D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971800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42107E2-0F47-E947-86CA-1B922C313ADA}"/>
                  </a:ext>
                </a:extLst>
              </p:cNvPr>
              <p:cNvSpPr txBox="1"/>
              <p:nvPr/>
            </p:nvSpPr>
            <p:spPr>
              <a:xfrm>
                <a:off x="7086600" y="329841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42107E2-0F47-E947-86CA-1B922C313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298412"/>
                <a:ext cx="1828800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6A87C73-344F-334F-BD91-6B7EDE948418}"/>
                  </a:ext>
                </a:extLst>
              </p:cNvPr>
              <p:cNvSpPr txBox="1"/>
              <p:nvPr/>
            </p:nvSpPr>
            <p:spPr>
              <a:xfrm>
                <a:off x="62484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6A87C73-344F-334F-BD91-6B7EDE948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971800"/>
                <a:ext cx="18288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63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14:m>
                  <m:oMath xmlns:m="http://schemas.openxmlformats.org/officeDocument/2006/math">
                    <m:r>
                      <a:rPr kumimoji="1" lang="zh-CN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381000" y="3505201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rules.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Informally: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leave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you.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923330"/>
              </a:xfrm>
              <a:prstGeom prst="rect">
                <a:avLst/>
              </a:prstGeom>
              <a:blipFill>
                <a:blip r:embed="rId4"/>
                <a:stretch>
                  <a:fillRect l="-811"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78389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2209800" y="330500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305001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28F01252-C9AD-4244-B17B-6646589DCF23}"/>
              </a:ext>
            </a:extLst>
          </p:cNvPr>
          <p:cNvCxnSpPr>
            <a:cxnSpLocks/>
          </p:cNvCxnSpPr>
          <p:nvPr/>
        </p:nvCxnSpPr>
        <p:spPr>
          <a:xfrm>
            <a:off x="4038600" y="3498612"/>
            <a:ext cx="3581400" cy="65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45002CC-0E65-5E4A-9AA8-365A315B3247}"/>
                  </a:ext>
                </a:extLst>
              </p:cNvPr>
              <p:cNvSpPr txBox="1"/>
              <p:nvPr/>
            </p:nvSpPr>
            <p:spPr>
              <a:xfrm>
                <a:off x="4648200" y="36692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45002CC-0E65-5E4A-9AA8-365A315B3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66926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6DB0E3-5A3E-4142-A18F-1F196660DF15}"/>
                  </a:ext>
                </a:extLst>
              </p:cNvPr>
              <p:cNvSpPr txBox="1"/>
              <p:nvPr/>
            </p:nvSpPr>
            <p:spPr>
              <a:xfrm>
                <a:off x="45720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16DB0E3-5A3E-4142-A18F-1F196660D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971800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42107E2-0F47-E947-86CA-1B922C313ADA}"/>
                  </a:ext>
                </a:extLst>
              </p:cNvPr>
              <p:cNvSpPr txBox="1"/>
              <p:nvPr/>
            </p:nvSpPr>
            <p:spPr>
              <a:xfrm>
                <a:off x="7086600" y="329841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42107E2-0F47-E947-86CA-1B922C313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298412"/>
                <a:ext cx="1828800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6A87C73-344F-334F-BD91-6B7EDE948418}"/>
                  </a:ext>
                </a:extLst>
              </p:cNvPr>
              <p:cNvSpPr txBox="1"/>
              <p:nvPr/>
            </p:nvSpPr>
            <p:spPr>
              <a:xfrm>
                <a:off x="62484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6A87C73-344F-334F-BD91-6B7EDE948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971800"/>
                <a:ext cx="18288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584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Natural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deduction: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14:m>
                  <m:oMath xmlns:m="http://schemas.openxmlformats.org/officeDocument/2006/math">
                    <m:r>
                      <a:rPr kumimoji="1" lang="zh-CN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¬¬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667000" y="3505201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276600" y="3675857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675857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/>
              <p:nvPr/>
            </p:nvSpPr>
            <p:spPr>
              <a:xfrm>
                <a:off x="990600" y="4572000"/>
                <a:ext cx="62484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¬¬</m:t>
                    </m:r>
                  </m:oMath>
                </a14:m>
                <a:r>
                  <a:rPr kumimoji="1" lang="en-US" altLang="zh-CN" dirty="0"/>
                  <a:t>rules.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double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negation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notice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it‘s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syntax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directed.</a:t>
                </a:r>
              </a:p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representative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rule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classical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logic!</a:t>
                </a:r>
              </a:p>
              <a:p>
                <a:r>
                  <a:rPr kumimoji="1" lang="en-US" altLang="zh-CN" dirty="0"/>
                  <a:t>We’ll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discussing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constructive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logic.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7E5A9D3-6A5F-5D45-8D66-3FCE2274E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72000"/>
                <a:ext cx="6248400" cy="1754326"/>
              </a:xfrm>
              <a:prstGeom prst="rect">
                <a:avLst/>
              </a:prstGeom>
              <a:blipFill>
                <a:blip r:embed="rId4"/>
                <a:stretch>
                  <a:fillRect l="-811" t="-1449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3200400" y="2978389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¬¬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978389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4495800" y="3305001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¬¬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305001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982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C8C1-95A8-6D47-90B6-BED85A6F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CN" dirty="0"/>
                  <a:t>:</a:t>
                </a:r>
                <a:endParaRPr kumimoji="1" lang="zh-CN" altLang="en-US" dirty="0"/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F45E-C259-C14C-94F2-A3D20B17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489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F6781F8-2CA5-874A-A9E9-ED1F95971B0B}"/>
              </a:ext>
            </a:extLst>
          </p:cNvPr>
          <p:cNvCxnSpPr>
            <a:cxnSpLocks/>
          </p:cNvCxnSpPr>
          <p:nvPr/>
        </p:nvCxnSpPr>
        <p:spPr>
          <a:xfrm>
            <a:off x="2667000" y="4336812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/>
              <p:nvPr/>
            </p:nvSpPr>
            <p:spPr>
              <a:xfrm>
                <a:off x="3276600" y="45074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055B54E-AEDA-F04B-9BA4-77C9E058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507468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7E5A9D3-6A5F-5D45-8D66-3FCE2274EB8B}"/>
              </a:ext>
            </a:extLst>
          </p:cNvPr>
          <p:cNvSpPr txBox="1"/>
          <p:nvPr/>
        </p:nvSpPr>
        <p:spPr>
          <a:xfrm>
            <a:off x="990600" y="6315343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proof</a:t>
            </a:r>
            <a:r>
              <a:rPr kumimoji="1" lang="zh-CN" altLang="en-US" dirty="0">
                <a:solidFill>
                  <a:srgbClr val="0432FF"/>
                </a:solidFill>
              </a:rPr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tree</a:t>
            </a:r>
            <a:r>
              <a:rPr kumimoji="1" lang="en-US" altLang="zh-CN" dirty="0"/>
              <a:t>!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/>
              <p:nvPr/>
            </p:nvSpPr>
            <p:spPr>
              <a:xfrm>
                <a:off x="3200400" y="38100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⊢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2451612-D24F-7D45-B4D5-5508C9B5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810000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/>
              <p:nvPr/>
            </p:nvSpPr>
            <p:spPr>
              <a:xfrm>
                <a:off x="4495800" y="413661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A56FFD1-2B98-2540-877B-1F30B78B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136612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0730C507-87E2-4346-9E9F-9D350AA55E7A}"/>
              </a:ext>
            </a:extLst>
          </p:cNvPr>
          <p:cNvCxnSpPr>
            <a:cxnSpLocks/>
          </p:cNvCxnSpPr>
          <p:nvPr/>
        </p:nvCxnSpPr>
        <p:spPr>
          <a:xfrm>
            <a:off x="2819400" y="3733800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AE18186-47FC-9F49-A066-3659C834E25C}"/>
                  </a:ext>
                </a:extLst>
              </p:cNvPr>
              <p:cNvSpPr txBox="1"/>
              <p:nvPr/>
            </p:nvSpPr>
            <p:spPr>
              <a:xfrm>
                <a:off x="3124200" y="32766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AE18186-47FC-9F49-A066-3659C834E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3276600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F2C20C9-08D9-3547-AEB0-7704A7CF473C}"/>
              </a:ext>
            </a:extLst>
          </p:cNvPr>
          <p:cNvCxnSpPr>
            <a:cxnSpLocks/>
          </p:cNvCxnSpPr>
          <p:nvPr/>
        </p:nvCxnSpPr>
        <p:spPr>
          <a:xfrm>
            <a:off x="2819400" y="3200400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B8B66F-2597-2642-98CD-B82A7B14C2E9}"/>
                  </a:ext>
                </a:extLst>
              </p:cNvPr>
              <p:cNvSpPr txBox="1"/>
              <p:nvPr/>
            </p:nvSpPr>
            <p:spPr>
              <a:xfrm>
                <a:off x="4648200" y="35052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B8B66F-2597-2642-98CD-B82A7B14C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505200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F979907-E948-F94F-9D57-5EB7E0FC8245}"/>
                  </a:ext>
                </a:extLst>
              </p:cNvPr>
              <p:cNvSpPr txBox="1"/>
              <p:nvPr/>
            </p:nvSpPr>
            <p:spPr>
              <a:xfrm>
                <a:off x="4572000" y="29718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F979907-E948-F94F-9D57-5EB7E0FC8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971800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942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D064A-70B2-F64D-BC19-E094182E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engineering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EE45E-418C-D444-A3E0-65936DD0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been</a:t>
            </a:r>
            <a:r>
              <a:rPr kumimoji="1" lang="zh-CN" altLang="en-US" dirty="0"/>
              <a:t> </a:t>
            </a:r>
            <a:r>
              <a:rPr kumimoji="1" lang="en-US" altLang="zh-CN" dirty="0"/>
              <a:t>great</a:t>
            </a:r>
            <a:r>
              <a:rPr kumimoji="1" lang="zh-CN" altLang="en-US" dirty="0"/>
              <a:t> </a:t>
            </a:r>
            <a:r>
              <a:rPr kumimoji="1" lang="en-US" altLang="zh-CN" dirty="0"/>
              <a:t>advancement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semiautomatic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assistant</a:t>
            </a:r>
          </a:p>
          <a:p>
            <a:pPr lvl="1"/>
            <a:r>
              <a:rPr kumimoji="1" lang="en-US" altLang="zh-CN" dirty="0"/>
              <a:t>Thus,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assistant</a:t>
            </a:r>
          </a:p>
          <a:p>
            <a:pPr lvl="1"/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CS</a:t>
            </a:r>
            <a:r>
              <a:rPr kumimoji="1" lang="zh-CN" altLang="en-US" dirty="0"/>
              <a:t> </a:t>
            </a:r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boosts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math.</a:t>
            </a:r>
          </a:p>
          <a:p>
            <a:pPr lvl="1"/>
            <a:r>
              <a:rPr kumimoji="1" lang="en-US" altLang="zh-CN" dirty="0"/>
              <a:t>Let’s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</a:p>
          <a:p>
            <a:pPr lvl="2"/>
            <a:r>
              <a:rPr kumimoji="1" lang="en-US" altLang="zh-CN" dirty="0"/>
              <a:t>You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assignment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080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Propositional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logic:</a:t>
            </a:r>
          </a:p>
          <a:p>
            <a:pPr marL="0" indent="0" algn="ctr">
              <a:buNone/>
            </a:pPr>
            <a:r>
              <a:rPr kumimoji="1" lang="en-US" altLang="zh-CN" i="1" dirty="0"/>
              <a:t>Semantics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4159662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D064A-70B2-F64D-BC19-E094182E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EE45E-418C-D444-A3E0-65936DD0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when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provable</a:t>
            </a:r>
          </a:p>
          <a:p>
            <a:pPr lvl="1"/>
            <a:r>
              <a:rPr kumimoji="1" lang="en-US" altLang="zh-CN" dirty="0"/>
              <a:t>Axioms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proof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</a:p>
          <a:p>
            <a:r>
              <a:rPr kumimoji="1" lang="en-US" altLang="zh-CN" dirty="0"/>
              <a:t>Roughly,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computation</a:t>
            </a:r>
          </a:p>
          <a:p>
            <a:pPr lvl="1"/>
            <a:r>
              <a:rPr kumimoji="1" lang="en-US" altLang="zh-CN" dirty="0"/>
              <a:t>Models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</a:p>
          <a:p>
            <a:pPr lvl="1"/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obtain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“true”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“false”</a:t>
            </a:r>
          </a:p>
        </p:txBody>
      </p:sp>
    </p:spTree>
    <p:extLst>
      <p:ext uri="{BB962C8B-B14F-4D97-AF65-F5344CB8AC3E}">
        <p14:creationId xmlns:p14="http://schemas.microsoft.com/office/powerpoint/2010/main" val="30650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DED73-A7BA-B04D-8868-48C02EF5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C33CCE-84A7-E04B-A672-1089154E0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Truth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encodes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(recall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Bool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rules):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Thus,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P/\Q,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assignment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Q,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interpretation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07FFEFB-0725-2A43-94B3-CEEBA6543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288048"/>
              </p:ext>
            </p:extLst>
          </p:nvPr>
        </p:nvGraphicFramePr>
        <p:xfrm>
          <a:off x="1600200" y="3124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95372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2771999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5554835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54683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P/\Q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P\/Q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4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70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0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16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53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831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9B58B-4C46-A545-934B-51D900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Interpretation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1BCE30-AD00-9A47-AB7F-9CBBBB681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given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P,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interpretation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V</a:t>
            </a:r>
            <a:r>
              <a:rPr kumimoji="1" lang="zh-CN" altLang="en-US" dirty="0"/>
              <a:t> </a:t>
            </a:r>
            <a:r>
              <a:rPr kumimoji="1" lang="en-US" altLang="zh-CN" dirty="0"/>
              <a:t>defined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by:</a:t>
            </a:r>
          </a:p>
          <a:p>
            <a:pPr marL="0" indent="0">
              <a:buNone/>
            </a:pPr>
            <a:r>
              <a:rPr kumimoji="1" lang="en-US" altLang="zh-CN" dirty="0"/>
              <a:t>V(T)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</a:p>
          <a:p>
            <a:pPr marL="0" indent="0">
              <a:buNone/>
            </a:pPr>
            <a:r>
              <a:rPr kumimoji="1" lang="en-US" altLang="zh-CN" dirty="0"/>
              <a:t>V(F)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F</a:t>
            </a:r>
          </a:p>
          <a:p>
            <a:pPr marL="0" indent="0">
              <a:buNone/>
            </a:pPr>
            <a:r>
              <a:rPr kumimoji="1" lang="en-US" altLang="zh-CN" dirty="0"/>
              <a:t>V(p)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F</a:t>
            </a:r>
          </a:p>
          <a:p>
            <a:pPr marL="0" indent="0">
              <a:buNone/>
            </a:pPr>
            <a:r>
              <a:rPr kumimoji="1" lang="en-US" altLang="zh-CN" dirty="0"/>
              <a:t>V(P/\Q)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V(P)</a:t>
            </a:r>
            <a:r>
              <a:rPr kumimoji="1" lang="zh-CN" altLang="en-US" dirty="0"/>
              <a:t> </a:t>
            </a:r>
            <a:r>
              <a:rPr kumimoji="1" lang="en-US" altLang="zh-CN" dirty="0"/>
              <a:t>op</a:t>
            </a:r>
            <a:r>
              <a:rPr kumimoji="1" lang="zh-CN" altLang="en-US" dirty="0"/>
              <a:t> </a:t>
            </a:r>
            <a:r>
              <a:rPr kumimoji="1" lang="en-US" altLang="zh-CN" dirty="0"/>
              <a:t>V(Q)</a:t>
            </a:r>
          </a:p>
          <a:p>
            <a:pPr marL="0" indent="0">
              <a:buNone/>
            </a:pPr>
            <a:r>
              <a:rPr kumimoji="1" lang="en-US" altLang="zh-CN" dirty="0"/>
              <a:t>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//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</a:t>
            </a:r>
          </a:p>
          <a:p>
            <a:r>
              <a:rPr kumimoji="1" lang="en-US" altLang="zh-CN" dirty="0"/>
              <a:t>Essentially,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compiler!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EB2AA6-6BDE-5A4F-ACE4-A3C03AD78C7E}"/>
              </a:ext>
            </a:extLst>
          </p:cNvPr>
          <p:cNvSpPr/>
          <p:nvPr/>
        </p:nvSpPr>
        <p:spPr>
          <a:xfrm>
            <a:off x="6400800" y="3352800"/>
            <a:ext cx="7620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AF9A543-793C-A241-96EC-D588C2D2D24C}"/>
              </a:ext>
            </a:extLst>
          </p:cNvPr>
          <p:cNvSpPr/>
          <p:nvPr/>
        </p:nvSpPr>
        <p:spPr>
          <a:xfrm>
            <a:off x="8001000" y="3372853"/>
            <a:ext cx="7620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2A7FE3E-1ECC-B64F-94B8-F71FC278B00E}"/>
              </a:ext>
            </a:extLst>
          </p:cNvPr>
          <p:cNvCxnSpPr>
            <a:endCxn id="5" idx="2"/>
          </p:cNvCxnSpPr>
          <p:nvPr/>
        </p:nvCxnSpPr>
        <p:spPr>
          <a:xfrm>
            <a:off x="7162800" y="4305300"/>
            <a:ext cx="838200" cy="2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7454EE-8E32-814F-AC4E-250A02EA173F}"/>
              </a:ext>
            </a:extLst>
          </p:cNvPr>
          <p:cNvSpPr txBox="1"/>
          <p:nvPr/>
        </p:nvSpPr>
        <p:spPr>
          <a:xfrm>
            <a:off x="7391400" y="38100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450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B1687-FD96-8647-B68F-E94971DD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Tautology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28001-60D0-6E4D-B3E9-D35DC4AB03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given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proposition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any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/>
                  <a:t>interpretation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always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have</a:t>
                </a:r>
              </a:p>
              <a:p>
                <a:pPr marL="0" indent="0" algn="ctr">
                  <a:buNone/>
                </a:pPr>
                <a:r>
                  <a:rPr kumimoji="1" lang="en-US" altLang="zh-CN" dirty="0">
                    <a:solidFill>
                      <a:srgbClr val="0432FF"/>
                    </a:solidFill>
                  </a:rPr>
                  <a:t>V(P)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T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call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tautology,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write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l-GR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  <a:r>
                  <a:rPr kumimoji="1"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Sometimes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also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called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validity</a:t>
                </a:r>
                <a:r>
                  <a:rPr kumimoji="1" lang="en-US" altLang="zh-CN" dirty="0"/>
                  <a:t>.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28001-60D0-6E4D-B3E9-D35DC4AB03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0E8A4E3-CF68-A14F-93DA-521D5EDA3B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6009827"/>
                  </p:ext>
                </p:extLst>
              </p:nvPr>
            </p:nvGraphicFramePr>
            <p:xfrm>
              <a:off x="152400" y="4876800"/>
              <a:ext cx="35052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kumimoji="1"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dirty="0"/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kumimoji="1" lang="en-US" altLang="zh-CN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0E8A4E3-CF68-A14F-93DA-521D5EDA3B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6009827"/>
                  </p:ext>
                </p:extLst>
              </p:nvPr>
            </p:nvGraphicFramePr>
            <p:xfrm>
              <a:off x="152400" y="4876800"/>
              <a:ext cx="35052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1087" t="-6897" r="-102174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1087" t="-6897" r="-2174" b="-2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496D12E9-65AF-1040-932F-F679D2A6D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696327"/>
                  </p:ext>
                </p:extLst>
              </p:nvPr>
            </p:nvGraphicFramePr>
            <p:xfrm>
              <a:off x="4191000" y="48768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oMath>
                          </a14:m>
                          <a:r>
                            <a:rPr lang="en-US" altLang="zh-CN" dirty="0"/>
                            <a:t>\/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496D12E9-65AF-1040-932F-F679D2A6D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696327"/>
                  </p:ext>
                </p:extLst>
              </p:nvPr>
            </p:nvGraphicFramePr>
            <p:xfrm>
              <a:off x="4191000" y="48768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1087" t="-6897" r="-2174" b="-4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977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B1687-FD96-8647-B68F-E94971DD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Tautology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28001-60D0-6E4D-B3E9-D35DC4AB03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any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/>
                  <a:t>interpretation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makes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propositions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tautology,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also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make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tautology,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write: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 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Example: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628001-60D0-6E4D-B3E9-D35DC4AB03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0E8A4E3-CF68-A14F-93DA-521D5EDA3B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2165702"/>
                  </p:ext>
                </p:extLst>
              </p:nvPr>
            </p:nvGraphicFramePr>
            <p:xfrm>
              <a:off x="152400" y="4876800"/>
              <a:ext cx="35052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altLang="zh-CN" sz="1800" b="1" kern="1200" smtClean="0">
                                  <a:solidFill>
                                    <a:schemeClr val="lt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Γ</m:t>
                              </m:r>
                            </m:oMath>
                          </a14:m>
                          <a:r>
                            <a:rPr lang="en-US" altLang="zh-CN" dirty="0"/>
                            <a:t>=P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1"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0E8A4E3-CF68-A14F-93DA-521D5EDA3B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2165702"/>
                  </p:ext>
                </p:extLst>
              </p:nvPr>
            </p:nvGraphicFramePr>
            <p:xfrm>
              <a:off x="152400" y="4876800"/>
              <a:ext cx="35052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87" t="-6897" r="-202174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1087" t="-6897" r="-102174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P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496D12E9-65AF-1040-932F-F679D2A6D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0106642"/>
                  </p:ext>
                </p:extLst>
              </p:nvPr>
            </p:nvGraphicFramePr>
            <p:xfrm>
              <a:off x="4191000" y="48768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altLang="zh-CN" sz="1800" b="1" kern="1200" smtClean="0">
                                  <a:solidFill>
                                    <a:schemeClr val="lt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Γ</m:t>
                              </m:r>
                            </m:oMath>
                          </a14:m>
                          <a:r>
                            <a:rPr lang="en-US" altLang="zh-CN" dirty="0"/>
                            <a:t>=P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496D12E9-65AF-1040-932F-F679D2A6D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0106642"/>
                  </p:ext>
                </p:extLst>
              </p:nvPr>
            </p:nvGraphicFramePr>
            <p:xfrm>
              <a:off x="4191000" y="4876800"/>
              <a:ext cx="3505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953729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455548352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30546834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87" t="-6897" r="-202174" b="-4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Q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7749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027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805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916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0536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370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F95CA-3FC8-384F-980D-3CBC5A2A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validity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D3F8DB-4881-D64D-BFB2-2CCAFB64B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theory,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carry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proofs: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 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theory,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computations: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  <a:p>
                <a:r>
                  <a:rPr kumimoji="1" lang="en-US" altLang="zh-CN" dirty="0"/>
                  <a:t>It’s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natural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expect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both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coherent!</a:t>
                </a:r>
              </a:p>
              <a:p>
                <a:pPr lvl="1"/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D3F8DB-4881-D64D-BFB2-2CCAFB64B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r="-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370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01EA8-AC32-3349-B989-7CF3DBF4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Soundness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completeness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4E6888-208F-1D4F-BEB4-A26C845C0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Soundness: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 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=&gt;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</m:oMath>
                </a14:m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Completeness: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⊨</m:t>
                    </m:r>
                    <m:r>
                      <m:rPr>
                        <m:nor/>
                      </m:rPr>
                      <a:rPr kumimoji="1" lang="zh-CN" altLang="en-US" i="0" dirty="0">
                        <a:solidFill>
                          <a:srgbClr val="0432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i="0" dirty="0">
                        <a:solidFill>
                          <a:srgbClr val="0432FF"/>
                        </a:solidFill>
                      </a:rPr>
                      <m:t>P</m:t>
                    </m:r>
                    <m:r>
                      <a:rPr kumimoji="1" lang="en-US" altLang="zh-CN" b="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=&gt;</m:t>
                    </m:r>
                    <m:r>
                      <m:rPr>
                        <m:sty m:val="p"/>
                      </m:rP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kumimoji="1" lang="el-GR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⊢</m:t>
                    </m:r>
                  </m:oMath>
                </a14:m>
                <a:r>
                  <a:rPr kumimoji="1" lang="zh-CN" altLang="en-US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</a:p>
              <a:p>
                <a:pPr marL="0" indent="0" algn="ctr">
                  <a:buNone/>
                </a:pPr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sz="2400" dirty="0"/>
                  <a:t>Read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assigned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reading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details.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establish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validity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we’re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free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use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either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4E6888-208F-1D4F-BEB4-A26C845C0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03603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3095</TotalTime>
  <Words>1784</Words>
  <Application>Microsoft Macintosh PowerPoint</Application>
  <PresentationFormat>全屏显示(4:3)</PresentationFormat>
  <Paragraphs>401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7" baseType="lpstr">
      <vt:lpstr>Arial</vt:lpstr>
      <vt:lpstr>Cambria Math</vt:lpstr>
      <vt:lpstr>Tahoma</vt:lpstr>
      <vt:lpstr>Wingdings</vt:lpstr>
      <vt:lpstr>Blends</vt:lpstr>
      <vt:lpstr>Propositional logic</vt:lpstr>
      <vt:lpstr>Mathematical logic</vt:lpstr>
      <vt:lpstr>Topics in this course</vt:lpstr>
      <vt:lpstr> </vt:lpstr>
      <vt:lpstr>Early time</vt:lpstr>
      <vt:lpstr>Modern logic</vt:lpstr>
      <vt:lpstr>Modern logic</vt:lpstr>
      <vt:lpstr>Hilbert‘s program</vt:lpstr>
      <vt:lpstr>Incompleteness</vt:lpstr>
      <vt:lpstr> </vt:lpstr>
      <vt:lpstr>The syntax</vt:lpstr>
      <vt:lpstr>CS view point</vt:lpstr>
      <vt:lpstr>Examples</vt:lpstr>
      <vt:lpstr> </vt:lpstr>
      <vt:lpstr>Goals</vt:lpstr>
      <vt:lpstr>Brief History</vt:lpstr>
      <vt:lpstr>Natural deduction: basic idea</vt:lpstr>
      <vt:lpstr>Natural deduction: basic idea</vt:lpstr>
      <vt:lpstr>Natural deduction: basic idea</vt:lpstr>
      <vt:lpstr>Natural deduction: basic idea</vt:lpstr>
      <vt:lpstr>Natural deduction: judgments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Natural deduction:  Inference rules</vt:lpstr>
      <vt:lpstr>Example</vt:lpstr>
      <vt:lpstr>Proof engineering</vt:lpstr>
      <vt:lpstr> </vt:lpstr>
      <vt:lpstr>Semantics</vt:lpstr>
      <vt:lpstr>The truth table</vt:lpstr>
      <vt:lpstr>Interpretation</vt:lpstr>
      <vt:lpstr>Tautology</vt:lpstr>
      <vt:lpstr>Tautology</vt:lpstr>
      <vt:lpstr>Two notions of validity</vt:lpstr>
      <vt:lpstr>Soundness and completeness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hbj</cp:lastModifiedBy>
  <cp:revision>2339</cp:revision>
  <cp:lastPrinted>1601-01-01T00:00:00Z</cp:lastPrinted>
  <dcterms:created xsi:type="dcterms:W3CDTF">1601-01-01T00:00:00Z</dcterms:created>
  <dcterms:modified xsi:type="dcterms:W3CDTF">2026-09-24T09:01:18Z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
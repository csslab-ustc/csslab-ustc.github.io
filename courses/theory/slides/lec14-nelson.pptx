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7"/>
  </p:notesMasterIdLst>
  <p:handoutMasterIdLst>
    <p:handoutMasterId r:id="rId28"/>
  </p:handoutMasterIdLst>
  <p:sldIdLst>
    <p:sldId id="256" r:id="rId2"/>
    <p:sldId id="459" r:id="rId3"/>
    <p:sldId id="455" r:id="rId4"/>
    <p:sldId id="456" r:id="rId5"/>
    <p:sldId id="457" r:id="rId6"/>
    <p:sldId id="473" r:id="rId7"/>
    <p:sldId id="460" r:id="rId8"/>
    <p:sldId id="458" r:id="rId9"/>
    <p:sldId id="487" r:id="rId10"/>
    <p:sldId id="461" r:id="rId11"/>
    <p:sldId id="483" r:id="rId12"/>
    <p:sldId id="462" r:id="rId13"/>
    <p:sldId id="463" r:id="rId14"/>
    <p:sldId id="484" r:id="rId15"/>
    <p:sldId id="485" r:id="rId16"/>
    <p:sldId id="321" r:id="rId17"/>
    <p:sldId id="464" r:id="rId18"/>
    <p:sldId id="486" r:id="rId19"/>
    <p:sldId id="467" r:id="rId20"/>
    <p:sldId id="468" r:id="rId21"/>
    <p:sldId id="469" r:id="rId22"/>
    <p:sldId id="470" r:id="rId23"/>
    <p:sldId id="471" r:id="rId24"/>
    <p:sldId id="472" r:id="rId25"/>
    <p:sldId id="424" r:id="rId26"/>
  </p:sldIdLst>
  <p:sldSz cx="9144000" cy="6858000" type="screen4x3"/>
  <p:notesSz cx="7099300" cy="10234613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15"/>
    <p:restoredTop sz="94676"/>
  </p:normalViewPr>
  <p:slideViewPr>
    <p:cSldViewPr>
      <p:cViewPr varScale="1">
        <p:scale>
          <a:sx n="97" d="100"/>
          <a:sy n="97" d="100"/>
        </p:scale>
        <p:origin x="1320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6" d="100"/>
          <a:sy n="56" d="100"/>
        </p:scale>
        <p:origin x="-1854" y="-96"/>
      </p:cViewPr>
      <p:guideLst>
        <p:guide orient="horz" pos="3224"/>
        <p:guide pos="2236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9048" tIns="49524" rIns="99048" bIns="49524" numCol="1" anchor="t" anchorCtr="0" compatLnSpc="1"/>
          <a:lstStyle>
            <a:lvl1pPr defTabSz="990600" eaLnBrk="1" hangingPunct="1">
              <a:defRPr sz="13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9048" tIns="49524" rIns="99048" bIns="49524" numCol="1" anchor="t" anchorCtr="0" compatLnSpc="1"/>
          <a:lstStyle>
            <a:lvl1pPr algn="r" defTabSz="990600" eaLnBrk="1" hangingPunct="1">
              <a:defRPr sz="13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9048" tIns="49524" rIns="99048" bIns="49524" numCol="1" anchor="b" anchorCtr="0" compatLnSpc="1"/>
          <a:lstStyle>
            <a:lvl1pPr defTabSz="990600" eaLnBrk="1" hangingPunct="1">
              <a:defRPr sz="13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9048" tIns="49524" rIns="99048" bIns="49524" numCol="1" anchor="b" anchorCtr="0" compatLnSpc="1"/>
          <a:lstStyle>
            <a:lvl1pPr algn="r" defTabSz="990600" eaLnBrk="1" hangingPunct="1">
              <a:defRPr sz="13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59DFDCF0-3A25-1B44-957E-06E14821E89E}" type="slidenum">
              <a:rPr lang="en-US" altLang="zh-CN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84606" cy="57471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162784" y="0"/>
            <a:ext cx="3184606" cy="57471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38167" y="1431824"/>
            <a:ext cx="6872756" cy="38659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34909" y="5512523"/>
            <a:ext cx="5879272" cy="4510246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10879875"/>
            <a:ext cx="3184606" cy="57471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162784" y="10879875"/>
            <a:ext cx="3184606" cy="57471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1096963" y="1431925"/>
            <a:ext cx="5154612" cy="3865563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/>
          <p:nvPr/>
        </p:nvGrpSpPr>
        <p:grpSpPr bwMode="auto">
          <a:xfrm>
            <a:off x="0" y="2438400"/>
            <a:ext cx="9009063" cy="1052513"/>
            <a:chOff x="0" y="1536"/>
            <a:chExt cx="5675" cy="663"/>
          </a:xfrm>
        </p:grpSpPr>
        <p:grpSp>
          <p:nvGrpSpPr>
            <p:cNvPr id="5" name="Group 3"/>
            <p:cNvGrpSpPr/>
            <p:nvPr/>
          </p:nvGrpSpPr>
          <p:grpSpPr bwMode="auto">
            <a:xfrm>
              <a:off x="183" y="1604"/>
              <a:ext cx="448" cy="299"/>
              <a:chOff x="720" y="336"/>
              <a:chExt cx="624" cy="432"/>
            </a:xfrm>
          </p:grpSpPr>
          <p:sp>
            <p:nvSpPr>
              <p:cNvPr id="12" name="Rectangle 4"/>
              <p:cNvSpPr>
                <a:spLocks noChangeArrowheads="1"/>
              </p:cNvSpPr>
              <p:nvPr/>
            </p:nvSpPr>
            <p:spPr bwMode="auto">
              <a:xfrm>
                <a:off x="720" y="336"/>
                <a:ext cx="384" cy="432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defRPr/>
                </a:pPr>
                <a:endParaRPr lang="zh-CN" altLang="en-US"/>
              </a:p>
            </p:txBody>
          </p:sp>
          <p:sp>
            <p:nvSpPr>
              <p:cNvPr id="13" name="Rectangle 5"/>
              <p:cNvSpPr>
                <a:spLocks noChangeArrowheads="1"/>
              </p:cNvSpPr>
              <p:nvPr/>
            </p:nvSpPr>
            <p:spPr bwMode="auto">
              <a:xfrm>
                <a:off x="1056" y="336"/>
                <a:ext cx="288" cy="432"/>
              </a:xfrm>
              <a:prstGeom prst="rect">
                <a:avLst/>
              </a:prstGeom>
              <a:gradFill rotWithShape="0">
                <a:gsLst>
                  <a:gs pos="0">
                    <a:schemeClr val="folHlink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defRPr/>
                </a:pPr>
                <a:endParaRPr lang="zh-CN" altLang="en-US"/>
              </a:p>
            </p:txBody>
          </p:sp>
        </p:grpSp>
        <p:grpSp>
          <p:nvGrpSpPr>
            <p:cNvPr id="6" name="Group 6"/>
            <p:cNvGrpSpPr/>
            <p:nvPr/>
          </p:nvGrpSpPr>
          <p:grpSpPr bwMode="auto">
            <a:xfrm>
              <a:off x="261" y="1870"/>
              <a:ext cx="465" cy="299"/>
              <a:chOff x="912" y="2640"/>
              <a:chExt cx="672" cy="432"/>
            </a:xfrm>
          </p:grpSpPr>
          <p:sp>
            <p:nvSpPr>
              <p:cNvPr id="10" name="Rectangle 7"/>
              <p:cNvSpPr>
                <a:spLocks noChangeArrowheads="1"/>
              </p:cNvSpPr>
              <p:nvPr/>
            </p:nvSpPr>
            <p:spPr bwMode="auto">
              <a:xfrm>
                <a:off x="912" y="2640"/>
                <a:ext cx="384" cy="432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defRPr/>
                </a:pPr>
                <a:endParaRPr lang="zh-CN" altLang="en-US"/>
              </a:p>
            </p:txBody>
          </p:sp>
          <p:sp>
            <p:nvSpPr>
              <p:cNvPr id="11" name="Rectangle 8"/>
              <p:cNvSpPr>
                <a:spLocks noChangeArrowheads="1"/>
              </p:cNvSpPr>
              <p:nvPr/>
            </p:nvSpPr>
            <p:spPr bwMode="auto">
              <a:xfrm>
                <a:off x="1249" y="2640"/>
                <a:ext cx="335" cy="432"/>
              </a:xfrm>
              <a:prstGeom prst="rect">
                <a:avLst/>
              </a:prstGeom>
              <a:gradFill rotWithShape="0">
                <a:gsLst>
                  <a:gs pos="0">
                    <a:schemeClr val="accent2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defRPr/>
                </a:pPr>
                <a:endParaRPr lang="zh-CN" altLang="en-US"/>
              </a:p>
            </p:txBody>
          </p:sp>
        </p:grpSp>
        <p:sp>
          <p:nvSpPr>
            <p:cNvPr id="7" name="Rectangle 9"/>
            <p:cNvSpPr>
              <a:spLocks noChangeArrowheads="1"/>
            </p:cNvSpPr>
            <p:nvPr/>
          </p:nvSpPr>
          <p:spPr bwMode="auto">
            <a:xfrm>
              <a:off x="0" y="1824"/>
              <a:ext cx="353" cy="266"/>
            </a:xfrm>
            <a:prstGeom prst="rect">
              <a:avLst/>
            </a:prstGeom>
            <a:gradFill rotWithShape="0">
              <a:gsLst>
                <a:gs pos="0">
                  <a:schemeClr val="bg1"/>
                </a:gs>
                <a:gs pos="100000">
                  <a:schemeClr val="hlink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defRPr/>
              </a:pPr>
              <a:endParaRPr lang="zh-CN" altLang="en-US"/>
            </a:p>
          </p:txBody>
        </p:sp>
        <p:sp>
          <p:nvSpPr>
            <p:cNvPr id="8" name="Rectangle 10"/>
            <p:cNvSpPr>
              <a:spLocks noChangeArrowheads="1"/>
            </p:cNvSpPr>
            <p:nvPr/>
          </p:nvSpPr>
          <p:spPr bwMode="auto">
            <a:xfrm>
              <a:off x="400" y="1536"/>
              <a:ext cx="20" cy="66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defRPr/>
              </a:pPr>
              <a:endParaRPr lang="zh-CN" altLang="en-US"/>
            </a:p>
          </p:txBody>
        </p:sp>
        <p:sp>
          <p:nvSpPr>
            <p:cNvPr id="9" name="Rectangle 11"/>
            <p:cNvSpPr>
              <a:spLocks noChangeArrowheads="1"/>
            </p:cNvSpPr>
            <p:nvPr/>
          </p:nvSpPr>
          <p:spPr bwMode="auto">
            <a:xfrm flipV="1">
              <a:off x="199" y="2054"/>
              <a:ext cx="5476" cy="35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defRPr/>
              </a:pPr>
              <a:endParaRPr lang="zh-CN" altLang="en-US"/>
            </a:p>
          </p:txBody>
        </p:sp>
      </p:grpSp>
      <p:sp>
        <p:nvSpPr>
          <p:cNvPr id="10252" name="Rectangle 12"/>
          <p:cNvSpPr>
            <a:spLocks noGrp="1" noChangeArrowheads="1"/>
          </p:cNvSpPr>
          <p:nvPr>
            <p:ph type="ctrTitle"/>
          </p:nvPr>
        </p:nvSpPr>
        <p:spPr>
          <a:xfrm>
            <a:off x="990600" y="1676400"/>
            <a:ext cx="7772400" cy="1462088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10253" name="Rectangle 1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anose="05000000000000000000" pitchFamily="2" charset="2"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14" name="Rectangle 14"/>
          <p:cNvSpPr>
            <a:spLocks noGrp="1" noChangeArrowheads="1"/>
          </p:cNvSpPr>
          <p:nvPr>
            <p:ph type="dt" sz="half" idx="10"/>
          </p:nvPr>
        </p:nvSpPr>
        <p:spPr>
          <a:xfrm>
            <a:off x="990600" y="6248400"/>
            <a:ext cx="19050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5" name="Rectangle 15"/>
          <p:cNvSpPr>
            <a:spLocks noGrp="1" noChangeArrowheads="1"/>
          </p:cNvSpPr>
          <p:nvPr>
            <p:ph type="ftr" sz="quarter" idx="11"/>
          </p:nvPr>
        </p:nvSpPr>
        <p:spPr>
          <a:xfrm>
            <a:off x="3429000" y="6248400"/>
            <a:ext cx="28956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" name="Rectangle 1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858000" y="6248400"/>
            <a:ext cx="19050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6A8B626B-81AA-F040-92F0-D02736E321A4}" type="slidenum">
              <a:rPr lang="en-US" altLang="zh-CN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F748D9-7FA6-E441-821E-F3F88EC4F9C5}" type="slidenum">
              <a:rPr lang="en-US" altLang="zh-CN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B2B18E6-536B-3E49-87F7-F67360CCFABB}" type="slidenum">
              <a:rPr lang="en-US" altLang="zh-CN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1182688" y="2017713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145088" y="2017713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49FD8DE-E3EB-EA4E-8EE7-F04FE4665C2A}" type="slidenum">
              <a:rPr lang="en-US" altLang="zh-CN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11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Rectangle 12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Rectangle 13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0FCA741-66C6-D343-8412-89FF6A0F853D}" type="slidenum">
              <a:rPr lang="en-US" altLang="zh-CN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11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2318140-2A5D-0E44-BF65-E264B2E441BD}" type="slidenum">
              <a:rPr lang="en-US" altLang="zh-CN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Rectangle 12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48883DD-3DDB-6A4B-AF53-C06217DC1C45}" type="slidenum">
              <a:rPr lang="en-US" altLang="zh-CN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099AE6-659C-DD4F-AB55-9243AB08769D}" type="slidenum">
              <a:rPr lang="en-US" altLang="zh-CN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1EB066F-829B-004C-A374-751C5611884F}" type="slidenum">
              <a:rPr lang="en-US" altLang="zh-CN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B6E24A-3567-904B-B86C-E4AE21B6ED3B}" type="slidenum">
              <a:rPr lang="en-US" altLang="zh-CN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004050" y="214313"/>
            <a:ext cx="1951038" cy="59182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1150938" y="214313"/>
            <a:ext cx="5700712" cy="59182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7BB2DC2-6B55-5E4C-8395-621F8054D647}" type="slidenum">
              <a:rPr lang="en-US" altLang="zh-CN"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ltGray">
          <a:xfrm>
            <a:off x="417513" y="1098550"/>
            <a:ext cx="438150" cy="474663"/>
          </a:xfrm>
          <a:prstGeom prst="rect">
            <a:avLst/>
          </a:prstGeom>
          <a:solidFill>
            <a:schemeClr val="accent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27" name="Rectangle 3"/>
          <p:cNvSpPr>
            <a:spLocks noChangeArrowheads="1"/>
          </p:cNvSpPr>
          <p:nvPr/>
        </p:nvSpPr>
        <p:spPr bwMode="ltGray">
          <a:xfrm>
            <a:off x="800100" y="1098550"/>
            <a:ext cx="328613" cy="474663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28" name="Rectangle 4"/>
          <p:cNvSpPr>
            <a:spLocks noChangeArrowheads="1"/>
          </p:cNvSpPr>
          <p:nvPr/>
        </p:nvSpPr>
        <p:spPr bwMode="ltGray">
          <a:xfrm>
            <a:off x="541338" y="1520825"/>
            <a:ext cx="422275" cy="474663"/>
          </a:xfrm>
          <a:prstGeom prst="rect">
            <a:avLst/>
          </a:prstGeom>
          <a:solidFill>
            <a:schemeClr val="fol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29" name="Rectangle 5"/>
          <p:cNvSpPr>
            <a:spLocks noChangeArrowheads="1"/>
          </p:cNvSpPr>
          <p:nvPr/>
        </p:nvSpPr>
        <p:spPr bwMode="ltGray">
          <a:xfrm>
            <a:off x="911225" y="1520825"/>
            <a:ext cx="368300" cy="474663"/>
          </a:xfrm>
          <a:prstGeom prst="rect">
            <a:avLst/>
          </a:prstGeom>
          <a:gradFill rotWithShape="0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30" name="Rectangle 6"/>
          <p:cNvSpPr>
            <a:spLocks noChangeArrowheads="1"/>
          </p:cNvSpPr>
          <p:nvPr/>
        </p:nvSpPr>
        <p:spPr bwMode="ltGray">
          <a:xfrm>
            <a:off x="127000" y="1447800"/>
            <a:ext cx="560388" cy="422275"/>
          </a:xfrm>
          <a:prstGeom prst="rect">
            <a:avLst/>
          </a:prstGeom>
          <a:gradFill rotWithShape="0">
            <a:gsLst>
              <a:gs pos="0">
                <a:schemeClr val="bg1"/>
              </a:gs>
              <a:gs pos="100000">
                <a:schemeClr val="hlink"/>
              </a:gs>
            </a:gsLst>
            <a:lin ang="189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31" name="Rectangle 7"/>
          <p:cNvSpPr>
            <a:spLocks noChangeArrowheads="1"/>
          </p:cNvSpPr>
          <p:nvPr/>
        </p:nvSpPr>
        <p:spPr bwMode="gray">
          <a:xfrm>
            <a:off x="762000" y="990600"/>
            <a:ext cx="31750" cy="1052513"/>
          </a:xfrm>
          <a:prstGeom prst="rect">
            <a:avLst/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32" name="Rectangle 8"/>
          <p:cNvSpPr>
            <a:spLocks noChangeArrowheads="1"/>
          </p:cNvSpPr>
          <p:nvPr/>
        </p:nvSpPr>
        <p:spPr bwMode="gray">
          <a:xfrm>
            <a:off x="442913" y="1781175"/>
            <a:ext cx="8226425" cy="31750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1150938" y="214313"/>
            <a:ext cx="7793037" cy="1462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34" name="Rectangle 10"/>
          <p:cNvSpPr>
            <a:spLocks noGrp="1" noChangeArrowheads="1"/>
          </p:cNvSpPr>
          <p:nvPr>
            <p:ph type="body" idx="1"/>
          </p:nvPr>
        </p:nvSpPr>
        <p:spPr bwMode="auto">
          <a:xfrm>
            <a:off x="1182688" y="2017713"/>
            <a:ext cx="77724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9227" name="Rectangle 11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162050" y="6243638"/>
            <a:ext cx="19050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eaLnBrk="1" hangingPunct="1">
              <a:defRPr sz="14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8" name="Rectangle 1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657600" y="6243638"/>
            <a:ext cx="28956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ctr" eaLnBrk="1" hangingPunct="1">
              <a:defRPr sz="14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9" name="Rectangle 1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42150" y="6243638"/>
            <a:ext cx="19050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400"/>
            </a:lvl1pPr>
          </a:lstStyle>
          <a:p>
            <a:pPr>
              <a:defRPr/>
            </a:pPr>
            <a:fld id="{6CB83518-65C2-094A-AFB7-B5D18B682B4C}" type="slidenum">
              <a:rPr lang="en-US" altLang="zh-CN"/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60000"/>
        <a:buFont typeface="Wingdings" panose="05000000000000000000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55000"/>
        <a:buFont typeface="Wingdings" panose="05000000000000000000" pitchFamily="2" charset="2"/>
        <a:buChar char="n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50000"/>
        <a:buFont typeface="Wingdings" panose="05000000000000000000" pitchFamily="2" charset="2"/>
        <a:buChar char="n"/>
        <a:defRPr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55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altLang="zh-CN" dirty="0"/>
              <a:t>Theory Combination</a:t>
            </a:r>
          </a:p>
        </p:txBody>
      </p:sp>
      <p:sp>
        <p:nvSpPr>
          <p:cNvPr id="14338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en-US" altLang="zh-CN" sz="3600" dirty="0"/>
              <a:t>Formal Methods Foundation</a:t>
            </a:r>
          </a:p>
          <a:p>
            <a:pPr eaLnBrk="1" hangingPunct="1"/>
            <a:r>
              <a:rPr lang="en-US" altLang="zh-CN" sz="2800" dirty="0" err="1"/>
              <a:t>Baojian</a:t>
            </a:r>
            <a:r>
              <a:rPr lang="en-US" altLang="zh-CN" sz="2800" dirty="0"/>
              <a:t> Hua</a:t>
            </a:r>
          </a:p>
          <a:p>
            <a:pPr eaLnBrk="1" hangingPunct="1"/>
            <a:r>
              <a:rPr lang="en-US" altLang="zh-CN" sz="2400" dirty="0" err="1"/>
              <a:t>bjhua@ustc.edu.cn</a:t>
            </a:r>
            <a:endParaRPr lang="en-US" altLang="zh-CN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Recall: theories and signatures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en-US" altLang="zh-CN" dirty="0"/>
                  <a:t>First-order logic:</a:t>
                </a:r>
              </a:p>
              <a:p>
                <a:pPr lvl="1"/>
                <a:r>
                  <a:rPr kumimoji="1" lang="en-US" altLang="zh-CN" dirty="0"/>
                  <a:t>Syntax, axioms and inference rules</a:t>
                </a:r>
              </a:p>
              <a:p>
                <a:r>
                  <a:rPr kumimoji="1" lang="en-US" altLang="zh-CN" dirty="0"/>
                  <a:t>Theories:</a:t>
                </a:r>
              </a:p>
              <a:p>
                <a:pPr lvl="1"/>
                <a:r>
                  <a:rPr kumimoji="1" lang="en-US" altLang="zh-CN" dirty="0"/>
                  <a:t>Additional syntactic forms</a:t>
                </a:r>
              </a:p>
              <a:p>
                <a:pPr lvl="1"/>
                <a:r>
                  <a:rPr kumimoji="1" lang="en-US" altLang="zh-CN" dirty="0"/>
                  <a:t>Additional inference rules</a:t>
                </a:r>
              </a:p>
              <a:p>
                <a:pPr lvl="1"/>
                <a:r>
                  <a:rPr kumimoji="1" lang="en-US" altLang="zh-CN" dirty="0"/>
                  <a:t>The signature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el-GR" altLang="zh-CN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</m:oMath>
                </a14:m>
                <a:r>
                  <a:rPr kumimoji="1" lang="en-US" altLang="zh-CN" dirty="0"/>
                  <a:t> characterize the theory </a:t>
                </a:r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</m:oMath>
                </a14:m>
                <a:endParaRPr kumimoji="1"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 l="-4" t="-8" r="4" b="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We’ve learned…</a:t>
            </a:r>
            <a:endParaRPr kumimoji="1"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en-US" altLang="zh-CN" dirty="0"/>
                  <a:t>EUF theory, for example:</a:t>
                </a:r>
              </a:p>
              <a:p>
                <a:pPr lvl="1"/>
                <a:r>
                  <a:rPr kumimoji="1" lang="en-US" altLang="zh-CN" dirty="0">
                    <a:solidFill>
                      <a:srgbClr val="0432FF"/>
                    </a:solidFill>
                  </a:rPr>
                  <a:t>(x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1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 = x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2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) </a:t>
                </a:r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 (f(x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2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) != x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3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)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 …</a:t>
                </a:r>
              </a:p>
              <a:p>
                <a:r>
                  <a:rPr kumimoji="1" lang="en-US" altLang="zh-CN" dirty="0"/>
                  <a:t>LA theory, for example:</a:t>
                </a:r>
              </a:p>
              <a:p>
                <a:pPr lvl="1"/>
                <a:r>
                  <a:rPr kumimoji="1" lang="en-US" altLang="zh-CN" dirty="0">
                    <a:solidFill>
                      <a:srgbClr val="0432FF"/>
                    </a:solidFill>
                  </a:rPr>
                  <a:t>3</a:t>
                </a:r>
                <a:r>
                  <a:rPr kumimoji="1" lang="zh-CN" altLang="en-US" dirty="0">
                    <a:solidFill>
                      <a:srgbClr val="0432FF"/>
                    </a:solidFill>
                  </a:rPr>
                  <a:t>*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x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1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+5</a:t>
                </a:r>
                <a:r>
                  <a:rPr kumimoji="1" lang="zh-CN" altLang="en-US" dirty="0">
                    <a:solidFill>
                      <a:srgbClr val="0432FF"/>
                    </a:solidFill>
                  </a:rPr>
                  <a:t>*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x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2</a:t>
                </a:r>
                <a:r>
                  <a:rPr kumimoji="1" lang="en-US" altLang="zh-CN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 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2</a:t>
                </a:r>
                <a:r>
                  <a:rPr kumimoji="1" lang="zh-CN" altLang="en-US" dirty="0">
                    <a:solidFill>
                      <a:srgbClr val="0432FF"/>
                    </a:solidFill>
                  </a:rPr>
                  <a:t>*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x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3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 x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2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4</a:t>
                </a:r>
                <a:r>
                  <a:rPr kumimoji="1" lang="zh-CN" altLang="en-US" dirty="0">
                    <a:solidFill>
                      <a:srgbClr val="0432FF"/>
                    </a:solidFill>
                  </a:rPr>
                  <a:t>*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x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4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…</a:t>
                </a:r>
              </a:p>
              <a:p>
                <a:r>
                  <a:rPr kumimoji="1" lang="en-US" altLang="zh-CN" dirty="0"/>
                  <a:t>What about combining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EUF and LA?</a:t>
                </a:r>
              </a:p>
              <a:p>
                <a:pPr lvl="1"/>
                <a:r>
                  <a:rPr kumimoji="1" lang="en-US" altLang="zh-CN" dirty="0">
                    <a:solidFill>
                      <a:srgbClr val="0432FF"/>
                    </a:solidFill>
                  </a:rPr>
                  <a:t>(x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2</a:t>
                </a:r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x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1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)</a:t>
                </a:r>
                <a:r>
                  <a:rPr kumimoji="1" lang="en-US" altLang="zh-CN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endParaRPr kumimoji="1" lang="en-US" altLang="zh-CN" dirty="0">
                  <a:solidFill>
                    <a:srgbClr val="0432FF"/>
                  </a:solidFill>
                  <a:ea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kumimoji="1" lang="en-US" altLang="zh-CN" dirty="0">
                    <a:solidFill>
                      <a:srgbClr val="0432FF"/>
                    </a:solidFill>
                  </a:rPr>
                  <a:t>(x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1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-x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3</a:t>
                </a:r>
                <a:r>
                  <a:rPr kumimoji="1" lang="en-US" altLang="zh-CN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 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x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2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)</a:t>
                </a:r>
                <a:r>
                  <a:rPr kumimoji="1" lang="en-US" altLang="zh-CN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endParaRPr kumimoji="1" lang="en-US" altLang="zh-CN" dirty="0">
                  <a:solidFill>
                    <a:srgbClr val="0432FF"/>
                  </a:solidFill>
                </a:endParaRPr>
              </a:p>
              <a:p>
                <a:pPr marL="457200" lvl="1" indent="0">
                  <a:buNone/>
                </a:pPr>
                <a:r>
                  <a:rPr kumimoji="1" lang="en-US" altLang="zh-CN" dirty="0">
                    <a:solidFill>
                      <a:srgbClr val="0432FF"/>
                    </a:solidFill>
                  </a:rPr>
                  <a:t>(x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3</a:t>
                </a:r>
                <a:r>
                  <a:rPr kumimoji="1" lang="en-US" altLang="zh-CN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 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0)</a:t>
                </a:r>
                <a:r>
                  <a:rPr kumimoji="1" lang="en-US" altLang="zh-CN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 </a:t>
                </a:r>
              </a:p>
              <a:p>
                <a:pPr marL="457200" lvl="1" indent="0">
                  <a:buNone/>
                </a:pPr>
                <a:r>
                  <a:rPr kumimoji="1" lang="en-US" altLang="zh-CN" dirty="0">
                    <a:solidFill>
                      <a:srgbClr val="0432FF"/>
                    </a:solidFill>
                  </a:rPr>
                  <a:t>f(f(x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1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) - f(x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2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)) != f(x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3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) </a:t>
                </a:r>
                <a:endParaRPr kumimoji="1" lang="zh-CN" altLang="en-US" dirty="0">
                  <a:solidFill>
                    <a:srgbClr val="0432FF"/>
                  </a:solidFill>
                </a:endParaRPr>
              </a:p>
            </p:txBody>
          </p:sp>
        </mc:Choice>
        <mc:Fallback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53" t="-1846" b="-2153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And also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en-US" altLang="zh-CN" dirty="0"/>
                  <a:t>Bit vectors, for example:</a:t>
                </a:r>
              </a:p>
              <a:p>
                <a:pPr lvl="1"/>
                <a:r>
                  <a:rPr kumimoji="1" lang="en-US" altLang="zh-CN" dirty="0">
                    <a:solidFill>
                      <a:srgbClr val="0432FF"/>
                    </a:solidFill>
                  </a:rPr>
                  <a:t>a[32] * b[32] = b[32] * a[32]</a:t>
                </a:r>
              </a:p>
              <a:p>
                <a:r>
                  <a:rPr kumimoji="1" lang="en-US" altLang="zh-CN" dirty="0"/>
                  <a:t>What about combining EUF and BV?</a:t>
                </a:r>
              </a:p>
              <a:p>
                <a:pPr lvl="1"/>
                <a:r>
                  <a:rPr kumimoji="1" lang="en-US" altLang="zh-CN" dirty="0">
                    <a:solidFill>
                      <a:srgbClr val="0432FF"/>
                    </a:solidFill>
                  </a:rPr>
                  <a:t>f(a[32], b[1]) = f(b[32], a[1])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endParaRPr kumimoji="1" lang="en-US" altLang="zh-CN" dirty="0">
                  <a:solidFill>
                    <a:srgbClr val="0432FF"/>
                  </a:solidFill>
                </a:endParaRPr>
              </a:p>
              <a:p>
                <a:pPr marL="457200" lvl="1" indent="0">
                  <a:buNone/>
                </a:pPr>
                <a:r>
                  <a:rPr kumimoji="1" lang="en-US" altLang="zh-CN" dirty="0">
                    <a:solidFill>
                      <a:srgbClr val="0432FF"/>
                    </a:solidFill>
                  </a:rPr>
                  <a:t>a[32] = b[32]</a:t>
                </a:r>
                <a:endParaRPr kumimoji="1" lang="zh-CN" altLang="en-US" dirty="0">
                  <a:solidFill>
                    <a:srgbClr val="0432FF"/>
                  </a:solidFill>
                </a:endParaRPr>
              </a:p>
            </p:txBody>
          </p:sp>
        </mc:Choice>
        <mc:Fallback xmlns="">
          <p:sp>
            <p:nvSpPr>
              <p:cNvPr id="3" name="内容占位符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 l="-4" t="-8" r="4" b="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And more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en-US" altLang="zh-CN" dirty="0"/>
                  <a:t>List, LA, and EUF:</a:t>
                </a:r>
              </a:p>
              <a:p>
                <a:pPr lvl="1"/>
                <a:r>
                  <a:rPr kumimoji="1" lang="en-US" altLang="zh-CN" dirty="0">
                    <a:solidFill>
                      <a:srgbClr val="0432FF"/>
                    </a:solidFill>
                  </a:rPr>
                  <a:t>(x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1</a:t>
                </a:r>
                <a:r>
                  <a:rPr kumimoji="1" lang="en-US" altLang="zh-CN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 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x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2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)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(x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2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 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x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1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 + car(cons(0,x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1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)))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p(h(x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1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) – h(x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2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))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~p(0)</a:t>
                </a:r>
              </a:p>
              <a:p>
                <a:r>
                  <a:rPr kumimoji="1" lang="en-US" altLang="zh-CN" dirty="0"/>
                  <a:t>Arrays and LA:</a:t>
                </a:r>
              </a:p>
              <a:p>
                <a:pPr lvl="1"/>
                <a:r>
                  <a:rPr kumimoji="1" lang="en-US" altLang="zh-CN" dirty="0">
                    <a:solidFill>
                      <a:srgbClr val="0432FF"/>
                    </a:solidFill>
                  </a:rPr>
                  <a:t>x = store(</a:t>
                </a:r>
                <a:r>
                  <a:rPr kumimoji="1" lang="en-US" altLang="zh-CN" dirty="0" err="1">
                    <a:solidFill>
                      <a:srgbClr val="0432FF"/>
                    </a:solidFill>
                  </a:rPr>
                  <a:t>v,i,e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)[j]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 y = v[j]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 x &gt; e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 x &gt; y</a:t>
                </a:r>
              </a:p>
              <a:p>
                <a:r>
                  <a:rPr kumimoji="1" lang="en-US" altLang="zh-CN" dirty="0"/>
                  <a:t>Pointers:</a:t>
                </a:r>
              </a:p>
              <a:p>
                <a:pPr lvl="1"/>
                <a:r>
                  <a:rPr kumimoji="1" lang="zh-CN" altLang="en-US" dirty="0">
                    <a:solidFill>
                      <a:srgbClr val="0432FF"/>
                    </a:solidFill>
                  </a:rPr>
                  <a:t>*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(&amp;a+1)=a[1]</a:t>
                </a:r>
                <a:endParaRPr kumimoji="1" lang="zh-CN" altLang="en-US" dirty="0">
                  <a:solidFill>
                    <a:srgbClr val="0432FF"/>
                  </a:solidFill>
                </a:endParaRPr>
              </a:p>
            </p:txBody>
          </p:sp>
        </mc:Choice>
        <mc:Fallback xmlns="">
          <p:sp>
            <p:nvSpPr>
              <p:cNvPr id="3" name="内容占位符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 l="-4" t="-8" r="4" b="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Question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Given</a:t>
            </a:r>
            <a:r>
              <a:rPr kumimoji="1" lang="zh-CN" altLang="en-US" dirty="0"/>
              <a:t> </a:t>
            </a:r>
            <a:r>
              <a:rPr kumimoji="1" lang="en-US" altLang="zh-CN" dirty="0"/>
              <a:t>2</a:t>
            </a:r>
            <a:r>
              <a:rPr kumimoji="1" lang="zh-CN" altLang="en-US" dirty="0"/>
              <a:t> </a:t>
            </a:r>
            <a:r>
              <a:rPr kumimoji="1" lang="en-US" altLang="zh-CN" dirty="0"/>
              <a:t>or</a:t>
            </a:r>
            <a:r>
              <a:rPr kumimoji="1" lang="zh-CN" altLang="en-US" dirty="0"/>
              <a:t> </a:t>
            </a:r>
            <a:r>
              <a:rPr kumimoji="1" lang="en-US" altLang="zh-CN" dirty="0"/>
              <a:t>more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theories,</a:t>
            </a:r>
            <a:r>
              <a:rPr kumimoji="1" lang="zh-CN" altLang="en-US" dirty="0"/>
              <a:t> </a:t>
            </a:r>
            <a:r>
              <a:rPr kumimoji="1" lang="en-US" altLang="zh-CN" dirty="0"/>
              <a:t>does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their</a:t>
            </a:r>
            <a:r>
              <a:rPr kumimoji="1" lang="zh-CN" altLang="en-US" dirty="0"/>
              <a:t> </a:t>
            </a:r>
            <a:r>
              <a:rPr kumimoji="1" lang="en-US" altLang="zh-CN" dirty="0"/>
              <a:t>combination</a:t>
            </a:r>
            <a:r>
              <a:rPr kumimoji="1" lang="zh-CN" altLang="en-US" dirty="0"/>
              <a:t> </a:t>
            </a:r>
            <a:r>
              <a:rPr kumimoji="1" lang="en-US" altLang="zh-CN" dirty="0"/>
              <a:t>is</a:t>
            </a:r>
            <a:r>
              <a:rPr kumimoji="1" lang="zh-CN" altLang="en-US" dirty="0"/>
              <a:t> </a:t>
            </a:r>
            <a:r>
              <a:rPr kumimoji="1" lang="en-US" altLang="zh-CN" dirty="0"/>
              <a:t>still</a:t>
            </a:r>
            <a:r>
              <a:rPr kumimoji="1" lang="zh-CN" altLang="en-US" dirty="0"/>
              <a:t> </a:t>
            </a:r>
            <a:r>
              <a:rPr kumimoji="1" lang="en-US" altLang="zh-CN" dirty="0"/>
              <a:t>decidable?</a:t>
            </a:r>
          </a:p>
          <a:p>
            <a:pPr lvl="1"/>
            <a:r>
              <a:rPr kumimoji="1" lang="en-US" altLang="zh-CN" dirty="0"/>
              <a:t>if</a:t>
            </a:r>
            <a:r>
              <a:rPr kumimoji="1" lang="zh-CN" altLang="en-US" dirty="0"/>
              <a:t> </a:t>
            </a:r>
            <a:r>
              <a:rPr kumimoji="1" lang="en-US" altLang="zh-CN" dirty="0"/>
              <a:t>so,</a:t>
            </a:r>
            <a:r>
              <a:rPr kumimoji="1" lang="zh-CN" altLang="en-US" dirty="0"/>
              <a:t> </a:t>
            </a:r>
            <a:r>
              <a:rPr kumimoji="1" lang="en-US" altLang="zh-CN" dirty="0"/>
              <a:t>what is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combined</a:t>
            </a:r>
            <a:r>
              <a:rPr kumimoji="1" lang="zh-CN" altLang="en-US" dirty="0"/>
              <a:t> </a:t>
            </a:r>
            <a:r>
              <a:rPr kumimoji="1" lang="en-US" altLang="zh-CN" dirty="0"/>
              <a:t>decision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procedure?</a:t>
            </a:r>
          </a:p>
          <a:p>
            <a:r>
              <a:rPr kumimoji="1" lang="en-US" altLang="zh-CN" dirty="0"/>
              <a:t>This</a:t>
            </a:r>
            <a:r>
              <a:rPr kumimoji="1" lang="zh-CN" altLang="en-US" dirty="0"/>
              <a:t> </a:t>
            </a:r>
            <a:r>
              <a:rPr kumimoji="1" lang="en-US" altLang="zh-CN" dirty="0"/>
              <a:t>is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problem</a:t>
            </a:r>
            <a:r>
              <a:rPr kumimoji="1" lang="zh-CN" altLang="en-US" dirty="0"/>
              <a:t> </a:t>
            </a:r>
            <a:r>
              <a:rPr kumimoji="1" lang="en-US" altLang="zh-CN" dirty="0"/>
              <a:t>of</a:t>
            </a:r>
            <a:r>
              <a:rPr kumimoji="1" lang="zh-CN" altLang="en-US" dirty="0"/>
              <a:t> </a:t>
            </a:r>
            <a:r>
              <a:rPr kumimoji="1" lang="en-US" altLang="zh-CN" dirty="0">
                <a:solidFill>
                  <a:srgbClr val="0432FF"/>
                </a:solidFill>
              </a:rPr>
              <a:t>theory</a:t>
            </a:r>
            <a:r>
              <a:rPr kumimoji="1" lang="zh-CN" altLang="en-US" dirty="0">
                <a:solidFill>
                  <a:srgbClr val="0432FF"/>
                </a:solidFill>
              </a:rPr>
              <a:t> </a:t>
            </a:r>
            <a:r>
              <a:rPr kumimoji="1" lang="en-US" altLang="zh-CN" dirty="0">
                <a:solidFill>
                  <a:srgbClr val="0432FF"/>
                </a:solidFill>
              </a:rPr>
              <a:t>combination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Theory combination</a:t>
            </a:r>
            <a:endParaRPr kumimoji="1"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en-US" altLang="zh-CN" dirty="0"/>
                  <a:t>For two theories </a:t>
                </a:r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r>
                      <a:rPr kumimoji="1" lang="en-US" altLang="zh-CN" b="0" i="1" baseline="-25000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kumimoji="1" lang="en-US" altLang="zh-CN" dirty="0"/>
                  <a:t> and </a:t>
                </a:r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r>
                      <a:rPr kumimoji="1" lang="en-US" altLang="zh-CN" b="0" i="1" baseline="-25000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kumimoji="1" lang="en-US" altLang="zh-CN" dirty="0"/>
                  <a:t>, with signatures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el-GR" altLang="zh-CN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kumimoji="1" lang="en-US" altLang="zh-CN" b="0" i="1" baseline="-25000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kumimoji="1" lang="en-US" altLang="zh-CN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el-GR" altLang="zh-CN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kumimoji="1" lang="en-US" altLang="zh-CN" b="0" i="1" baseline="-25000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kumimoji="1" lang="en-US" altLang="zh-CN" dirty="0"/>
                  <a:t>, the combined theory </a:t>
                </a:r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r>
                      <a:rPr kumimoji="1" lang="en-US" altLang="zh-CN" i="1" baseline="-25000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kumimoji="1" lang="en-US" altLang="zh-CN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⨁</m:t>
                    </m:r>
                    <m:r>
                      <a:rPr kumimoji="1" lang="en-US" altLang="zh-CN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r>
                      <a:rPr kumimoji="1" lang="en-US" altLang="zh-CN" i="1" baseline="-25000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endParaRPr kumimoji="1" lang="en-US" altLang="zh-CN" baseline="-25000" dirty="0">
                  <a:solidFill>
                    <a:srgbClr val="0432FF"/>
                  </a:solidFill>
                </a:endParaRPr>
              </a:p>
              <a:p>
                <a:pPr lvl="1"/>
                <a:r>
                  <a:rPr kumimoji="1" lang="en-US" altLang="zh-CN" dirty="0"/>
                  <a:t>Signatures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el-GR" altLang="zh-CN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kumimoji="1" lang="en-US" altLang="zh-CN" i="1" baseline="-2500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el-GR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kumimoji="1" lang="en-US" altLang="zh-CN" i="1" baseline="-2500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kumimoji="1" lang="en-US" altLang="zh-CN" dirty="0"/>
              </a:p>
              <a:p>
                <a:pPr lvl="1"/>
                <a:r>
                  <a:rPr kumimoji="1" lang="en-US" altLang="zh-CN" dirty="0"/>
                  <a:t>Union of axioms and inference rules</a:t>
                </a:r>
              </a:p>
              <a:p>
                <a:r>
                  <a:rPr kumimoji="1" lang="en-US" altLang="zh-CN" dirty="0"/>
                  <a:t>Problem:</a:t>
                </a:r>
              </a:p>
              <a:p>
                <a:pPr lvl="1"/>
                <a:r>
                  <a:rPr kumimoji="1" lang="en-US" altLang="zh-CN" dirty="0">
                    <a:ea typeface="Cambria Math" panose="02040503050406030204" pitchFamily="18" charset="0"/>
                  </a:rPr>
                  <a:t>Does </a:t>
                </a:r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r>
                      <a:rPr kumimoji="1" lang="en-US" altLang="zh-CN" i="1" baseline="-25000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kumimoji="1" lang="en-US" altLang="zh-CN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⨁</m:t>
                    </m:r>
                    <m:r>
                      <a:rPr kumimoji="1" lang="en-US" altLang="zh-CN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r>
                      <a:rPr kumimoji="1" lang="en-US" altLang="zh-CN" i="1" baseline="-25000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kumimoji="1" lang="en-US" altLang="zh-CN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⊨</m:t>
                    </m:r>
                    <m:r>
                      <a:rPr kumimoji="1" lang="en-US" altLang="zh-CN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kumimoji="1" lang="en-US" altLang="zh-CN" dirty="0"/>
                  <a:t>?</a:t>
                </a:r>
                <a:endParaRPr kumimoji="1" lang="zh-CN" altLang="en-US" dirty="0"/>
              </a:p>
            </p:txBody>
          </p:sp>
        </mc:Choice>
        <mc:Fallback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53" t="-21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Theory combination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Approach #1: reduce all theories to propositional logic, and use SAT</a:t>
            </a:r>
          </a:p>
          <a:p>
            <a:pPr lvl="1"/>
            <a:r>
              <a:rPr kumimoji="1" lang="en-US" altLang="zh-CN" dirty="0"/>
              <a:t>In previous lectures, we‘ve seen reductions for various theories,</a:t>
            </a:r>
            <a:r>
              <a:rPr kumimoji="1" lang="zh-CN" altLang="en-US" dirty="0"/>
              <a:t> </a:t>
            </a:r>
            <a:r>
              <a:rPr kumimoji="1" lang="en-US" altLang="zh-CN" dirty="0"/>
              <a:t>say</a:t>
            </a:r>
            <a:r>
              <a:rPr kumimoji="1" lang="zh-CN" altLang="en-US" dirty="0"/>
              <a:t> </a:t>
            </a:r>
            <a:r>
              <a:rPr kumimoji="1" lang="en-US" altLang="zh-CN" dirty="0"/>
              <a:t>BV</a:t>
            </a:r>
          </a:p>
          <a:p>
            <a:r>
              <a:rPr kumimoji="1" lang="en-US" altLang="zh-CN" dirty="0"/>
              <a:t>Approach #2: combine theories directly</a:t>
            </a:r>
          </a:p>
          <a:p>
            <a:pPr lvl="1"/>
            <a:r>
              <a:rPr kumimoji="1" lang="en-US" altLang="zh-CN" dirty="0"/>
              <a:t>We’ll discuss the Nelson-</a:t>
            </a:r>
            <a:r>
              <a:rPr kumimoji="1" lang="en-US" altLang="zh-CN" dirty="0" err="1"/>
              <a:t>Oppen</a:t>
            </a:r>
            <a:r>
              <a:rPr kumimoji="1" lang="en-US" altLang="zh-CN" dirty="0"/>
              <a:t> method</a:t>
            </a:r>
          </a:p>
          <a:p>
            <a:pPr lvl="1"/>
            <a:r>
              <a:rPr kumimoji="1" lang="en-US" altLang="zh-CN" dirty="0"/>
              <a:t>Greg Nelson and Derek </a:t>
            </a:r>
            <a:r>
              <a:rPr kumimoji="1" lang="en-US" altLang="zh-CN" dirty="0" err="1"/>
              <a:t>Oppen</a:t>
            </a:r>
            <a:r>
              <a:rPr kumimoji="1" lang="en-US" altLang="zh-CN" dirty="0"/>
              <a:t>, </a:t>
            </a:r>
            <a:r>
              <a:rPr kumimoji="1" lang="en-US" altLang="zh-CN" i="1" dirty="0"/>
              <a:t>Simplification by cooperating decision procedures</a:t>
            </a:r>
            <a:r>
              <a:rPr kumimoji="1" lang="en-US" altLang="zh-CN" dirty="0"/>
              <a:t>, 1979</a:t>
            </a:r>
            <a:endParaRPr kumimoji="1" lang="zh-CN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 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en-US" altLang="zh-CN" dirty="0"/>
          </a:p>
          <a:p>
            <a:pPr marL="0" indent="0" algn="ctr">
              <a:buNone/>
            </a:pPr>
            <a:r>
              <a:rPr kumimoji="1" lang="en-US" altLang="zh-CN" i="1" dirty="0"/>
              <a:t>Nelson-</a:t>
            </a:r>
            <a:r>
              <a:rPr kumimoji="1" lang="en-US" altLang="zh-CN" i="1" dirty="0" err="1"/>
              <a:t>Oppen</a:t>
            </a:r>
            <a:r>
              <a:rPr kumimoji="1" lang="zh-CN" altLang="en-US" i="1" dirty="0"/>
              <a:t> </a:t>
            </a:r>
            <a:r>
              <a:rPr kumimoji="1" lang="en-US" altLang="zh-CN" i="1"/>
              <a:t>Method</a:t>
            </a:r>
            <a:endParaRPr kumimoji="1" lang="zh-CN" altLang="en-US" i="1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Basic results</a:t>
            </a:r>
            <a:endParaRPr kumimoji="1"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en-US" altLang="zh-CN" dirty="0"/>
                  <a:t>The theory combination problem, in general, is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undecidable</a:t>
                </a:r>
              </a:p>
              <a:p>
                <a:pPr lvl="1"/>
                <a:r>
                  <a:rPr kumimoji="1" lang="en-US" altLang="zh-CN" dirty="0"/>
                  <a:t>Even the underlying theories are decidable</a:t>
                </a:r>
              </a:p>
              <a:p>
                <a:r>
                  <a:rPr kumimoji="1" lang="en-US" altLang="zh-CN" dirty="0"/>
                  <a:t>To make it decidable, we require: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r>
                      <a:rPr kumimoji="1" lang="en-US" altLang="zh-CN" i="1" baseline="-25000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kumimoji="1" lang="en-US" altLang="zh-CN" dirty="0"/>
                  <a:t> and </a:t>
                </a:r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r>
                      <a:rPr kumimoji="1" lang="en-US" altLang="zh-CN" i="1" baseline="-25000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kumimoji="1" lang="en-US" altLang="zh-CN" dirty="0"/>
                  <a:t> are decidable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el-GR" altLang="zh-CN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kumimoji="1" lang="en-US" altLang="zh-CN" i="1" baseline="-2500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el-GR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kumimoji="1" lang="en-US" altLang="zh-CN" i="1" baseline="-2500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=</a:t>
                </a:r>
                <a14:m>
                  <m:oMath xmlns:m="http://schemas.openxmlformats.org/officeDocument/2006/math">
                    <m:r>
                      <a:rPr kumimoji="1" lang="en-US" altLang="zh-CN" i="1" dirty="0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kumimoji="1" lang="zh-CN" altLang="en-US" dirty="0">
                    <a:solidFill>
                      <a:srgbClr val="0432FF"/>
                    </a:solidFill>
                  </a:rPr>
                  <a:t> </a:t>
                </a:r>
                <a:r>
                  <a:rPr kumimoji="1" lang="en-US" altLang="zh-CN" dirty="0"/>
                  <a:t>(except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for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=</a:t>
                </a:r>
                <a:r>
                  <a:rPr kumimoji="1" lang="en-US" altLang="zh-CN" dirty="0"/>
                  <a:t>)</a:t>
                </a:r>
              </a:p>
              <a:p>
                <a:pPr lvl="1"/>
                <a:r>
                  <a:rPr kumimoji="1" lang="en-US" altLang="zh-CN" dirty="0"/>
                  <a:t>infinitely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stable</a:t>
                </a:r>
                <a:endParaRPr kumimoji="1" lang="zh-CN" altLang="en-US" dirty="0"/>
              </a:p>
            </p:txBody>
          </p:sp>
        </mc:Choice>
        <mc:Fallback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53" t="-18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Nelson-</a:t>
            </a:r>
            <a:r>
              <a:rPr kumimoji="1" lang="en-US" altLang="zh-CN" dirty="0" err="1"/>
              <a:t>Oppen</a:t>
            </a:r>
            <a:r>
              <a:rPr kumimoji="1" lang="zh-CN" altLang="en-US" dirty="0"/>
              <a:t> </a:t>
            </a:r>
            <a:r>
              <a:rPr kumimoji="1" lang="en-US" altLang="zh-CN" dirty="0"/>
              <a:t>Architecture</a:t>
            </a:r>
            <a:endParaRPr kumimoji="1" lang="zh-CN" altLang="en-US" dirty="0"/>
          </a:p>
        </p:txBody>
      </p:sp>
      <p:sp>
        <p:nvSpPr>
          <p:cNvPr id="8" name="圆角矩形 7"/>
          <p:cNvSpPr/>
          <p:nvPr/>
        </p:nvSpPr>
        <p:spPr>
          <a:xfrm>
            <a:off x="1941095" y="3589054"/>
            <a:ext cx="1828800" cy="481812"/>
          </a:xfrm>
          <a:prstGeom prst="roundRect">
            <a:avLst/>
          </a:prstGeom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Nelson-</a:t>
            </a:r>
            <a:r>
              <a:rPr kumimoji="1" lang="en-US" altLang="zh-CN" dirty="0" err="1">
                <a:solidFill>
                  <a:schemeClr val="tx1"/>
                </a:solidFill>
              </a:rPr>
              <a:t>Oppen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2044115" y="2654694"/>
            <a:ext cx="2506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Conjunctive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formulae</a:t>
            </a:r>
            <a:endParaRPr kumimoji="1" lang="zh-CN" altLang="en-US" dirty="0"/>
          </a:p>
        </p:txBody>
      </p:sp>
      <p:cxnSp>
        <p:nvCxnSpPr>
          <p:cNvPr id="10" name="直线箭头连接符 9"/>
          <p:cNvCxnSpPr/>
          <p:nvPr/>
        </p:nvCxnSpPr>
        <p:spPr>
          <a:xfrm>
            <a:off x="2590800" y="3048000"/>
            <a:ext cx="0" cy="5334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线箭头连接符 15"/>
          <p:cNvCxnSpPr/>
          <p:nvPr/>
        </p:nvCxnSpPr>
        <p:spPr>
          <a:xfrm flipV="1">
            <a:off x="3048000" y="3080266"/>
            <a:ext cx="0" cy="50878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圆角矩形 20"/>
          <p:cNvSpPr/>
          <p:nvPr/>
        </p:nvSpPr>
        <p:spPr>
          <a:xfrm>
            <a:off x="685801" y="4687482"/>
            <a:ext cx="990600" cy="125611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Theory</a:t>
            </a:r>
          </a:p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1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22" name="圆角矩形 21"/>
          <p:cNvSpPr/>
          <p:nvPr/>
        </p:nvSpPr>
        <p:spPr>
          <a:xfrm>
            <a:off x="1981200" y="4687482"/>
            <a:ext cx="990600" cy="125611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Theory</a:t>
            </a:r>
          </a:p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2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26" name="圆角矩形 25"/>
          <p:cNvSpPr/>
          <p:nvPr/>
        </p:nvSpPr>
        <p:spPr>
          <a:xfrm>
            <a:off x="3886200" y="4687482"/>
            <a:ext cx="990600" cy="125611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Theory</a:t>
            </a:r>
          </a:p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n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27" name="直线箭头连接符 26"/>
          <p:cNvCxnSpPr/>
          <p:nvPr/>
        </p:nvCxnSpPr>
        <p:spPr>
          <a:xfrm flipH="1">
            <a:off x="990600" y="4070866"/>
            <a:ext cx="1295400" cy="61661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线箭头连接符 27"/>
          <p:cNvCxnSpPr>
            <a:stCxn id="8" idx="2"/>
          </p:cNvCxnSpPr>
          <p:nvPr/>
        </p:nvCxnSpPr>
        <p:spPr>
          <a:xfrm flipH="1">
            <a:off x="2286000" y="4070866"/>
            <a:ext cx="569495" cy="61661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线箭头连接符 28"/>
          <p:cNvCxnSpPr/>
          <p:nvPr/>
        </p:nvCxnSpPr>
        <p:spPr>
          <a:xfrm>
            <a:off x="3352800" y="4063212"/>
            <a:ext cx="700840" cy="62427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线箭头连接符 30"/>
          <p:cNvCxnSpPr/>
          <p:nvPr/>
        </p:nvCxnSpPr>
        <p:spPr>
          <a:xfrm flipV="1">
            <a:off x="2726156" y="4068502"/>
            <a:ext cx="361950" cy="5796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线箭头连接符 34"/>
          <p:cNvCxnSpPr/>
          <p:nvPr/>
        </p:nvCxnSpPr>
        <p:spPr>
          <a:xfrm flipV="1">
            <a:off x="1540042" y="4056834"/>
            <a:ext cx="907884" cy="63064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线箭头连接符 36"/>
          <p:cNvCxnSpPr/>
          <p:nvPr/>
        </p:nvCxnSpPr>
        <p:spPr>
          <a:xfrm flipH="1" flipV="1">
            <a:off x="3581399" y="4078520"/>
            <a:ext cx="969546" cy="60896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文本框 39"/>
          <p:cNvSpPr txBox="1"/>
          <p:nvPr/>
        </p:nvSpPr>
        <p:spPr>
          <a:xfrm>
            <a:off x="3238500" y="4982304"/>
            <a:ext cx="1295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…</a:t>
            </a:r>
            <a:endParaRPr kumimoji="1" lang="zh-CN" altLang="en-US" dirty="0"/>
          </a:p>
        </p:txBody>
      </p:sp>
      <p:sp>
        <p:nvSpPr>
          <p:cNvPr id="42" name="文本框 41"/>
          <p:cNvSpPr txBox="1"/>
          <p:nvPr/>
        </p:nvSpPr>
        <p:spPr>
          <a:xfrm>
            <a:off x="4800600" y="3087469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Purification</a:t>
            </a:r>
            <a:endParaRPr kumimoji="1" lang="zh-CN" altLang="en-US" dirty="0"/>
          </a:p>
        </p:txBody>
      </p:sp>
      <p:cxnSp>
        <p:nvCxnSpPr>
          <p:cNvPr id="43" name="直线箭头连接符 42"/>
          <p:cNvCxnSpPr/>
          <p:nvPr/>
        </p:nvCxnSpPr>
        <p:spPr>
          <a:xfrm flipH="1" flipV="1">
            <a:off x="3124200" y="3332656"/>
            <a:ext cx="1676400" cy="2151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5638800" y="3974068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Equality</a:t>
            </a:r>
            <a:r>
              <a:rPr kumimoji="1" lang="zh-CN" altLang="en-US" dirty="0"/>
              <a:t> </a:t>
            </a:r>
            <a:r>
              <a:rPr kumimoji="1" lang="en-US" altLang="zh-CN" dirty="0"/>
              <a:t>broadcast</a:t>
            </a:r>
            <a:endParaRPr kumimoji="1" lang="zh-CN" altLang="en-US" dirty="0"/>
          </a:p>
        </p:txBody>
      </p:sp>
      <p:cxnSp>
        <p:nvCxnSpPr>
          <p:cNvPr id="20" name="直线箭头连接符 19"/>
          <p:cNvCxnSpPr/>
          <p:nvPr/>
        </p:nvCxnSpPr>
        <p:spPr>
          <a:xfrm flipH="1" flipV="1">
            <a:off x="3962400" y="4219255"/>
            <a:ext cx="1676400" cy="2151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Nelson-</a:t>
            </a:r>
            <a:r>
              <a:rPr kumimoji="1" lang="en-US" altLang="zh-CN" dirty="0" err="1"/>
              <a:t>Oppen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en-US" altLang="zh-CN" dirty="0"/>
                  <a:t>Step #1: purification </a:t>
                </a:r>
              </a:p>
              <a:p>
                <a:pPr lvl="1"/>
                <a:r>
                  <a:rPr kumimoji="1" lang="en-US" altLang="zh-CN" dirty="0"/>
                  <a:t>Introduce auxiliary variables, so that different theories don’t mix</a:t>
                </a:r>
              </a:p>
              <a:p>
                <a:r>
                  <a:rPr kumimoji="1" lang="en-US" altLang="zh-CN" dirty="0"/>
                  <a:t>Example with LA and EUF:</a:t>
                </a:r>
              </a:p>
              <a:p>
                <a:pPr lvl="1"/>
                <a:r>
                  <a:rPr kumimoji="1" lang="en-US" altLang="zh-CN" dirty="0">
                    <a:solidFill>
                      <a:srgbClr val="0432FF"/>
                    </a:solidFill>
                  </a:rPr>
                  <a:t>x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1</a:t>
                </a:r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f(x</a:t>
                </a:r>
                <a:r>
                  <a:rPr kumimoji="1" lang="en-US" altLang="zh-CN" baseline="-25000" dirty="0">
                    <a:solidFill>
                      <a:srgbClr val="FF0000"/>
                    </a:solidFill>
                  </a:rPr>
                  <a:t>1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)</a:t>
                </a:r>
              </a:p>
              <a:p>
                <a:pPr lvl="1"/>
                <a:r>
                  <a:rPr kumimoji="1" lang="en-US" altLang="zh-CN" dirty="0">
                    <a:solidFill>
                      <a:srgbClr val="0432FF"/>
                    </a:solidFill>
                  </a:rPr>
                  <a:t>x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1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 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t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1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/>
                  <a:t> </a:t>
                </a:r>
              </a:p>
              <a:p>
                <a:pPr marL="457200" lvl="1" indent="0">
                  <a:buNone/>
                </a:pPr>
                <a:r>
                  <a:rPr kumimoji="1" lang="zh-CN" altLang="en-US" dirty="0">
                    <a:solidFill>
                      <a:srgbClr val="FF0000"/>
                    </a:solidFill>
                  </a:rPr>
                  <a:t>  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t</a:t>
                </a:r>
                <a:r>
                  <a:rPr kumimoji="1" lang="en-US" altLang="zh-CN" baseline="-25000" dirty="0">
                    <a:solidFill>
                      <a:srgbClr val="FF0000"/>
                    </a:solidFill>
                  </a:rPr>
                  <a:t>1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=f(x</a:t>
                </a:r>
                <a:r>
                  <a:rPr kumimoji="1" lang="en-US" altLang="zh-CN" baseline="-25000" dirty="0">
                    <a:solidFill>
                      <a:srgbClr val="FF0000"/>
                    </a:solidFill>
                  </a:rPr>
                  <a:t>1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)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内容占位符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 l="-4" t="-8" r="4" b="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#2:</a:t>
            </a:r>
            <a:r>
              <a:rPr kumimoji="1" lang="zh-CN" altLang="en-US" dirty="0"/>
              <a:t> </a:t>
            </a:r>
            <a:r>
              <a:rPr kumimoji="1" lang="en-US" altLang="zh-CN" dirty="0"/>
              <a:t>Equality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propagation</a:t>
            </a:r>
            <a:endParaRPr kumimoji="1"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en-US" altLang="zh-CN" dirty="0"/>
                  <a:t>After purification, the proposition is turned into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P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1</a:t>
                </a:r>
                <a:r>
                  <a:rPr kumimoji="1" lang="en-US" altLang="zh-CN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P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2</a:t>
                </a:r>
                <a:r>
                  <a:rPr kumimoji="1" lang="en-US" altLang="zh-CN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...</a:t>
                </a:r>
                <a:r>
                  <a:rPr kumimoji="1" lang="en-US" altLang="zh-CN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 err="1">
                    <a:solidFill>
                      <a:srgbClr val="0432FF"/>
                    </a:solidFill>
                  </a:rPr>
                  <a:t>P</a:t>
                </a:r>
                <a:r>
                  <a:rPr kumimoji="1" lang="en-US" altLang="zh-CN" baseline="-25000" dirty="0" err="1">
                    <a:solidFill>
                      <a:srgbClr val="0432FF"/>
                    </a:solidFill>
                  </a:rPr>
                  <a:t>n</a:t>
                </a:r>
                <a:endParaRPr kumimoji="1" lang="en-US" altLang="zh-CN" baseline="-25000" dirty="0">
                  <a:solidFill>
                    <a:srgbClr val="0432FF"/>
                  </a:solidFill>
                </a:endParaRPr>
              </a:p>
              <a:p>
                <a:pPr lvl="1"/>
                <a:r>
                  <a:rPr kumimoji="1" lang="en-US" altLang="zh-CN" dirty="0"/>
                  <a:t>Each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P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i</a:t>
                </a:r>
                <a:r>
                  <a:rPr kumimoji="1" lang="en-US" altLang="zh-CN" dirty="0"/>
                  <a:t> belongs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to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 specific theory</a:t>
                </a:r>
              </a:p>
              <a:p>
                <a:pPr lvl="1"/>
                <a:r>
                  <a:rPr kumimoji="1" lang="en-US" altLang="zh-CN" dirty="0"/>
                  <a:t>And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P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i</a:t>
                </a:r>
                <a:r>
                  <a:rPr kumimoji="1" lang="en-US" altLang="zh-CN" dirty="0"/>
                  <a:t> are connected by variables</a:t>
                </a:r>
              </a:p>
              <a:p>
                <a:r>
                  <a:rPr kumimoji="1" lang="en-US" altLang="zh-CN" dirty="0"/>
                  <a:t>If some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P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i</a:t>
                </a:r>
                <a:r>
                  <a:rPr kumimoji="1" lang="en-US" altLang="zh-CN" dirty="0"/>
                  <a:t> is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UNSAT</a:t>
                </a:r>
                <a:r>
                  <a:rPr kumimoji="1" lang="en-US" altLang="zh-CN" dirty="0"/>
                  <a:t>,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return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UNSAT</a:t>
                </a:r>
              </a:p>
              <a:p>
                <a:r>
                  <a:rPr kumimoji="1" lang="en-US" altLang="zh-CN" dirty="0"/>
                  <a:t>If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P</a:t>
                </a:r>
                <a:r>
                  <a:rPr kumimoji="1" lang="en-US" altLang="zh-CN" baseline="-25000" dirty="0">
                    <a:solidFill>
                      <a:srgbClr val="0432FF"/>
                    </a:solidFill>
                  </a:rPr>
                  <a:t>i</a:t>
                </a:r>
                <a:r>
                  <a:rPr kumimoji="1" lang="en-US" altLang="zh-CN" dirty="0"/>
                  <a:t> implies an equality </a:t>
                </a:r>
                <a:r>
                  <a:rPr kumimoji="1" lang="en-US" altLang="zh-CN" dirty="0" err="1">
                    <a:solidFill>
                      <a:srgbClr val="0432FF"/>
                    </a:solidFill>
                  </a:rPr>
                  <a:t>e</a:t>
                </a:r>
                <a:r>
                  <a:rPr kumimoji="1" lang="en-US" altLang="zh-CN" baseline="-25000" dirty="0" err="1">
                    <a:solidFill>
                      <a:srgbClr val="0432FF"/>
                    </a:solidFill>
                  </a:rPr>
                  <a:t>i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=</a:t>
                </a:r>
                <a:r>
                  <a:rPr kumimoji="1" lang="en-US" altLang="zh-CN" dirty="0" err="1">
                    <a:solidFill>
                      <a:srgbClr val="0432FF"/>
                    </a:solidFill>
                  </a:rPr>
                  <a:t>e</a:t>
                </a:r>
                <a:r>
                  <a:rPr kumimoji="1" lang="en-US" altLang="zh-CN" baseline="-25000" dirty="0" err="1">
                    <a:solidFill>
                      <a:srgbClr val="0432FF"/>
                    </a:solidFill>
                  </a:rPr>
                  <a:t>j</a:t>
                </a:r>
                <a:r>
                  <a:rPr kumimoji="1" lang="en-US" altLang="zh-CN" dirty="0"/>
                  <a:t>, add </a:t>
                </a:r>
                <a:r>
                  <a:rPr kumimoji="1" lang="en-US" altLang="zh-CN" dirty="0" err="1">
                    <a:solidFill>
                      <a:srgbClr val="0432FF"/>
                    </a:solidFill>
                  </a:rPr>
                  <a:t>e</a:t>
                </a:r>
                <a:r>
                  <a:rPr kumimoji="1" lang="en-US" altLang="zh-CN" baseline="-25000" dirty="0" err="1">
                    <a:solidFill>
                      <a:srgbClr val="0432FF"/>
                    </a:solidFill>
                  </a:rPr>
                  <a:t>i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=</a:t>
                </a:r>
                <a:r>
                  <a:rPr kumimoji="1" lang="en-US" altLang="zh-CN" dirty="0" err="1">
                    <a:solidFill>
                      <a:srgbClr val="0432FF"/>
                    </a:solidFill>
                  </a:rPr>
                  <a:t>e</a:t>
                </a:r>
                <a:r>
                  <a:rPr kumimoji="1" lang="en-US" altLang="zh-CN" baseline="-25000" dirty="0" err="1">
                    <a:solidFill>
                      <a:srgbClr val="0432FF"/>
                    </a:solidFill>
                  </a:rPr>
                  <a:t>j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 </a:t>
                </a:r>
                <a:r>
                  <a:rPr kumimoji="1" lang="en-US" altLang="zh-CN" dirty="0"/>
                  <a:t>to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every </a:t>
                </a:r>
                <a:r>
                  <a:rPr kumimoji="1" lang="en-US" altLang="zh-CN" dirty="0" err="1">
                    <a:solidFill>
                      <a:srgbClr val="0432FF"/>
                    </a:solidFill>
                  </a:rPr>
                  <a:t>P</a:t>
                </a:r>
                <a:r>
                  <a:rPr kumimoji="1" lang="en-US" altLang="zh-CN" baseline="-25000" dirty="0" err="1">
                    <a:solidFill>
                      <a:srgbClr val="0432FF"/>
                    </a:solidFill>
                  </a:rPr>
                  <a:t>j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 (j</a:t>
                </a:r>
                <a14:m>
                  <m:oMath xmlns:m="http://schemas.openxmlformats.org/officeDocument/2006/math">
                    <m:r>
                      <a:rPr kumimoji="1" lang="en-US" altLang="zh-CN" i="1" dirty="0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kumimoji="1" lang="en-US" altLang="zh-CN" dirty="0" err="1">
                    <a:solidFill>
                      <a:srgbClr val="0432FF"/>
                    </a:solidFill>
                  </a:rPr>
                  <a:t>i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)</a:t>
                </a:r>
                <a:r>
                  <a:rPr kumimoji="1" lang="en-US" altLang="zh-CN" dirty="0"/>
                  <a:t>, </a:t>
                </a:r>
                <a:r>
                  <a:rPr kumimoji="1" lang="en-US" altLang="zh-CN" dirty="0" err="1"/>
                  <a:t>goto</a:t>
                </a:r>
                <a:r>
                  <a:rPr kumimoji="1" lang="en-US" altLang="zh-CN" dirty="0"/>
                  <a:t> previous step</a:t>
                </a:r>
              </a:p>
              <a:p>
                <a:pPr lvl="1"/>
                <a:r>
                  <a:rPr kumimoji="1" lang="en-US" altLang="zh-CN" dirty="0">
                    <a:solidFill>
                      <a:srgbClr val="0432FF"/>
                    </a:solidFill>
                  </a:rPr>
                  <a:t>broadcast</a:t>
                </a:r>
                <a:r>
                  <a:rPr kumimoji="1" lang="en-US" altLang="zh-CN" dirty="0"/>
                  <a:t> operation (the key idea)!</a:t>
                </a:r>
                <a:endParaRPr kumimoji="1" lang="zh-CN" altLang="en-US" dirty="0"/>
              </a:p>
            </p:txBody>
          </p:sp>
        </mc:Choice>
        <mc:Fallback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53" t="-1846" b="-8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Example 1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//</a:t>
                </a:r>
                <a:r>
                  <a:rPr kumimoji="1" lang="zh-CN" altLang="en-US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The initial proposition:</a:t>
                </a: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(x</a:t>
                </a:r>
                <a:r>
                  <a:rPr kumimoji="1" lang="en-US" altLang="zh-CN" sz="2000" b="1" baseline="-25000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 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x</a:t>
                </a:r>
                <a:r>
                  <a:rPr kumimoji="1" lang="en-US" altLang="zh-CN" sz="2000" b="1" baseline="-25000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(x</a:t>
                </a:r>
                <a:r>
                  <a:rPr kumimoji="1" lang="en-US" altLang="zh-CN" sz="2000" b="1" baseline="-25000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-x</a:t>
                </a:r>
                <a:r>
                  <a:rPr kumimoji="1" lang="en-US" altLang="zh-CN" sz="2000" b="1" baseline="-25000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3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 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x</a:t>
                </a:r>
                <a:r>
                  <a:rPr kumimoji="1" lang="en-US" altLang="zh-CN" sz="2000" b="1" baseline="-25000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(x</a:t>
                </a:r>
                <a:r>
                  <a:rPr kumimoji="1" lang="en-US" altLang="zh-CN" sz="2000" b="1" baseline="-25000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3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 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0)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f(f(x</a:t>
                </a:r>
                <a:r>
                  <a:rPr kumimoji="1" lang="en-US" altLang="zh-CN" sz="2000" b="1" baseline="-25000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 - f(x</a:t>
                </a:r>
                <a:r>
                  <a:rPr kumimoji="1" lang="en-US" altLang="zh-CN" sz="2000" b="1" baseline="-25000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)) != f(x</a:t>
                </a:r>
                <a:r>
                  <a:rPr kumimoji="1" lang="en-US" altLang="zh-CN" sz="2000" b="1" baseline="-25000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3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 </a:t>
                </a:r>
              </a:p>
              <a:p>
                <a:pPr marL="0" indent="0">
                  <a:buNone/>
                </a:pPr>
                <a:endParaRPr kumimoji="1" lang="en-US" altLang="zh-CN" sz="2000" b="1" dirty="0">
                  <a:solidFill>
                    <a:srgbClr val="0432FF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//</a:t>
                </a:r>
                <a:r>
                  <a:rPr kumimoji="1" lang="zh-CN" altLang="en-US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After purification:</a:t>
                </a: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(x</a:t>
                </a:r>
                <a:r>
                  <a:rPr kumimoji="1" lang="en-US" altLang="zh-CN" sz="2000" b="1" baseline="-25000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 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x</a:t>
                </a:r>
                <a:r>
                  <a:rPr kumimoji="1" lang="en-US" altLang="zh-CN" sz="2000" b="1" baseline="-25000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(x</a:t>
                </a:r>
                <a:r>
                  <a:rPr kumimoji="1" lang="en-US" altLang="zh-CN" sz="2000" b="1" baseline="-25000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-x</a:t>
                </a:r>
                <a:r>
                  <a:rPr kumimoji="1" lang="en-US" altLang="zh-CN" sz="2000" b="1" baseline="-25000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3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 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x</a:t>
                </a:r>
                <a:r>
                  <a:rPr kumimoji="1" lang="en-US" altLang="zh-CN" sz="2000" b="1" baseline="-25000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(x</a:t>
                </a:r>
                <a:r>
                  <a:rPr kumimoji="1" lang="en-US" altLang="zh-CN" sz="2000" b="1" baseline="-25000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3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 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0)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f(</a:t>
                </a:r>
                <a:r>
                  <a:rPr kumimoji="1" lang="en-US" altLang="zh-CN" sz="2000" b="1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</a:t>
                </a:r>
                <a:r>
                  <a:rPr kumimoji="1" lang="en-US" altLang="zh-CN" sz="2000" b="1" baseline="-2500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)!= f(x</a:t>
                </a:r>
                <a:r>
                  <a:rPr kumimoji="1" lang="en-US" altLang="zh-CN" sz="2000" b="1" baseline="-25000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3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endParaRPr kumimoji="1" lang="en-US" altLang="zh-CN" sz="2000" b="1" dirty="0">
                  <a:solidFill>
                    <a:srgbClr val="0432FF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</a:t>
                </a:r>
                <a:r>
                  <a:rPr kumimoji="1" lang="en-US" altLang="zh-CN" sz="2000" b="1" baseline="-2500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</a:t>
                </a:r>
                <a:r>
                  <a:rPr kumimoji="1" lang="en-US" altLang="zh-CN" sz="2000" b="1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= t</a:t>
                </a:r>
                <a:r>
                  <a:rPr kumimoji="1" lang="en-US" altLang="zh-CN" sz="2000" b="1" baseline="-2500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</a:t>
                </a:r>
                <a:r>
                  <a:rPr kumimoji="1" lang="en-US" altLang="zh-CN" sz="2000" b="1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-t</a:t>
                </a:r>
                <a:r>
                  <a:rPr kumimoji="1" lang="en-US" altLang="zh-CN" sz="2000" b="1" baseline="-2500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3</a:t>
                </a:r>
                <a:r>
                  <a:rPr kumimoji="1" lang="en-US" altLang="zh-CN" sz="2000" b="1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endParaRPr kumimoji="1" lang="en-US" altLang="zh-CN" sz="20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</a:t>
                </a:r>
                <a:r>
                  <a:rPr kumimoji="1" lang="en-US" altLang="zh-CN" sz="2000" b="1" baseline="-2500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</a:t>
                </a:r>
                <a:r>
                  <a:rPr kumimoji="1" lang="en-US" altLang="zh-CN" sz="2000" b="1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= f(x</a:t>
                </a:r>
                <a:r>
                  <a:rPr kumimoji="1" lang="en-US" altLang="zh-CN" sz="2000" b="1" baseline="-2500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</a:t>
                </a:r>
                <a:r>
                  <a:rPr kumimoji="1" lang="en-US" altLang="zh-CN" sz="2000" b="1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endParaRPr kumimoji="1" lang="en-US" altLang="zh-CN" sz="20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</a:t>
                </a:r>
                <a:r>
                  <a:rPr kumimoji="1" lang="en-US" altLang="zh-CN" sz="2000" b="1" baseline="-2500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3</a:t>
                </a:r>
                <a:r>
                  <a:rPr kumimoji="1" lang="en-US" altLang="zh-CN" sz="2000" b="1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= f(x</a:t>
                </a:r>
                <a:r>
                  <a:rPr kumimoji="1" lang="en-US" altLang="zh-CN" sz="2000" b="1" baseline="-2500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</a:t>
                </a:r>
                <a:r>
                  <a:rPr kumimoji="1" lang="en-US" altLang="zh-CN" sz="2000" b="1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内容占位符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 l="-4" t="-8" r="4" b="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Example 1, </a:t>
            </a:r>
            <a:r>
              <a:rPr kumimoji="1" lang="en-US" altLang="zh-CN" dirty="0" err="1"/>
              <a:t>cont</a:t>
            </a:r>
            <a:r>
              <a:rPr kumimoji="1" lang="en-US" altLang="zh-CN" dirty="0"/>
              <a:t>’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表格 5"/>
              <p:cNvGraphicFramePr>
                <a:graphicFrameLocks noGrp="1"/>
              </p:cNvGraphicFramePr>
              <p:nvPr/>
            </p:nvGraphicFramePr>
            <p:xfrm>
              <a:off x="1524000" y="1981200"/>
              <a:ext cx="4038600" cy="3205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050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133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LA</a:t>
                          </a:r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EUF</a:t>
                          </a:r>
                          <a:endParaRPr lang="zh-CN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x2</a:t>
                          </a:r>
                          <a14:m>
                            <m:oMath xmlns:m="http://schemas.openxmlformats.org/officeDocument/2006/math">
                              <m:r>
                                <a:rPr kumimoji="1" lang="en-US" altLang="zh-CN" sz="1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</m:t>
                              </m:r>
                            </m:oMath>
                          </a14:m>
                          <a:r>
                            <a:rPr lang="en-US" altLang="zh-CN" dirty="0"/>
                            <a:t>x1</a:t>
                          </a:r>
                        </a:p>
                        <a:p>
                          <a:r>
                            <a:rPr lang="en-US" altLang="zh-CN" dirty="0"/>
                            <a:t>x1-x3&gt;=x2</a:t>
                          </a:r>
                        </a:p>
                        <a:p>
                          <a:r>
                            <a:rPr lang="en-US" altLang="zh-CN" dirty="0"/>
                            <a:t>x3</a:t>
                          </a:r>
                          <a14:m>
                            <m:oMath xmlns:m="http://schemas.openxmlformats.org/officeDocument/2006/math">
                              <m:r>
                                <a:rPr kumimoji="1" lang="en-US" altLang="zh-CN" sz="1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</m:t>
                              </m:r>
                            </m:oMath>
                          </a14:m>
                          <a:r>
                            <a:rPr lang="en-US" altLang="zh-CN" dirty="0"/>
                            <a:t>0</a:t>
                          </a:r>
                        </a:p>
                        <a:p>
                          <a:r>
                            <a:rPr lang="en-US" altLang="zh-CN" dirty="0"/>
                            <a:t>t1=t2-t3</a:t>
                          </a:r>
                        </a:p>
                        <a:p>
                          <a:endParaRPr lang="en-US" altLang="zh-CN" dirty="0"/>
                        </a:p>
                        <a:p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f(t1) != f(x3)</a:t>
                          </a:r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t2=f(x1)</a:t>
                          </a:r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t3=f(x2)</a:t>
                          </a:r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zh-CN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表格 5"/>
              <p:cNvGraphicFramePr>
                <a:graphicFrameLocks noGrp="1"/>
              </p:cNvGraphicFramePr>
              <p:nvPr/>
            </p:nvGraphicFramePr>
            <p:xfrm>
              <a:off x="1524000" y="1981200"/>
              <a:ext cx="4038600" cy="3205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05000"/>
                    <a:gridCol w="2133600"/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LA</a:t>
                          </a:r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EUF</a:t>
                          </a:r>
                          <a:endParaRPr lang="zh-CN" altLang="en-US" dirty="0"/>
                        </a:p>
                      </a:txBody>
                      <a:tcPr/>
                    </a:tc>
                  </a:tr>
                  <a:tr h="28346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f(t1) != f(x3)</a:t>
                          </a: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t2=f(x1)</a:t>
                          </a: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t3=f(x2)</a:t>
                          </a: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zh-CN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  <p:sp>
        <p:nvSpPr>
          <p:cNvPr id="10" name="文本框 9"/>
          <p:cNvSpPr txBox="1"/>
          <p:nvPr/>
        </p:nvSpPr>
        <p:spPr>
          <a:xfrm>
            <a:off x="1524000" y="3745468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x3=0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519177" y="4054594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x1=x2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429000" y="4386302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t2=t3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559688" y="4716639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t1=0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3429000" y="471946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t1=0</a:t>
            </a:r>
            <a:endParaRPr kumimoji="1" lang="zh-CN" altLang="en-US" dirty="0"/>
          </a:p>
        </p:txBody>
      </p:sp>
      <p:sp>
        <p:nvSpPr>
          <p:cNvPr id="20" name="文本框 19"/>
          <p:cNvSpPr txBox="1"/>
          <p:nvPr/>
        </p:nvSpPr>
        <p:spPr>
          <a:xfrm>
            <a:off x="3429000" y="5269468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UNSAT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429000" y="3745468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x3=0</a:t>
            </a:r>
            <a:endParaRPr kumimoji="1" lang="zh-CN" altLang="en-US" dirty="0"/>
          </a:p>
        </p:txBody>
      </p:sp>
      <p:sp>
        <p:nvSpPr>
          <p:cNvPr id="22" name="文本框 21"/>
          <p:cNvSpPr txBox="1"/>
          <p:nvPr/>
        </p:nvSpPr>
        <p:spPr>
          <a:xfrm>
            <a:off x="3424177" y="4054594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x1=x2</a:t>
            </a:r>
            <a:endParaRPr kumimoji="1" lang="zh-CN" altLang="en-US" dirty="0"/>
          </a:p>
        </p:txBody>
      </p:sp>
      <p:sp>
        <p:nvSpPr>
          <p:cNvPr id="25" name="文本框 24"/>
          <p:cNvSpPr txBox="1"/>
          <p:nvPr/>
        </p:nvSpPr>
        <p:spPr>
          <a:xfrm>
            <a:off x="1559688" y="4423430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t2=t3</a:t>
            </a:r>
            <a:endParaRPr kumimoji="1" lang="zh-CN" altLang="en-US" dirty="0"/>
          </a:p>
        </p:txBody>
      </p:sp>
      <p:sp>
        <p:nvSpPr>
          <p:cNvPr id="3" name="右箭头 2"/>
          <p:cNvSpPr/>
          <p:nvPr/>
        </p:nvSpPr>
        <p:spPr>
          <a:xfrm>
            <a:off x="2667000" y="3935492"/>
            <a:ext cx="757177" cy="33170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2415289" y="3683837"/>
            <a:ext cx="1371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/>
              <a:t>broadcast</a:t>
            </a:r>
            <a:endParaRPr kumimoji="1" lang="zh-CN" altLang="en-US" sz="1600" dirty="0"/>
          </a:p>
        </p:txBody>
      </p:sp>
      <p:sp>
        <p:nvSpPr>
          <p:cNvPr id="15" name="右箭头 14"/>
          <p:cNvSpPr/>
          <p:nvPr/>
        </p:nvSpPr>
        <p:spPr>
          <a:xfrm flipH="1">
            <a:off x="2657354" y="4423430"/>
            <a:ext cx="762000" cy="33170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右箭头 15"/>
          <p:cNvSpPr/>
          <p:nvPr/>
        </p:nvSpPr>
        <p:spPr>
          <a:xfrm>
            <a:off x="2667000" y="4800600"/>
            <a:ext cx="757177" cy="33170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4876800" y="2362200"/>
            <a:ext cx="1371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solidFill>
                  <a:srgbClr val="FF0000"/>
                </a:solidFill>
              </a:rPr>
              <a:t>f(0)</a:t>
            </a:r>
            <a:r>
              <a:rPr kumimoji="1" lang="zh-CN" altLang="en-US" sz="1600" dirty="0">
                <a:solidFill>
                  <a:srgbClr val="FF0000"/>
                </a:solidFill>
              </a:rPr>
              <a:t> </a:t>
            </a:r>
            <a:r>
              <a:rPr kumimoji="1" lang="en-US" altLang="zh-CN" sz="1600" dirty="0">
                <a:solidFill>
                  <a:srgbClr val="FF0000"/>
                </a:solidFill>
              </a:rPr>
              <a:t>!=</a:t>
            </a:r>
            <a:r>
              <a:rPr kumimoji="1" lang="zh-CN" altLang="en-US" sz="1600" dirty="0">
                <a:solidFill>
                  <a:srgbClr val="FF0000"/>
                </a:solidFill>
              </a:rPr>
              <a:t> </a:t>
            </a:r>
            <a:r>
              <a:rPr kumimoji="1" lang="en-US" altLang="zh-CN" sz="1600" dirty="0">
                <a:solidFill>
                  <a:srgbClr val="FF0000"/>
                </a:solidFill>
              </a:rPr>
              <a:t>f(0)</a:t>
            </a:r>
            <a:endParaRPr kumimoji="1" lang="zh-CN" altLang="en-US" sz="16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4" grpId="0"/>
      <p:bldP spid="17" grpId="0"/>
      <p:bldP spid="18" grpId="0"/>
      <p:bldP spid="20" grpId="0"/>
      <p:bldP spid="21" grpId="0"/>
      <p:bldP spid="22" grpId="0"/>
      <p:bldP spid="25" grpId="0"/>
      <p:bldP spid="3" grpId="0" animBg="1"/>
      <p:bldP spid="4" grpId="0"/>
      <p:bldP spid="15" grpId="0" animBg="1"/>
      <p:bldP spid="16" grpId="0" animBg="1"/>
      <p:bldP spid="1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Example 2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//</a:t>
                </a:r>
                <a:r>
                  <a:rPr kumimoji="1" lang="zh-CN" altLang="en-US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The initial proposition:</a:t>
                </a: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(x1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x2)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(x2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(x1 + car(cons(0,x1))))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p(h(x1) – h(x2))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~p(0)</a:t>
                </a:r>
              </a:p>
              <a:p>
                <a:pPr marL="0" indent="0">
                  <a:buNone/>
                </a:pPr>
                <a:endParaRPr kumimoji="1" lang="en-US" altLang="zh-CN" sz="2000" b="1" dirty="0">
                  <a:solidFill>
                    <a:srgbClr val="0432FF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//</a:t>
                </a:r>
                <a:r>
                  <a:rPr kumimoji="1" lang="zh-CN" altLang="en-US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After purification:</a:t>
                </a: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(x1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x2)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(x2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 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x1+</a:t>
                </a:r>
                <a:r>
                  <a:rPr kumimoji="1" lang="en-US" altLang="zh-CN" sz="2000" b="1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t1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p(</a:t>
                </a:r>
                <a:r>
                  <a:rPr kumimoji="1" lang="en-US" altLang="zh-CN" sz="2000" b="1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t2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~p(</a:t>
                </a:r>
                <a:r>
                  <a:rPr kumimoji="1" lang="en-US" altLang="zh-CN" sz="2000" b="1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t3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endParaRPr kumimoji="1" lang="en-US" altLang="zh-CN" sz="2000" b="1" dirty="0">
                  <a:solidFill>
                    <a:srgbClr val="0432FF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t1</a:t>
                </a:r>
                <a:r>
                  <a:rPr kumimoji="1" lang="zh-CN" altLang="en-US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=</a:t>
                </a:r>
                <a:r>
                  <a:rPr kumimoji="1" lang="zh-CN" altLang="en-US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car(cons(t3, x1))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endParaRPr kumimoji="1" lang="en-US" altLang="zh-CN" sz="2000" b="1" dirty="0">
                  <a:solidFill>
                    <a:srgbClr val="0432FF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t2 = t4-t5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endParaRPr kumimoji="1" lang="en-US" altLang="zh-CN" sz="2000" b="1" dirty="0">
                  <a:solidFill>
                    <a:srgbClr val="0432FF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t4 = h(x1)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endParaRPr kumimoji="1" lang="en-US" altLang="zh-CN" sz="2000" b="1" dirty="0">
                  <a:solidFill>
                    <a:srgbClr val="0432FF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t5 = h(x2)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endParaRPr kumimoji="1" lang="en-US" altLang="zh-CN" sz="2000" b="1" dirty="0">
                  <a:solidFill>
                    <a:srgbClr val="0432FF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t3 = 0</a:t>
                </a:r>
              </a:p>
            </p:txBody>
          </p:sp>
        </mc:Choice>
        <mc:Fallback xmlns="">
          <p:sp>
            <p:nvSpPr>
              <p:cNvPr id="3" name="内容占位符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 l="-4" t="-8" r="4" b="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Example 2, </a:t>
            </a:r>
            <a:r>
              <a:rPr kumimoji="1" lang="en-US" altLang="zh-CN" dirty="0" err="1"/>
              <a:t>cont</a:t>
            </a:r>
            <a:r>
              <a:rPr kumimoji="1" lang="en-US" altLang="zh-CN" dirty="0"/>
              <a:t>’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表格 5"/>
              <p:cNvGraphicFramePr>
                <a:graphicFrameLocks noGrp="1"/>
              </p:cNvGraphicFramePr>
              <p:nvPr/>
            </p:nvGraphicFramePr>
            <p:xfrm>
              <a:off x="1524000" y="1981200"/>
              <a:ext cx="6781800" cy="3479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050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133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LA</a:t>
                          </a:r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EUF</a:t>
                          </a:r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LIST</a:t>
                          </a:r>
                          <a:endParaRPr lang="zh-CN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x1</a:t>
                          </a:r>
                          <a14:m>
                            <m:oMath xmlns:m="http://schemas.openxmlformats.org/officeDocument/2006/math">
                              <m:r>
                                <a:rPr kumimoji="1"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altLang="zh-CN" dirty="0"/>
                            <a:t>x2</a:t>
                          </a:r>
                        </a:p>
                        <a:p>
                          <a:r>
                            <a:rPr lang="en-US" altLang="zh-CN" dirty="0"/>
                            <a:t>x2</a:t>
                          </a:r>
                          <a14:m>
                            <m:oMath xmlns:m="http://schemas.openxmlformats.org/officeDocument/2006/math">
                              <m:r>
                                <a:rPr kumimoji="1"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altLang="zh-CN" dirty="0"/>
                            <a:t>x1+t1</a:t>
                          </a:r>
                        </a:p>
                        <a:p>
                          <a:r>
                            <a:rPr lang="en-US" altLang="zh-CN" dirty="0"/>
                            <a:t>t2=t4-t5</a:t>
                          </a:r>
                        </a:p>
                        <a:p>
                          <a:r>
                            <a:rPr lang="en-US" altLang="zh-CN" dirty="0"/>
                            <a:t>t3=0</a:t>
                          </a:r>
                        </a:p>
                        <a:p>
                          <a:endParaRPr lang="en-US" altLang="zh-CN" dirty="0"/>
                        </a:p>
                        <a:p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t4 = h(x1)</a:t>
                          </a:r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t5 = h(x2)</a:t>
                          </a:r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p(t2)</a:t>
                          </a:r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~p(t3)</a:t>
                          </a:r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t1 = car(cons(t3, x1))</a:t>
                          </a:r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表格 5"/>
              <p:cNvGraphicFramePr>
                <a:graphicFrameLocks noGrp="1"/>
              </p:cNvGraphicFramePr>
              <p:nvPr/>
            </p:nvGraphicFramePr>
            <p:xfrm>
              <a:off x="1524000" y="1981200"/>
              <a:ext cx="6781800" cy="3479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05000"/>
                    <a:gridCol w="2133600"/>
                    <a:gridCol w="2743200"/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LA</a:t>
                          </a:r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EUF</a:t>
                          </a:r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LIST</a:t>
                          </a:r>
                          <a:endParaRPr lang="zh-CN" altLang="en-US" dirty="0"/>
                        </a:p>
                      </a:txBody>
                      <a:tcPr/>
                    </a:tc>
                  </a:tr>
                  <a:tr h="310896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t4 = h(x1)</a:t>
                          </a: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t5 = h(x2)</a:t>
                          </a: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p(t2)</a:t>
                          </a: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~p(t3)</a:t>
                          </a: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t1 = car(cons(t3, x1))</a:t>
                          </a: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  <p:sp>
        <p:nvSpPr>
          <p:cNvPr id="8" name="文本框 7"/>
          <p:cNvSpPr txBox="1"/>
          <p:nvPr/>
        </p:nvSpPr>
        <p:spPr>
          <a:xfrm>
            <a:off x="5562600" y="3720068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t1=t3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3429000" y="3745468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t1=t3</a:t>
            </a:r>
            <a:endParaRPr kumimoji="1"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1524000" y="3745468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t1=t3</a:t>
            </a:r>
            <a:endParaRPr kumimoji="1" lang="zh-CN" altLang="en-US" dirty="0"/>
          </a:p>
        </p:txBody>
      </p:sp>
      <p:sp>
        <p:nvSpPr>
          <p:cNvPr id="11" name="文本框 10"/>
          <p:cNvSpPr txBox="1"/>
          <p:nvPr/>
        </p:nvSpPr>
        <p:spPr>
          <a:xfrm>
            <a:off x="1519177" y="4054594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x1=x2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429000" y="4050268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x1=x2</a:t>
            </a:r>
            <a:endParaRPr kumimoji="1" lang="zh-CN" altLang="en-US" dirty="0"/>
          </a:p>
        </p:txBody>
      </p:sp>
      <p:sp>
        <p:nvSpPr>
          <p:cNvPr id="13" name="文本框 12"/>
          <p:cNvSpPr txBox="1"/>
          <p:nvPr/>
        </p:nvSpPr>
        <p:spPr>
          <a:xfrm>
            <a:off x="5562600" y="4050268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x1=x2</a:t>
            </a:r>
            <a:endParaRPr kumimoji="1" lang="zh-CN" altLang="en-US" dirty="0"/>
          </a:p>
        </p:txBody>
      </p:sp>
      <p:sp>
        <p:nvSpPr>
          <p:cNvPr id="14" name="文本框 13"/>
          <p:cNvSpPr txBox="1"/>
          <p:nvPr/>
        </p:nvSpPr>
        <p:spPr>
          <a:xfrm>
            <a:off x="3429000" y="4386302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t4=t5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1559688" y="4393086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t4=t5</a:t>
            </a:r>
            <a:endParaRPr kumimoji="1" lang="zh-CN" altLang="en-US" dirty="0"/>
          </a:p>
        </p:txBody>
      </p:sp>
      <p:sp>
        <p:nvSpPr>
          <p:cNvPr id="16" name="文本框 15"/>
          <p:cNvSpPr txBox="1"/>
          <p:nvPr/>
        </p:nvSpPr>
        <p:spPr>
          <a:xfrm>
            <a:off x="5593466" y="4386302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t4=t5</a:t>
            </a:r>
            <a:endParaRPr kumimoji="1" lang="zh-CN" altLang="en-US" dirty="0"/>
          </a:p>
        </p:txBody>
      </p:sp>
      <p:sp>
        <p:nvSpPr>
          <p:cNvPr id="17" name="文本框 16"/>
          <p:cNvSpPr txBox="1"/>
          <p:nvPr/>
        </p:nvSpPr>
        <p:spPr>
          <a:xfrm>
            <a:off x="1559688" y="4716639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t2=t3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3429000" y="471946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t2=t3</a:t>
            </a:r>
            <a:endParaRPr kumimoji="1" lang="zh-CN" altLang="en-US" dirty="0"/>
          </a:p>
        </p:txBody>
      </p:sp>
      <p:sp>
        <p:nvSpPr>
          <p:cNvPr id="19" name="文本框 18"/>
          <p:cNvSpPr txBox="1"/>
          <p:nvPr/>
        </p:nvSpPr>
        <p:spPr>
          <a:xfrm>
            <a:off x="5562600" y="471946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t2=t3</a:t>
            </a:r>
            <a:endParaRPr kumimoji="1" lang="zh-CN" altLang="en-US" dirty="0"/>
          </a:p>
        </p:txBody>
      </p:sp>
      <p:sp>
        <p:nvSpPr>
          <p:cNvPr id="20" name="文本框 19"/>
          <p:cNvSpPr txBox="1"/>
          <p:nvPr/>
        </p:nvSpPr>
        <p:spPr>
          <a:xfrm>
            <a:off x="3429000" y="5101947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UNSAT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 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en-US" altLang="zh-CN" dirty="0"/>
          </a:p>
          <a:p>
            <a:pPr marL="0" indent="0" algn="ctr">
              <a:buNone/>
            </a:pPr>
            <a:r>
              <a:rPr kumimoji="1" lang="en-US" altLang="zh-CN" i="1" dirty="0"/>
              <a:t>Convexity</a:t>
            </a:r>
            <a:endParaRPr kumimoji="1" lang="zh-CN" altLang="en-US" i="1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Not always so simple…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//</a:t>
                </a:r>
                <a:r>
                  <a:rPr kumimoji="1" lang="zh-CN" altLang="en-US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The initial proposition (suppose 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x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m:t>∈</m:t>
                    </m:r>
                    <m:r>
                      <a:rPr kumimoji="1" lang="en-US" altLang="zh-CN" sz="2000" b="1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m:t>ℤ</m:t>
                    </m:r>
                  </m:oMath>
                </a14:m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):</a:t>
                </a: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(x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 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1)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zh-CN" altLang="en-US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(x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 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2)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P(x)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~P(1)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~P(2) </a:t>
                </a:r>
              </a:p>
              <a:p>
                <a:pPr marL="0" indent="0">
                  <a:buNone/>
                </a:pPr>
                <a:endParaRPr kumimoji="1" lang="en-US" altLang="zh-CN" sz="2000" b="1" dirty="0">
                  <a:solidFill>
                    <a:srgbClr val="0432FF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//</a:t>
                </a:r>
                <a:r>
                  <a:rPr kumimoji="1" lang="zh-CN" altLang="en-US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After purification:</a:t>
                </a:r>
              </a:p>
              <a:p>
                <a:pPr marL="0" indent="0">
                  <a:buNone/>
                </a:pPr>
                <a:endParaRPr kumimoji="1" lang="en-US" altLang="zh-CN" sz="20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endParaRPr kumimoji="1" lang="en-US" altLang="zh-CN" sz="20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endParaRPr kumimoji="1" lang="en-US" altLang="zh-CN" sz="20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endParaRPr kumimoji="1" lang="en-US" altLang="zh-CN" sz="20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endParaRPr kumimoji="1" lang="en-US" altLang="zh-CN" sz="20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// Neither theory can imply an equality.</a:t>
                </a: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// But the proposition is UNSAT!</a:t>
                </a:r>
              </a:p>
            </p:txBody>
          </p:sp>
        </mc:Choice>
        <mc:Fallback xmlns="">
          <p:sp>
            <p:nvSpPr>
              <p:cNvPr id="3" name="内容占位符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 l="-4" t="-8" r="4" b="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表格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9492351"/>
                  </p:ext>
                </p:extLst>
              </p:nvPr>
            </p:nvGraphicFramePr>
            <p:xfrm>
              <a:off x="2209800" y="3581400"/>
              <a:ext cx="4038600" cy="165626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050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133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233494">
                    <a:tc>
                      <a:txBody>
                        <a:bodyPr/>
                        <a:lstStyle/>
                        <a:p>
                          <a:r>
                            <a:rPr lang="en-US" altLang="zh-CN" dirty="0">
                              <a:solidFill>
                                <a:schemeClr val="tx1"/>
                              </a:solidFill>
                            </a:rPr>
                            <a:t>LA</a:t>
                          </a:r>
                          <a:endParaRPr lang="zh-CN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>
                              <a:solidFill>
                                <a:schemeClr val="tx1"/>
                              </a:solidFill>
                            </a:rPr>
                            <a:t>EUF</a:t>
                          </a:r>
                          <a:endParaRPr lang="zh-CN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290506"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x</a:t>
                          </a:r>
                          <a14:m>
                            <m:oMath xmlns:m="http://schemas.openxmlformats.org/officeDocument/2006/math">
                              <m:r>
                                <a:rPr kumimoji="1" lang="en-US" altLang="zh-CN" sz="1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</m:t>
                              </m:r>
                            </m:oMath>
                          </a14:m>
                          <a:r>
                            <a:rPr lang="en-US" altLang="zh-CN" dirty="0"/>
                            <a:t>1</a:t>
                          </a:r>
                        </a:p>
                        <a:p>
                          <a:r>
                            <a:rPr lang="en-US" altLang="zh-CN" dirty="0"/>
                            <a:t>x</a:t>
                          </a:r>
                          <a14:m>
                            <m:oMath xmlns:m="http://schemas.openxmlformats.org/officeDocument/2006/math">
                              <m:r>
                                <a:rPr kumimoji="1" lang="en-US" altLang="zh-CN" sz="1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altLang="zh-CN" dirty="0"/>
                            <a:t>2</a:t>
                          </a:r>
                        </a:p>
                        <a:p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P(x)</a:t>
                          </a:r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~P(1)</a:t>
                          </a:r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~P(2)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表格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9492351"/>
                  </p:ext>
                </p:extLst>
              </p:nvPr>
            </p:nvGraphicFramePr>
            <p:xfrm>
              <a:off x="2209800" y="3581400"/>
              <a:ext cx="4038600" cy="165626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050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133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altLang="zh-CN" dirty="0">
                              <a:solidFill>
                                <a:schemeClr val="tx1"/>
                              </a:solidFill>
                            </a:rPr>
                            <a:t>LA</a:t>
                          </a:r>
                          <a:endParaRPr lang="zh-CN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>
                              <a:solidFill>
                                <a:schemeClr val="tx1"/>
                              </a:solidFill>
                            </a:rPr>
                            <a:t>EUF</a:t>
                          </a:r>
                          <a:endParaRPr lang="zh-CN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290506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667" t="-31373" r="-114000" b="-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P(x)</a:t>
                          </a:r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~P(1)</a:t>
                          </a:r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~P(2)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Theory Convexity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en-US" altLang="zh-CN" dirty="0"/>
                  <a:t>A theory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r>
                      <a:rPr kumimoji="1" lang="en-US" altLang="zh-C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en-US" altLang="zh-CN" dirty="0"/>
                  <a:t>is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convex</a:t>
                </a:r>
                <a:r>
                  <a:rPr kumimoji="1" lang="en-US" altLang="zh-CN" dirty="0"/>
                  <a:t>, if for all conjunctions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P</a:t>
                </a:r>
                <a:r>
                  <a:rPr kumimoji="1" lang="en-US" altLang="zh-CN" dirty="0"/>
                  <a:t>, it holds that:</a:t>
                </a:r>
              </a:p>
              <a:p>
                <a:pPr marL="0" indent="0" algn="ctr">
                  <a:buNone/>
                </a:pPr>
                <a:r>
                  <a:rPr kumimoji="1" lang="en-US" altLang="zh-CN" dirty="0">
                    <a:solidFill>
                      <a:srgbClr val="0432FF"/>
                    </a:solidFill>
                  </a:rPr>
                  <a:t>P</a:t>
                </a:r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 </a:t>
                </a:r>
                <a14:m>
                  <m:oMath xmlns:m="http://schemas.openxmlformats.org/officeDocument/2006/math">
                    <m:nary>
                      <m:naryPr>
                        <m:chr m:val="⋁"/>
                        <m:ctrlPr>
                          <a:rPr kumimoji="1" lang="en-US" altLang="zh-CN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1" lang="en-US" altLang="zh-CN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kumimoji="1" lang="en-US" altLang="zh-CN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kumimoji="1" lang="en-US" altLang="zh-CN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kumimoji="1" lang="en-US" altLang="zh-CN" i="1">
                                <a:solidFill>
                                  <a:srgbClr val="0432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CN" b="0" i="1" smtClean="0">
                                <a:solidFill>
                                  <a:srgbClr val="0432FF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zh-CN" b="0" i="1" smtClean="0">
                                <a:solidFill>
                                  <a:srgbClr val="0432F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1" lang="en-US" altLang="zh-CN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kumimoji="1" lang="en-US" altLang="zh-CN" i="1">
                                <a:solidFill>
                                  <a:srgbClr val="0432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CN" b="0" i="1" smtClean="0">
                                <a:solidFill>
                                  <a:srgbClr val="0432F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n-US" altLang="zh-CN" i="1">
                                <a:solidFill>
                                  <a:srgbClr val="0432F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en-US" altLang="zh-CN" i="1" dirty="0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⇒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  <a:sym typeface="Wingdings" panose="05000000000000000000" pitchFamily="2" charset="2"/>
                  </a:rPr>
                  <a:t> P</a:t>
                </a:r>
                <a:r>
                  <a:rPr kumimoji="1" lang="en-US" altLang="zh-CN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kumimoji="1" lang="en-US" altLang="zh-CN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kumimoji="1" lang="en-US" altLang="zh-CN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kumimoji="1" lang="en-US" altLang="zh-CN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kumimoji="1" lang="en-US" altLang="zh-CN" dirty="0">
                    <a:sym typeface="Wingdings" panose="05000000000000000000" pitchFamily="2" charset="2"/>
                  </a:rPr>
                  <a:t> </a:t>
                </a:r>
              </a:p>
              <a:p>
                <a:pPr marL="0" indent="0" algn="ctr">
                  <a:buNone/>
                </a:pPr>
                <a:r>
                  <a:rPr kumimoji="1" lang="en-US" altLang="zh-CN" dirty="0">
                    <a:sym typeface="Wingdings" panose="05000000000000000000" pitchFamily="2" charset="2"/>
                  </a:rPr>
                  <a:t>for some </a:t>
                </a:r>
                <a:r>
                  <a:rPr kumimoji="1" lang="en-US" altLang="zh-CN" dirty="0" err="1">
                    <a:solidFill>
                      <a:srgbClr val="0432FF"/>
                    </a:solidFill>
                    <a:sym typeface="Wingdings" panose="05000000000000000000" pitchFamily="2" charset="2"/>
                  </a:rPr>
                  <a:t>i</a:t>
                </a:r>
                <a:r>
                  <a:rPr kumimoji="1" lang="en-US" altLang="zh-CN" dirty="0">
                    <a:sym typeface="Wingdings" panose="05000000000000000000" pitchFamily="2" charset="2"/>
                  </a:rPr>
                  <a:t> (where </a:t>
                </a:r>
                <a:r>
                  <a:rPr kumimoji="1" lang="en-US" altLang="zh-CN" dirty="0">
                    <a:solidFill>
                      <a:srgbClr val="0432FF"/>
                    </a:solidFill>
                    <a:sym typeface="Wingdings" panose="05000000000000000000" pitchFamily="2" charset="2"/>
                  </a:rPr>
                  <a:t>n&gt;1</a:t>
                </a:r>
                <a:r>
                  <a:rPr kumimoji="1" lang="en-US" altLang="zh-CN" dirty="0">
                    <a:sym typeface="Wingdings" panose="05000000000000000000" pitchFamily="2" charset="2"/>
                  </a:rPr>
                  <a:t>).</a:t>
                </a:r>
                <a:endParaRPr kumimoji="1" lang="en-US" altLang="zh-CN" dirty="0"/>
              </a:p>
              <a:p>
                <a:r>
                  <a:rPr kumimoji="1" lang="en-US" altLang="zh-CN" dirty="0"/>
                  <a:t>informally: if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P</a:t>
                </a:r>
                <a:r>
                  <a:rPr kumimoji="1" lang="en-US" altLang="zh-CN" dirty="0"/>
                  <a:t> implies a disjunction of equality,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P</a:t>
                </a:r>
                <a:r>
                  <a:rPr kumimoji="1" lang="en-US" altLang="zh-CN" dirty="0"/>
                  <a:t> must imply one of them</a:t>
                </a:r>
              </a:p>
              <a:p>
                <a:r>
                  <a:rPr kumimoji="1" lang="en-US" altLang="zh-CN" dirty="0"/>
                  <a:t>A theory </a:t>
                </a:r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</m:oMath>
                </a14:m>
                <a:r>
                  <a:rPr kumimoji="1" lang="en-US" altLang="zh-CN" dirty="0"/>
                  <a:t> is called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non-convex</a:t>
                </a:r>
                <a:r>
                  <a:rPr kumimoji="1" lang="en-US" altLang="zh-CN" dirty="0"/>
                  <a:t>, if the above condition does not hold</a:t>
                </a:r>
              </a:p>
            </p:txBody>
          </p:sp>
        </mc:Choice>
        <mc:Fallback xmlns="">
          <p:sp>
            <p:nvSpPr>
              <p:cNvPr id="3" name="内容占位符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 l="-4" t="-8" r="4" b="-582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Non-convex theory example</a:t>
            </a:r>
            <a:endParaRPr kumimoji="1"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//</a:t>
                </a:r>
                <a:r>
                  <a:rPr kumimoji="1" lang="zh-CN" altLang="en-US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The initial proposition (suppose 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x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m:t>∈</m:t>
                    </m:r>
                    <m:r>
                      <a:rPr kumimoji="1" lang="en-US" altLang="zh-CN" sz="2000" b="1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m:t>ℤ</m:t>
                    </m:r>
                  </m:oMath>
                </a14:m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):</a:t>
                </a: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(x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 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1)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zh-CN" altLang="en-US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(x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 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2)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P(x)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~P(1)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~P(2) </a:t>
                </a:r>
              </a:p>
              <a:p>
                <a:pPr marL="0" indent="0">
                  <a:buNone/>
                </a:pPr>
                <a:endParaRPr kumimoji="1" lang="en-US" altLang="zh-CN" sz="2000" b="1" dirty="0">
                  <a:solidFill>
                    <a:srgbClr val="0432FF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//</a:t>
                </a:r>
                <a:r>
                  <a:rPr kumimoji="1" lang="zh-CN" altLang="en-US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After purification:</a:t>
                </a:r>
              </a:p>
              <a:p>
                <a:pPr marL="0" indent="0">
                  <a:buNone/>
                </a:pPr>
                <a:endParaRPr kumimoji="1" lang="en-US" altLang="zh-CN" sz="20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endParaRPr kumimoji="1" lang="en-US" altLang="zh-CN" sz="20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endParaRPr kumimoji="1" lang="en-US" altLang="zh-CN" sz="20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endParaRPr kumimoji="1" lang="en-US" altLang="zh-CN" sz="20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endParaRPr kumimoji="1" lang="en-US" altLang="zh-CN" sz="20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(x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 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1)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zh-CN" altLang="en-US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(x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 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2) </a:t>
                </a:r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does not</a:t>
                </a:r>
                <a:r>
                  <a:rPr kumimoji="1" lang="zh-CN" altLang="en-US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imply</a:t>
                </a:r>
                <a:r>
                  <a:rPr kumimoji="1" lang="zh-CN" altLang="en-US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either 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x=1</a:t>
                </a:r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or 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x=2</a:t>
                </a:r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(just one).</a:t>
                </a: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So we cannot broadcast either equality.</a:t>
                </a:r>
              </a:p>
            </p:txBody>
          </p:sp>
        </mc:Choice>
        <mc:Fallback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6" t="-615" b="-86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表格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62354572"/>
                  </p:ext>
                </p:extLst>
              </p:nvPr>
            </p:nvGraphicFramePr>
            <p:xfrm>
              <a:off x="2209800" y="3581400"/>
              <a:ext cx="4038600" cy="165626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050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133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233494">
                    <a:tc>
                      <a:txBody>
                        <a:bodyPr/>
                        <a:lstStyle/>
                        <a:p>
                          <a:r>
                            <a:rPr lang="en-US" altLang="zh-CN" dirty="0">
                              <a:solidFill>
                                <a:schemeClr val="tx1"/>
                              </a:solidFill>
                            </a:rPr>
                            <a:t>LA</a:t>
                          </a:r>
                          <a:endParaRPr lang="zh-CN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>
                              <a:solidFill>
                                <a:schemeClr val="tx1"/>
                              </a:solidFill>
                            </a:rPr>
                            <a:t>EUF</a:t>
                          </a:r>
                          <a:endParaRPr lang="zh-CN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290506"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x</a:t>
                          </a:r>
                          <a14:m>
                            <m:oMath xmlns:m="http://schemas.openxmlformats.org/officeDocument/2006/math">
                              <m:r>
                                <a:rPr kumimoji="1" lang="en-US" altLang="zh-CN" sz="1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</m:t>
                              </m:r>
                            </m:oMath>
                          </a14:m>
                          <a:r>
                            <a:rPr lang="en-US" altLang="zh-CN" dirty="0"/>
                            <a:t>1</a:t>
                          </a:r>
                        </a:p>
                        <a:p>
                          <a:r>
                            <a:rPr lang="en-US" altLang="zh-CN" dirty="0"/>
                            <a:t>x</a:t>
                          </a:r>
                          <a14:m>
                            <m:oMath xmlns:m="http://schemas.openxmlformats.org/officeDocument/2006/math">
                              <m:r>
                                <a:rPr kumimoji="1" lang="en-US" altLang="zh-CN" sz="1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altLang="zh-CN" dirty="0"/>
                            <a:t>2</a:t>
                          </a:r>
                        </a:p>
                        <a:p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P(x)</a:t>
                          </a:r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~P(1)</a:t>
                          </a:r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~P(2)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表格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62354572"/>
                  </p:ext>
                </p:extLst>
              </p:nvPr>
            </p:nvGraphicFramePr>
            <p:xfrm>
              <a:off x="2209800" y="3581400"/>
              <a:ext cx="4038600" cy="165626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050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133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altLang="zh-CN" dirty="0">
                              <a:solidFill>
                                <a:schemeClr val="tx1"/>
                              </a:solidFill>
                            </a:rPr>
                            <a:t>LA</a:t>
                          </a:r>
                          <a:endParaRPr lang="zh-CN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>
                              <a:solidFill>
                                <a:schemeClr val="tx1"/>
                              </a:solidFill>
                            </a:rPr>
                            <a:t>EUF</a:t>
                          </a:r>
                          <a:endParaRPr lang="zh-CN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290506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667" t="-31373" r="-114000" b="-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P(x)</a:t>
                          </a:r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~P(1)</a:t>
                          </a:r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~P(2)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Non-convexity introduces splitting</a:t>
            </a:r>
            <a:endParaRPr kumimoji="1"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//</a:t>
                </a:r>
                <a:r>
                  <a:rPr kumimoji="1" lang="zh-CN" altLang="en-US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The initial proposition (suppose 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x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m:t>∈</m:t>
                    </m:r>
                    <m:r>
                      <a:rPr kumimoji="1" lang="en-US" altLang="zh-CN" sz="2000" b="1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m:t>ℤ</m:t>
                    </m:r>
                  </m:oMath>
                </a14:m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):</a:t>
                </a: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(x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 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1)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zh-CN" altLang="en-US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(x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 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2)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P(x)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~P(1)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~P(2) </a:t>
                </a:r>
              </a:p>
              <a:p>
                <a:pPr marL="0" indent="0">
                  <a:buNone/>
                </a:pPr>
                <a:endParaRPr kumimoji="1" lang="en-US" altLang="zh-CN" sz="2000" b="1" dirty="0">
                  <a:solidFill>
                    <a:srgbClr val="0432FF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//</a:t>
                </a:r>
                <a:r>
                  <a:rPr kumimoji="1" lang="zh-CN" altLang="en-US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kumimoji="1" lang="en-US" altLang="zh-CN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After purification:</a:t>
                </a:r>
              </a:p>
              <a:p>
                <a:pPr marL="0" indent="0">
                  <a:buNone/>
                </a:pPr>
                <a:endParaRPr kumimoji="1" lang="en-US" altLang="zh-CN" sz="20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endParaRPr kumimoji="1" lang="en-US" altLang="zh-CN" sz="20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endParaRPr kumimoji="1" lang="en-US" altLang="zh-CN" sz="20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endParaRPr kumimoji="1" lang="en-US" altLang="zh-CN" sz="20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endParaRPr kumimoji="1" lang="en-US" altLang="zh-CN" sz="20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816" t="-6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表格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37026470"/>
                  </p:ext>
                </p:extLst>
              </p:nvPr>
            </p:nvGraphicFramePr>
            <p:xfrm>
              <a:off x="2209800" y="3581400"/>
              <a:ext cx="4038600" cy="301466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050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133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454344">
                    <a:tc>
                      <a:txBody>
                        <a:bodyPr/>
                        <a:lstStyle/>
                        <a:p>
                          <a:r>
                            <a:rPr lang="en-US" altLang="zh-CN" dirty="0">
                              <a:solidFill>
                                <a:schemeClr val="tx1"/>
                              </a:solidFill>
                            </a:rPr>
                            <a:t>LA</a:t>
                          </a:r>
                          <a:endParaRPr lang="zh-CN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>
                              <a:solidFill>
                                <a:schemeClr val="tx1"/>
                              </a:solidFill>
                            </a:rPr>
                            <a:t>EUF</a:t>
                          </a:r>
                          <a:endParaRPr lang="zh-CN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603056"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x</a:t>
                          </a:r>
                          <a14:m>
                            <m:oMath xmlns:m="http://schemas.openxmlformats.org/officeDocument/2006/math">
                              <m:r>
                                <a:rPr kumimoji="1" lang="en-US" altLang="zh-CN" sz="1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</m:t>
                              </m:r>
                            </m:oMath>
                          </a14:m>
                          <a:r>
                            <a:rPr lang="en-US" altLang="zh-CN" dirty="0"/>
                            <a:t>1</a:t>
                          </a:r>
                        </a:p>
                        <a:p>
                          <a:r>
                            <a:rPr lang="en-US" altLang="zh-CN" dirty="0"/>
                            <a:t>x</a:t>
                          </a:r>
                          <a14:m>
                            <m:oMath xmlns:m="http://schemas.openxmlformats.org/officeDocument/2006/math">
                              <m:r>
                                <a:rPr kumimoji="1" lang="en-US" altLang="zh-CN" sz="1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altLang="zh-CN" dirty="0"/>
                            <a:t>2</a:t>
                          </a:r>
                        </a:p>
                        <a:p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P(x)</a:t>
                          </a:r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~P(1)</a:t>
                          </a:r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~P(2)</a:t>
                          </a:r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表格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37026470"/>
                  </p:ext>
                </p:extLst>
              </p:nvPr>
            </p:nvGraphicFramePr>
            <p:xfrm>
              <a:off x="2209800" y="3581400"/>
              <a:ext cx="4038600" cy="301466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050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133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454344">
                    <a:tc>
                      <a:txBody>
                        <a:bodyPr/>
                        <a:lstStyle/>
                        <a:p>
                          <a:r>
                            <a:rPr lang="en-US" altLang="zh-CN" dirty="0">
                              <a:solidFill>
                                <a:schemeClr val="tx1"/>
                              </a:solidFill>
                            </a:rPr>
                            <a:t>LA</a:t>
                          </a:r>
                          <a:endParaRPr lang="zh-CN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>
                              <a:solidFill>
                                <a:schemeClr val="tx1"/>
                              </a:solidFill>
                            </a:rPr>
                            <a:t>EUF</a:t>
                          </a:r>
                          <a:endParaRPr lang="zh-CN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5603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  <a:stretch>
                            <a:fillRect l="-667" t="-19307" r="-114000" b="-4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P(x)</a:t>
                          </a:r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~P(1)</a:t>
                          </a:r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r>
                            <a:rPr lang="en-US" altLang="zh-CN" dirty="0"/>
                            <a:t>~P(2)</a:t>
                          </a:r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:endParaRPr lang="en-US" altLang="zh-CN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/>
              <p:cNvSpPr txBox="1"/>
              <p:nvPr/>
            </p:nvSpPr>
            <p:spPr>
              <a:xfrm>
                <a:off x="2209800" y="5264645"/>
                <a:ext cx="1371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x=1 </a:t>
                </a:r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 x=2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9800" y="5264645"/>
                <a:ext cx="1371600" cy="369332"/>
              </a:xfrm>
              <a:prstGeom prst="rect">
                <a:avLst/>
              </a:prstGeom>
              <a:blipFill rotWithShape="1">
                <a:blip r:embed="rId5"/>
                <a:stretch>
                  <a:fillRect t="-134" b="7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直线连接符 6"/>
          <p:cNvCxnSpPr/>
          <p:nvPr/>
        </p:nvCxnSpPr>
        <p:spPr>
          <a:xfrm>
            <a:off x="5181600" y="5410200"/>
            <a:ext cx="0" cy="11430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5334000" y="4895313"/>
            <a:ext cx="1828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State</a:t>
            </a:r>
            <a:r>
              <a:rPr kumimoji="1" lang="zh-CN" altLang="en-US" dirty="0"/>
              <a:t> </a:t>
            </a:r>
            <a:r>
              <a:rPr kumimoji="1" lang="en-US" altLang="zh-CN" dirty="0"/>
              <a:t>split!</a:t>
            </a:r>
            <a:endParaRPr kumimoji="1" lang="zh-CN" altLang="en-US" dirty="0"/>
          </a:p>
        </p:txBody>
      </p:sp>
      <p:sp>
        <p:nvSpPr>
          <p:cNvPr id="9" name="文本框 8"/>
          <p:cNvSpPr txBox="1"/>
          <p:nvPr/>
        </p:nvSpPr>
        <p:spPr>
          <a:xfrm>
            <a:off x="4114800" y="5257800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x=1</a:t>
            </a:r>
            <a:endParaRPr kumimoji="1"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5181600" y="5269468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x=2</a:t>
            </a:r>
            <a:endParaRPr kumimoji="1" lang="zh-CN" altLang="en-US" dirty="0"/>
          </a:p>
        </p:txBody>
      </p:sp>
      <p:sp>
        <p:nvSpPr>
          <p:cNvPr id="11" name="文本框 10"/>
          <p:cNvSpPr txBox="1"/>
          <p:nvPr/>
        </p:nvSpPr>
        <p:spPr>
          <a:xfrm>
            <a:off x="4114800" y="5638800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UNSAT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5180635" y="5631084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UNSAT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/>
      <p:bldP spid="9" grpId="0"/>
      <p:bldP spid="10" grpId="0"/>
      <p:bldP spid="11" grpId="0"/>
      <p:bldP spid="1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Nelson-</a:t>
            </a:r>
            <a:r>
              <a:rPr kumimoji="1" lang="en-US" altLang="zh-CN" dirty="0" err="1"/>
              <a:t>Oppen</a:t>
            </a:r>
            <a:r>
              <a:rPr kumimoji="1" lang="en-US" altLang="zh-CN" dirty="0"/>
              <a:t> algorithm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kumimoji="1" lang="en-US" altLang="zh-CN" sz="2000" b="1" dirty="0" err="1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nelson_oppen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(P){</a:t>
                </a: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P1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...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sz="2000" b="1" dirty="0" err="1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Pn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= purify(P);</a:t>
                </a: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L:</a:t>
                </a: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if(some Pi is UNSAT)</a:t>
                </a: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return UNSAT;</a:t>
                </a: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if(some Pi implies x=y){</a:t>
                </a: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broadcast(x=y);</a:t>
                </a: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</a:t>
                </a:r>
                <a:r>
                  <a:rPr kumimoji="1" lang="en-US" altLang="zh-CN" sz="2000" b="1" dirty="0" err="1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goto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L;</a:t>
                </a: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}</a:t>
                </a: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if(Pi implies x</a:t>
                </a:r>
                <a:r>
                  <a:rPr kumimoji="1" lang="en-US" altLang="zh-CN" sz="2000" b="1" baseline="-25000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=y</a:t>
                </a:r>
                <a:r>
                  <a:rPr kumimoji="1" lang="en-US" altLang="zh-CN" sz="2000" b="1" baseline="-25000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 </m:t>
                    </m:r>
                  </m:oMath>
                </a14:m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…</a:t>
                </a:r>
                <a:r>
                  <a:rPr kumimoji="1" lang="en-US" altLang="zh-CN" sz="20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 </m:t>
                    </m:r>
                  </m:oMath>
                </a14:m>
                <a:r>
                  <a:rPr kumimoji="1" lang="en-US" altLang="zh-CN" sz="2000" b="1" dirty="0" err="1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x</a:t>
                </a:r>
                <a:r>
                  <a:rPr kumimoji="1" lang="en-US" altLang="zh-CN" sz="2000" b="1" baseline="-25000" dirty="0" err="1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n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=</a:t>
                </a:r>
                <a:r>
                  <a:rPr kumimoji="1" lang="en-US" altLang="zh-CN" sz="2000" b="1" dirty="0" err="1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y</a:t>
                </a:r>
                <a:r>
                  <a:rPr kumimoji="1" lang="en-US" altLang="zh-CN" sz="2000" b="1" baseline="-25000" dirty="0" err="1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n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</a:t>
                </a:r>
                <a:r>
                  <a:rPr kumimoji="1" lang="en-US" altLang="zh-CN" sz="2000" b="1" dirty="0" err="1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nelson_oppen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(P, x</a:t>
                </a:r>
                <a:r>
                  <a:rPr kumimoji="1" lang="en-US" altLang="zh-CN" sz="2000" b="1" baseline="-25000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=</a:t>
                </a:r>
                <a:r>
                  <a:rPr kumimoji="1" lang="en-US" altLang="zh-CN" sz="2000" b="1" dirty="0" err="1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y</a:t>
                </a:r>
                <a:r>
                  <a:rPr kumimoji="1" lang="en-US" altLang="zh-CN" sz="2000" b="1" baseline="-25000" dirty="0" err="1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);</a:t>
                </a: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return SAT;</a:t>
                </a:r>
              </a:p>
              <a:p>
                <a:pPr marL="0" indent="0">
                  <a:buNone/>
                </a:pPr>
                <a:r>
                  <a:rPr kumimoji="1" lang="en-US" altLang="zh-CN" sz="2000" b="1" dirty="0">
                    <a:solidFill>
                      <a:srgbClr val="0432FF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}</a:t>
                </a:r>
              </a:p>
            </p:txBody>
          </p:sp>
        </mc:Choice>
        <mc:Fallback xmlns="">
          <p:sp>
            <p:nvSpPr>
              <p:cNvPr id="3" name="内容占位符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 l="-4" t="-8" r="4" b="-151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Soundness and completeness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Soundness: if the Nelson-</a:t>
            </a:r>
            <a:r>
              <a:rPr kumimoji="1" lang="en-US" altLang="zh-CN" dirty="0" err="1"/>
              <a:t>Oppen</a:t>
            </a:r>
            <a:r>
              <a:rPr kumimoji="1" lang="en-US" altLang="zh-CN" dirty="0"/>
              <a:t> decision procedure return </a:t>
            </a:r>
            <a:r>
              <a:rPr kumimoji="1" lang="en-US" altLang="zh-CN" dirty="0">
                <a:solidFill>
                  <a:srgbClr val="0432FF"/>
                </a:solidFill>
              </a:rPr>
              <a:t>SAT</a:t>
            </a:r>
            <a:r>
              <a:rPr kumimoji="1" lang="en-US" altLang="zh-CN" dirty="0"/>
              <a:t>, the proposition is satisfiable</a:t>
            </a:r>
          </a:p>
          <a:p>
            <a:pPr lvl="1"/>
            <a:r>
              <a:rPr kumimoji="1" lang="en-US" altLang="zh-CN" dirty="0"/>
              <a:t>easy to prove</a:t>
            </a:r>
          </a:p>
          <a:p>
            <a:r>
              <a:rPr kumimoji="1" lang="en-US" altLang="zh-CN" dirty="0"/>
              <a:t>Completeness:</a:t>
            </a:r>
          </a:p>
          <a:p>
            <a:pPr lvl="1"/>
            <a:r>
              <a:rPr kumimoji="1" lang="en-US" altLang="zh-CN" dirty="0"/>
              <a:t>if the NO procedure returns </a:t>
            </a:r>
            <a:r>
              <a:rPr kumimoji="1" lang="en-US" altLang="zh-CN" dirty="0">
                <a:solidFill>
                  <a:srgbClr val="0432FF"/>
                </a:solidFill>
              </a:rPr>
              <a:t>UNSAT</a:t>
            </a:r>
            <a:r>
              <a:rPr kumimoji="1" lang="en-US" altLang="zh-CN" dirty="0"/>
              <a:t>, the proposition is unsatisfiable</a:t>
            </a:r>
          </a:p>
          <a:p>
            <a:pPr lvl="1"/>
            <a:r>
              <a:rPr kumimoji="1" lang="en-US" altLang="zh-CN" dirty="0"/>
              <a:t>hard to prove, how do we know the propagation is enough (read the assigned)</a:t>
            </a:r>
            <a:endParaRPr kumimoji="1" lang="zh-CN" alt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Summary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Nelson-</a:t>
            </a:r>
            <a:r>
              <a:rPr kumimoji="1" lang="en-US" altLang="zh-CN" dirty="0" err="1"/>
              <a:t>Oppen</a:t>
            </a:r>
            <a:r>
              <a:rPr kumimoji="1" lang="zh-CN" altLang="en-US" dirty="0"/>
              <a:t> </a:t>
            </a:r>
            <a:r>
              <a:rPr kumimoji="1" lang="en-US" altLang="zh-CN" dirty="0"/>
              <a:t>is</a:t>
            </a:r>
            <a:r>
              <a:rPr kumimoji="1" lang="zh-CN" altLang="en-US" dirty="0"/>
              <a:t> </a:t>
            </a:r>
            <a:r>
              <a:rPr kumimoji="1" lang="en-US" altLang="zh-CN" dirty="0"/>
              <a:t>a</a:t>
            </a:r>
            <a:r>
              <a:rPr kumimoji="1" lang="zh-CN" altLang="en-US" dirty="0"/>
              <a:t> </a:t>
            </a:r>
            <a:r>
              <a:rPr kumimoji="1" lang="en-US" altLang="zh-CN" dirty="0"/>
              <a:t>combined</a:t>
            </a:r>
            <a:r>
              <a:rPr kumimoji="1" lang="zh-CN" altLang="en-US" dirty="0"/>
              <a:t> </a:t>
            </a:r>
            <a:r>
              <a:rPr kumimoji="1" lang="en-US" altLang="zh-CN" dirty="0"/>
              <a:t>decision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procedure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combine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theories</a:t>
            </a:r>
          </a:p>
          <a:p>
            <a:r>
              <a:rPr kumimoji="1" lang="en-US" altLang="zh-CN" dirty="0"/>
              <a:t>This</a:t>
            </a:r>
            <a:r>
              <a:rPr kumimoji="1" lang="zh-CN" altLang="en-US" dirty="0"/>
              <a:t> </a:t>
            </a:r>
            <a:r>
              <a:rPr kumimoji="1" lang="en-US" altLang="zh-CN" dirty="0"/>
              <a:t>method</a:t>
            </a:r>
            <a:r>
              <a:rPr kumimoji="1" lang="zh-CN" altLang="en-US" dirty="0"/>
              <a:t> </a:t>
            </a:r>
            <a:r>
              <a:rPr kumimoji="1" lang="en-US" altLang="zh-CN" dirty="0"/>
              <a:t>is</a:t>
            </a:r>
            <a:r>
              <a:rPr kumimoji="1" lang="zh-CN" altLang="en-US" dirty="0"/>
              <a:t> </a:t>
            </a:r>
            <a:r>
              <a:rPr kumimoji="1" lang="en-US" altLang="zh-CN" dirty="0"/>
              <a:t>non-trivial:</a:t>
            </a:r>
          </a:p>
          <a:p>
            <a:pPr lvl="1"/>
            <a:r>
              <a:rPr kumimoji="1" lang="en-US" altLang="zh-CN" dirty="0"/>
              <a:t>Equality</a:t>
            </a:r>
            <a:r>
              <a:rPr kumimoji="1" lang="zh-CN" altLang="en-US" dirty="0"/>
              <a:t> </a:t>
            </a:r>
            <a:r>
              <a:rPr kumimoji="1" lang="en-US" altLang="zh-CN" dirty="0"/>
              <a:t>(EUF)</a:t>
            </a:r>
            <a:r>
              <a:rPr kumimoji="1" lang="zh-CN" altLang="en-US" dirty="0"/>
              <a:t> </a:t>
            </a:r>
            <a:r>
              <a:rPr kumimoji="1" lang="en-US" altLang="zh-CN" dirty="0"/>
              <a:t>was</a:t>
            </a:r>
            <a:r>
              <a:rPr kumimoji="1" lang="zh-CN" altLang="en-US" dirty="0"/>
              <a:t> </a:t>
            </a:r>
            <a:r>
              <a:rPr kumimoji="1" lang="en-US" altLang="zh-CN" dirty="0"/>
              <a:t>first</a:t>
            </a:r>
            <a:r>
              <a:rPr kumimoji="1" lang="zh-CN" altLang="en-US" dirty="0"/>
              <a:t> </a:t>
            </a:r>
            <a:r>
              <a:rPr kumimoji="1" lang="en-US" altLang="zh-CN" dirty="0"/>
              <a:t>studied</a:t>
            </a:r>
            <a:r>
              <a:rPr kumimoji="1" lang="zh-CN" altLang="en-US" dirty="0"/>
              <a:t> </a:t>
            </a:r>
            <a:r>
              <a:rPr kumimoji="1" lang="en-US" altLang="zh-CN" dirty="0"/>
              <a:t>by</a:t>
            </a:r>
            <a:r>
              <a:rPr kumimoji="1" lang="zh-CN" altLang="en-US" dirty="0"/>
              <a:t> </a:t>
            </a:r>
            <a:r>
              <a:rPr kumimoji="1" lang="en-US" altLang="zh-CN" dirty="0"/>
              <a:t>Ackerman,</a:t>
            </a:r>
            <a:r>
              <a:rPr kumimoji="1" lang="zh-CN" altLang="en-US" dirty="0"/>
              <a:t> </a:t>
            </a:r>
            <a:r>
              <a:rPr kumimoji="1" lang="en-US" altLang="zh-CN" dirty="0"/>
              <a:t>1924</a:t>
            </a:r>
          </a:p>
          <a:p>
            <a:pPr lvl="1"/>
            <a:r>
              <a:rPr kumimoji="1" lang="en-US" altLang="zh-CN"/>
              <a:t>Arithmetic</a:t>
            </a:r>
            <a:r>
              <a:rPr kumimoji="1" lang="zh-CN" altLang="en-US" dirty="0"/>
              <a:t> </a:t>
            </a:r>
            <a:r>
              <a:rPr kumimoji="1" lang="en-US" altLang="zh-CN" dirty="0"/>
              <a:t>(LA)</a:t>
            </a:r>
            <a:r>
              <a:rPr kumimoji="1" lang="zh-CN" altLang="en-US" dirty="0"/>
              <a:t> </a:t>
            </a:r>
            <a:r>
              <a:rPr kumimoji="1" lang="en-US" altLang="zh-CN" dirty="0"/>
              <a:t>studied</a:t>
            </a:r>
            <a:r>
              <a:rPr kumimoji="1" lang="zh-CN" altLang="en-US" dirty="0"/>
              <a:t> </a:t>
            </a:r>
            <a:r>
              <a:rPr kumimoji="1" lang="en-US" altLang="zh-CN" dirty="0"/>
              <a:t>by</a:t>
            </a:r>
            <a:r>
              <a:rPr kumimoji="1" lang="zh-CN" altLang="en-US" dirty="0"/>
              <a:t> </a:t>
            </a:r>
            <a:r>
              <a:rPr kumimoji="1" lang="en-US" altLang="zh-CN" dirty="0"/>
              <a:t>Fourier,</a:t>
            </a:r>
            <a:r>
              <a:rPr kumimoji="1" lang="zh-CN" altLang="en-US" dirty="0"/>
              <a:t> </a:t>
            </a:r>
            <a:r>
              <a:rPr kumimoji="1" lang="en-US" altLang="zh-CN" dirty="0"/>
              <a:t>1826</a:t>
            </a:r>
          </a:p>
          <a:p>
            <a:pPr lvl="1"/>
            <a:r>
              <a:rPr kumimoji="1" lang="en-US" altLang="zh-CN" dirty="0"/>
              <a:t>But</a:t>
            </a:r>
            <a:r>
              <a:rPr kumimoji="1" lang="zh-CN" altLang="en-US" dirty="0"/>
              <a:t> </a:t>
            </a:r>
            <a:r>
              <a:rPr kumimoji="1" lang="en-US" altLang="zh-CN" dirty="0"/>
              <a:t>EUF+LA</a:t>
            </a:r>
            <a:r>
              <a:rPr kumimoji="1" lang="zh-CN" altLang="en-US" dirty="0"/>
              <a:t> </a:t>
            </a:r>
            <a:r>
              <a:rPr kumimoji="1" lang="en-US" altLang="zh-CN" dirty="0"/>
              <a:t>only</a:t>
            </a:r>
            <a:r>
              <a:rPr kumimoji="1" lang="zh-CN" altLang="en-US" dirty="0"/>
              <a:t> </a:t>
            </a:r>
            <a:r>
              <a:rPr kumimoji="1" lang="en-US" altLang="zh-CN" dirty="0"/>
              <a:t>in</a:t>
            </a:r>
            <a:r>
              <a:rPr kumimoji="1" lang="zh-CN" altLang="en-US" dirty="0"/>
              <a:t> </a:t>
            </a:r>
            <a:r>
              <a:rPr kumimoji="1" lang="en-US" altLang="zh-CN" dirty="0"/>
              <a:t>1979</a:t>
            </a:r>
            <a:endParaRPr kumimoji="1" lang="zh-CN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ends">
  <a:themeElements>
    <a:clrScheme name="Blends 3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Blends">
      <a:majorFont>
        <a:latin typeface="Tahoma"/>
        <a:ea typeface="宋体"/>
        <a:cs typeface=""/>
      </a:majorFont>
      <a:minorFont>
        <a:latin typeface="Tahoma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2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3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4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Blends</Template>
  <TotalTime>7</TotalTime>
  <Words>1463</Words>
  <Application>Microsoft Macintosh PowerPoint</Application>
  <PresentationFormat>全屏显示(4:3)</PresentationFormat>
  <Paragraphs>271</Paragraphs>
  <Slides>25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32" baseType="lpstr">
      <vt:lpstr>Arial</vt:lpstr>
      <vt:lpstr>Calibri</vt:lpstr>
      <vt:lpstr>Cambria Math</vt:lpstr>
      <vt:lpstr>Courier New</vt:lpstr>
      <vt:lpstr>Tahoma</vt:lpstr>
      <vt:lpstr>Wingdings</vt:lpstr>
      <vt:lpstr>Blends</vt:lpstr>
      <vt:lpstr>Theory Combination</vt:lpstr>
      <vt:lpstr>Recall: theories and signatures</vt:lpstr>
      <vt:lpstr>We’ve learned…</vt:lpstr>
      <vt:lpstr>And also</vt:lpstr>
      <vt:lpstr>And more</vt:lpstr>
      <vt:lpstr>Question</vt:lpstr>
      <vt:lpstr>Theory combination</vt:lpstr>
      <vt:lpstr>Theory combination</vt:lpstr>
      <vt:lpstr> </vt:lpstr>
      <vt:lpstr>Basic results</vt:lpstr>
      <vt:lpstr>Nelson-Oppen Architecture</vt:lpstr>
      <vt:lpstr>Nelson-Oppen</vt:lpstr>
      <vt:lpstr>#2: Equality propagation</vt:lpstr>
      <vt:lpstr>Example 1</vt:lpstr>
      <vt:lpstr>Example 1, cont’</vt:lpstr>
      <vt:lpstr>Example 2</vt:lpstr>
      <vt:lpstr>Example 2, cont’</vt:lpstr>
      <vt:lpstr> </vt:lpstr>
      <vt:lpstr>Not always so simple…</vt:lpstr>
      <vt:lpstr>Theory Convexity</vt:lpstr>
      <vt:lpstr>Non-convex theory example</vt:lpstr>
      <vt:lpstr>Non-convexity introduces splitting</vt:lpstr>
      <vt:lpstr>Nelson-Oppen algorithm</vt:lpstr>
      <vt:lpstr>Soundness and completeness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Overview</dc:title>
  <dc:creator>Baojian Hua</dc:creator>
  <cp:lastModifiedBy>Microsoft Office User</cp:lastModifiedBy>
  <cp:revision>4840</cp:revision>
  <cp:lastPrinted>2113-01-01T00:00:00Z</cp:lastPrinted>
  <dcterms:created xsi:type="dcterms:W3CDTF">2113-01-01T00:00:00Z</dcterms:created>
  <dcterms:modified xsi:type="dcterms:W3CDTF">2025-11-12T08:04:35Z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  <property fmtid="{D5CDD505-2E9C-101B-9397-08002B2CF9AE}" pid="3" name="ICV">
    <vt:lpwstr>10020B81D8DC42E88C3F868B07DCC314</vt:lpwstr>
  </property>
  <property fmtid="{D5CDD505-2E9C-101B-9397-08002B2CF9AE}" pid="4" name="KSOProductBuildVer">
    <vt:lpwstr>2052-11.1.0.11194</vt:lpwstr>
  </property>
</Properties>
</file>
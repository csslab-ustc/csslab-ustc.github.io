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</p:sldMasterIdLst>
  <p:handoutMasterIdLst>
    <p:handoutMasterId r:id="rId16"/>
  </p:handoutMasterIdLst>
  <p:sldIdLst>
    <p:sldId id="256" r:id="rId2"/>
    <p:sldId id="310" r:id="rId3"/>
    <p:sldId id="306" r:id="rId4"/>
    <p:sldId id="274" r:id="rId5"/>
    <p:sldId id="311" r:id="rId6"/>
    <p:sldId id="312" r:id="rId7"/>
    <p:sldId id="287" r:id="rId8"/>
    <p:sldId id="313" r:id="rId9"/>
    <p:sldId id="288" r:id="rId10"/>
    <p:sldId id="305" r:id="rId11"/>
    <p:sldId id="315" r:id="rId12"/>
    <p:sldId id="295" r:id="rId13"/>
    <p:sldId id="303" r:id="rId14"/>
    <p:sldId id="304" r:id="rId15"/>
  </p:sldIdLst>
  <p:sldSz cx="9144000" cy="6858000" type="screen4x3"/>
  <p:notesSz cx="7099300" cy="10234613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590"/>
  </p:normalViewPr>
  <p:slideViewPr>
    <p:cSldViewPr>
      <p:cViewPr varScale="1">
        <p:scale>
          <a:sx n="99" d="100"/>
          <a:sy n="99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3A3E3E-C903-2343-9461-D17B8D7A7E8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A075025-0D63-E64A-9A81-C2C737BEB44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0B24856D-BF01-F645-A456-EFBA10AF0F29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A65AEC21-B882-124D-A8BE-B355C508A895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anose="020B0604020202020204" pitchFamily="34" charset="0"/>
              </a:defRPr>
            </a:lvl1pPr>
          </a:lstStyle>
          <a:p>
            <a:fld id="{0F68B817-E233-424D-BAD2-8A9E5BFA5B5A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42" name="Group 2">
            <a:extLst>
              <a:ext uri="{FF2B5EF4-FFF2-40B4-BE49-F238E27FC236}">
                <a16:creationId xmlns:a16="http://schemas.microsoft.com/office/drawing/2014/main" id="{D7A70B5D-780A-3942-A354-14A0AA03280D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10243" name="Group 3">
              <a:extLst>
                <a:ext uri="{FF2B5EF4-FFF2-40B4-BE49-F238E27FC236}">
                  <a16:creationId xmlns:a16="http://schemas.microsoft.com/office/drawing/2014/main" id="{AE04AC0A-5074-D34B-ABEC-667006D794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0244" name="Rectangle 4">
                <a:extLst>
                  <a:ext uri="{FF2B5EF4-FFF2-40B4-BE49-F238E27FC236}">
                    <a16:creationId xmlns:a16="http://schemas.microsoft.com/office/drawing/2014/main" id="{21AC3179-26FF-B745-8D39-9AFD73AA50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245" name="Rectangle 5">
                <a:extLst>
                  <a:ext uri="{FF2B5EF4-FFF2-40B4-BE49-F238E27FC236}">
                    <a16:creationId xmlns:a16="http://schemas.microsoft.com/office/drawing/2014/main" id="{58E99DBA-A43F-FF40-B0E3-28A727890C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10246" name="Group 6">
              <a:extLst>
                <a:ext uri="{FF2B5EF4-FFF2-40B4-BE49-F238E27FC236}">
                  <a16:creationId xmlns:a16="http://schemas.microsoft.com/office/drawing/2014/main" id="{CCDE27EE-3393-8346-8BF4-74C4E08B73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247" name="Rectangle 7">
                <a:extLst>
                  <a:ext uri="{FF2B5EF4-FFF2-40B4-BE49-F238E27FC236}">
                    <a16:creationId xmlns:a16="http://schemas.microsoft.com/office/drawing/2014/main" id="{741DB36D-ECCD-1D41-8A90-6CF2598AAA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248" name="Rectangle 8">
                <a:extLst>
                  <a:ext uri="{FF2B5EF4-FFF2-40B4-BE49-F238E27FC236}">
                    <a16:creationId xmlns:a16="http://schemas.microsoft.com/office/drawing/2014/main" id="{5061B37C-02D4-AF4C-A0CE-D405B44D1B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1B3DFE3B-5D6D-A44A-B9E3-69259F59C9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9CA05350-0FF9-D747-BAAE-BB50FAA3D0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B143F3D0-92FF-0043-AC05-9512E042F3F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5DDE1152-56F0-8F4C-A54D-AE9681C2CD3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077846F5-0355-604E-BF2D-53D9338AB5C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3D949DCF-BEB4-AA44-933E-4FB988602C1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 altLang="zh-CN"/>
          </a:p>
        </p:txBody>
      </p:sp>
      <p:sp>
        <p:nvSpPr>
          <p:cNvPr id="10255" name="Rectangle 15">
            <a:extLst>
              <a:ext uri="{FF2B5EF4-FFF2-40B4-BE49-F238E27FC236}">
                <a16:creationId xmlns:a16="http://schemas.microsoft.com/office/drawing/2014/main" id="{148357A1-77F5-7845-8A16-F1F359F61F7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 altLang="zh-CN"/>
          </a:p>
        </p:txBody>
      </p:sp>
      <p:sp>
        <p:nvSpPr>
          <p:cNvPr id="10256" name="Rectangle 16">
            <a:extLst>
              <a:ext uri="{FF2B5EF4-FFF2-40B4-BE49-F238E27FC236}">
                <a16:creationId xmlns:a16="http://schemas.microsoft.com/office/drawing/2014/main" id="{7FC1685A-667E-6349-8E15-B4AFF57A818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7D05AF8F-CC8B-CE4D-8E4E-0946430EB779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52B7C8-BBF8-F242-9071-54EFF1DA6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B226BC-4235-504C-B04E-EB632D9A2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AB89B6-1309-DA45-A8B1-15977E30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F0CB5B-ED1B-FF4A-9559-8E0BEFD7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8B81DB-A4DC-974E-928F-14673796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8540E9-F464-B742-865C-DD7702B9F3C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1591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AF8CC2-D402-1B45-A2AB-E88EEF11B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83A153-D86D-624E-B3AA-1E074BA0F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5C5AD2-3D50-CB48-B76F-AE872390C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21331C-BB0B-F946-9654-07363E804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5BEDF7-C82E-E346-9057-B4972ADA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EE9F18-42C2-EB42-B7EE-309F088CD399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305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B0E62D-E804-AE45-B733-B7DBB3BD2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A7F36D-ED5D-2841-AE41-355861E52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23D1C8-D01D-1C42-8834-4D3407EE3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A35BE8-5D1C-4E45-AB28-761A39DB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EE7540-65E8-7F4C-8631-ABC6ED4B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A607BFA-02B1-A54C-B28E-0082865A9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09B74E7-ACA5-654A-9ECF-C52E8998D719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42531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B1D599-1B8C-3F4F-98E5-681C1BC6A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1A4448-905E-FE42-80F8-32F61296B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F1AE3F-7EF1-BB46-B31B-1EABA9AC5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CBAA89E-E853-8E4E-A44E-A1C8BF3EA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B1898FA-7F0A-854F-B853-23F6604BF4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E36E9D0-F9FF-AB4F-B14A-E6FE6294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6429CEF-F84E-424C-80C2-DA56A6E3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D71C219-C091-DA44-9BF3-9360330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F84CD3-FD1F-084D-A180-5EC116F0F37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7424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97E0EC-E941-F945-9593-967549D6F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F7AAF1F-F224-BF46-9DEE-58E9218BE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AACB6C-941A-2D40-B060-E69B2E5F1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43BE-6D5E-E647-8097-6652B7FB5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7A1442-71AA-764F-B8C4-0319898C7340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22394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7885FCA-B84B-0E46-A161-8D847820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03D4AF-D447-6A4E-A281-A5B3B2D65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66B650-564B-4149-A48E-4D797D26F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8C2CF8-264E-C64D-85CB-0AAFA0C6A090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4349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76F4AF-D209-2540-AD79-815CE6E58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116F02-B30C-7C42-B97C-FE62D8CEF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17D51D3-32A7-6249-8F5F-923FE6D9D8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74FF6C-08F2-9342-906E-71B3AD86A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1C97FC-4AF8-DA4C-88A6-204C70D3F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652109-10B2-314F-A0A5-DCD1E352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9143EC1-E0FF-124D-8FBE-BA113ADBFDD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71388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317619-1248-1241-813F-DF58E766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66F2E0-A193-EE4E-B5B1-8E9D1B4F1D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25CAE9-B1EB-AC4F-AA70-8117B244D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80E8E1-1380-E946-820D-CAA7AC72D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6864C6-C42F-574D-B738-F4FE9B9FF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230050-AB78-A446-825B-691D771DA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B968C4-449C-B342-92B9-D6688E0FA90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57324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52D8FD-2E35-8C45-8FAE-9D56B5839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577BE3-983C-C14C-B5B5-D18FB718B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B1B293-A32D-C642-B1AE-AA53A3928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A65018-A984-E946-ADE8-67AFBC79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A81C39-165E-5348-8B50-00915A14A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D7B04E-1747-6E4A-9BF6-94029E512EF3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61911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92CDD7-CC2C-9744-A5EE-B3543CB52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CFD4D69-F43C-A441-B3CE-BBF93A83F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E04BCC-6041-0141-9018-3057D8BE4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AA3F46-7ADF-A445-97A0-EA3267C42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9626F4-A82C-4A47-BD26-13483CE1D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AA6308-3F37-DE4F-ACEB-C2CFB64370F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96847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A3FE088A-9B35-E94E-9004-A497788DD95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19A9EF7-5D8E-1940-82E4-0AF32DF71767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65435FC-D425-924D-AAEC-0C59893CA93A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E3ECA28D-21DA-4147-8CAD-2B99FA074A0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228BCA76-CBD4-5C4C-918B-E69732DE704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6896F0AD-C6B4-0C4B-B706-90448343D10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BFA94453-B156-C34A-A7D8-7A8FA96C4C4F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1A890F74-5B87-D243-8A40-CFD0C683F9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226" name="Rectangle 10">
            <a:extLst>
              <a:ext uri="{FF2B5EF4-FFF2-40B4-BE49-F238E27FC236}">
                <a16:creationId xmlns:a16="http://schemas.microsoft.com/office/drawing/2014/main" id="{854E1838-A9C3-7E40-AC2B-35CA6013AD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C21097CC-0036-B042-A363-F39FB75C85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8EB7EA01-3009-A048-AAFB-55FF753DDA3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C8B4E4F-22EC-854D-B584-5277BA0BBD4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63F8D3C3-71BC-3E40-8C75-F9FC782F4C80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sslab-ustc.github.io/courses/popl26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0509E4D0-42AE-E245-AFBB-4F660EE6EAE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/>
              <a:t>Overview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9BBEE831-F42A-B041-9434-84E906EAD7A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838200" y="3886200"/>
            <a:ext cx="7772400" cy="1752600"/>
          </a:xfrm>
        </p:spPr>
        <p:txBody>
          <a:bodyPr/>
          <a:lstStyle/>
          <a:p>
            <a:r>
              <a:rPr lang="en-US" altLang="zh-CN" sz="3600" dirty="0"/>
              <a:t>Principle</a:t>
            </a:r>
            <a:r>
              <a:rPr lang="zh-CN" altLang="en-US" sz="3600" dirty="0"/>
              <a:t> </a:t>
            </a:r>
            <a:r>
              <a:rPr lang="en-US" altLang="zh-CN" sz="3600" dirty="0"/>
              <a:t>of</a:t>
            </a:r>
            <a:r>
              <a:rPr lang="zh-CN" altLang="en-US" sz="3600" dirty="0"/>
              <a:t> </a:t>
            </a:r>
            <a:r>
              <a:rPr lang="en-US" altLang="zh-CN" sz="3600" dirty="0"/>
              <a:t>Programming</a:t>
            </a:r>
            <a:r>
              <a:rPr lang="zh-CN" altLang="en-US" sz="3600" dirty="0"/>
              <a:t> </a:t>
            </a:r>
            <a:r>
              <a:rPr lang="en-US" altLang="zh-CN" sz="3600" dirty="0"/>
              <a:t>Languages</a:t>
            </a:r>
          </a:p>
          <a:p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B3D05ADA-3431-0E4F-9FCD-DCC14AF7A9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are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languages?</a:t>
            </a:r>
          </a:p>
        </p:txBody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18C0B0E1-1CB3-8340-A719-5F4237B4A7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Very</a:t>
            </a:r>
            <a:r>
              <a:rPr lang="zh-CN" altLang="en-US" dirty="0"/>
              <a:t> </a:t>
            </a:r>
            <a:r>
              <a:rPr lang="en-US" altLang="zh-CN" dirty="0"/>
              <a:t>important</a:t>
            </a:r>
            <a:r>
              <a:rPr lang="zh-CN" altLang="en-US" dirty="0"/>
              <a:t> </a:t>
            </a:r>
            <a:r>
              <a:rPr lang="en-US" altLang="zh-CN" dirty="0"/>
              <a:t>fields,</a:t>
            </a:r>
            <a:r>
              <a:rPr lang="zh-CN" altLang="en-US" dirty="0"/>
              <a:t> </a:t>
            </a:r>
            <a:r>
              <a:rPr lang="en-US" altLang="zh-CN" dirty="0"/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programmers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HW</a:t>
            </a:r>
          </a:p>
          <a:p>
            <a:pPr lvl="1"/>
            <a:r>
              <a:rPr lang="en-US" altLang="zh-CN" dirty="0"/>
              <a:t>model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HW</a:t>
            </a:r>
          </a:p>
          <a:p>
            <a:pPr lvl="1"/>
            <a:r>
              <a:rPr lang="en-US" altLang="zh-CN" dirty="0"/>
              <a:t>express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abstraction</a:t>
            </a:r>
          </a:p>
          <a:p>
            <a:r>
              <a:rPr lang="en-US" altLang="zh-CN" dirty="0"/>
              <a:t>Very</a:t>
            </a:r>
            <a:r>
              <a:rPr lang="zh-CN" altLang="en-US" dirty="0"/>
              <a:t> </a:t>
            </a:r>
            <a:r>
              <a:rPr lang="en-US" altLang="zh-CN" dirty="0"/>
              <a:t>active</a:t>
            </a:r>
            <a:r>
              <a:rPr lang="zh-CN" altLang="en-US" dirty="0"/>
              <a:t> </a:t>
            </a:r>
            <a:r>
              <a:rPr lang="en-US" altLang="zh-CN" dirty="0"/>
              <a:t>fields,</a:t>
            </a:r>
            <a:r>
              <a:rPr lang="zh-CN" altLang="en-US" dirty="0"/>
              <a:t> </a:t>
            </a:r>
            <a:r>
              <a:rPr lang="en-US" altLang="zh-CN" dirty="0"/>
              <a:t>both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academia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industry</a:t>
            </a:r>
          </a:p>
          <a:p>
            <a:pPr lvl="1"/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languages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routinely</a:t>
            </a:r>
            <a:r>
              <a:rPr lang="zh-CN" altLang="en-US" dirty="0"/>
              <a:t> </a:t>
            </a:r>
            <a:r>
              <a:rPr lang="en-US" altLang="zh-CN" dirty="0"/>
              <a:t>developed</a:t>
            </a:r>
          </a:p>
        </p:txBody>
      </p:sp>
    </p:spTree>
    <p:extLst>
      <p:ext uri="{BB962C8B-B14F-4D97-AF65-F5344CB8AC3E}">
        <p14:creationId xmlns:p14="http://schemas.microsoft.com/office/powerpoint/2010/main" val="638992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B3D05ADA-3431-0E4F-9FCD-DCC14AF7A9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about?</a:t>
            </a:r>
          </a:p>
        </p:txBody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18C0B0E1-1CB3-8340-A719-5F4237B4A7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year,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discuss</a:t>
            </a:r>
            <a:r>
              <a:rPr lang="zh-CN" altLang="en-US" dirty="0"/>
              <a:t> </a:t>
            </a:r>
            <a:r>
              <a:rPr lang="en-US" altLang="zh-CN" dirty="0"/>
              <a:t>languages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systems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platforms</a:t>
            </a:r>
          </a:p>
          <a:p>
            <a:pPr lvl="1"/>
            <a:r>
              <a:rPr lang="en-US" altLang="zh-CN" dirty="0"/>
              <a:t>GPU,</a:t>
            </a:r>
            <a:r>
              <a:rPr lang="zh-CN" altLang="en-US" dirty="0"/>
              <a:t> </a:t>
            </a:r>
            <a:r>
              <a:rPr lang="en-US" altLang="zh-CN" dirty="0"/>
              <a:t>NPU,</a:t>
            </a:r>
            <a:r>
              <a:rPr lang="zh-CN" altLang="en-US" dirty="0"/>
              <a:t> </a:t>
            </a:r>
            <a:r>
              <a:rPr lang="en-US" altLang="zh-CN" dirty="0"/>
              <a:t>TPU,</a:t>
            </a:r>
            <a:r>
              <a:rPr lang="zh-CN" altLang="en-US" dirty="0"/>
              <a:t> </a:t>
            </a:r>
            <a:r>
              <a:rPr lang="en-US" altLang="zh-CN" dirty="0"/>
              <a:t>ASIC,</a:t>
            </a:r>
            <a:r>
              <a:rPr lang="zh-CN" altLang="en-US" dirty="0"/>
              <a:t> </a:t>
            </a:r>
            <a:r>
              <a:rPr lang="en-US" altLang="zh-CN" dirty="0"/>
              <a:t>etc.</a:t>
            </a:r>
          </a:p>
          <a:p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focus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languages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abstractions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GPUs</a:t>
            </a:r>
          </a:p>
          <a:p>
            <a:pPr lvl="1"/>
            <a:r>
              <a:rPr lang="en-US" altLang="zh-CN" dirty="0"/>
              <a:t>which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arguably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most</a:t>
            </a:r>
            <a:r>
              <a:rPr lang="zh-CN" altLang="en-US" dirty="0"/>
              <a:t> </a:t>
            </a:r>
            <a:r>
              <a:rPr lang="en-US" altLang="zh-CN" dirty="0"/>
              <a:t>popular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</a:p>
        </p:txBody>
      </p:sp>
    </p:spTree>
    <p:extLst>
      <p:ext uri="{BB962C8B-B14F-4D97-AF65-F5344CB8AC3E}">
        <p14:creationId xmlns:p14="http://schemas.microsoft.com/office/powerpoint/2010/main" val="2641408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E076F366-D47A-A049-A442-D3C0CB2096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important?</a:t>
            </a:r>
          </a:p>
        </p:txBody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FE38B1ED-8B58-8E4F-A06B-65CD32D353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platforms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ubiquitous</a:t>
            </a:r>
            <a:r>
              <a:rPr lang="zh-CN" altLang="en-US" dirty="0"/>
              <a:t> </a:t>
            </a:r>
            <a:endParaRPr lang="en-US" altLang="zh-CN" dirty="0">
              <a:solidFill>
                <a:srgbClr val="0432FF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zh-CN" dirty="0"/>
              <a:t>mobile</a:t>
            </a:r>
            <a:r>
              <a:rPr lang="zh-CN" altLang="en-US" dirty="0"/>
              <a:t> </a:t>
            </a:r>
            <a:r>
              <a:rPr lang="en-US" altLang="zh-CN" dirty="0"/>
              <a:t>devices,</a:t>
            </a:r>
            <a:r>
              <a:rPr lang="zh-CN" altLang="en-US" dirty="0"/>
              <a:t> </a:t>
            </a:r>
            <a:r>
              <a:rPr lang="en-US" altLang="zh-CN" dirty="0"/>
              <a:t>laptops,</a:t>
            </a:r>
            <a:r>
              <a:rPr lang="zh-CN" altLang="en-US" dirty="0"/>
              <a:t> </a:t>
            </a:r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devices,</a:t>
            </a:r>
            <a:r>
              <a:rPr lang="zh-CN" altLang="en-US" dirty="0"/>
              <a:t> </a:t>
            </a:r>
            <a:r>
              <a:rPr lang="en-US" altLang="zh-CN" dirty="0"/>
              <a:t>clouds,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pPr>
              <a:lnSpc>
                <a:spcPct val="90000"/>
              </a:lnSpc>
            </a:pP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push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computing</a:t>
            </a:r>
            <a:r>
              <a:rPr lang="zh-CN" altLang="en-US" dirty="0"/>
              <a:t> </a:t>
            </a:r>
            <a:r>
              <a:rPr lang="en-US" altLang="zh-CN" dirty="0"/>
              <a:t>power</a:t>
            </a:r>
            <a:r>
              <a:rPr lang="zh-CN" altLang="en-US" dirty="0"/>
              <a:t> </a:t>
            </a:r>
            <a:r>
              <a:rPr lang="en-US" altLang="zh-CN" dirty="0"/>
              <a:t>takes</a:t>
            </a:r>
            <a:r>
              <a:rPr lang="zh-CN" altLang="en-US" dirty="0"/>
              <a:t> </a:t>
            </a:r>
            <a:r>
              <a:rPr lang="en-US" altLang="zh-CN" dirty="0"/>
              <a:t>priority</a:t>
            </a:r>
          </a:p>
          <a:p>
            <a:pPr>
              <a:lnSpc>
                <a:spcPct val="90000"/>
              </a:lnSpc>
            </a:pPr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thinking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skills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critical</a:t>
            </a:r>
            <a:endParaRPr lang="en-US" altLang="zh-CN" dirty="0">
              <a:solidFill>
                <a:srgbClr val="0432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E076F366-D47A-A049-A442-D3C0CB2096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get</a:t>
            </a:r>
            <a:r>
              <a:rPr lang="zh-CN" altLang="en-US" dirty="0"/>
              <a:t> </a:t>
            </a:r>
            <a:r>
              <a:rPr lang="en-US" altLang="zh-CN" dirty="0"/>
              <a:t>out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course?</a:t>
            </a:r>
          </a:p>
        </p:txBody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FE38B1ED-8B58-8E4F-A06B-65CD32D353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modern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sophisticated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432FF"/>
                </a:solidFill>
              </a:rPr>
              <a:t>perspective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systems</a:t>
            </a:r>
          </a:p>
          <a:p>
            <a:pPr>
              <a:lnSpc>
                <a:spcPct val="90000"/>
              </a:lnSpc>
            </a:pP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deep</a:t>
            </a:r>
            <a:r>
              <a:rPr lang="zh-CN" altLang="en-US" dirty="0"/>
              <a:t> </a:t>
            </a:r>
            <a:r>
              <a:rPr lang="en-US" altLang="zh-CN" dirty="0"/>
              <a:t>understanding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languages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skills</a:t>
            </a:r>
            <a:r>
              <a:rPr lang="zh-CN" altLang="en-US" dirty="0"/>
              <a:t> </a:t>
            </a:r>
            <a:endParaRPr lang="en-US" altLang="zh-CN" dirty="0"/>
          </a:p>
          <a:p>
            <a:pPr>
              <a:lnSpc>
                <a:spcPct val="90000"/>
              </a:lnSpc>
            </a:pPr>
            <a:r>
              <a:rPr lang="en-US" altLang="zh-CN" dirty="0"/>
              <a:t>Powerful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432FF"/>
                </a:solidFill>
              </a:rPr>
              <a:t>tools/techniques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program</a:t>
            </a:r>
            <a:r>
              <a:rPr lang="zh-CN" altLang="en-US" dirty="0"/>
              <a:t> </a:t>
            </a:r>
            <a:r>
              <a:rPr lang="en-US" altLang="zh-CN" dirty="0"/>
              <a:t>design/reasoning/analysis:</a:t>
            </a:r>
          </a:p>
          <a:p>
            <a:pPr lvl="1">
              <a:lnSpc>
                <a:spcPct val="90000"/>
              </a:lnSpc>
            </a:pP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everyday</a:t>
            </a:r>
            <a:r>
              <a:rPr lang="zh-CN" altLang="en-US" dirty="0"/>
              <a:t> </a:t>
            </a:r>
            <a:r>
              <a:rPr lang="en-US" altLang="zh-CN" dirty="0"/>
              <a:t>usage</a:t>
            </a:r>
          </a:p>
        </p:txBody>
      </p:sp>
    </p:spTree>
    <p:extLst>
      <p:ext uri="{BB962C8B-B14F-4D97-AF65-F5344CB8AC3E}">
        <p14:creationId xmlns:p14="http://schemas.microsoft.com/office/powerpoint/2010/main" val="3911156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>
            <a:extLst>
              <a:ext uri="{FF2B5EF4-FFF2-40B4-BE49-F238E27FC236}">
                <a16:creationId xmlns:a16="http://schemas.microsoft.com/office/drawing/2014/main" id="{5A8C102A-9748-F147-8F37-9BDAD8BE6E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background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needed?</a:t>
            </a:r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6AE8DBDA-DA32-4347-BDB9-6444B21B67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Basic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architectures</a:t>
            </a:r>
          </a:p>
          <a:p>
            <a:r>
              <a:rPr lang="en-US" altLang="zh-CN" dirty="0"/>
              <a:t>Basic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skills </a:t>
            </a:r>
          </a:p>
          <a:p>
            <a:pPr lvl="1"/>
            <a:r>
              <a:rPr lang="en-US" altLang="zh-CN" dirty="0"/>
              <a:t>especially,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</a:p>
          <a:p>
            <a:r>
              <a:rPr lang="en-US" altLang="zh-CN" dirty="0"/>
              <a:t>Deep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bonus,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required</a:t>
            </a:r>
          </a:p>
        </p:txBody>
      </p:sp>
    </p:spTree>
    <p:extLst>
      <p:ext uri="{BB962C8B-B14F-4D97-AF65-F5344CB8AC3E}">
        <p14:creationId xmlns:p14="http://schemas.microsoft.com/office/powerpoint/2010/main" val="2666445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9126F26F-E174-6049-866D-0613BD34F59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A78CC973-B653-AA48-8F64-C800ED1E88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/>
              <a:t> </a:t>
            </a:r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C915CF52-C3A9-164F-8E0E-3BD55F913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971800"/>
            <a:ext cx="4986338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altLang="zh-CN" sz="3600" i="1">
                <a:solidFill>
                  <a:schemeClr val="folHlink"/>
                </a:solidFill>
              </a:rPr>
              <a:t>How This Course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0A5A60BF-10C8-9D43-8EF6-A81549643A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Administrivia</a:t>
            </a:r>
          </a:p>
        </p:txBody>
      </p:sp>
      <p:sp>
        <p:nvSpPr>
          <p:cNvPr id="92163" name="Rectangle 3">
            <a:extLst>
              <a:ext uri="{FF2B5EF4-FFF2-40B4-BE49-F238E27FC236}">
                <a16:creationId xmlns:a16="http://schemas.microsoft.com/office/drawing/2014/main" id="{5AA507DA-1851-2647-B0D8-1528A061BA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page:</a:t>
            </a:r>
          </a:p>
          <a:p>
            <a:pPr marL="0" indent="0">
              <a:buNone/>
            </a:pPr>
            <a:r>
              <a:rPr lang="en-US" altLang="zh-CN" sz="2400" dirty="0">
                <a:hlinkClick r:id="rId2"/>
              </a:rPr>
              <a:t>https://csslab-ustc.github.io/courses/popl26/</a:t>
            </a:r>
            <a:endParaRPr lang="en-US" altLang="zh-CN" sz="2400" dirty="0"/>
          </a:p>
          <a:p>
            <a:pPr marL="0" indent="0">
              <a:buNone/>
            </a:pPr>
            <a:endParaRPr lang="en-US" altLang="zh-CN" sz="2400" dirty="0"/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Schedule</a:t>
            </a:r>
            <a:r>
              <a:rPr lang="zh-CN" altLang="en-US" dirty="0">
                <a:solidFill>
                  <a:srgbClr val="000000"/>
                </a:solidFill>
              </a:rPr>
              <a:t> </a:t>
            </a:r>
            <a:endParaRPr lang="en-US" altLang="zh-CN" dirty="0">
              <a:solidFill>
                <a:srgbClr val="000000"/>
              </a:solidFill>
            </a:endParaRPr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Readings</a:t>
            </a:r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Assignments</a:t>
            </a:r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…</a:t>
            </a:r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Check</a:t>
            </a:r>
            <a:r>
              <a:rPr lang="zh-CN" altLang="en-US" dirty="0">
                <a:solidFill>
                  <a:srgbClr val="000000"/>
                </a:solidFill>
              </a:rPr>
              <a:t> </a:t>
            </a:r>
            <a:r>
              <a:rPr lang="en-US" altLang="zh-CN" dirty="0">
                <a:solidFill>
                  <a:srgbClr val="000000"/>
                </a:solidFill>
              </a:rPr>
              <a:t>frequently</a:t>
            </a:r>
            <a:endParaRPr lang="en-US" altLang="zh-CN" sz="2400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2404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06000299-7DAD-6742-BAB5-7AB2D780AB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Structure of this course</a:t>
            </a:r>
          </a:p>
        </p:txBody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8BA9AF9-453B-2A4E-BC9F-7A33CD04B8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i="1" dirty="0">
                <a:solidFill>
                  <a:srgbClr val="0000FF"/>
                </a:solidFill>
              </a:rPr>
              <a:t>Lectures</a:t>
            </a:r>
          </a:p>
          <a:p>
            <a:pPr lvl="1"/>
            <a:r>
              <a:rPr lang="en-US" altLang="zh-CN" dirty="0"/>
              <a:t>Friday,</a:t>
            </a:r>
            <a:r>
              <a:rPr lang="zh-CN" altLang="en-US" dirty="0"/>
              <a:t> </a:t>
            </a:r>
            <a:r>
              <a:rPr lang="en-US" altLang="zh-CN" dirty="0"/>
              <a:t>8am</a:t>
            </a:r>
          </a:p>
          <a:p>
            <a:r>
              <a:rPr lang="en-US" altLang="zh-CN" i="1" dirty="0">
                <a:solidFill>
                  <a:srgbClr val="0000FF"/>
                </a:solidFill>
              </a:rPr>
              <a:t>Programming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assignments</a:t>
            </a:r>
          </a:p>
          <a:p>
            <a:pPr lvl="1"/>
            <a:r>
              <a:rPr lang="en-US" altLang="zh-CN" dirty="0"/>
              <a:t>8</a:t>
            </a:r>
            <a:r>
              <a:rPr lang="zh-CN" altLang="en-US" dirty="0"/>
              <a:t> </a:t>
            </a:r>
            <a:r>
              <a:rPr lang="en-US" altLang="zh-CN" dirty="0"/>
              <a:t>PAs</a:t>
            </a:r>
            <a:r>
              <a:rPr lang="zh-CN" altLang="en-US" dirty="0"/>
              <a:t> </a:t>
            </a:r>
            <a:r>
              <a:rPr lang="en-US" altLang="zh-CN" dirty="0"/>
              <a:t>planned</a:t>
            </a:r>
            <a:r>
              <a:rPr lang="zh-CN" altLang="en-US" dirty="0"/>
              <a:t> </a:t>
            </a:r>
            <a:r>
              <a:rPr lang="en-US" altLang="zh-CN" dirty="0"/>
              <a:t>(see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website)</a:t>
            </a:r>
          </a:p>
          <a:p>
            <a:r>
              <a:rPr lang="en-US" altLang="zh-CN" i="1" dirty="0">
                <a:solidFill>
                  <a:srgbClr val="0000FF"/>
                </a:solidFill>
              </a:rPr>
              <a:t>Presentation?</a:t>
            </a:r>
          </a:p>
          <a:p>
            <a:pPr lvl="1"/>
            <a:r>
              <a:rPr lang="en-US" altLang="zh-CN" i="1" dirty="0">
                <a:solidFill>
                  <a:srgbClr val="0000FF"/>
                </a:solidFill>
              </a:rPr>
              <a:t>TBA</a:t>
            </a:r>
            <a:endParaRPr lang="en-US" altLang="zh-CN" dirty="0"/>
          </a:p>
          <a:p>
            <a:r>
              <a:rPr lang="en-US" altLang="zh-CN" i="1" dirty="0">
                <a:solidFill>
                  <a:srgbClr val="0000FF"/>
                </a:solidFill>
              </a:rPr>
              <a:t>Test</a:t>
            </a:r>
          </a:p>
          <a:p>
            <a:pPr lvl="1"/>
            <a:r>
              <a:rPr lang="en-US" altLang="zh-CN" dirty="0"/>
              <a:t>final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42EBAEF3-449D-DB46-BDC5-0F2E792633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Textbooks &amp; Reference</a:t>
            </a:r>
          </a:p>
        </p:txBody>
      </p:sp>
      <p:sp>
        <p:nvSpPr>
          <p:cNvPr id="102403" name="Rectangle 3">
            <a:extLst>
              <a:ext uri="{FF2B5EF4-FFF2-40B4-BE49-F238E27FC236}">
                <a16:creationId xmlns:a16="http://schemas.microsoft.com/office/drawing/2014/main" id="{4E6B8DC8-686F-3D48-960E-A0FD6399D3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2688" y="2017713"/>
            <a:ext cx="4075112" cy="4114800"/>
          </a:xfrm>
        </p:spPr>
        <p:txBody>
          <a:bodyPr/>
          <a:lstStyle/>
          <a:p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textbook:</a:t>
            </a:r>
          </a:p>
          <a:p>
            <a:r>
              <a:rPr lang="en-US" altLang="zh-CN" i="1" dirty="0">
                <a:solidFill>
                  <a:srgbClr val="0432FF"/>
                </a:solidFill>
              </a:rPr>
              <a:t>Programming</a:t>
            </a:r>
            <a:r>
              <a:rPr lang="zh-CN" altLang="en-US" i="1" dirty="0">
                <a:solidFill>
                  <a:srgbClr val="0432FF"/>
                </a:solidFill>
              </a:rPr>
              <a:t> </a:t>
            </a:r>
            <a:r>
              <a:rPr lang="en-US" altLang="zh-CN" i="1" dirty="0">
                <a:solidFill>
                  <a:srgbClr val="0432FF"/>
                </a:solidFill>
              </a:rPr>
              <a:t>Massively</a:t>
            </a:r>
            <a:r>
              <a:rPr lang="zh-CN" altLang="en-US" i="1" dirty="0">
                <a:solidFill>
                  <a:srgbClr val="0432FF"/>
                </a:solidFill>
              </a:rPr>
              <a:t> </a:t>
            </a:r>
            <a:r>
              <a:rPr lang="en-US" altLang="zh-CN" i="1" dirty="0">
                <a:solidFill>
                  <a:srgbClr val="0432FF"/>
                </a:solidFill>
              </a:rPr>
              <a:t>Parallel</a:t>
            </a:r>
            <a:r>
              <a:rPr lang="zh-CN" altLang="en-US" i="1" dirty="0">
                <a:solidFill>
                  <a:srgbClr val="0432FF"/>
                </a:solidFill>
              </a:rPr>
              <a:t> </a:t>
            </a:r>
            <a:r>
              <a:rPr lang="en-US" altLang="zh-CN" i="1" dirty="0">
                <a:solidFill>
                  <a:srgbClr val="0432FF"/>
                </a:solidFill>
              </a:rPr>
              <a:t>Processors</a:t>
            </a:r>
          </a:p>
          <a:p>
            <a:endParaRPr lang="en-US" altLang="zh-CN" i="1" dirty="0"/>
          </a:p>
          <a:p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references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</a:t>
            </a:r>
          </a:p>
          <a:p>
            <a:pPr marL="0" indent="0">
              <a:buNone/>
            </a:pPr>
            <a:endParaRPr lang="en-US" altLang="zh-CN" dirty="0"/>
          </a:p>
          <a:p>
            <a:pPr>
              <a:buFont typeface="Wingdings" pitchFamily="2" charset="2"/>
              <a:buNone/>
            </a:pPr>
            <a:endParaRPr lang="en-US" altLang="zh-CN" dirty="0"/>
          </a:p>
        </p:txBody>
      </p:sp>
      <p:pic>
        <p:nvPicPr>
          <p:cNvPr id="1026" name="Picture 2" descr="Programming Massively Parallel Processors, 4th Edition">
            <a:extLst>
              <a:ext uri="{FF2B5EF4-FFF2-40B4-BE49-F238E27FC236}">
                <a16:creationId xmlns:a16="http://schemas.microsoft.com/office/drawing/2014/main" id="{0C8A72D9-B45F-56CE-5976-E0DC10F46E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2147824"/>
            <a:ext cx="3352800" cy="448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06000299-7DAD-6742-BAB5-7AB2D780AB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assignments</a:t>
            </a:r>
          </a:p>
        </p:txBody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8BA9AF9-453B-2A4E-BC9F-7A33CD04B8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Language</a:t>
            </a:r>
            <a:r>
              <a:rPr lang="zh-CN" altLang="en-US" dirty="0"/>
              <a:t> </a:t>
            </a:r>
            <a:r>
              <a:rPr lang="en-US" altLang="zh-CN" dirty="0"/>
              <a:t>used: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Cuda,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Python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DSL</a:t>
            </a:r>
          </a:p>
          <a:p>
            <a:pPr lvl="1"/>
            <a:endParaRPr lang="en-US" altLang="zh-CN" dirty="0"/>
          </a:p>
          <a:p>
            <a:r>
              <a:rPr lang="en-US" altLang="zh-CN" dirty="0"/>
              <a:t>Platform</a:t>
            </a:r>
          </a:p>
          <a:p>
            <a:pPr lvl="1"/>
            <a:r>
              <a:rPr lang="en-US" altLang="zh-CN" dirty="0" err="1">
                <a:solidFill>
                  <a:srgbClr val="0000FF"/>
                </a:solidFill>
              </a:rPr>
              <a:t>leetgpu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endParaRPr lang="en-US" altLang="zh-CN" i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02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0A5A60BF-10C8-9D43-8EF6-A81549643A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Grading</a:t>
            </a:r>
            <a:r>
              <a:rPr lang="zh-CN" altLang="en-US" dirty="0"/>
              <a:t> </a:t>
            </a:r>
            <a:r>
              <a:rPr lang="en-US" altLang="zh-CN" dirty="0"/>
              <a:t>(Tentative)</a:t>
            </a:r>
          </a:p>
        </p:txBody>
      </p:sp>
      <p:sp>
        <p:nvSpPr>
          <p:cNvPr id="92163" name="Rectangle 3">
            <a:extLst>
              <a:ext uri="{FF2B5EF4-FFF2-40B4-BE49-F238E27FC236}">
                <a16:creationId xmlns:a16="http://schemas.microsoft.com/office/drawing/2014/main" id="{5AA507DA-1851-2647-B0D8-1528A061BA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 for assignment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presentations</a:t>
            </a:r>
          </a:p>
          <a:p>
            <a:r>
              <a:rPr lang="en-US" altLang="zh-CN" dirty="0"/>
              <a:t>50% for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>
            <a:extLst>
              <a:ext uri="{FF2B5EF4-FFF2-40B4-BE49-F238E27FC236}">
                <a16:creationId xmlns:a16="http://schemas.microsoft.com/office/drawing/2014/main" id="{E093C3C5-239C-9043-9F58-737DAA205D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Summary</a:t>
            </a:r>
          </a:p>
        </p:txBody>
      </p:sp>
      <p:sp>
        <p:nvSpPr>
          <p:cNvPr id="100355" name="Rectangle 3">
            <a:extLst>
              <a:ext uri="{FF2B5EF4-FFF2-40B4-BE49-F238E27FC236}">
                <a16:creationId xmlns:a16="http://schemas.microsoft.com/office/drawing/2014/main" id="{D7D785B2-94A1-C74E-AF7E-48DFC6F337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is a practice-oriented course</a:t>
            </a:r>
          </a:p>
          <a:p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thorough</a:t>
            </a:r>
            <a:r>
              <a:rPr lang="zh-CN" altLang="en-US" dirty="0"/>
              <a:t> </a:t>
            </a:r>
            <a:r>
              <a:rPr lang="en-US" altLang="zh-CN" dirty="0"/>
              <a:t>understanding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principles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languages for heterogeneous platforms</a:t>
            </a:r>
          </a:p>
          <a:p>
            <a:pPr lvl="1"/>
            <a:r>
              <a:rPr lang="en-US" altLang="zh-CN" dirty="0"/>
              <a:t>Fun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profitable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E6820052-551B-9841-9B1D-73DAFAA98F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Last Thing</a:t>
            </a:r>
          </a:p>
        </p:txBody>
      </p:sp>
      <p:sp>
        <p:nvSpPr>
          <p:cNvPr id="101379" name="Rectangle 3">
            <a:extLst>
              <a:ext uri="{FF2B5EF4-FFF2-40B4-BE49-F238E27FC236}">
                <a16:creationId xmlns:a16="http://schemas.microsoft.com/office/drawing/2014/main" id="{FF055EF3-8773-A448-B1C8-6424352A3B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Read the textbook</a:t>
            </a:r>
          </a:p>
          <a:p>
            <a:pPr lvl="1"/>
            <a:r>
              <a:rPr lang="en-US" altLang="zh-CN" dirty="0"/>
              <a:t>Chap</a:t>
            </a:r>
            <a:r>
              <a:rPr lang="zh-CN" altLang="en-US" dirty="0"/>
              <a:t> </a:t>
            </a:r>
            <a:r>
              <a:rPr lang="en-US" altLang="zh-CN" dirty="0"/>
              <a:t>1-4</a:t>
            </a:r>
          </a:p>
          <a:p>
            <a:r>
              <a:rPr lang="en-US" altLang="zh-CN" dirty="0"/>
              <a:t>Start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assignment #1</a:t>
            </a:r>
          </a:p>
          <a:p>
            <a:endParaRPr lang="en-US" altLang="zh-C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1670</TotalTime>
  <Words>322</Words>
  <Application>Microsoft Macintosh PowerPoint</Application>
  <PresentationFormat>全屏显示(4:3)</PresentationFormat>
  <Paragraphs>73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Arial</vt:lpstr>
      <vt:lpstr>Tahoma</vt:lpstr>
      <vt:lpstr>Wingdings</vt:lpstr>
      <vt:lpstr>Blends</vt:lpstr>
      <vt:lpstr>Overview</vt:lpstr>
      <vt:lpstr>What are programming languages?</vt:lpstr>
      <vt:lpstr>What is this course about?</vt:lpstr>
      <vt:lpstr>Why is this course important?</vt:lpstr>
      <vt:lpstr>What you can get out of this course?</vt:lpstr>
      <vt:lpstr>What background is needed?</vt:lpstr>
      <vt:lpstr> </vt:lpstr>
      <vt:lpstr>Administrivia</vt:lpstr>
      <vt:lpstr>Structure of this course</vt:lpstr>
      <vt:lpstr>Textbooks &amp; Reference</vt:lpstr>
      <vt:lpstr>Programming assignments</vt:lpstr>
      <vt:lpstr>Grading (Tentative)</vt:lpstr>
      <vt:lpstr>Summary</vt:lpstr>
      <vt:lpstr>Last Thing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1767</cp:revision>
  <cp:lastPrinted>1601-01-01T00:00:00Z</cp:lastPrinted>
  <dcterms:created xsi:type="dcterms:W3CDTF">1601-01-01T00:00:00Z</dcterms:created>
  <dcterms:modified xsi:type="dcterms:W3CDTF">2026-03-05T09:39:38Z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